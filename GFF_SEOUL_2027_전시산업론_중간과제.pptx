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 고프코어 패션 페어 서울 2027입니다. 고프코어는 산행용 기능성 아웃도어를 도시의 일상복으로 입는 패션입니다. 2027년 9월 30일부터 10월 3일까지 코엑스(가안)에서, 앞 2일은 바이어 거래의 트레이드 데이, 뒤 2일은 소비자 체험의 퍼블릭 랩 데이로 엽니다.
[현상] 국내 아웃도어 시장은 약 7조 원에서 약 4조 원으로 줄었지만, 아크테릭스는 2024년 41% 성장해 2년 새 2배가 됐습니다. 수요가 등산복에서 고프코어 패션으로 옮겨간 것입니다.
[문제] 그런데 2024년 상위 12개 브랜드 중 성장한 3곳은 모두 해외 브랜드의 라이선스나 직진출입니다. 국내 오리지널 4곳은 모두 줄었고, 노스페이스 로열티는 151억에서 337억으로 늘었습니다.
[역설] 정작 그 제품은 한국 기업이 만듭니다. 영원무역은 룰루레몬·노스페이스·아크테릭스·파타고니아 등 40여 개 글로벌 브랜드를 생산합니다. 만드는 쪽과 사는 쪽 사이에 한국 브랜드가 비어 있는 것이 핵심 문제입니다.
[원인] 첫째, 국내 제조가 글로벌 대량 물량 중심이라 신진 브랜드는 최소주문량과 심실링 공정에 막히고, PFAS 규제로 소재 전환까지 떠안았습니다. 둘째, 국내 유통 수수료가 무신사 27.8%, 백화점 최고 38%로 높습니다. 셋째, 수출 이력이 없으면 해외 바이어를 만날 길이 없습니다.
[실마리] 코오롱스포츠는 국내 영업이익이 30억 원이었지만, 중국에서 안타와 손잡고 5년 만에 26배 성장해 매출 1조 원을 넘겼습니다. 맞는 파트너를 만나면 K-아웃도어는 큽니다. 소재·제조·브랜드·바이어를 한 자리에서 잇는 장이 없다는 것이 이 전시회가 필요한 이유입니다.
[기존 전시회와의 차이] SPOEX는 장비, 캠핑 페어는 현장판매, 서울패션위크 트레이드쇼는 디자이너 의류, 프리뷰 인 서울은 원단 중심입니다. ISPO는 유럽에서 축소 중입니다. 우리는 밸류체인 전체를 한 동선에 모으는 고프코어 단일 카테고리 전시입니다.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앞 장에서 본 문제를 가진 이해관계자는 셋입니다. 소재·제조사는 글로벌 대량 물량에 묶여 국내 브랜드와 접점이 없고, K-고프코어 브랜드는 소량 생산처와 해외 바이어 없이 고비용 국내 유통에 갇혀 있습니다. 국내외 바이어는 한국 고프코어 브랜드를 한 번에 볼 장이 없습니다. 그래서 미션은 이 넷을 한 자리에서 거래로 이어, 성장의 과실이 해외 IP가 아닌 한국 브랜드에 남게 하는 것입니다.
[비전] 2030년, 한국을 고프코어의 생산 기지에서 브랜드 발신지로 바꾸는 것입니다. 이 전시회가 지속되면 K소재·K제조·K브랜드 공급망이 실제로 거래되는 시장이 생기고, 아시아 바이어가 다음 시즌 고프코어를 서울에서 사 가며, 소재·제조사의 매출원이 국내 브랜드와의 파트너십으로 넓어집니다.
[연결] 세 병목 각각에 전시 장치가 하나씩 대응합니다. 소재·제조 단절에는 소재관·제조관, 고비용 국내 유통에는 트레이드 데이 국내 세션, 해외 접점 부재에는 해외 세션, 그리고 기능 가치 전달에는 퍼블릭 랩 데이입니다. 이 연결이 해마다 반복되면 코오롱스포츠와 안타 같은 파트너십이 여러 브랜드에서 나오는 것이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두었습니다. 숫자마다 비교 근거만이 아니라, 우리 행사가 그 숫자를 달성할 수 있는 이유를 따로 적었습니다.
[목표 1 참가 규모] 150개사는 브랜드 90, 소재·부자재 30, 제조 30으로 나눕니다. 서울패션위크 트레이드쇼 130개 브랜드, 유럽 OutDoor 재출범 250개사와 비교하면 보수적입니다. 우리만의 근거는 세 가지입니다. 서울 도심 봉제업체 1.8만 곳의 최대 애로가 일감 수주라 제조관 수요가 크고, 정부 'All in Korea' 사업이 280개사의 전시 참가를 지원하며, 소재·제조사가 K-브랜드 고객을 한 번에 만나는 전시가 국내에 없습니다. 무신사 인큐베이팅 참여 브랜드의 72%가 론칭 3년 미만일 만큼 신진 브랜드 공급도 많습니다. 소재 30곳은 프리뷰 인 서울 약 500개사의 6%, 관람객 2만 명은 SPOEX 4.7만 명의 절반 이하라 무리한 숫자가 아닙니다. 3회차에는 300개사로 키웁니다.
[목표 2 거래 성과] 해외 바이어 수요는 이미 움직이고 있습니다. 무신사 도쿄 쇼룸에는 일본 바이어 200명 이상이 왔고, 2026년 8월 무신사 스탠다드의 첫 서울 수주회에는 조조타운·티몰과 동남아 4개국 바이어가 왔습니다. 상담 1,200건은 브랜드 90곳 × 10건과 소재·제조 60곳 × 5건입니다. 이는 바이어 400명이 1인당 3건씩 상담하는 양으로, 이틀 행사에서 무리 없는 수준입니다. 상담액은 서울패션위크 실적(브랜드당 5.2만 달러)을 그대로 적용해 약 770만 달러가 나오므로 목표를 800만 달러로 잡았습니다. 수요는 무신사 도쿄 쇼룸에서 검증됐고, 유럽 아웃도어 B2B가 줄어드는 사이 아시아 수요는 커지고 있습니다.
[목표 3 밸류체인 연결] 소재·제조 60곳이 사전 매칭 5건씩을 소화하면 300건입니다. 그중 1/3이 샘플 의뢰로 이어진다고 가정해 100건을 목표로 했고, 이 비율은 1회 실측 후 고칩니다. PFAS 기준이 2027년과 2028년에 잇따라 강화되기 때문에 소재 전환 상담 수요가 확실하고, PFAS-free 상담 50건은 소재관 30곳이 2건 안팎씩 받는 규모입니다.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왼쪽에서 오른쪽으로 제품이 흐르고, 아래 주황 화살표로 돈이 거꾸로 흐릅니다. ① 원사·원료에서 시작해 ② 기능성 원단, ③ 충전재·부자재, ④ 생산, ⑤ 브랜드, ⑥ 유통, ⑦ 소비자·순환으로 이어집니다. 맨 아래 줄은 각 단계를 받치는 시험·인증, 물류, 미디어, 정책 기능입니다.
이 지도에서 문제가 보입니다. ④ 생산에서는 영원무역이 아크테릭스·노스페이스 같은 글로벌 브랜드를 만들고, ⑤ 브랜드에서는 해외 IP 라이선스 브랜드가 로열티를 해외로 보냅니다. 주황 원 ①②③은 기획 배경에서 말한 세 병목의 위치입니다.
[범위] 점선 안의 ②~⑥을 정식 참가 범위로, ⑦을 퍼블릭 랩 데이로 다룹니다. 세 병목이 모두 ②~⑥ 사이의 연결 지점에 있기 때문입니다. ① 원사·원료는 K-브랜드와 직접 거래하지 않고 프리뷰 인 서울이 이미 다루므로 제외합니다. 시험·인증과 물류는 브랜드의 수출에 꼭 필요한 서비스라 서비스관으로 함께 참가합니다.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참가업체는 밸류체인 ②~⑥과 지원 서비스를 여섯 그룹으로 나눴고, 이 여섯 그룹이 그대로 전시관 구성이 됩니다. E1 기능성 소재와 E2 생산·봉제는 소재관·제조관, E3 K-고프코어 신진과 E4 국내 아웃도어 대형사는 브랜드관, E5 해외 프리미엄 브랜드는 퍼블릭 랩 데이의 앵커, E6은 시험·물류·해외 판매를 돕는 서비스관입니다.
[바이어] 바이어는 일곱 유형입니다. 국내 플랫폼 MD, 백화점, 국내 편집숍, 해외 편집숍, 해외 유통 파트너, 관심 소비자, 그리고 B6 브랜드 소싱·운영팀입니다. B6은 참가 브랜드 자신입니다. 브랜드는 브랜드관에서는 파는 쪽이지만 소재관·제조관에서는 사는 쪽이 되고, 이 이중 역할 덕분에 한 전시장 안에서 밸류체인 ②부터 ⑥까지의 거래가 동시에 일어납니다.
[연결] 구매 이유 앞의 번호는 1장의 세 병목입니다. ①은 소재·제조와 브랜드의 단절, ②는 고비용 국내 유통, ③은 해외 접점 부재입니다. 해외 프리미엄 브랜드는 인터뷰에서 확인한 대로 바이어보다 관심 고객을 원하므로, 트레이드 데이가 아닌 퍼블릭 랩 데이의 관심 소비자와 연결했습니다.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이해관계자는 공공기관, 협회·단체, 연구·시험기관, 미디어, 베뉴·플랫폼의 다섯 분류, 열두 곳입니다. 교수님 말씀대로 각 기관이 이 배에 타야 하는 이유, 즉 얻는 이익을 그 기관의 실제 사업 목표와 연결해 적었습니다. 역할 칸의 ①②③은 그 기관이 1장의 어느 병목을 푸는 데 힘을 보태는지를 표시한 것입니다.
예를 들어 산업통상부는 230억 원 규모 'All in Korea' 사업의 목표인 소재-제조-브랜드 협력 성과를 우리 현장에서 얻고, KOTRA는 해외 바이어 초청으로 수출 상담 실적을, 서울시는 도심 봉제업체의 일감을 얻습니다. 협회는 회원사를 공동관으로 모으는 가장 강한 모집 파트너이고, FITI시험연구원은 Test Lab에 신뢰를, GO OUT KOREA와 패션비즈는 업계 홍보와 인플루언서 섭외를 맡습니다.
[별첨] 참가업체 측 검증은 마무트 종로점·제로그램 등을 운영하는 유통 담당자 인터뷰로 마쳤습니다. 바이어 측은 플랫폼·편집숍·백화점·해외 편집숍 다섯 곳과, 새 기획을 확인하기 위한 소재·제조사 두 곳에 통화할 예정입니다.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 검증은 아웃도어 브랜드 유통·판매를 맡은 손호영 님(마이기어 운영, 제로그램·아울렛·마무트 종로점 운영)과 진행했습니다. 처음 세운 가정 네 가지 중 세 가지가 틀렸습니다.
가장 중요한 발언은 성공 기준을 묻자 '고객의 반응이겠죠'라고 답한 것과, 현장 판매보다 장비의 장점을 관심 깊게 들어줄 고객이 필요하다고 한 부분입니다. 그래서 해외 프리미엄 브랜드는 바이어가 아닌 관심 고객과 연결하도록 트레이드 데이와 퍼블릭 랩 데이를 목적별로 나눴고, Test Lab과 관심도 지표, 미디어 파트너의 섭외 지원을 기획에 넣었습니다.
다시 검토해 보니 새 기획과 관련해 더 물었어야 할 것이 있었습니다. 제로그램 같은 K-브랜드의 국내 소량 생산처 확보 문제와, 수입 브랜드 대비 K-브랜드를 유통할 때의 수수료·마진 차이입니다. 이 두 가지는 별첨 2의 통화에서 이어서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아직 통화 전입니다. 국내 플랫폼 MD, 국내 편집숍, 백화점, 일본 편집숍까지 다섯 곳을 대상으로 정했고, 새 기획의 핵심인 소재관·제조관 수요를 확인하려고 소재사와 제조사 한 곳씩을 더했습니다.
확인할 가정은 네 가지입니다. 국내 MD에게 신진 K-고프코어를 한 번에 볼 창구가 없다는 것, 해외 편집숍이 1:1 사전 매칭이 잡히면 서울로 온다는 것, 바이어가 기능 시험성적서를 구매 판단에 쓴다는 것, 소재·제조사가 조건이 맞으면 소량 주문을 받는다는 것입니다. 가정이 틀리면 왼쪽 아래 표대로 기획을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74320"/>
            <a:ext cx="3163824" cy="237744"/>
          </a:xfrm>
          <a:prstGeom prst="rect">
            <a:avLst/>
          </a:prstGeom>
          <a:noFill/>
          <a:ln/>
        </p:spPr>
        <p:txBody>
          <a:bodyPr wrap="square" lIns="0" tIns="0" rIns="0" bIns="0" rtlCol="0" anchor="ctr"/>
          <a:lstStyle/>
          <a:p>
            <a:pPr algn="r" indent="0" marL="0">
              <a:buNone/>
            </a:pPr>
            <a:r>
              <a:rPr lang="en-US" sz="1100" dirty="0">
                <a:solidFill>
                  <a:srgbClr val="64748B"/>
                </a:solidFill>
                <a:latin typeface="Noto Sans KR" pitchFamily="34" charset="0"/>
                <a:ea typeface="Noto Sans KR" pitchFamily="34" charset="-122"/>
                <a:cs typeface="Noto Sans KR" pitchFamily="34" charset="-120"/>
              </a:rPr>
              <a:t>( 이름 / 학번 )</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rtlCol="0"/>
          <a:lstStyle>
            <a:lvl1pPr algn="l" indent="0" marL="0">
              <a:buNone/>
              <a:defRPr lang="en-US" sz="30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rtlCol="0"/>
          <a:lstStyle>
            <a:lvl1pPr algn="l" indent="0" marL="0">
              <a:buNone/>
              <a:defRPr lang="en-US" sz="15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전시회 제목 · 기획 배경</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뉴데일리(2025.4.11) · 어패럴뉴스(2025) · TENANT news(2025) · 데일리안(2026) · 엠브레인 트렌드모니터(2026) · 아시아경제(2024.7.2) · 삼성증권·한국투자증권(2025) · 코오롱 공식 블로그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SBS Biz(2025) · 패션비즈 · KOTRA·Morgan Lewis(PFAS) · 아시아경제(2026.7.29) · 뉴스퀘스트(2025) · 무신사 뉴스룸(2024.7.17) · Houyhnhnm·END.(케일)</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산업통상부(2026.2.3) · 한국경제(2026.5.28) · 쿠키뉴스(2026.3.6) · 서울시(2025.2.27) · 스마트투데이(2025) · FashionUnited(2025.11) · Wikipedia·The Cut(고프코어 어원)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전시회명 · 작성자</a:t>
            </a:r>
            <a:endParaRPr lang="en-US" sz="1200" dirty="0"/>
          </a:p>
        </p:txBody>
      </p:sp>
      <p:sp>
        <p:nvSpPr>
          <p:cNvPr id="8" name="전시회명"/>
          <p:cNvSpPr txBox="1"/>
          <p:nvPr/>
        </p:nvSpPr>
        <p:spPr>
          <a:xfrm>
            <a:off x="2121408" y="1463040"/>
            <a:ext cx="9454896" cy="402336"/>
          </a:xfrm>
          <a:prstGeom prst="rect">
            <a:avLst/>
          </a:prstGeom>
          <a:noFill/>
          <a:ln/>
        </p:spPr>
        <p:txBody>
          <a:bodyPr wrap="square" lIns="0" tIns="0" rIns="0" bIns="0" rtlCol="0" anchor="ctr"/>
          <a:lstStyle/>
          <a:p>
            <a:pPr algn="l" indent="0" marL="0">
              <a:lnSpc>
                <a:spcPct val="100000"/>
              </a:lnSpc>
              <a:buNone/>
            </a:pPr>
            <a:r>
              <a:rPr lang="en-US" sz="2000" b="1" dirty="0">
                <a:solidFill>
                  <a:srgbClr val="182F48"/>
                </a:solidFill>
                <a:latin typeface="Noto Sans KR" pitchFamily="34" charset="0"/>
                <a:ea typeface="Noto Sans KR" pitchFamily="34" charset="-122"/>
                <a:cs typeface="Noto Sans KR" pitchFamily="34" charset="-120"/>
              </a:rPr>
              <a:t>고프코어 패션 페어 서울 2027</a:t>
            </a:r>
            <a:pPr algn="l" indent="0" marL="0">
              <a:lnSpc>
                <a:spcPct val="100000"/>
              </a:lnSpc>
              <a:buNone/>
            </a:pPr>
            <a:r>
              <a:rPr lang="en-US" sz="1100" b="1" dirty="0">
                <a:solidFill>
                  <a:srgbClr val="267D86"/>
                </a:solidFill>
                <a:latin typeface="Noto Sans KR" pitchFamily="34" charset="0"/>
                <a:ea typeface="Noto Sans KR" pitchFamily="34" charset="-122"/>
                <a:cs typeface="Noto Sans KR" pitchFamily="34" charset="-120"/>
              </a:rPr>
              <a:t>    GORPCORE FASHION FAIR SEOUL</a:t>
            </a:r>
            <a:endParaRPr lang="en-US" sz="2000" dirty="0"/>
          </a:p>
        </p:txBody>
      </p:sp>
      <p:sp>
        <p:nvSpPr>
          <p:cNvPr id="9" name="개요"/>
          <p:cNvSpPr txBox="1"/>
          <p:nvPr/>
        </p:nvSpPr>
        <p:spPr>
          <a:xfrm>
            <a:off x="2121408" y="1865376"/>
            <a:ext cx="6949440" cy="219456"/>
          </a:xfrm>
          <a:prstGeom prst="rect">
            <a:avLst/>
          </a:prstGeom>
          <a:noFill/>
          <a:ln/>
        </p:spPr>
        <p:txBody>
          <a:bodyPr wrap="square" lIns="0" tIns="0" rIns="0" bIns="0" rtlCol="0" anchor="ctr"/>
          <a:lstStyle/>
          <a:p>
            <a:pPr algn="l" indent="0" marL="0">
              <a:lnSpc>
                <a:spcPct val="92000"/>
              </a:lnSpc>
              <a:buNone/>
            </a:pPr>
            <a:r>
              <a:rPr lang="en-US" sz="950" dirty="0">
                <a:solidFill>
                  <a:srgbClr val="334155"/>
                </a:solidFill>
                <a:latin typeface="Noto Sans KR" pitchFamily="34" charset="0"/>
                <a:ea typeface="Noto Sans KR" pitchFamily="34" charset="-122"/>
                <a:cs typeface="Noto Sans KR" pitchFamily="34" charset="-120"/>
              </a:rPr>
              <a:t>2027. 9. 30(목) ~ 10. 3(일) · 코엑스(가안) · 트레이드 데이(B2B) 2일 + 퍼블릭 랩 데이(B2C) 2일</a:t>
            </a:r>
            <a:endParaRPr lang="en-US" sz="950" dirty="0"/>
          </a:p>
        </p:txBody>
      </p:sp>
      <p:sp>
        <p:nvSpPr>
          <p:cNvPr id="10" name="작성자"/>
          <p:cNvSpPr txBox="1"/>
          <p:nvPr/>
        </p:nvSpPr>
        <p:spPr>
          <a:xfrm>
            <a:off x="9070848" y="1865376"/>
            <a:ext cx="2505456" cy="219456"/>
          </a:xfrm>
          <a:prstGeom prst="rect">
            <a:avLst/>
          </a:prstGeom>
          <a:noFill/>
          <a:ln/>
        </p:spPr>
        <p:txBody>
          <a:bodyPr wrap="square" lIns="0" tIns="0" rIns="0" bIns="0" rtlCol="0" anchor="ctr"/>
          <a:lstStyle/>
          <a:p>
            <a:pPr algn="r" indent="0" marL="0">
              <a:lnSpc>
                <a:spcPct val="92000"/>
              </a:lnSpc>
              <a:buNone/>
            </a:pPr>
            <a:r>
              <a:rPr lang="en-US" sz="950" b="1" dirty="0">
                <a:solidFill>
                  <a:srgbClr val="182F48"/>
                </a:solidFill>
                <a:latin typeface="Noto Sans KR" pitchFamily="34" charset="0"/>
                <a:ea typeface="Noto Sans KR" pitchFamily="34" charset="-122"/>
                <a:cs typeface="Noto Sans KR" pitchFamily="34" charset="-120"/>
              </a:rPr>
              <a:t>작성자: [ 이름 / 학번 ]</a:t>
            </a:r>
            <a:endParaRPr lang="en-US" sz="950" dirty="0"/>
          </a:p>
        </p:txBody>
      </p:sp>
      <p:sp>
        <p:nvSpPr>
          <p:cNvPr id="11" name="고프코어 정의 배경"/>
          <p:cNvSpPr/>
          <p:nvPr/>
        </p:nvSpPr>
        <p:spPr>
          <a:xfrm>
            <a:off x="2121408" y="2112264"/>
            <a:ext cx="9454896" cy="384048"/>
          </a:xfrm>
          <a:prstGeom prst="roundRect">
            <a:avLst>
              <a:gd name="adj" fmla="val 11905"/>
            </a:avLst>
          </a:prstGeom>
          <a:solidFill>
            <a:srgbClr val="E6F2F3"/>
          </a:solidFill>
          <a:ln/>
        </p:spPr>
      </p:sp>
      <p:sp>
        <p:nvSpPr>
          <p:cNvPr id="12" name="고프코어 정의 제목"/>
          <p:cNvSpPr txBox="1"/>
          <p:nvPr/>
        </p:nvSpPr>
        <p:spPr>
          <a:xfrm>
            <a:off x="2231136" y="2112264"/>
            <a:ext cx="868680" cy="384048"/>
          </a:xfrm>
          <a:prstGeom prst="rect">
            <a:avLst/>
          </a:prstGeom>
          <a:noFill/>
          <a:ln/>
        </p:spPr>
        <p:txBody>
          <a:bodyPr wrap="square" lIns="0" tIns="0" rIns="0" bIns="0" rtlCol="0" anchor="ctr"/>
          <a:lstStyle/>
          <a:p>
            <a:pPr algn="l" indent="0" marL="0">
              <a:lnSpc>
                <a:spcPct val="92000"/>
              </a:lnSpc>
              <a:buNone/>
            </a:pPr>
            <a:r>
              <a:rPr lang="en-US" sz="900" b="1" dirty="0">
                <a:solidFill>
                  <a:srgbClr val="267D86"/>
                </a:solidFill>
                <a:latin typeface="Noto Sans KR" pitchFamily="34" charset="0"/>
                <a:ea typeface="Noto Sans KR" pitchFamily="34" charset="-122"/>
                <a:cs typeface="Noto Sans KR" pitchFamily="34" charset="-120"/>
              </a:rPr>
              <a:t>고프코어란?</a:t>
            </a:r>
            <a:endParaRPr lang="en-US" sz="900" dirty="0"/>
          </a:p>
        </p:txBody>
      </p:sp>
      <p:sp>
        <p:nvSpPr>
          <p:cNvPr id="13" name="고프코어 정의"/>
          <p:cNvSpPr txBox="1"/>
          <p:nvPr/>
        </p:nvSpPr>
        <p:spPr>
          <a:xfrm>
            <a:off x="3127248" y="2139696"/>
            <a:ext cx="8339328" cy="329184"/>
          </a:xfrm>
          <a:prstGeom prst="rect">
            <a:avLst/>
          </a:prstGeom>
          <a:noFill/>
          <a:ln/>
        </p:spPr>
        <p:txBody>
          <a:bodyPr wrap="square" lIns="0" tIns="0" rIns="0" bIns="0" rtlCol="0" anchor="ctr"/>
          <a:lstStyle/>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등산 간식 'GORP'와 놈코어(normcore)의 '-core'를 합친 말로, 산행용 기능성 아웃도어를 도시의 일상복으로 입는 패션이다.</a:t>
            </a:r>
            <a:endParaRPr lang="en-US" sz="80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2017년 미국 패션 매체 The Cut이 처음 쓴 말로, 2020년 말 틱톡을 거쳐 대중화됐고 아크테릭스·살로몬이 상징적인 브랜드다.</a:t>
            </a:r>
            <a:endParaRPr lang="en-US" sz="800" dirty="0"/>
          </a:p>
        </p:txBody>
      </p:sp>
      <p:sp>
        <p:nvSpPr>
          <p:cNvPr id="14" name="라벨"/>
          <p:cNvSpPr txBox="1"/>
          <p:nvPr/>
        </p:nvSpPr>
        <p:spPr>
          <a:xfrm>
            <a:off x="612648" y="2578608"/>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a:t>
            </a:r>
            <a:endParaRPr lang="en-US" sz="1200" dirty="0"/>
          </a:p>
        </p:txBody>
      </p:sp>
      <p:sp>
        <p:nvSpPr>
          <p:cNvPr id="15" name="라벨 안내"/>
          <p:cNvSpPr txBox="1"/>
          <p:nvPr/>
        </p:nvSpPr>
        <p:spPr>
          <a:xfrm>
            <a:off x="612648" y="2843784"/>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현상 → 문제 → 원인</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실마리 → 기회</a:t>
            </a:r>
            <a:endParaRPr lang="en-US" sz="800" dirty="0"/>
          </a:p>
        </p:txBody>
      </p:sp>
      <p:sp>
        <p:nvSpPr>
          <p:cNvPr id="16" name="배경 단계 현상"/>
          <p:cNvSpPr txBox="1"/>
          <p:nvPr/>
        </p:nvSpPr>
        <p:spPr>
          <a:xfrm>
            <a:off x="2121408" y="2560320"/>
            <a:ext cx="731520" cy="407228"/>
          </a:xfrm>
          <a:prstGeom prst="roundRect">
            <a:avLst>
              <a:gd name="adj" fmla="val 11227"/>
            </a:avLst>
          </a:prstGeom>
          <a:solidFill>
            <a:srgbClr val="94A3B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현상</a:t>
            </a:r>
            <a:endParaRPr lang="en-US" sz="900" dirty="0"/>
          </a:p>
        </p:txBody>
      </p:sp>
      <p:sp>
        <p:nvSpPr>
          <p:cNvPr id="17" name="배경 근거 현상"/>
          <p:cNvSpPr txBox="1"/>
          <p:nvPr/>
        </p:nvSpPr>
        <p:spPr>
          <a:xfrm>
            <a:off x="2962656" y="2569464"/>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아웃도어 수요는 '등산복'에서 '고프코어 패션'으로 옮겨갔다.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아웃도어 시장은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약 7조(2014) → 약 4조(2024)</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로 줄었지만, 아크테릭스는 2024년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41%</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성장해 2년 새 2배가 됐다.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무신사의 프리미엄 아웃도어 아우터 거래액은 2026년 가을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넘었고, 20·30대의 등산 경험률도 오르고 있다(전체 66.9%).</a:t>
            </a:r>
            <a:endParaRPr lang="en-US" sz="850" dirty="0"/>
          </a:p>
        </p:txBody>
      </p:sp>
      <p:sp>
        <p:nvSpPr>
          <p:cNvPr id="18" name="배경 단계 문제"/>
          <p:cNvSpPr txBox="1"/>
          <p:nvPr/>
        </p:nvSpPr>
        <p:spPr>
          <a:xfrm>
            <a:off x="2121408" y="3004124"/>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문제</a:t>
            </a:r>
            <a:endParaRPr lang="en-US" sz="900" dirty="0"/>
          </a:p>
        </p:txBody>
      </p:sp>
      <p:sp>
        <p:nvSpPr>
          <p:cNvPr id="19" name="배경 근거 문제"/>
          <p:cNvSpPr txBox="1"/>
          <p:nvPr/>
        </p:nvSpPr>
        <p:spPr>
          <a:xfrm>
            <a:off x="2962656" y="3013268"/>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그런데 그 성장의 과실은 해외 브랜드 IP가 가져간다.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2024년 상위 12개 브랜드 중 성장한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3곳(노스페이스·스노우피크어패럴·아크테릭스)은 모두 해외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의 라이선스·직진출이다.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오리지널 4곳(K2·코오롱스포츠·네파·블랙야크)은 모두 역성장했고, 노스페이스 로열티는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151억(2020) → 337억(2023)</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으로 늘었다.</a:t>
            </a:r>
            <a:endParaRPr lang="en-US" sz="850" dirty="0"/>
          </a:p>
        </p:txBody>
      </p:sp>
      <p:sp>
        <p:nvSpPr>
          <p:cNvPr id="20" name="배경 단계 역설"/>
          <p:cNvSpPr txBox="1"/>
          <p:nvPr/>
        </p:nvSpPr>
        <p:spPr>
          <a:xfrm>
            <a:off x="2121408" y="3447928"/>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역설</a:t>
            </a:r>
            <a:endParaRPr lang="en-US" sz="900" dirty="0"/>
          </a:p>
        </p:txBody>
      </p:sp>
      <p:sp>
        <p:nvSpPr>
          <p:cNvPr id="21" name="배경 근거 역설"/>
          <p:cNvSpPr txBox="1"/>
          <p:nvPr/>
        </p:nvSpPr>
        <p:spPr>
          <a:xfrm>
            <a:off x="2962656" y="3457072"/>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정작 그 제품을 만드는 것은 한국 기업이다.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영원무역은 룰루레몬·노스페이스·아크테릭스·파타고니아 등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40여 개 글로벌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생산하고, 코오롱의 투습방수 원단은 노스페이스·컬럼비아에 수출된다.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만드는 쪽(제조·소재)과 사는 쪽(국내 소비) 사이에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한국 브랜드가 비어 있는 구조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다.</a:t>
            </a:r>
            <a:endParaRPr lang="en-US" sz="850" dirty="0"/>
          </a:p>
        </p:txBody>
      </p:sp>
      <p:sp>
        <p:nvSpPr>
          <p:cNvPr id="22" name="배경 단계 원인"/>
          <p:cNvSpPr txBox="1"/>
          <p:nvPr/>
        </p:nvSpPr>
        <p:spPr>
          <a:xfrm>
            <a:off x="2121408" y="3891732"/>
            <a:ext cx="731520" cy="531358"/>
          </a:xfrm>
          <a:prstGeom prst="roundRect">
            <a:avLst>
              <a:gd name="adj" fmla="val 8604"/>
            </a:avLst>
          </a:prstGeom>
          <a:solidFill>
            <a:srgbClr val="182F4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원인</a:t>
            </a:r>
            <a:endParaRPr lang="en-US" sz="900" dirty="0"/>
          </a:p>
        </p:txBody>
      </p:sp>
      <p:sp>
        <p:nvSpPr>
          <p:cNvPr id="23" name="배경 근거 원인"/>
          <p:cNvSpPr txBox="1"/>
          <p:nvPr/>
        </p:nvSpPr>
        <p:spPr>
          <a:xfrm>
            <a:off x="2962656" y="3900876"/>
            <a:ext cx="8613648" cy="53135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K-브랜드가 그 빈자리를 채우지 못하는 병목은 세 곳이다.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① 소재·제조 ↔ 브랜드 단절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제조는 글로벌 대량 물량 중심이라 신진 브랜드는 원단 최소주문량·심실링 공정에 막히고, PFAS 규제로 소재 전환까지 떠안았다.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② 고비용 국내 유통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평균 수수료는 27.8%(쿠팡 12.3%), 백화점은 평균 23.7%(최고 38%)이고, 백화점 거래의 59.9%는 재고 위험을 브랜드가 지는 특약매입이다.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③ 해외 접점 부재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수출 이력이 없으면 바이어를 만나기 어렵고, 기존 장치는 플랫폼 전속(무신사 도쿄 쇼룸·스탠다드 수주회)이거나 디자이너 의류 중심(서울패션위크)이다.</a:t>
            </a:r>
            <a:endParaRPr lang="en-US" sz="850" dirty="0"/>
          </a:p>
        </p:txBody>
      </p:sp>
      <p:sp>
        <p:nvSpPr>
          <p:cNvPr id="24" name="배경 단계 실마리"/>
          <p:cNvSpPr txBox="1"/>
          <p:nvPr/>
        </p:nvSpPr>
        <p:spPr>
          <a:xfrm>
            <a:off x="2121408" y="4459666"/>
            <a:ext cx="731520" cy="407228"/>
          </a:xfrm>
          <a:prstGeom prst="roundRect">
            <a:avLst>
              <a:gd name="adj" fmla="val 11227"/>
            </a:avLst>
          </a:prstGeom>
          <a:solidFill>
            <a:srgbClr val="267D86"/>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실마리</a:t>
            </a:r>
            <a:endParaRPr lang="en-US" sz="900" dirty="0"/>
          </a:p>
        </p:txBody>
      </p:sp>
      <p:sp>
        <p:nvSpPr>
          <p:cNvPr id="25" name="배경 근거 실마리"/>
          <p:cNvSpPr txBox="1"/>
          <p:nvPr/>
        </p:nvSpPr>
        <p:spPr>
          <a:xfrm>
            <a:off x="2962656" y="4468810"/>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맞는 파트너와 연결되면 K-아웃도어는 큰다.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코오롱스포츠는 국내 영업이익이 30억에 그쳤지만, 중국에서 안타와 기획·유통을 나눠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5년 만에 26배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성장하며 매출 1조를 넘겼다(영업이익 1,202억).</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도쿄 쇼룸에는 일본 편집숍 바이어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200명 이상</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이 와서 주문이 3배 늘었고, 서울 브랜드 케일은 영국 END.와 일본 1LDK에서 팔린다.</a:t>
            </a:r>
            <a:endParaRPr lang="en-US" sz="850" dirty="0"/>
          </a:p>
        </p:txBody>
      </p:sp>
      <p:sp>
        <p:nvSpPr>
          <p:cNvPr id="26" name="기회"/>
          <p:cNvSpPr txBox="1"/>
          <p:nvPr/>
        </p:nvSpPr>
        <p:spPr>
          <a:xfrm>
            <a:off x="2121408" y="4903470"/>
            <a:ext cx="9454896" cy="256032"/>
          </a:xfrm>
          <a:prstGeom prst="roundRect">
            <a:avLst>
              <a:gd name="adj" fmla="val 17857"/>
            </a:avLst>
          </a:prstGeom>
          <a:solidFill>
            <a:srgbClr val="182F48"/>
          </a:solidFill>
          <a:ln/>
        </p:spPr>
        <p:txBody>
          <a:bodyPr wrap="square" lIns="109728" tIns="0" rIns="109728" bIns="0" rtlCol="0" anchor="ctr"/>
          <a:lstStyle/>
          <a:p>
            <a:pPr algn="l" indent="0" marL="0">
              <a:lnSpc>
                <a:spcPct val="100000"/>
              </a:lnSpc>
              <a:buNone/>
            </a:pPr>
            <a:r>
              <a:rPr lang="en-US" sz="850" b="1" dirty="0">
                <a:solidFill>
                  <a:srgbClr val="9FE0E6"/>
                </a:solidFill>
                <a:latin typeface="Noto Sans KR" pitchFamily="34" charset="0"/>
                <a:ea typeface="Noto Sans KR" pitchFamily="34" charset="-122"/>
                <a:cs typeface="Noto Sans KR" pitchFamily="34" charset="-120"/>
              </a:rPr>
              <a:t>기회  </a:t>
            </a:r>
            <a:pPr algn="l" indent="0" marL="0">
              <a:lnSpc>
                <a:spcPct val="100000"/>
              </a:lnSpc>
              <a:buNone/>
            </a:pPr>
            <a:r>
              <a:rPr lang="en-US" sz="850" b="1" dirty="0">
                <a:solidFill>
                  <a:srgbClr val="FFFFFF"/>
                </a:solidFill>
                <a:latin typeface="Noto Sans KR" pitchFamily="34" charset="0"/>
                <a:ea typeface="Noto Sans KR" pitchFamily="34" charset="-122"/>
                <a:cs typeface="Noto Sans KR" pitchFamily="34" charset="-120"/>
              </a:rPr>
              <a:t>소재·제조·K-브랜드·국내외 바이어를 한 자리에서 잇는 고프코어 거래의 장은 아직 없다(정부 'All in Korea' 230억 사업도 2026년 시작 단계).</a:t>
            </a:r>
            <a:endParaRPr lang="en-US" sz="850" dirty="0"/>
          </a:p>
        </p:txBody>
      </p:sp>
      <p:sp>
        <p:nvSpPr>
          <p:cNvPr id="27" name="라벨"/>
          <p:cNvSpPr txBox="1"/>
          <p:nvPr/>
        </p:nvSpPr>
        <p:spPr>
          <a:xfrm>
            <a:off x="612648" y="523265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기존 전시회와의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차이</a:t>
            </a:r>
            <a:endParaRPr lang="en-US" sz="12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2121408" y="5214366"/>
          <a:ext cx="6464808" cy="914400"/>
        </p:xfrm>
        <a:graphic>
          <a:graphicData uri="http://schemas.openxmlformats.org/drawingml/2006/table">
            <a:tbl>
              <a:tblPr/>
              <a:tblGrid>
                <a:gridCol w="1481328"/>
                <a:gridCol w="1874520"/>
                <a:gridCol w="1188720"/>
                <a:gridCol w="1920240"/>
              </a:tblGrid>
              <a:tr h="170576">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기존 전시회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개최 · 규모</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다루는 범위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고프코어 K-브랜드에게 부족한 점</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SPOEX</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300개사 · 4.7만 명(2026.3)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스포츠·레저 용품 전반</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장비 중심, 패션 바이어·소재 연결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캠핑앤피크닉페어 · 고카프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킨텍스 · 116개사(2026.3)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캠핑 장비 현장판매</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B2C 판매장, 인터뷰 브랜드도 불참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서울패션위크 트레이드쇼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DDP · 130개 브랜드 · 바이어 300명</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디자이너 의류 수주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기능 소재·제조 연결, 기능 검증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프리뷰 인 서울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약 500개사(2025)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원사·원단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완제품 브랜드와 유통 바이어가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ISPO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뮌헨 → 2026 암스테르담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스포츠·아웃도어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유럽 중심, 출품 3,307→1,937개사</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9" name="차별점"/>
          <p:cNvSpPr txBox="1"/>
          <p:nvPr/>
        </p:nvSpPr>
        <p:spPr>
          <a:xfrm>
            <a:off x="8695944" y="5214366"/>
            <a:ext cx="2880360" cy="1023457"/>
          </a:xfrm>
          <a:prstGeom prst="roundRect">
            <a:avLst>
              <a:gd name="adj" fmla="val 4467"/>
            </a:avLst>
          </a:prstGeom>
          <a:solidFill>
            <a:srgbClr val="182F48"/>
          </a:solidFill>
          <a:ln/>
        </p:spPr>
        <p:txBody>
          <a:bodyPr wrap="square" lIns="109728" tIns="0" rIns="109728" bIns="0" rtlCol="0" anchor="ctr"/>
          <a:lstStyle/>
          <a:p>
            <a:pPr algn="l" indent="0" marL="0">
              <a:lnSpc>
                <a:spcPct val="92000"/>
              </a:lnSpc>
              <a:spcAft>
                <a:spcPts val="200"/>
              </a:spcAft>
              <a:buNone/>
            </a:pPr>
            <a:r>
              <a:rPr lang="en-US" sz="850" b="1" dirty="0">
                <a:solidFill>
                  <a:srgbClr val="9FE0E6"/>
                </a:solidFill>
                <a:latin typeface="Noto Sans KR" pitchFamily="34" charset="0"/>
                <a:ea typeface="Noto Sans KR" pitchFamily="34" charset="-122"/>
                <a:cs typeface="Noto Sans KR" pitchFamily="34" charset="-120"/>
              </a:rPr>
              <a:t>GFF SEOUL은 밸류체인을 한 동선에 모은다</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① 소재관·제조관: 소량 생산처·PFAS-free 소재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② 트레이드 데이: 국내외 인증 바이어 1:1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③ 퍼블릭 랩 데이: 방수·보온 기능을 체험으로 증명</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④ 고프코어 단일 카테고리로 바이어 적중률을 높인다</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미션 · 비전 (Mission Statement)</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 「전시산업 발전 로드맵 2030」(2026.10.14) · 산업통상부 섬유패션 'All in Korea' 사업(2026.2.3) · 한국패션협회 K-프리미엄 패션 생태계 사업(2026~2028)</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무신사 뉴스룸(2024.7.17) · 중소기업중앙회(2024.7.3, 2025.12.9) · 패션비즈(K패션 수출 장벽)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미션  Mission</a:t>
            </a:r>
            <a:endParaRPr lang="en-US" sz="1200" dirty="0"/>
          </a:p>
        </p:txBody>
      </p:sp>
      <p:sp>
        <p:nvSpPr>
          <p:cNvPr id="8" name="라벨 안내"/>
          <p:cNvSpPr txBox="1"/>
          <p:nvPr/>
        </p:nvSpPr>
        <p:spPr>
          <a:xfrm>
            <a:off x="612648" y="1819656"/>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800" dirty="0"/>
          </a:p>
        </p:txBody>
      </p:sp>
      <p:sp>
        <p:nvSpPr>
          <p:cNvPr id="9" name="미션 배경"/>
          <p:cNvSpPr/>
          <p:nvPr/>
        </p:nvSpPr>
        <p:spPr>
          <a:xfrm>
            <a:off x="2121408" y="1481328"/>
            <a:ext cx="9454896" cy="1261872"/>
          </a:xfrm>
          <a:prstGeom prst="roundRect">
            <a:avLst>
              <a:gd name="adj" fmla="val 3623"/>
            </a:avLst>
          </a:prstGeom>
          <a:solidFill>
            <a:srgbClr val="E6F2F3"/>
          </a:solidFill>
          <a:ln/>
        </p:spPr>
      </p:sp>
      <p:sp>
        <p:nvSpPr>
          <p:cNvPr id="10" name="미션"/>
          <p:cNvSpPr txBox="1"/>
          <p:nvPr/>
        </p:nvSpPr>
        <p:spPr>
          <a:xfrm>
            <a:off x="2304288" y="1554480"/>
            <a:ext cx="9089136" cy="585216"/>
          </a:xfrm>
          <a:prstGeom prst="rect">
            <a:avLst/>
          </a:prstGeom>
          <a:noFill/>
          <a:ln/>
        </p:spPr>
        <p:txBody>
          <a:bodyPr wrap="square" lIns="0" tIns="0" rIns="0" bIns="0" rtlCol="0" anchor="t"/>
          <a:lstStyle/>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소재·제조·브랜드·바이어를 한 자리에서 거래로 이어,</a:t>
            </a:r>
            <a:endParaRPr lang="en-US" sz="1400" dirty="0"/>
          </a:p>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고프코어 성장의 과실이 해외 IP가 아닌 한국 브랜드에 남게 한다.</a:t>
            </a:r>
            <a:endParaRPr lang="en-US" sz="1400" dirty="0"/>
          </a:p>
        </p:txBody>
      </p:sp>
      <p:sp>
        <p:nvSpPr>
          <p:cNvPr id="11" name="미션 대상 1"/>
          <p:cNvSpPr txBox="1"/>
          <p:nvPr/>
        </p:nvSpPr>
        <p:spPr>
          <a:xfrm>
            <a:off x="2304288"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소재·제조사</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글로벌 대량 물량에 묶여 국내 브랜드와 접점이 없다</a:t>
            </a:r>
            <a:endParaRPr lang="en-US" sz="850" dirty="0"/>
          </a:p>
        </p:txBody>
      </p:sp>
      <p:sp>
        <p:nvSpPr>
          <p:cNvPr id="12" name="미션 대상 2"/>
          <p:cNvSpPr txBox="1"/>
          <p:nvPr/>
        </p:nvSpPr>
        <p:spPr>
          <a:xfrm>
            <a:off x="5364480"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K-고프코어 브랜드</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소량 생산처·해외 바이어 없이 고비용 유통에 갇혀 있다</a:t>
            </a:r>
            <a:endParaRPr lang="en-US" sz="850" dirty="0"/>
          </a:p>
        </p:txBody>
      </p:sp>
      <p:sp>
        <p:nvSpPr>
          <p:cNvPr id="13" name="미션 대상 3"/>
          <p:cNvSpPr txBox="1"/>
          <p:nvPr/>
        </p:nvSpPr>
        <p:spPr>
          <a:xfrm>
            <a:off x="8424672"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국내외 바이어</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한국 고프코어 브랜드를 한 번에 비교·발굴할 장이 없다</a:t>
            </a:r>
            <a:endParaRPr lang="en-US" sz="850" dirty="0"/>
          </a:p>
        </p:txBody>
      </p:sp>
      <p:sp>
        <p:nvSpPr>
          <p:cNvPr id="14" name="라벨"/>
          <p:cNvSpPr txBox="1"/>
          <p:nvPr/>
        </p:nvSpPr>
        <p:spPr>
          <a:xfrm>
            <a:off x="612648" y="28712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비전  Vision</a:t>
            </a:r>
            <a:endParaRPr lang="en-US" sz="1200" dirty="0"/>
          </a:p>
        </p:txBody>
      </p:sp>
      <p:sp>
        <p:nvSpPr>
          <p:cNvPr id="15" name="라벨 안내"/>
          <p:cNvSpPr txBox="1"/>
          <p:nvPr/>
        </p:nvSpPr>
        <p:spPr>
          <a:xfrm>
            <a:off x="612648" y="3136392"/>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지속되면 산업에 어떤 변화를?</a:t>
            </a:r>
            <a:endParaRPr lang="en-US" sz="800" dirty="0"/>
          </a:p>
        </p:txBody>
      </p:sp>
      <p:sp>
        <p:nvSpPr>
          <p:cNvPr id="16" name="비전 배경"/>
          <p:cNvSpPr/>
          <p:nvPr/>
        </p:nvSpPr>
        <p:spPr>
          <a:xfrm>
            <a:off x="2121408" y="2816352"/>
            <a:ext cx="9454896" cy="1243584"/>
          </a:xfrm>
          <a:prstGeom prst="roundRect">
            <a:avLst>
              <a:gd name="adj" fmla="val 3676"/>
            </a:avLst>
          </a:prstGeom>
          <a:solidFill>
            <a:srgbClr val="182F48"/>
          </a:solidFill>
          <a:ln/>
        </p:spPr>
      </p:sp>
      <p:sp>
        <p:nvSpPr>
          <p:cNvPr id="17" name="비전"/>
          <p:cNvSpPr txBox="1"/>
          <p:nvPr/>
        </p:nvSpPr>
        <p:spPr>
          <a:xfrm>
            <a:off x="2304288" y="2871216"/>
            <a:ext cx="9089136" cy="310896"/>
          </a:xfrm>
          <a:prstGeom prst="rect">
            <a:avLst/>
          </a:prstGeom>
          <a:noFill/>
          <a:ln/>
        </p:spPr>
        <p:txBody>
          <a:bodyPr wrap="square" lIns="0" tIns="0" rIns="0" bIns="0" rtlCol="0" anchor="t"/>
          <a:lstStyle/>
          <a:p>
            <a:pPr algn="l" indent="0" marL="0">
              <a:lnSpc>
                <a:spcPct val="100000"/>
              </a:lnSpc>
              <a:buNone/>
            </a:pPr>
            <a:r>
              <a:rPr lang="en-US" sz="1400" b="1" dirty="0">
                <a:solidFill>
                  <a:srgbClr val="FFFFFF"/>
                </a:solidFill>
                <a:latin typeface="Noto Sans KR" pitchFamily="34" charset="0"/>
                <a:ea typeface="Noto Sans KR" pitchFamily="34" charset="-122"/>
                <a:cs typeface="Noto Sans KR" pitchFamily="34" charset="-120"/>
              </a:rPr>
              <a:t>2030년, 한국을 고프코어의 '생산 기지'에서 '브랜드 발신지'로 바꾼다.</a:t>
            </a:r>
            <a:endParaRPr lang="en-US" sz="1400" dirty="0"/>
          </a:p>
        </p:txBody>
      </p:sp>
      <p:sp>
        <p:nvSpPr>
          <p:cNvPr id="18" name="비전 변화"/>
          <p:cNvSpPr txBox="1"/>
          <p:nvPr/>
        </p:nvSpPr>
        <p:spPr>
          <a:xfrm>
            <a:off x="2304288" y="3236976"/>
            <a:ext cx="9089136" cy="768096"/>
          </a:xfrm>
          <a:prstGeom prst="rect">
            <a:avLst/>
          </a:prstGeom>
          <a:noFill/>
          <a:ln/>
        </p:spPr>
        <p:txBody>
          <a:bodyPr wrap="square" lIns="0" tIns="0" rIns="0" bIns="0" rtlCol="0" anchor="t"/>
          <a:lstStyle/>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행사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3회차(2029)에 참가 300개사로 커지고, 아시아 바이어가 시즌마다 찾는 고프코어 소싱 허브가 된다.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시장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이 전시회가 지속되면 'All in Korea'(K소재·K제조·K브랜드) 공급망이 실제로 거래되는 시장이 생긴다.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수출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아시아 바이어가 다음 시즌 고프코어를 서울에서 사 가고, K-고프코어가 하나의 수출 카테고리로 자리 잡는다.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공급망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국내 소재·제조사의 매출원이 해외 하청에서 국내 브랜드와의 파트너십으로 넓어진다.</a:t>
            </a:r>
            <a:endParaRPr lang="en-US" sz="850" dirty="0"/>
          </a:p>
        </p:txBody>
      </p:sp>
      <p:sp>
        <p:nvSpPr>
          <p:cNvPr id="19" name="라벨"/>
          <p:cNvSpPr txBox="1"/>
          <p:nvPr/>
        </p:nvSpPr>
        <p:spPr>
          <a:xfrm>
            <a:off x="612648" y="416966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배경과의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연결</a:t>
            </a:r>
            <a:endParaRPr lang="en-US" sz="1200" dirty="0"/>
          </a:p>
        </p:txBody>
      </p:sp>
      <p:sp>
        <p:nvSpPr>
          <p:cNvPr id="20" name="라벨 안내"/>
          <p:cNvSpPr txBox="1"/>
          <p:nvPr/>
        </p:nvSpPr>
        <p:spPr>
          <a:xfrm>
            <a:off x="612648" y="4681728"/>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앞 장의 문제와</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어떻게 이어지나요?</a:t>
            </a:r>
            <a:endParaRPr lang="en-US" sz="800" dirty="0"/>
          </a:p>
        </p:txBody>
      </p:sp>
      <p:sp>
        <p:nvSpPr>
          <p:cNvPr id="21" name="연결 서술"/>
          <p:cNvSpPr txBox="1"/>
          <p:nvPr/>
        </p:nvSpPr>
        <p:spPr>
          <a:xfrm>
            <a:off x="2121408" y="4133088"/>
            <a:ext cx="9454896" cy="457200"/>
          </a:xfrm>
          <a:prstGeom prst="rect">
            <a:avLst/>
          </a:prstGeom>
          <a:noFill/>
          <a:ln/>
        </p:spPr>
        <p:txBody>
          <a:bodyPr wrap="square" lIns="0" tIns="0" rIns="0" bIns="0" rtlCol="0" anchor="t"/>
          <a:lstStyle/>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1장의 문제는 고프코어 수요가 커질수록, 그 과실이 세 병목 때문에 한국 브랜드가 아닌 해외 IP로 새는 구조라는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미션은 세 병목이 만나는 소재·제조, 국내 유통, 해외 바이어를 한 장소·한 시기에 모아 거래로 바꾸는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이 연결이 해마다 반복되면 '코오롱스포츠-안타' 같은 파트너십이 여러 K-브랜드에서 나오고, 한국은 생산 기지에서 브랜드 발신지가 된다(비전).</a:t>
            </a:r>
            <a:endParaRPr lang="en-US" sz="850" dirty="0"/>
          </a:p>
        </p:txBody>
      </p:sp>
      <p:graphicFrame>
        <p:nvGraphicFramePr>
          <p:cNvPr id="3" name="연결표"/>
          <p:cNvGraphicFramePr>
            <a:graphicFrameLocks noGrp="1"/>
          </p:cNvGraphicFramePr>
          <p:nvPr>
            <p:extLst>
              <p:ext uri="{D42A27DB-BD31-4B8C-83A1-F6EECF244321}">
                <p14:modId xmlns:p14="http://schemas.microsoft.com/office/powerpoint/2010/main" val="1579011935"/>
              </p:ext>
            </p:extLst>
          </p:nvPr>
        </p:nvGraphicFramePr>
        <p:xfrm>
          <a:off x="2121408" y="4663440"/>
          <a:ext cx="9454896" cy="914400"/>
        </p:xfrm>
        <a:graphic>
          <a:graphicData uri="http://schemas.openxmlformats.org/drawingml/2006/table">
            <a:tbl>
              <a:tblPr/>
              <a:tblGrid>
                <a:gridCol w="2971800"/>
                <a:gridCol w="3017520"/>
                <a:gridCol w="346557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앞 장의 문제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미션이 푸는 방식 (전시 장치)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비전으로 이어지는 변화</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① 소재·제조 ↔ 브랜드 단절</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원단 최소주문량 · 심실링 공정 · PFAS 전환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소재관 · 제조관 사전 매칭</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소량 생산처와 PFAS-free 소재를 한 번에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국내 공급망과 K-브랜드의 파트너십 상시화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소재·제조사 매출원이 국내 브랜드로 확장</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② 고비용 국내 유통</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수수료 27.8% · 백화점 특약매입 59.9%</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국내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플랫폼 · 백화점 · 편집숍 바이어와 직거래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수수료 의존에서 홀세일 판로로 다변화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브랜드가 가격 결정권을 되찾는다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③ 해외 접점 부재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없으면 바이어 접근이 어렵다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해외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KOTRA 초청 바이어와 1:1 사전 매칭</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'제2의 코오롱-안타'가 여러 브랜드에서</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K-고프코어가 아시아 수출 카테고리로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 기능 가치 전달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고가 기능을 깊게 들어줄 고객 접점 부족</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퍼블릭 랩 데이</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방수 샤워부스 · 얼음 바닥 Test Lab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기능의 가치가 가격으로 인정받는 시장</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소비자 신뢰가 브랜드 자산으로 쌓인다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개최 목표 (Objective)</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제1회(2027) 달성 목표 3가지 — 비교 근거에 '우리 행사라서 가능한 이유'를 더해 세웠다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서울특별시(2025.2.27, 서울패션위크 트레이드쇼 130개 브랜드·바이어 300명·수주상담 671만 달러) · 쿠키뉴스(2026.3.6) · FashionUnited(2026.5, 유럽 OutDoor 재출범 250개사) · 스마트투데이(2026.8, 무신사 스탠다드 글로벌 수주회)</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연세춘추(산업부 2021 봉제업체 실태조사, 서울 도심 1만 8,364곳) · 서울신문(2023.12, 서울시의회 봉제산업 연구) · 스마트투데이(2025, 프리뷰 인 서울) · 한국패션협회 'All in Korea' 사업(2026~2028, 280개사)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무신사 뉴스룸(2024.7.17) · 한국경제(2025.1.17, 무신사 인큐베이팅) · FashionUnited(2025.11, ISPO) · 상하이시(2025.7, ISPO 상하이) · Morgan Lewis·Certivo(PFAS 2027·2028) · 경북매일(2026.7, 대구 봉제 맵 20개사)</a:t>
            </a:r>
            <a:endParaRPr lang="en-US" sz="700" dirty="0"/>
          </a:p>
        </p:txBody>
      </p:sp>
      <p:sp>
        <p:nvSpPr>
          <p:cNvPr id="7" name="열 제목 달성할 내용"/>
          <p:cNvSpPr txBox="1"/>
          <p:nvPr/>
        </p:nvSpPr>
        <p:spPr>
          <a:xfrm>
            <a:off x="2121408" y="1481328"/>
            <a:ext cx="2103120"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달성할 내용</a:t>
            </a:r>
            <a:endParaRPr lang="en-US" sz="950" dirty="0"/>
          </a:p>
        </p:txBody>
      </p:sp>
      <p:sp>
        <p:nvSpPr>
          <p:cNvPr id="8" name="열 제목 확인할 지표 · 방법"/>
          <p:cNvSpPr txBox="1"/>
          <p:nvPr/>
        </p:nvSpPr>
        <p:spPr>
          <a:xfrm>
            <a:off x="4315968" y="1481328"/>
            <a:ext cx="22128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확인할 지표 · 방법</a:t>
            </a:r>
            <a:endParaRPr lang="en-US" sz="950" dirty="0"/>
          </a:p>
        </p:txBody>
      </p:sp>
      <p:sp>
        <p:nvSpPr>
          <p:cNvPr id="9" name="열 제목 설정 근거 — 비교 근거 + 우리 행사라서 가능한 이유"/>
          <p:cNvSpPr txBox="1"/>
          <p:nvPr/>
        </p:nvSpPr>
        <p:spPr>
          <a:xfrm>
            <a:off x="6620256" y="1481328"/>
            <a:ext cx="49560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설정 근거 — 비교 근거 + 우리 행사라서 가능한 이유</a:t>
            </a:r>
            <a:endParaRPr lang="en-US" sz="950" dirty="0"/>
          </a:p>
        </p:txBody>
      </p:sp>
      <p:sp>
        <p:nvSpPr>
          <p:cNvPr id="10" name="열 제목 구분선"/>
          <p:cNvSpPr/>
          <p:nvPr/>
        </p:nvSpPr>
        <p:spPr>
          <a:xfrm>
            <a:off x="2121408" y="1719072"/>
            <a:ext cx="9454896" cy="0"/>
          </a:xfrm>
          <a:prstGeom prst="line">
            <a:avLst/>
          </a:prstGeom>
          <a:noFill/>
          <a:ln w="9525">
            <a:solidFill>
              <a:srgbClr val="CBD5E1"/>
            </a:solidFill>
            <a:prstDash val="solid"/>
          </a:ln>
        </p:spPr>
      </p:sp>
      <p:sp>
        <p:nvSpPr>
          <p:cNvPr id="11" name="라벨"/>
          <p:cNvSpPr txBox="1"/>
          <p:nvPr/>
        </p:nvSpPr>
        <p:spPr>
          <a:xfrm>
            <a:off x="612648" y="1810512"/>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1</a:t>
            </a:r>
            <a:endParaRPr lang="en-US" sz="1200" dirty="0"/>
          </a:p>
        </p:txBody>
      </p:sp>
      <p:sp>
        <p:nvSpPr>
          <p:cNvPr id="12" name="목표 분류 1"/>
          <p:cNvSpPr txBox="1"/>
          <p:nvPr/>
        </p:nvSpPr>
        <p:spPr>
          <a:xfrm>
            <a:off x="612648" y="2066544"/>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참가 규모 · 구성</a:t>
            </a:r>
            <a:endParaRPr lang="en-US" sz="1000" dirty="0"/>
          </a:p>
        </p:txBody>
      </p:sp>
      <p:sp>
        <p:nvSpPr>
          <p:cNvPr id="13" name="목표 1 내용"/>
          <p:cNvSpPr txBox="1"/>
          <p:nvPr/>
        </p:nvSpPr>
        <p:spPr>
          <a:xfrm>
            <a:off x="2121408" y="1792224"/>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참가 150개사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브랜드 90 · 소재·부자재 30 · 제조 30</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퍼블릭 랩 데이 관람객 2만 명</a:t>
            </a:r>
            <a:endParaRPr lang="en-US" sz="1500" dirty="0"/>
          </a:p>
          <a:p>
            <a:pPr algn="l" indent="0" marL="0">
              <a:lnSpc>
                <a:spcPct val="92000"/>
              </a:lnSpc>
              <a:spcAft>
                <a:spcPts val="200"/>
              </a:spcAft>
              <a:buNone/>
            </a:pPr>
            <a:r>
              <a:rPr lang="en-US" sz="850" b="1" dirty="0">
                <a:solidFill>
                  <a:srgbClr val="267D86"/>
                </a:solidFill>
                <a:latin typeface="Noto Sans KR" pitchFamily="34" charset="0"/>
                <a:ea typeface="Noto Sans KR" pitchFamily="34" charset="-122"/>
                <a:cs typeface="Noto Sans KR" pitchFamily="34" charset="-120"/>
              </a:rPr>
              <a:t>→ 2029년 3회차 300개사(2배)</a:t>
            </a:r>
            <a:endParaRPr lang="en-US" sz="1500" dirty="0"/>
          </a:p>
        </p:txBody>
      </p:sp>
      <p:sp>
        <p:nvSpPr>
          <p:cNvPr id="14" name="목표 1 지표"/>
          <p:cNvSpPr txBox="1"/>
          <p:nvPr/>
        </p:nvSpPr>
        <p:spPr>
          <a:xfrm>
            <a:off x="4315968" y="1792224"/>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카테고리별 부스 계약 수 집계</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(2027년 8월 모집 마감 시점)</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브랜드 중 K-오리지널 비중 70% 이상</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관람객: 관심사 사전등록 + QR 입장</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(실인원 · Test Lab 체험률 함께 측정)</a:t>
            </a:r>
            <a:endParaRPr lang="en-US" sz="800" dirty="0"/>
          </a:p>
        </p:txBody>
      </p:sp>
      <p:sp>
        <p:nvSpPr>
          <p:cNvPr id="15" name="목표 1 근거"/>
          <p:cNvSpPr txBox="1"/>
          <p:nvPr/>
        </p:nvSpPr>
        <p:spPr>
          <a:xfrm>
            <a:off x="6620256" y="1792224"/>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비교 근거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서울패션위크 트레이드쇼 130개 브랜드 · 캠핑앤피크닉페어 116개사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OutDoor 재출범 첫 회 250개사(2026) → 단일 카테고리 첫 회 150개사는 보수적</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 30곳은 프리뷰 인 서울 약 500개사의 6%, 관람객 2만 명은 SPOEX 4.7만 명의 절반 이하다.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공급 풀이 크다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 도심 봉제업체 1.8만 곳의 최대 애로가 일감 수주다.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신진이 많다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 인큐베이팅 참여 브랜드의 72%가 론칭 3년 미만이다.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참가 장벽이 낮다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정부 'All in Korea'가 섬유패션기업 280곳의 전시 참가를 지원한다.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대체재가 없다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소재·제조사가 K-브랜드 고객을 한 번에 만나는 전시가 없다.</a:t>
            </a:r>
            <a:endParaRPr lang="en-US" sz="800" dirty="0"/>
          </a:p>
        </p:txBody>
      </p:sp>
      <p:sp>
        <p:nvSpPr>
          <p:cNvPr id="16" name="라벨"/>
          <p:cNvSpPr txBox="1"/>
          <p:nvPr/>
        </p:nvSpPr>
        <p:spPr>
          <a:xfrm>
            <a:off x="612648" y="33284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2</a:t>
            </a:r>
            <a:endParaRPr lang="en-US" sz="1200" dirty="0"/>
          </a:p>
        </p:txBody>
      </p:sp>
      <p:sp>
        <p:nvSpPr>
          <p:cNvPr id="17" name="목표 분류 2"/>
          <p:cNvSpPr txBox="1"/>
          <p:nvPr/>
        </p:nvSpPr>
        <p:spPr>
          <a:xfrm>
            <a:off x="612648" y="3584448"/>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거래 성과 (판로)</a:t>
            </a:r>
            <a:endParaRPr lang="en-US" sz="1000" dirty="0"/>
          </a:p>
        </p:txBody>
      </p:sp>
      <p:sp>
        <p:nvSpPr>
          <p:cNvPr id="18" name="목표 2 내용"/>
          <p:cNvSpPr txBox="1"/>
          <p:nvPr/>
        </p:nvSpPr>
        <p:spPr>
          <a:xfrm>
            <a:off x="2121408" y="3310128"/>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수주상담 800만 달러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인증 바이어 400명(해외 150명)</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1:1 사전 매칭 상담 1,200건</a:t>
            </a:r>
            <a:endParaRPr lang="en-US" sz="1500" dirty="0"/>
          </a:p>
        </p:txBody>
      </p:sp>
      <p:sp>
        <p:nvSpPr>
          <p:cNvPr id="19" name="목표 2 지표"/>
          <p:cNvSpPr txBox="1"/>
          <p:nvPr/>
        </p:nvSpPr>
        <p:spPr>
          <a:xfrm>
            <a:off x="4315968" y="3310128"/>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바이어 사전등록 + 자격 심사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(사업자등록 · 바잉 이력 확인)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매칭 시스템 상담 로그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상담일지의 상담 금액 합산</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폐막 3개월 후 계약 전환 추적</a:t>
            </a:r>
            <a:endParaRPr lang="en-US" sz="800" dirty="0"/>
          </a:p>
        </p:txBody>
      </p:sp>
      <p:sp>
        <p:nvSpPr>
          <p:cNvPr id="20" name="목표 2 근거"/>
          <p:cNvSpPr txBox="1"/>
          <p:nvPr/>
        </p:nvSpPr>
        <p:spPr>
          <a:xfrm>
            <a:off x="6620256" y="3310128"/>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산식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 1,200건 = 브랜드 90곳 × 10건 + 소재·제조 60곳 × 5건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바이어 400명 × 1인당 3건(이틀 행사에서 무리 없는 상담량)</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상담액 = 브랜드 90곳 × 5.2만 달러 + 소재·제조 60곳 × 5만 달러 ≈ 770만 달러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(5.2만 달러 = 서울패션위크 트레이드쇼 671만 달러 ÷ 130개 브랜드)</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수요 검증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도쿄 쇼룸에 일본 바이어 200명 이상, 서울 수주회(2026.8)에 조조타운·티몰이 왔다.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아시아 공백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B2B는 줄고 있고(ISPO 1,937개사), 아시아는 커진다(ISPO 상하이 3.1만 명).</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원스톱 소싱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브랜드와 생산 파트너를 한 동선에서 찾아 출장 효율이 높다.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유치 경로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150명은 KOTRA 초청과 서울관광재단 MICE 지원으로 모은다.</a:t>
            </a:r>
            <a:endParaRPr lang="en-US" sz="800" dirty="0"/>
          </a:p>
        </p:txBody>
      </p:sp>
      <p:sp>
        <p:nvSpPr>
          <p:cNvPr id="21" name="라벨"/>
          <p:cNvSpPr txBox="1"/>
          <p:nvPr/>
        </p:nvSpPr>
        <p:spPr>
          <a:xfrm>
            <a:off x="612648" y="484632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3</a:t>
            </a:r>
            <a:endParaRPr lang="en-US" sz="1200" dirty="0"/>
          </a:p>
        </p:txBody>
      </p:sp>
      <p:sp>
        <p:nvSpPr>
          <p:cNvPr id="22" name="목표 분류 3"/>
          <p:cNvSpPr txBox="1"/>
          <p:nvPr/>
        </p:nvSpPr>
        <p:spPr>
          <a:xfrm>
            <a:off x="612648" y="5102352"/>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밸류체인 연결</a:t>
            </a:r>
            <a:endParaRPr lang="en-US" sz="1000" dirty="0"/>
          </a:p>
        </p:txBody>
      </p:sp>
      <p:sp>
        <p:nvSpPr>
          <p:cNvPr id="23" name="목표 3 내용"/>
          <p:cNvSpPr txBox="1"/>
          <p:nvPr/>
        </p:nvSpPr>
        <p:spPr>
          <a:xfrm>
            <a:off x="2121408" y="4828032"/>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사전 매칭 300건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 샘플·개발 의뢰 100건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PFAS-free 소재 전환 상담 50건</a:t>
            </a:r>
            <a:endParaRPr lang="en-US" sz="1500" dirty="0"/>
          </a:p>
        </p:txBody>
      </p:sp>
      <p:sp>
        <p:nvSpPr>
          <p:cNvPr id="24" name="목표 3 지표"/>
          <p:cNvSpPr txBox="1"/>
          <p:nvPr/>
        </p:nvSpPr>
        <p:spPr>
          <a:xfrm>
            <a:off x="4315968" y="4828032"/>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소재관·제조관 사전 매칭 신청서</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(필요 소재 · 수량 · 납기 기재)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샘플 의뢰서 현장 QR 수집</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6개월 후 양산 전환 추적</a:t>
            </a:r>
            <a:endParaRPr lang="en-US" sz="800" dirty="0"/>
          </a:p>
        </p:txBody>
      </p:sp>
      <p:sp>
        <p:nvSpPr>
          <p:cNvPr id="25" name="목표 3 근거"/>
          <p:cNvSpPr txBox="1"/>
          <p:nvPr/>
        </p:nvSpPr>
        <p:spPr>
          <a:xfrm>
            <a:off x="6620256" y="4828032"/>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수요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원단 최소주문량·심실링 공정에 막혀 있다.</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 기준은 2027년 50ppm으로 강화되고, 2028년에는 아웃도어 예외도 끝난다(미 캘리포니아).</a:t>
            </a:r>
            <a:endParaRPr lang="en-US" sz="800" dirty="0"/>
          </a:p>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공급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 60곳 × 사전 매칭 5건 = 300건(트레이드 데이 하루 2~3건).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PFAS-free 상담 50건은 소재관 30곳이 2건 안팎씩 받는 규모다(사전 매칭의 1/6).</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정책 정합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'All in Korea'의 목표인 소재-제조-브랜드 협력이 일어나는 현장이 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흩어진 시도 통합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대구 봉제 맵(20개사) 같은 지역 매칭을 전국 단위로 모은다.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보정 원칙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샘플 의뢰 비율 1/3은 가정이며, 1회 실측 후 2회차 목표를 고친다.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산업 밸류체인 지도</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고프코어 패션 산업의 가치 흐름과 전시회가 다룰 범위</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코오롱 공식 블로그(네오벤트) · 어패럴뉴스·국제섬유신문(벤텍스·신한산업) · 파이낸셜뉴스(2024.2.1, 신한산업) · 프라우덴(태평양물산) · YKK코리아 · 삼성증권·한국투자증권(2025, 영원무역)</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뉴스토마토(2026)·innoforest(기도산업) · 한국경제(태광실업·창신INC) · 부산일보(트렉스타) · 연세춘추(2021 봉제업체 실태조사) · 경북매일(2026, 대구 봉제 맵) · 한국경제매거진(효성 regen) · 뉴데일리(휴비스 에코에버)</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아시아경제(2024.7.2, 노스페이스 로열티) · TENANT news(2025) · 무신사 뉴스룸(2022.10.13, 그레일즈) · 스마트투데이(2026.8, 무신사 스탠다드 수주회) · BUYMA·프루츠패밀리(고요웨어·산산기어) · 이투데이(2025, 더 풀필) · 바이라인네트워크(2023)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데일리안(FITI) · 산업통상부(2026.2.3) · 스마트투데이(2025, 프리뷰 인 서울) · 패션비즈(K패션 수출 장벽) · 아시아경제(2026.7.29, 코오롱스포츠 차이나) · 크린토피아-벤텍스 협약(2014)</a:t>
            </a:r>
            <a:endParaRPr lang="en-US" sz="700" dirty="0"/>
          </a:p>
        </p:txBody>
      </p:sp>
      <p:sp>
        <p:nvSpPr>
          <p:cNvPr id="7" name="배지 국내 기업"/>
          <p:cNvSpPr/>
          <p:nvPr/>
        </p:nvSpPr>
        <p:spPr>
          <a:xfrm>
            <a:off x="6720840" y="1129284"/>
            <a:ext cx="463296" cy="173736"/>
          </a:xfrm>
          <a:prstGeom prst="roundRect">
            <a:avLst>
              <a:gd name="adj" fmla="val 21053"/>
            </a:avLst>
          </a:prstGeom>
          <a:solidFill>
            <a:srgbClr val="E6F2F3"/>
          </a:solidFill>
          <a:ln/>
        </p:spPr>
        <p:txBody>
          <a:bodyPr wrap="square" lIns="0" tIns="0" rIns="0" bIns="0" rtlCol="0" anchor="ctr"/>
          <a:lstStyle/>
          <a:p>
            <a:pPr algn="ctr" indent="0" marL="0">
              <a:buNone/>
            </a:pPr>
            <a:r>
              <a:rPr lang="en-US" sz="750" dirty="0">
                <a:solidFill>
                  <a:srgbClr val="182F48"/>
                </a:solidFill>
                <a:latin typeface="Noto Sans KR" pitchFamily="34" charset="0"/>
                <a:ea typeface="Noto Sans KR" pitchFamily="34" charset="-122"/>
                <a:cs typeface="Noto Sans KR" pitchFamily="34" charset="-120"/>
              </a:rPr>
              <a:t>국내 기업</a:t>
            </a:r>
            <a:endParaRPr lang="en-US" sz="750" dirty="0"/>
          </a:p>
        </p:txBody>
      </p:sp>
      <p:sp>
        <p:nvSpPr>
          <p:cNvPr id="8" name="배지 해외 기업"/>
          <p:cNvSpPr/>
          <p:nvPr/>
        </p:nvSpPr>
        <p:spPr>
          <a:xfrm>
            <a:off x="7275576" y="1129284"/>
            <a:ext cx="463296" cy="173736"/>
          </a:xfrm>
          <a:prstGeom prst="roundRect">
            <a:avLst>
              <a:gd name="adj" fmla="val 21053"/>
            </a:avLst>
          </a:prstGeom>
          <a:solidFill>
            <a:srgbClr val="EEF0F3"/>
          </a:solidFill>
          <a:ln/>
        </p:spPr>
        <p:txBody>
          <a:bodyPr wrap="square" lIns="0" tIns="0" rIns="0" bIns="0" rtlCol="0" anchor="ctr"/>
          <a:lstStyle/>
          <a:p>
            <a:pPr algn="ctr" indent="0" marL="0">
              <a:buNone/>
            </a:pPr>
            <a:r>
              <a:rPr lang="en-US" sz="750" dirty="0">
                <a:solidFill>
                  <a:srgbClr val="475569"/>
                </a:solidFill>
                <a:latin typeface="Noto Sans KR" pitchFamily="34" charset="0"/>
                <a:ea typeface="Noto Sans KR" pitchFamily="34" charset="-122"/>
                <a:cs typeface="Noto Sans KR" pitchFamily="34" charset="-120"/>
              </a:rPr>
              <a:t>해외 기업</a:t>
            </a:r>
            <a:endParaRPr lang="en-US" sz="750" dirty="0"/>
          </a:p>
        </p:txBody>
      </p:sp>
      <p:sp>
        <p:nvSpPr>
          <p:cNvPr id="9" name="배지 해외 IP 라이선스"/>
          <p:cNvSpPr/>
          <p:nvPr/>
        </p:nvSpPr>
        <p:spPr>
          <a:xfrm>
            <a:off x="7830312" y="1129284"/>
            <a:ext cx="792671" cy="173736"/>
          </a:xfrm>
          <a:prstGeom prst="roundRect">
            <a:avLst>
              <a:gd name="adj" fmla="val 21053"/>
            </a:avLst>
          </a:prstGeom>
          <a:solidFill>
            <a:srgbClr val="FDEDE3"/>
          </a:solidFill>
          <a:ln/>
        </p:spPr>
        <p:txBody>
          <a:bodyPr wrap="square" lIns="0" tIns="0" rIns="0" bIns="0" rtlCol="0" anchor="ctr"/>
          <a:lstStyle/>
          <a:p>
            <a:pPr algn="ctr" indent="0" marL="0">
              <a:buNone/>
            </a:pPr>
            <a:r>
              <a:rPr lang="en-US" sz="750" dirty="0">
                <a:solidFill>
                  <a:srgbClr val="9A3412"/>
                </a:solidFill>
                <a:latin typeface="Noto Sans KR" pitchFamily="34" charset="0"/>
                <a:ea typeface="Noto Sans KR" pitchFamily="34" charset="-122"/>
                <a:cs typeface="Noto Sans KR" pitchFamily="34" charset="-120"/>
              </a:rPr>
              <a:t>해외 IP 라이선스</a:t>
            </a:r>
            <a:endParaRPr lang="en-US" sz="750" dirty="0"/>
          </a:p>
        </p:txBody>
      </p:sp>
      <p:sp>
        <p:nvSpPr>
          <p:cNvPr id="10" name="범례 설명"/>
          <p:cNvSpPr txBox="1"/>
          <p:nvPr/>
        </p:nvSpPr>
        <p:spPr>
          <a:xfrm>
            <a:off x="8760143" y="1115568"/>
            <a:ext cx="3017330" cy="201168"/>
          </a:xfrm>
          <a:prstGeom prst="rect">
            <a:avLst/>
          </a:prstGeom>
          <a:noFill/>
          <a:ln/>
        </p:spPr>
        <p:txBody>
          <a:bodyPr wrap="square" lIns="0" tIns="0" rIns="0" bIns="0" rtlCol="0" anchor="ctr"/>
          <a:lstStyle/>
          <a:p>
            <a:pPr algn="l" indent="0" marL="0">
              <a:lnSpc>
                <a:spcPct val="92000"/>
              </a:lnSpc>
              <a:buNone/>
            </a:pPr>
            <a:r>
              <a:rPr lang="en-US" sz="750" b="1" dirty="0">
                <a:solidFill>
                  <a:srgbClr val="64748B"/>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제품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돈의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병목 위치</a:t>
            </a:r>
            <a:endParaRPr lang="en-US" sz="750" dirty="0"/>
          </a:p>
        </p:txBody>
      </p:sp>
      <p:sp>
        <p:nvSpPr>
          <p:cNvPr id="11" name="지도 바탕"/>
          <p:cNvSpPr/>
          <p:nvPr/>
        </p:nvSpPr>
        <p:spPr>
          <a:xfrm>
            <a:off x="411480" y="1426464"/>
            <a:ext cx="11365992" cy="3767328"/>
          </a:xfrm>
          <a:prstGeom prst="roundRect">
            <a:avLst>
              <a:gd name="adj" fmla="val 971"/>
            </a:avLst>
          </a:prstGeom>
          <a:solidFill>
            <a:srgbClr val="F8FAFC"/>
          </a:solidFill>
          <a:ln w="9525">
            <a:solidFill>
              <a:srgbClr val="CBD5E1"/>
            </a:solidFill>
            <a:prstDash val="solid"/>
          </a:ln>
        </p:spPr>
      </p:sp>
      <p:sp>
        <p:nvSpPr>
          <p:cNvPr id="12" name="전시 정식 범위"/>
          <p:cNvSpPr/>
          <p:nvPr/>
        </p:nvSpPr>
        <p:spPr>
          <a:xfrm>
            <a:off x="1554480" y="1655064"/>
            <a:ext cx="8988552" cy="2587752"/>
          </a:xfrm>
          <a:prstGeom prst="rect">
            <a:avLst/>
          </a:prstGeom>
          <a:solidFill>
            <a:srgbClr val="FFFFFF">
              <a:alpha val="0"/>
            </a:srgbClr>
          </a:solidFill>
          <a:ln w="19050">
            <a:solidFill>
              <a:srgbClr val="267D86"/>
            </a:solidFill>
            <a:prstDash val="dash"/>
          </a:ln>
        </p:spPr>
      </p:sp>
      <p:sp>
        <p:nvSpPr>
          <p:cNvPr id="13" name="퍼블릭 랩 데이 범위"/>
          <p:cNvSpPr/>
          <p:nvPr/>
        </p:nvSpPr>
        <p:spPr>
          <a:xfrm>
            <a:off x="10561320" y="1655064"/>
            <a:ext cx="1188720" cy="2587752"/>
          </a:xfrm>
          <a:prstGeom prst="rect">
            <a:avLst/>
          </a:prstGeom>
          <a:solidFill>
            <a:srgbClr val="FFFFFF">
              <a:alpha val="0"/>
            </a:srgbClr>
          </a:solidFill>
          <a:ln w="12700">
            <a:solidFill>
              <a:srgbClr val="267D86"/>
            </a:solidFill>
            <a:prstDash val="sysDot"/>
          </a:ln>
        </p:spPr>
      </p:sp>
      <p:sp>
        <p:nvSpPr>
          <p:cNvPr id="14" name="제외 표시"/>
          <p:cNvSpPr txBox="1"/>
          <p:nvPr/>
        </p:nvSpPr>
        <p:spPr>
          <a:xfrm>
            <a:off x="484632" y="1463040"/>
            <a:ext cx="100584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94A3B8"/>
                </a:solidFill>
                <a:latin typeface="Noto Sans KR" pitchFamily="34" charset="0"/>
                <a:ea typeface="Noto Sans KR" pitchFamily="34" charset="-122"/>
                <a:cs typeface="Noto Sans KR" pitchFamily="34" charset="-120"/>
              </a:rPr>
              <a:t>제외</a:t>
            </a:r>
            <a:endParaRPr lang="en-US" sz="800" dirty="0"/>
          </a:p>
        </p:txBody>
      </p:sp>
      <p:sp>
        <p:nvSpPr>
          <p:cNvPr id="15" name="정식 범위 표시"/>
          <p:cNvSpPr txBox="1"/>
          <p:nvPr/>
        </p:nvSpPr>
        <p:spPr>
          <a:xfrm>
            <a:off x="1600200" y="1463040"/>
            <a:ext cx="8897112" cy="201168"/>
          </a:xfrm>
          <a:prstGeom prst="rect">
            <a:avLst/>
          </a:prstGeom>
          <a:noFill/>
          <a:ln/>
        </p:spPr>
        <p:txBody>
          <a:bodyPr wrap="square" lIns="0" tIns="0" rIns="0" bIns="0" rtlCol="0" anchor="ctr"/>
          <a:lstStyle/>
          <a:p>
            <a:pPr algn="ctr"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GFF SEOUL 정식 참가 범위 ②~⑥ (소재관 · 제조관 · 브랜드관 · 트레이드 데이)</a:t>
            </a:r>
            <a:endParaRPr lang="en-US" sz="850" dirty="0"/>
          </a:p>
        </p:txBody>
      </p:sp>
      <p:sp>
        <p:nvSpPr>
          <p:cNvPr id="16" name="퍼블릭 범위 표시"/>
          <p:cNvSpPr txBox="1"/>
          <p:nvPr/>
        </p:nvSpPr>
        <p:spPr>
          <a:xfrm>
            <a:off x="10561320" y="1463040"/>
            <a:ext cx="118872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267D86"/>
                </a:solidFill>
                <a:latin typeface="Noto Sans KR" pitchFamily="34" charset="0"/>
                <a:ea typeface="Noto Sans KR" pitchFamily="34" charset="-122"/>
                <a:cs typeface="Noto Sans KR" pitchFamily="34" charset="-120"/>
              </a:rPr>
              <a:t>퍼블릭 랩 데이</a:t>
            </a:r>
            <a:endParaRPr lang="en-US" sz="800" dirty="0"/>
          </a:p>
        </p:txBody>
      </p:sp>
      <p:sp>
        <p:nvSpPr>
          <p:cNvPr id="17" name="단계 1"/>
          <p:cNvSpPr txBox="1"/>
          <p:nvPr/>
        </p:nvSpPr>
        <p:spPr>
          <a:xfrm>
            <a:off x="484632" y="1700784"/>
            <a:ext cx="1005840" cy="347472"/>
          </a:xfrm>
          <a:prstGeom prst="rect">
            <a:avLst/>
          </a:prstGeom>
          <a:solidFill>
            <a:srgbClr val="94A3B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① 원사 · 원료</a:t>
            </a:r>
            <a:endParaRPr lang="en-US" sz="900" dirty="0"/>
          </a:p>
          <a:p>
            <a:pPr algn="ctr" indent="0" marL="0">
              <a:lnSpc>
                <a:spcPct val="95000"/>
              </a:lnSpc>
              <a:buNone/>
            </a:pPr>
            <a:r>
              <a:rPr lang="en-US" sz="700" dirty="0">
                <a:solidFill>
                  <a:srgbClr val="E2E8F0"/>
                </a:solidFill>
                <a:latin typeface="Noto Sans KR" pitchFamily="34" charset="0"/>
                <a:ea typeface="Noto Sans KR" pitchFamily="34" charset="-122"/>
                <a:cs typeface="Noto Sans KR" pitchFamily="34" charset="-120"/>
              </a:rPr>
              <a:t>섬유 · 화학</a:t>
            </a:r>
            <a:endParaRPr lang="en-US" sz="900" dirty="0"/>
          </a:p>
        </p:txBody>
      </p:sp>
      <p:sp>
        <p:nvSpPr>
          <p:cNvPr id="18" name="단계 본문 1"/>
          <p:cNvSpPr/>
          <p:nvPr/>
        </p:nvSpPr>
        <p:spPr>
          <a:xfrm>
            <a:off x="484632" y="2093976"/>
            <a:ext cx="1005840" cy="2121408"/>
          </a:xfrm>
          <a:prstGeom prst="rect">
            <a:avLst/>
          </a:prstGeom>
          <a:solidFill>
            <a:srgbClr val="FFFFFF"/>
          </a:solidFill>
          <a:ln w="9525">
            <a:solidFill>
              <a:srgbClr val="CBD5E1"/>
            </a:solidFill>
            <a:prstDash val="solid"/>
          </a:ln>
        </p:spPr>
      </p:sp>
      <p:sp>
        <p:nvSpPr>
          <p:cNvPr id="19" name="제품 흐름 1"/>
          <p:cNvSpPr/>
          <p:nvPr/>
        </p:nvSpPr>
        <p:spPr>
          <a:xfrm>
            <a:off x="1499616" y="1874520"/>
            <a:ext cx="91440" cy="0"/>
          </a:xfrm>
          <a:prstGeom prst="line">
            <a:avLst/>
          </a:prstGeom>
          <a:noFill/>
          <a:ln w="19050">
            <a:solidFill>
              <a:srgbClr val="94A3B8"/>
            </a:solidFill>
            <a:prstDash val="solid"/>
            <a:tailEnd type="triangle"/>
          </a:ln>
        </p:spPr>
      </p:sp>
      <p:sp>
        <p:nvSpPr>
          <p:cNvPr id="20" name="단계 2"/>
          <p:cNvSpPr txBox="1"/>
          <p:nvPr/>
        </p:nvSpPr>
        <p:spPr>
          <a:xfrm>
            <a:off x="1600200" y="1700784"/>
            <a:ext cx="148132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② 기능성 원단</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투습방수 · 멤브레인</a:t>
            </a:r>
            <a:endParaRPr lang="en-US" sz="900" dirty="0"/>
          </a:p>
        </p:txBody>
      </p:sp>
      <p:sp>
        <p:nvSpPr>
          <p:cNvPr id="21" name="단계 본문 2"/>
          <p:cNvSpPr/>
          <p:nvPr/>
        </p:nvSpPr>
        <p:spPr>
          <a:xfrm>
            <a:off x="1600200" y="2093976"/>
            <a:ext cx="1481328" cy="2121408"/>
          </a:xfrm>
          <a:prstGeom prst="rect">
            <a:avLst/>
          </a:prstGeom>
          <a:solidFill>
            <a:srgbClr val="FFFFFF"/>
          </a:solidFill>
          <a:ln w="9525">
            <a:solidFill>
              <a:srgbClr val="CBD5E1"/>
            </a:solidFill>
            <a:prstDash val="solid"/>
          </a:ln>
        </p:spPr>
      </p:sp>
      <p:sp>
        <p:nvSpPr>
          <p:cNvPr id="22" name="제품 흐름 2"/>
          <p:cNvSpPr/>
          <p:nvPr/>
        </p:nvSpPr>
        <p:spPr>
          <a:xfrm>
            <a:off x="3090672" y="1874520"/>
            <a:ext cx="91440" cy="0"/>
          </a:xfrm>
          <a:prstGeom prst="line">
            <a:avLst/>
          </a:prstGeom>
          <a:noFill/>
          <a:ln w="19050">
            <a:solidFill>
              <a:srgbClr val="94A3B8"/>
            </a:solidFill>
            <a:prstDash val="solid"/>
            <a:tailEnd type="triangle"/>
          </a:ln>
        </p:spPr>
      </p:sp>
      <p:sp>
        <p:nvSpPr>
          <p:cNvPr id="23" name="단계 3"/>
          <p:cNvSpPr txBox="1"/>
          <p:nvPr/>
        </p:nvSpPr>
        <p:spPr>
          <a:xfrm>
            <a:off x="3191256" y="1700784"/>
            <a:ext cx="129844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③ 충전재 · 부자재</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다운 · 지퍼 · 밑창</a:t>
            </a:r>
            <a:endParaRPr lang="en-US" sz="900" dirty="0"/>
          </a:p>
        </p:txBody>
      </p:sp>
      <p:sp>
        <p:nvSpPr>
          <p:cNvPr id="24" name="단계 본문 3"/>
          <p:cNvSpPr/>
          <p:nvPr/>
        </p:nvSpPr>
        <p:spPr>
          <a:xfrm>
            <a:off x="3191256" y="2093976"/>
            <a:ext cx="1298448" cy="2121408"/>
          </a:xfrm>
          <a:prstGeom prst="rect">
            <a:avLst/>
          </a:prstGeom>
          <a:solidFill>
            <a:srgbClr val="FFFFFF"/>
          </a:solidFill>
          <a:ln w="9525">
            <a:solidFill>
              <a:srgbClr val="CBD5E1"/>
            </a:solidFill>
            <a:prstDash val="solid"/>
          </a:ln>
        </p:spPr>
      </p:sp>
      <p:sp>
        <p:nvSpPr>
          <p:cNvPr id="25" name="제품 흐름 3"/>
          <p:cNvSpPr/>
          <p:nvPr/>
        </p:nvSpPr>
        <p:spPr>
          <a:xfrm>
            <a:off x="4498848" y="1874520"/>
            <a:ext cx="91440" cy="0"/>
          </a:xfrm>
          <a:prstGeom prst="line">
            <a:avLst/>
          </a:prstGeom>
          <a:noFill/>
          <a:ln w="19050">
            <a:solidFill>
              <a:srgbClr val="94A3B8"/>
            </a:solidFill>
            <a:prstDash val="solid"/>
            <a:tailEnd type="triangle"/>
          </a:ln>
        </p:spPr>
      </p:sp>
      <p:sp>
        <p:nvSpPr>
          <p:cNvPr id="26" name="단계 4"/>
          <p:cNvSpPr txBox="1"/>
          <p:nvPr/>
        </p:nvSpPr>
        <p:spPr>
          <a:xfrm>
            <a:off x="4599432" y="1700784"/>
            <a:ext cx="1517904"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④ 생산</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OEM · ODM · 봉제 · 신발</a:t>
            </a:r>
            <a:endParaRPr lang="en-US" sz="900" dirty="0"/>
          </a:p>
        </p:txBody>
      </p:sp>
      <p:sp>
        <p:nvSpPr>
          <p:cNvPr id="27" name="단계 본문 4"/>
          <p:cNvSpPr/>
          <p:nvPr/>
        </p:nvSpPr>
        <p:spPr>
          <a:xfrm>
            <a:off x="4599432" y="2093976"/>
            <a:ext cx="1517904" cy="2121408"/>
          </a:xfrm>
          <a:prstGeom prst="rect">
            <a:avLst/>
          </a:prstGeom>
          <a:solidFill>
            <a:srgbClr val="FFFFFF"/>
          </a:solidFill>
          <a:ln w="9525">
            <a:solidFill>
              <a:srgbClr val="CBD5E1"/>
            </a:solidFill>
            <a:prstDash val="solid"/>
          </a:ln>
        </p:spPr>
      </p:sp>
      <p:sp>
        <p:nvSpPr>
          <p:cNvPr id="28" name="제품 흐름 4"/>
          <p:cNvSpPr/>
          <p:nvPr/>
        </p:nvSpPr>
        <p:spPr>
          <a:xfrm>
            <a:off x="6126480" y="1874520"/>
            <a:ext cx="91440" cy="0"/>
          </a:xfrm>
          <a:prstGeom prst="line">
            <a:avLst/>
          </a:prstGeom>
          <a:noFill/>
          <a:ln w="19050">
            <a:solidFill>
              <a:srgbClr val="94A3B8"/>
            </a:solidFill>
            <a:prstDash val="solid"/>
            <a:tailEnd type="triangle"/>
          </a:ln>
        </p:spPr>
      </p:sp>
      <p:sp>
        <p:nvSpPr>
          <p:cNvPr id="29" name="단계 5"/>
          <p:cNvSpPr txBox="1"/>
          <p:nvPr/>
        </p:nvSpPr>
        <p:spPr>
          <a:xfrm>
            <a:off x="6227064" y="1700784"/>
            <a:ext cx="210312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⑤ 브랜드</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기획 · 디자인 · 마케팅</a:t>
            </a:r>
            <a:endParaRPr lang="en-US" sz="900" dirty="0"/>
          </a:p>
        </p:txBody>
      </p:sp>
      <p:sp>
        <p:nvSpPr>
          <p:cNvPr id="30" name="단계 본문 5"/>
          <p:cNvSpPr/>
          <p:nvPr/>
        </p:nvSpPr>
        <p:spPr>
          <a:xfrm>
            <a:off x="6227064" y="2093976"/>
            <a:ext cx="2103120" cy="2121408"/>
          </a:xfrm>
          <a:prstGeom prst="rect">
            <a:avLst/>
          </a:prstGeom>
          <a:solidFill>
            <a:srgbClr val="FFFFFF"/>
          </a:solidFill>
          <a:ln w="9525">
            <a:solidFill>
              <a:srgbClr val="CBD5E1"/>
            </a:solidFill>
            <a:prstDash val="solid"/>
          </a:ln>
        </p:spPr>
      </p:sp>
      <p:sp>
        <p:nvSpPr>
          <p:cNvPr id="31" name="제품 흐름 5"/>
          <p:cNvSpPr/>
          <p:nvPr/>
        </p:nvSpPr>
        <p:spPr>
          <a:xfrm>
            <a:off x="8339328" y="1874520"/>
            <a:ext cx="91440" cy="0"/>
          </a:xfrm>
          <a:prstGeom prst="line">
            <a:avLst/>
          </a:prstGeom>
          <a:noFill/>
          <a:ln w="19050">
            <a:solidFill>
              <a:srgbClr val="94A3B8"/>
            </a:solidFill>
            <a:prstDash val="solid"/>
            <a:tailEnd type="triangle"/>
          </a:ln>
        </p:spPr>
      </p:sp>
      <p:sp>
        <p:nvSpPr>
          <p:cNvPr id="32" name="단계 6"/>
          <p:cNvSpPr txBox="1"/>
          <p:nvPr/>
        </p:nvSpPr>
        <p:spPr>
          <a:xfrm>
            <a:off x="8439912" y="1700784"/>
            <a:ext cx="205740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⑥ 유통 (B2B 바이어)</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국내 · 해외 판매 채널</a:t>
            </a:r>
            <a:endParaRPr lang="en-US" sz="900" dirty="0"/>
          </a:p>
        </p:txBody>
      </p:sp>
      <p:sp>
        <p:nvSpPr>
          <p:cNvPr id="33" name="단계 본문 6"/>
          <p:cNvSpPr/>
          <p:nvPr/>
        </p:nvSpPr>
        <p:spPr>
          <a:xfrm>
            <a:off x="8439912" y="2093976"/>
            <a:ext cx="2057400" cy="2121408"/>
          </a:xfrm>
          <a:prstGeom prst="rect">
            <a:avLst/>
          </a:prstGeom>
          <a:solidFill>
            <a:srgbClr val="FFFFFF"/>
          </a:solidFill>
          <a:ln w="9525">
            <a:solidFill>
              <a:srgbClr val="CBD5E1"/>
            </a:solidFill>
            <a:prstDash val="solid"/>
          </a:ln>
        </p:spPr>
      </p:sp>
      <p:sp>
        <p:nvSpPr>
          <p:cNvPr id="34" name="제품 흐름 6"/>
          <p:cNvSpPr/>
          <p:nvPr/>
        </p:nvSpPr>
        <p:spPr>
          <a:xfrm>
            <a:off x="10506456" y="1874520"/>
            <a:ext cx="91440" cy="0"/>
          </a:xfrm>
          <a:prstGeom prst="line">
            <a:avLst/>
          </a:prstGeom>
          <a:noFill/>
          <a:ln w="19050">
            <a:solidFill>
              <a:srgbClr val="94A3B8"/>
            </a:solidFill>
            <a:prstDash val="solid"/>
            <a:tailEnd type="triangle"/>
          </a:ln>
        </p:spPr>
      </p:sp>
      <p:sp>
        <p:nvSpPr>
          <p:cNvPr id="35" name="단계 7"/>
          <p:cNvSpPr txBox="1"/>
          <p:nvPr/>
        </p:nvSpPr>
        <p:spPr>
          <a:xfrm>
            <a:off x="10607040" y="1700784"/>
            <a:ext cx="109728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⑦ 소비자 · 순환</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착용 · 리세일 · 재활용</a:t>
            </a:r>
            <a:endParaRPr lang="en-US" sz="900" dirty="0"/>
          </a:p>
        </p:txBody>
      </p:sp>
      <p:sp>
        <p:nvSpPr>
          <p:cNvPr id="36" name="단계 본문 7"/>
          <p:cNvSpPr/>
          <p:nvPr/>
        </p:nvSpPr>
        <p:spPr>
          <a:xfrm>
            <a:off x="10607040" y="2093976"/>
            <a:ext cx="1097280" cy="2121408"/>
          </a:xfrm>
          <a:prstGeom prst="rect">
            <a:avLst/>
          </a:prstGeom>
          <a:solidFill>
            <a:srgbClr val="FFFFFF"/>
          </a:solidFill>
          <a:ln w="9525">
            <a:solidFill>
              <a:srgbClr val="CBD5E1"/>
            </a:solidFill>
            <a:prstDash val="solid"/>
          </a:ln>
        </p:spPr>
      </p:sp>
      <p:sp>
        <p:nvSpPr>
          <p:cNvPr id="37" name="단계 1 국내"/>
          <p:cNvSpPr txBox="1"/>
          <p:nvPr/>
        </p:nvSpPr>
        <p:spPr>
          <a:xfrm>
            <a:off x="539496" y="2148840"/>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a:t>
            </a:r>
            <a:endParaRPr lang="en-US" sz="680" dirty="0"/>
          </a:p>
        </p:txBody>
      </p:sp>
      <p:sp>
        <p:nvSpPr>
          <p:cNvPr id="38" name="배지 효성티앤씨"/>
          <p:cNvSpPr/>
          <p:nvPr/>
        </p:nvSpPr>
        <p:spPr>
          <a:xfrm>
            <a:off x="539496" y="2295144"/>
            <a:ext cx="50038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효성티앤씨</a:t>
            </a:r>
            <a:endParaRPr lang="en-US" sz="700" dirty="0"/>
          </a:p>
        </p:txBody>
      </p:sp>
      <p:sp>
        <p:nvSpPr>
          <p:cNvPr id="39" name="배지 태광산업"/>
          <p:cNvSpPr/>
          <p:nvPr/>
        </p:nvSpPr>
        <p:spPr>
          <a:xfrm>
            <a:off x="539496" y="249174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태광산업</a:t>
            </a:r>
            <a:endParaRPr lang="en-US" sz="700" dirty="0"/>
          </a:p>
        </p:txBody>
      </p:sp>
      <p:sp>
        <p:nvSpPr>
          <p:cNvPr id="40" name="배지 휴비스"/>
          <p:cNvSpPr/>
          <p:nvPr/>
        </p:nvSpPr>
        <p:spPr>
          <a:xfrm>
            <a:off x="994664" y="249174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a:t>
            </a:r>
            <a:endParaRPr lang="en-US" sz="700" dirty="0"/>
          </a:p>
        </p:txBody>
      </p:sp>
      <p:sp>
        <p:nvSpPr>
          <p:cNvPr id="41" name="단계 1 해외"/>
          <p:cNvSpPr txBox="1"/>
          <p:nvPr/>
        </p:nvSpPr>
        <p:spPr>
          <a:xfrm>
            <a:off x="539496" y="271119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a:t>
            </a:r>
            <a:endParaRPr lang="en-US" sz="680" dirty="0"/>
          </a:p>
        </p:txBody>
      </p:sp>
      <p:sp>
        <p:nvSpPr>
          <p:cNvPr id="42" name="배지 인비스타"/>
          <p:cNvSpPr/>
          <p:nvPr/>
        </p:nvSpPr>
        <p:spPr>
          <a:xfrm>
            <a:off x="539496" y="285750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인비스타</a:t>
            </a:r>
            <a:endParaRPr lang="en-US" sz="700" dirty="0"/>
          </a:p>
        </p:txBody>
      </p:sp>
      <p:sp>
        <p:nvSpPr>
          <p:cNvPr id="43" name="배지 도레이"/>
          <p:cNvSpPr/>
          <p:nvPr/>
        </p:nvSpPr>
        <p:spPr>
          <a:xfrm>
            <a:off x="994664" y="285750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도레이</a:t>
            </a:r>
            <a:endParaRPr lang="en-US" sz="700" dirty="0"/>
          </a:p>
        </p:txBody>
      </p:sp>
      <p:sp>
        <p:nvSpPr>
          <p:cNvPr id="44" name="단계 1 리사이클 원사"/>
          <p:cNvSpPr txBox="1"/>
          <p:nvPr/>
        </p:nvSpPr>
        <p:spPr>
          <a:xfrm>
            <a:off x="539496" y="307695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리사이클 원사</a:t>
            </a:r>
            <a:endParaRPr lang="en-US" sz="680" dirty="0"/>
          </a:p>
        </p:txBody>
      </p:sp>
      <p:sp>
        <p:nvSpPr>
          <p:cNvPr id="45" name="배지 효성 regen"/>
          <p:cNvSpPr/>
          <p:nvPr/>
        </p:nvSpPr>
        <p:spPr>
          <a:xfrm>
            <a:off x="539496" y="3223260"/>
            <a:ext cx="53309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 regen</a:t>
            </a:r>
            <a:endParaRPr lang="en-US" sz="700" dirty="0"/>
          </a:p>
        </p:txBody>
      </p:sp>
      <p:sp>
        <p:nvSpPr>
          <p:cNvPr id="46" name="배지 휴비스 에코에버"/>
          <p:cNvSpPr/>
          <p:nvPr/>
        </p:nvSpPr>
        <p:spPr>
          <a:xfrm>
            <a:off x="539496" y="3419856"/>
            <a:ext cx="68387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 에코에버</a:t>
            </a:r>
            <a:endParaRPr lang="en-US" sz="700" dirty="0"/>
          </a:p>
        </p:txBody>
      </p:sp>
      <p:sp>
        <p:nvSpPr>
          <p:cNvPr id="47" name="단계 2 국내 원단사"/>
          <p:cNvSpPr txBox="1"/>
          <p:nvPr/>
        </p:nvSpPr>
        <p:spPr>
          <a:xfrm>
            <a:off x="1655064" y="2148840"/>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원단사</a:t>
            </a:r>
            <a:endParaRPr lang="en-US" sz="680" dirty="0"/>
          </a:p>
        </p:txBody>
      </p:sp>
      <p:sp>
        <p:nvSpPr>
          <p:cNvPr id="48" name="배지 코오롱인더스트리"/>
          <p:cNvSpPr/>
          <p:nvPr/>
        </p:nvSpPr>
        <p:spPr>
          <a:xfrm>
            <a:off x="1655064" y="2295144"/>
            <a:ext cx="74574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코오롱인더스트리</a:t>
            </a:r>
            <a:endParaRPr lang="en-US" sz="700" dirty="0"/>
          </a:p>
        </p:txBody>
      </p:sp>
      <p:sp>
        <p:nvSpPr>
          <p:cNvPr id="49" name="배지 효성티앤씨"/>
          <p:cNvSpPr/>
          <p:nvPr/>
        </p:nvSpPr>
        <p:spPr>
          <a:xfrm>
            <a:off x="2437384" y="2295144"/>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효성티앤씨</a:t>
            </a:r>
            <a:endParaRPr lang="en-US" sz="700" dirty="0"/>
          </a:p>
        </p:txBody>
      </p:sp>
      <p:sp>
        <p:nvSpPr>
          <p:cNvPr id="50" name="배지 벤텍스"/>
          <p:cNvSpPr/>
          <p:nvPr/>
        </p:nvSpPr>
        <p:spPr>
          <a:xfrm>
            <a:off x="1655064" y="2491740"/>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벤텍스</a:t>
            </a:r>
            <a:endParaRPr lang="en-US" sz="700" dirty="0"/>
          </a:p>
        </p:txBody>
      </p:sp>
      <p:sp>
        <p:nvSpPr>
          <p:cNvPr id="51" name="배지 신한산업"/>
          <p:cNvSpPr/>
          <p:nvPr/>
        </p:nvSpPr>
        <p:spPr>
          <a:xfrm>
            <a:off x="2028444"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신한산업</a:t>
            </a:r>
            <a:endParaRPr lang="en-US" sz="700" dirty="0"/>
          </a:p>
        </p:txBody>
      </p:sp>
      <p:sp>
        <p:nvSpPr>
          <p:cNvPr id="52" name="단계 2 해외 소재 브랜드"/>
          <p:cNvSpPr txBox="1"/>
          <p:nvPr/>
        </p:nvSpPr>
        <p:spPr>
          <a:xfrm>
            <a:off x="1655064" y="2711196"/>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소재 브랜드</a:t>
            </a:r>
            <a:endParaRPr lang="en-US" sz="680" dirty="0"/>
          </a:p>
        </p:txBody>
      </p:sp>
      <p:sp>
        <p:nvSpPr>
          <p:cNvPr id="53" name="배지 고어텍스"/>
          <p:cNvSpPr/>
          <p:nvPr/>
        </p:nvSpPr>
        <p:spPr>
          <a:xfrm>
            <a:off x="1655064" y="2857500"/>
            <a:ext cx="41859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고어텍스</a:t>
            </a:r>
            <a:endParaRPr lang="en-US" sz="700" dirty="0"/>
          </a:p>
        </p:txBody>
      </p:sp>
      <p:sp>
        <p:nvSpPr>
          <p:cNvPr id="54" name="배지 폴라텍"/>
          <p:cNvSpPr/>
          <p:nvPr/>
        </p:nvSpPr>
        <p:spPr>
          <a:xfrm>
            <a:off x="211023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폴라텍</a:t>
            </a:r>
            <a:endParaRPr lang="en-US" sz="700" dirty="0"/>
          </a:p>
        </p:txBody>
      </p:sp>
      <p:sp>
        <p:nvSpPr>
          <p:cNvPr id="55" name="배지 퍼텍스"/>
          <p:cNvSpPr/>
          <p:nvPr/>
        </p:nvSpPr>
        <p:spPr>
          <a:xfrm>
            <a:off x="248361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퍼텍스</a:t>
            </a:r>
            <a:endParaRPr lang="en-US" sz="700" dirty="0"/>
          </a:p>
        </p:txBody>
      </p:sp>
      <p:sp>
        <p:nvSpPr>
          <p:cNvPr id="56" name="단계 2 메모"/>
          <p:cNvSpPr txBox="1"/>
          <p:nvPr/>
        </p:nvSpPr>
        <p:spPr>
          <a:xfrm>
            <a:off x="1655064" y="3076956"/>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코오롱 네오벤트 →</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노스페이스·컬럼비아 수출</a:t>
            </a:r>
            <a:endParaRPr lang="en-US" sz="650" dirty="0"/>
          </a:p>
        </p:txBody>
      </p:sp>
      <p:sp>
        <p:nvSpPr>
          <p:cNvPr id="57" name="단계 2 메모"/>
          <p:cNvSpPr txBox="1"/>
          <p:nvPr/>
        </p:nvSpPr>
        <p:spPr>
          <a:xfrm>
            <a:off x="1655064" y="3332988"/>
            <a:ext cx="1371600"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PFAS 규제로 비불소</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발수·멤브레인 전환 중</a:t>
            </a:r>
            <a:endParaRPr lang="en-US" sz="650" dirty="0"/>
          </a:p>
        </p:txBody>
      </p:sp>
      <p:sp>
        <p:nvSpPr>
          <p:cNvPr id="58" name="단계 2 메모"/>
          <p:cNvSpPr txBox="1"/>
          <p:nvPr/>
        </p:nvSpPr>
        <p:spPr>
          <a:xfrm>
            <a:off x="1655064" y="3589020"/>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원단 산지: 대구·경북</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화섬 직물 클러스터</a:t>
            </a:r>
            <a:endParaRPr lang="en-US" sz="650" dirty="0"/>
          </a:p>
        </p:txBody>
      </p:sp>
      <p:sp>
        <p:nvSpPr>
          <p:cNvPr id="59" name="단계 3 충전재"/>
          <p:cNvSpPr txBox="1"/>
          <p:nvPr/>
        </p:nvSpPr>
        <p:spPr>
          <a:xfrm>
            <a:off x="3246120" y="2148840"/>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충전재</a:t>
            </a:r>
            <a:endParaRPr lang="en-US" sz="680" dirty="0"/>
          </a:p>
        </p:txBody>
      </p:sp>
      <p:sp>
        <p:nvSpPr>
          <p:cNvPr id="60" name="배지 프라우덴(태평양물산)"/>
          <p:cNvSpPr/>
          <p:nvPr/>
        </p:nvSpPr>
        <p:spPr>
          <a:xfrm>
            <a:off x="3246120" y="2295144"/>
            <a:ext cx="95003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프라우덴(태평양물산)</a:t>
            </a:r>
            <a:endParaRPr lang="en-US" sz="700" dirty="0"/>
          </a:p>
        </p:txBody>
      </p:sp>
      <p:sp>
        <p:nvSpPr>
          <p:cNvPr id="61" name="배지 프리마로프트"/>
          <p:cNvSpPr/>
          <p:nvPr/>
        </p:nvSpPr>
        <p:spPr>
          <a:xfrm>
            <a:off x="3246120" y="2491740"/>
            <a:ext cx="582168"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프리마로프트</a:t>
            </a:r>
            <a:endParaRPr lang="en-US" sz="700" dirty="0"/>
          </a:p>
        </p:txBody>
      </p:sp>
      <p:sp>
        <p:nvSpPr>
          <p:cNvPr id="62" name="배지 3M 신슐레이트"/>
          <p:cNvSpPr/>
          <p:nvPr/>
        </p:nvSpPr>
        <p:spPr>
          <a:xfrm>
            <a:off x="3246120" y="2688336"/>
            <a:ext cx="662623"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3M 신슐레이트</a:t>
            </a:r>
            <a:endParaRPr lang="en-US" sz="700" dirty="0"/>
          </a:p>
        </p:txBody>
      </p:sp>
      <p:sp>
        <p:nvSpPr>
          <p:cNvPr id="63" name="단계 3 부자재"/>
          <p:cNvSpPr txBox="1"/>
          <p:nvPr/>
        </p:nvSpPr>
        <p:spPr>
          <a:xfrm>
            <a:off x="3246120" y="2907792"/>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부자재</a:t>
            </a:r>
            <a:endParaRPr lang="en-US" sz="680" dirty="0"/>
          </a:p>
        </p:txBody>
      </p:sp>
      <p:sp>
        <p:nvSpPr>
          <p:cNvPr id="64" name="배지 YKK코리아"/>
          <p:cNvSpPr/>
          <p:nvPr/>
        </p:nvSpPr>
        <p:spPr>
          <a:xfrm>
            <a:off x="3246120" y="3054096"/>
            <a:ext cx="519671"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YKK코리아</a:t>
            </a:r>
            <a:endParaRPr lang="en-US" sz="700" dirty="0"/>
          </a:p>
        </p:txBody>
      </p:sp>
      <p:sp>
        <p:nvSpPr>
          <p:cNvPr id="65" name="배지 비브람"/>
          <p:cNvSpPr/>
          <p:nvPr/>
        </p:nvSpPr>
        <p:spPr>
          <a:xfrm>
            <a:off x="3802367" y="3054096"/>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비브람</a:t>
            </a:r>
            <a:endParaRPr lang="en-US" sz="700" dirty="0"/>
          </a:p>
        </p:txBody>
      </p:sp>
      <p:sp>
        <p:nvSpPr>
          <p:cNvPr id="66" name="배지 SBS(중국)"/>
          <p:cNvSpPr/>
          <p:nvPr/>
        </p:nvSpPr>
        <p:spPr>
          <a:xfrm>
            <a:off x="3246120" y="3250692"/>
            <a:ext cx="52109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SBS(중국)</a:t>
            </a:r>
            <a:endParaRPr lang="en-US" sz="700" dirty="0"/>
          </a:p>
        </p:txBody>
      </p:sp>
      <p:sp>
        <p:nvSpPr>
          <p:cNvPr id="67" name="단계 3 메모"/>
          <p:cNvSpPr txBox="1"/>
          <p:nvPr/>
        </p:nvSpPr>
        <p:spPr>
          <a:xfrm>
            <a:off x="3246120" y="3470148"/>
            <a:ext cx="118872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프라우덴 고객: 컬럼비아·</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몽벨·아디다스 등</a:t>
            </a:r>
            <a:endParaRPr lang="en-US" sz="650" dirty="0"/>
          </a:p>
        </p:txBody>
      </p:sp>
      <p:sp>
        <p:nvSpPr>
          <p:cNvPr id="68" name="단계 4 의류 OEM · 기능성"/>
          <p:cNvSpPr txBox="1"/>
          <p:nvPr/>
        </p:nvSpPr>
        <p:spPr>
          <a:xfrm>
            <a:off x="4654296" y="2148840"/>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의류 OEM · 기능성</a:t>
            </a:r>
            <a:endParaRPr lang="en-US" sz="680" dirty="0"/>
          </a:p>
        </p:txBody>
      </p:sp>
      <p:sp>
        <p:nvSpPr>
          <p:cNvPr id="69" name="배지 영원무역"/>
          <p:cNvSpPr/>
          <p:nvPr/>
        </p:nvSpPr>
        <p:spPr>
          <a:xfrm>
            <a:off x="4654296"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영원무역</a:t>
            </a:r>
            <a:endParaRPr lang="en-US" sz="700" dirty="0"/>
          </a:p>
        </p:txBody>
      </p:sp>
      <p:sp>
        <p:nvSpPr>
          <p:cNvPr id="70" name="배지 기도산업"/>
          <p:cNvSpPr/>
          <p:nvPr/>
        </p:nvSpPr>
        <p:spPr>
          <a:xfrm>
            <a:off x="5109464"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기도산업</a:t>
            </a:r>
            <a:endParaRPr lang="en-US" sz="700" dirty="0"/>
          </a:p>
        </p:txBody>
      </p:sp>
      <p:sp>
        <p:nvSpPr>
          <p:cNvPr id="71" name="배지 한세실업"/>
          <p:cNvSpPr/>
          <p:nvPr/>
        </p:nvSpPr>
        <p:spPr>
          <a:xfrm>
            <a:off x="5564632"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한세실업</a:t>
            </a:r>
            <a:endParaRPr lang="en-US" sz="700" dirty="0"/>
          </a:p>
        </p:txBody>
      </p:sp>
      <p:sp>
        <p:nvSpPr>
          <p:cNvPr id="72" name="배지 세아상역"/>
          <p:cNvSpPr/>
          <p:nvPr/>
        </p:nvSpPr>
        <p:spPr>
          <a:xfrm>
            <a:off x="4654296"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세아상역</a:t>
            </a:r>
            <a:endParaRPr lang="en-US" sz="700" dirty="0"/>
          </a:p>
        </p:txBody>
      </p:sp>
      <p:sp>
        <p:nvSpPr>
          <p:cNvPr id="73" name="단계 4 메모"/>
          <p:cNvSpPr txBox="1"/>
          <p:nvPr/>
        </p:nvSpPr>
        <p:spPr>
          <a:xfrm>
            <a:off x="4654296" y="2711196"/>
            <a:ext cx="1408176"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영원무역 고객 40여 곳:</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아크테릭스·노스페이스 등</a:t>
            </a:r>
            <a:endParaRPr lang="en-US" sz="650" dirty="0"/>
          </a:p>
        </p:txBody>
      </p:sp>
      <p:sp>
        <p:nvSpPr>
          <p:cNvPr id="74" name="단계 4 소량 · 샘플 봉제"/>
          <p:cNvSpPr txBox="1"/>
          <p:nvPr/>
        </p:nvSpPr>
        <p:spPr>
          <a:xfrm>
            <a:off x="4654296" y="2967228"/>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소량 · 샘플 봉제</a:t>
            </a:r>
            <a:endParaRPr lang="en-US" sz="680" dirty="0"/>
          </a:p>
        </p:txBody>
      </p:sp>
      <p:sp>
        <p:nvSpPr>
          <p:cNvPr id="75" name="배지 서울 도심 봉제 1.8만 곳"/>
          <p:cNvSpPr/>
          <p:nvPr/>
        </p:nvSpPr>
        <p:spPr>
          <a:xfrm>
            <a:off x="4654296" y="3113532"/>
            <a:ext cx="990397"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서울 도심 봉제 1.8만 곳</a:t>
            </a:r>
            <a:endParaRPr lang="en-US" sz="700" dirty="0"/>
          </a:p>
        </p:txBody>
      </p:sp>
      <p:sp>
        <p:nvSpPr>
          <p:cNvPr id="76" name="배지 대구 봉제 맵 20곳"/>
          <p:cNvSpPr/>
          <p:nvPr/>
        </p:nvSpPr>
        <p:spPr>
          <a:xfrm>
            <a:off x="4654296" y="3310128"/>
            <a:ext cx="78219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대구 봉제 맵 20곳</a:t>
            </a:r>
            <a:endParaRPr lang="en-US" sz="700" dirty="0"/>
          </a:p>
        </p:txBody>
      </p:sp>
      <p:sp>
        <p:nvSpPr>
          <p:cNvPr id="77" name="단계 4 신발"/>
          <p:cNvSpPr txBox="1"/>
          <p:nvPr/>
        </p:nvSpPr>
        <p:spPr>
          <a:xfrm>
            <a:off x="4654296" y="3529584"/>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신발</a:t>
            </a:r>
            <a:endParaRPr lang="en-US" sz="680" dirty="0"/>
          </a:p>
        </p:txBody>
      </p:sp>
      <p:sp>
        <p:nvSpPr>
          <p:cNvPr id="78" name="배지 태광실업"/>
          <p:cNvSpPr/>
          <p:nvPr/>
        </p:nvSpPr>
        <p:spPr>
          <a:xfrm>
            <a:off x="4654296"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태광실업</a:t>
            </a:r>
            <a:endParaRPr lang="en-US" sz="700" dirty="0"/>
          </a:p>
        </p:txBody>
      </p:sp>
      <p:sp>
        <p:nvSpPr>
          <p:cNvPr id="79" name="배지 창신INC"/>
          <p:cNvSpPr/>
          <p:nvPr/>
        </p:nvSpPr>
        <p:spPr>
          <a:xfrm>
            <a:off x="5109464" y="3675888"/>
            <a:ext cx="42285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창신INC</a:t>
            </a:r>
            <a:endParaRPr lang="en-US" sz="700" dirty="0"/>
          </a:p>
        </p:txBody>
      </p:sp>
      <p:sp>
        <p:nvSpPr>
          <p:cNvPr id="80" name="배지 트렉스타"/>
          <p:cNvSpPr/>
          <p:nvPr/>
        </p:nvSpPr>
        <p:spPr>
          <a:xfrm>
            <a:off x="5568899"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트렉스타</a:t>
            </a:r>
            <a:endParaRPr lang="en-US" sz="700" dirty="0"/>
          </a:p>
        </p:txBody>
      </p:sp>
      <p:sp>
        <p:nvSpPr>
          <p:cNvPr id="81" name="단계 5 해외 직진출"/>
          <p:cNvSpPr txBox="1"/>
          <p:nvPr/>
        </p:nvSpPr>
        <p:spPr>
          <a:xfrm>
            <a:off x="6281928" y="2148840"/>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직진출</a:t>
            </a:r>
            <a:endParaRPr lang="en-US" sz="680" dirty="0"/>
          </a:p>
        </p:txBody>
      </p:sp>
      <p:sp>
        <p:nvSpPr>
          <p:cNvPr id="82" name="배지 아크테릭스"/>
          <p:cNvSpPr/>
          <p:nvPr/>
        </p:nvSpPr>
        <p:spPr>
          <a:xfrm>
            <a:off x="6281928"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아크테릭스</a:t>
            </a:r>
            <a:endParaRPr lang="en-US" sz="700" dirty="0"/>
          </a:p>
        </p:txBody>
      </p:sp>
      <p:sp>
        <p:nvSpPr>
          <p:cNvPr id="83" name="배지 살로몬"/>
          <p:cNvSpPr/>
          <p:nvPr/>
        </p:nvSpPr>
        <p:spPr>
          <a:xfrm>
            <a:off x="6818884"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살로몬</a:t>
            </a:r>
            <a:endParaRPr lang="en-US" sz="700" dirty="0"/>
          </a:p>
        </p:txBody>
      </p:sp>
      <p:sp>
        <p:nvSpPr>
          <p:cNvPr id="84" name="배지 파타고니아"/>
          <p:cNvSpPr/>
          <p:nvPr/>
        </p:nvSpPr>
        <p:spPr>
          <a:xfrm>
            <a:off x="7192264"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파타고니아</a:t>
            </a:r>
            <a:endParaRPr lang="en-US" sz="700" dirty="0"/>
          </a:p>
        </p:txBody>
      </p:sp>
      <p:sp>
        <p:nvSpPr>
          <p:cNvPr id="85" name="배지 마무트"/>
          <p:cNvSpPr/>
          <p:nvPr/>
        </p:nvSpPr>
        <p:spPr>
          <a:xfrm>
            <a:off x="7729220"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마무트</a:t>
            </a:r>
            <a:endParaRPr lang="en-US" sz="700" dirty="0"/>
          </a:p>
        </p:txBody>
      </p:sp>
      <p:sp>
        <p:nvSpPr>
          <p:cNvPr id="86" name="배지 살레와"/>
          <p:cNvSpPr/>
          <p:nvPr/>
        </p:nvSpPr>
        <p:spPr>
          <a:xfrm>
            <a:off x="6281928" y="249174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살레와</a:t>
            </a:r>
            <a:endParaRPr lang="en-US" sz="700" dirty="0"/>
          </a:p>
        </p:txBody>
      </p:sp>
      <p:sp>
        <p:nvSpPr>
          <p:cNvPr id="87" name="단계 5 해외 IP 라이선스"/>
          <p:cNvSpPr txBox="1"/>
          <p:nvPr/>
        </p:nvSpPr>
        <p:spPr>
          <a:xfrm>
            <a:off x="6281928" y="2711196"/>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IP 라이선스</a:t>
            </a:r>
            <a:endParaRPr lang="en-US" sz="680" dirty="0"/>
          </a:p>
        </p:txBody>
      </p:sp>
      <p:sp>
        <p:nvSpPr>
          <p:cNvPr id="88" name="배지 노스페이스"/>
          <p:cNvSpPr/>
          <p:nvPr/>
        </p:nvSpPr>
        <p:spPr>
          <a:xfrm>
            <a:off x="6281928"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노스페이스</a:t>
            </a:r>
            <a:endParaRPr lang="en-US" sz="700" dirty="0"/>
          </a:p>
        </p:txBody>
      </p:sp>
      <p:sp>
        <p:nvSpPr>
          <p:cNvPr id="89" name="배지 디스커버리"/>
          <p:cNvSpPr/>
          <p:nvPr/>
        </p:nvSpPr>
        <p:spPr>
          <a:xfrm>
            <a:off x="6818884"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디스커버리</a:t>
            </a:r>
            <a:endParaRPr lang="en-US" sz="700" dirty="0"/>
          </a:p>
        </p:txBody>
      </p:sp>
      <p:sp>
        <p:nvSpPr>
          <p:cNvPr id="90" name="배지 내셔널지오그래픽"/>
          <p:cNvSpPr/>
          <p:nvPr/>
        </p:nvSpPr>
        <p:spPr>
          <a:xfrm>
            <a:off x="7355840" y="2857500"/>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내셔널지오그래픽</a:t>
            </a:r>
            <a:endParaRPr lang="en-US" sz="700" dirty="0"/>
          </a:p>
        </p:txBody>
      </p:sp>
      <p:sp>
        <p:nvSpPr>
          <p:cNvPr id="91" name="배지 스노우피크어패럴"/>
          <p:cNvSpPr/>
          <p:nvPr/>
        </p:nvSpPr>
        <p:spPr>
          <a:xfrm>
            <a:off x="6281928" y="3054096"/>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스노우피크어패럴</a:t>
            </a:r>
            <a:endParaRPr lang="en-US" sz="700" dirty="0"/>
          </a:p>
        </p:txBody>
      </p:sp>
      <p:sp>
        <p:nvSpPr>
          <p:cNvPr id="92" name="로열티 유출"/>
          <p:cNvSpPr txBox="1"/>
          <p:nvPr/>
        </p:nvSpPr>
        <p:spPr>
          <a:xfrm>
            <a:off x="7082536" y="3054096"/>
            <a:ext cx="868801" cy="164592"/>
          </a:xfrm>
          <a:prstGeom prst="rect">
            <a:avLst/>
          </a:prstGeom>
          <a:noFill/>
          <a:ln/>
        </p:spPr>
        <p:txBody>
          <a:bodyPr wrap="square" lIns="0" tIns="0" rIns="0" bIns="0" rtlCol="0" anchor="ctr"/>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로열티 151억→337억</a:t>
            </a:r>
            <a:endParaRPr lang="en-US" sz="650" dirty="0"/>
          </a:p>
        </p:txBody>
      </p:sp>
      <p:sp>
        <p:nvSpPr>
          <p:cNvPr id="93" name="단계 5 국내 오리지널 (2024 모두 역성장)"/>
          <p:cNvSpPr txBox="1"/>
          <p:nvPr/>
        </p:nvSpPr>
        <p:spPr>
          <a:xfrm>
            <a:off x="6281928" y="327355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오리지널 (2024 모두 역성장)</a:t>
            </a:r>
            <a:endParaRPr lang="en-US" sz="680" dirty="0"/>
          </a:p>
        </p:txBody>
      </p:sp>
      <p:sp>
        <p:nvSpPr>
          <p:cNvPr id="94" name="배지 코오롱스포츠"/>
          <p:cNvSpPr/>
          <p:nvPr/>
        </p:nvSpPr>
        <p:spPr>
          <a:xfrm>
            <a:off x="6281928" y="341985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코오롱스포츠</a:t>
            </a:r>
            <a:endParaRPr lang="en-US" sz="700" dirty="0"/>
          </a:p>
        </p:txBody>
      </p:sp>
      <p:sp>
        <p:nvSpPr>
          <p:cNvPr id="95" name="배지 K2"/>
          <p:cNvSpPr/>
          <p:nvPr/>
        </p:nvSpPr>
        <p:spPr>
          <a:xfrm>
            <a:off x="6900672" y="3419856"/>
            <a:ext cx="19820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K2</a:t>
            </a:r>
            <a:endParaRPr lang="en-US" sz="700" dirty="0"/>
          </a:p>
        </p:txBody>
      </p:sp>
      <p:sp>
        <p:nvSpPr>
          <p:cNvPr id="96" name="배지 블랙야크"/>
          <p:cNvSpPr/>
          <p:nvPr/>
        </p:nvSpPr>
        <p:spPr>
          <a:xfrm>
            <a:off x="7135457" y="341985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블랙야크</a:t>
            </a:r>
            <a:endParaRPr lang="en-US" sz="700" dirty="0"/>
          </a:p>
        </p:txBody>
      </p:sp>
      <p:sp>
        <p:nvSpPr>
          <p:cNvPr id="97" name="배지 네파"/>
          <p:cNvSpPr/>
          <p:nvPr/>
        </p:nvSpPr>
        <p:spPr>
          <a:xfrm>
            <a:off x="7590625" y="341985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네파</a:t>
            </a:r>
            <a:endParaRPr lang="en-US" sz="700" dirty="0"/>
          </a:p>
        </p:txBody>
      </p:sp>
      <p:sp>
        <p:nvSpPr>
          <p:cNvPr id="98" name="단계 5 K-고프코어 신진"/>
          <p:cNvSpPr txBox="1"/>
          <p:nvPr/>
        </p:nvSpPr>
        <p:spPr>
          <a:xfrm>
            <a:off x="6281928" y="363931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K-고프코어 신진</a:t>
            </a:r>
            <a:endParaRPr lang="en-US" sz="680" dirty="0"/>
          </a:p>
        </p:txBody>
      </p:sp>
      <p:sp>
        <p:nvSpPr>
          <p:cNvPr id="99" name="배지 케일"/>
          <p:cNvSpPr/>
          <p:nvPr/>
        </p:nvSpPr>
        <p:spPr>
          <a:xfrm>
            <a:off x="6281928" y="378561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케일</a:t>
            </a:r>
            <a:endParaRPr lang="en-US" sz="700" dirty="0"/>
          </a:p>
        </p:txBody>
      </p:sp>
      <p:sp>
        <p:nvSpPr>
          <p:cNvPr id="100" name="배지 산산기어"/>
          <p:cNvSpPr/>
          <p:nvPr/>
        </p:nvSpPr>
        <p:spPr>
          <a:xfrm>
            <a:off x="6573520"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산산기어</a:t>
            </a:r>
            <a:endParaRPr lang="en-US" sz="700" dirty="0"/>
          </a:p>
        </p:txBody>
      </p:sp>
      <p:sp>
        <p:nvSpPr>
          <p:cNvPr id="101" name="배지 고요웨어"/>
          <p:cNvSpPr/>
          <p:nvPr/>
        </p:nvSpPr>
        <p:spPr>
          <a:xfrm>
            <a:off x="7028688"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고요웨어</a:t>
            </a:r>
            <a:endParaRPr lang="en-US" sz="700" dirty="0"/>
          </a:p>
        </p:txBody>
      </p:sp>
      <p:sp>
        <p:nvSpPr>
          <p:cNvPr id="102" name="배지 그레일즈"/>
          <p:cNvSpPr/>
          <p:nvPr/>
        </p:nvSpPr>
        <p:spPr>
          <a:xfrm>
            <a:off x="7483856"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그레일즈</a:t>
            </a:r>
            <a:endParaRPr lang="en-US" sz="700" dirty="0"/>
          </a:p>
        </p:txBody>
      </p:sp>
      <p:sp>
        <p:nvSpPr>
          <p:cNvPr id="103" name="배지 제로그램"/>
          <p:cNvSpPr/>
          <p:nvPr/>
        </p:nvSpPr>
        <p:spPr>
          <a:xfrm>
            <a:off x="6281928" y="398221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제로그램</a:t>
            </a:r>
            <a:endParaRPr lang="en-US" sz="700" dirty="0"/>
          </a:p>
        </p:txBody>
      </p:sp>
      <p:sp>
        <p:nvSpPr>
          <p:cNvPr id="104" name="단계 6 국내 플랫폼 (수수료 27.8%)"/>
          <p:cNvSpPr txBox="1"/>
          <p:nvPr/>
        </p:nvSpPr>
        <p:spPr>
          <a:xfrm>
            <a:off x="8494776" y="214884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플랫폼 (수수료 27.8%)</a:t>
            </a:r>
            <a:endParaRPr lang="en-US" sz="680" dirty="0"/>
          </a:p>
        </p:txBody>
      </p:sp>
      <p:sp>
        <p:nvSpPr>
          <p:cNvPr id="105" name="배지 무신사"/>
          <p:cNvSpPr/>
          <p:nvPr/>
        </p:nvSpPr>
        <p:spPr>
          <a:xfrm>
            <a:off x="8494776" y="229514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무신사</a:t>
            </a:r>
            <a:endParaRPr lang="en-US" sz="700" dirty="0"/>
          </a:p>
        </p:txBody>
      </p:sp>
      <p:sp>
        <p:nvSpPr>
          <p:cNvPr id="106" name="배지 29CM"/>
          <p:cNvSpPr/>
          <p:nvPr/>
        </p:nvSpPr>
        <p:spPr>
          <a:xfrm>
            <a:off x="8868156" y="2295144"/>
            <a:ext cx="31902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29CM</a:t>
            </a:r>
            <a:endParaRPr lang="en-US" sz="700" dirty="0"/>
          </a:p>
        </p:txBody>
      </p:sp>
      <p:sp>
        <p:nvSpPr>
          <p:cNvPr id="107" name="배지 W컨셉"/>
          <p:cNvSpPr/>
          <p:nvPr/>
        </p:nvSpPr>
        <p:spPr>
          <a:xfrm>
            <a:off x="9223756" y="2295144"/>
            <a:ext cx="35387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W컨셉</a:t>
            </a:r>
            <a:endParaRPr lang="en-US" sz="700" dirty="0"/>
          </a:p>
        </p:txBody>
      </p:sp>
      <p:sp>
        <p:nvSpPr>
          <p:cNvPr id="108" name="배지 KREAM"/>
          <p:cNvSpPr/>
          <p:nvPr/>
        </p:nvSpPr>
        <p:spPr>
          <a:xfrm>
            <a:off x="9614205" y="2295144"/>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09" name="단계 6 백화점 · 편집숍 (최고 38%)"/>
          <p:cNvSpPr txBox="1"/>
          <p:nvPr/>
        </p:nvSpPr>
        <p:spPr>
          <a:xfrm>
            <a:off x="8494776" y="251460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백화점 · 편집숍 (최고 38%)</a:t>
            </a:r>
            <a:endParaRPr lang="en-US" sz="680" dirty="0"/>
          </a:p>
        </p:txBody>
      </p:sp>
      <p:sp>
        <p:nvSpPr>
          <p:cNvPr id="110" name="배지 현대"/>
          <p:cNvSpPr/>
          <p:nvPr/>
        </p:nvSpPr>
        <p:spPr>
          <a:xfrm>
            <a:off x="8494776"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현대</a:t>
            </a:r>
            <a:endParaRPr lang="en-US" sz="700" dirty="0"/>
          </a:p>
        </p:txBody>
      </p:sp>
      <p:sp>
        <p:nvSpPr>
          <p:cNvPr id="111" name="배지 신세계"/>
          <p:cNvSpPr/>
          <p:nvPr/>
        </p:nvSpPr>
        <p:spPr>
          <a:xfrm>
            <a:off x="8786368" y="266090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신세계</a:t>
            </a:r>
            <a:endParaRPr lang="en-US" sz="700" dirty="0"/>
          </a:p>
        </p:txBody>
      </p:sp>
      <p:sp>
        <p:nvSpPr>
          <p:cNvPr id="112" name="배지 롯데"/>
          <p:cNvSpPr/>
          <p:nvPr/>
        </p:nvSpPr>
        <p:spPr>
          <a:xfrm>
            <a:off x="9159748"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롯데</a:t>
            </a:r>
            <a:endParaRPr lang="en-US" sz="700" dirty="0"/>
          </a:p>
        </p:txBody>
      </p:sp>
      <p:sp>
        <p:nvSpPr>
          <p:cNvPr id="113" name="배지 웍스아웃"/>
          <p:cNvSpPr/>
          <p:nvPr/>
        </p:nvSpPr>
        <p:spPr>
          <a:xfrm>
            <a:off x="9451340" y="266090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웍스아웃</a:t>
            </a:r>
            <a:endParaRPr lang="en-US" sz="700" dirty="0"/>
          </a:p>
        </p:txBody>
      </p:sp>
      <p:sp>
        <p:nvSpPr>
          <p:cNvPr id="114" name="단계 6 해외 편집숍 · 온라인"/>
          <p:cNvSpPr txBox="1"/>
          <p:nvPr/>
        </p:nvSpPr>
        <p:spPr>
          <a:xfrm>
            <a:off x="8494776" y="288036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편집숍 · 온라인</a:t>
            </a:r>
            <a:endParaRPr lang="en-US" sz="680" dirty="0"/>
          </a:p>
        </p:txBody>
      </p:sp>
      <p:sp>
        <p:nvSpPr>
          <p:cNvPr id="115" name="배지 빔즈"/>
          <p:cNvSpPr/>
          <p:nvPr/>
        </p:nvSpPr>
        <p:spPr>
          <a:xfrm>
            <a:off x="8494776" y="3026664"/>
            <a:ext cx="25501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빔즈</a:t>
            </a:r>
            <a:endParaRPr lang="en-US" sz="700" dirty="0"/>
          </a:p>
        </p:txBody>
      </p:sp>
      <p:sp>
        <p:nvSpPr>
          <p:cNvPr id="116" name="배지 유나이티드애로우즈"/>
          <p:cNvSpPr/>
          <p:nvPr/>
        </p:nvSpPr>
        <p:spPr>
          <a:xfrm>
            <a:off x="8786368" y="3026664"/>
            <a:ext cx="82753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유나이티드애로우즈</a:t>
            </a:r>
            <a:endParaRPr lang="en-US" sz="700" dirty="0"/>
          </a:p>
        </p:txBody>
      </p:sp>
      <p:sp>
        <p:nvSpPr>
          <p:cNvPr id="117" name="배지 1LDK"/>
          <p:cNvSpPr/>
          <p:nvPr/>
        </p:nvSpPr>
        <p:spPr>
          <a:xfrm>
            <a:off x="9650476" y="3026664"/>
            <a:ext cx="30764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1LDK</a:t>
            </a:r>
            <a:endParaRPr lang="en-US" sz="700" dirty="0"/>
          </a:p>
        </p:txBody>
      </p:sp>
      <p:sp>
        <p:nvSpPr>
          <p:cNvPr id="118" name="배지 END."/>
          <p:cNvSpPr/>
          <p:nvPr/>
        </p:nvSpPr>
        <p:spPr>
          <a:xfrm>
            <a:off x="9994697" y="3026664"/>
            <a:ext cx="29395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END.</a:t>
            </a:r>
            <a:endParaRPr lang="en-US" sz="700" dirty="0"/>
          </a:p>
        </p:txBody>
      </p:sp>
      <p:sp>
        <p:nvSpPr>
          <p:cNvPr id="119" name="배지 ZOZOTOWN"/>
          <p:cNvSpPr/>
          <p:nvPr/>
        </p:nvSpPr>
        <p:spPr>
          <a:xfrm>
            <a:off x="8494776" y="3223260"/>
            <a:ext cx="59212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ZOZOTOWN</a:t>
            </a:r>
            <a:endParaRPr lang="en-US" sz="700" dirty="0"/>
          </a:p>
        </p:txBody>
      </p:sp>
      <p:sp>
        <p:nvSpPr>
          <p:cNvPr id="120" name="단계 6 해외 유통 파트너"/>
          <p:cNvSpPr txBox="1"/>
          <p:nvPr/>
        </p:nvSpPr>
        <p:spPr>
          <a:xfrm>
            <a:off x="8494776" y="3442716"/>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유통 파트너</a:t>
            </a:r>
            <a:endParaRPr lang="en-US" sz="680" dirty="0"/>
          </a:p>
        </p:txBody>
      </p:sp>
      <p:sp>
        <p:nvSpPr>
          <p:cNvPr id="121" name="배지 안타(중국)"/>
          <p:cNvSpPr/>
          <p:nvPr/>
        </p:nvSpPr>
        <p:spPr>
          <a:xfrm>
            <a:off x="8494776"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안타(중국)</a:t>
            </a:r>
            <a:endParaRPr lang="en-US" sz="700" dirty="0"/>
          </a:p>
        </p:txBody>
      </p:sp>
      <p:sp>
        <p:nvSpPr>
          <p:cNvPr id="122" name="배지 이토추(일본)"/>
          <p:cNvSpPr/>
          <p:nvPr/>
        </p:nvSpPr>
        <p:spPr>
          <a:xfrm>
            <a:off x="9072448" y="3589020"/>
            <a:ext cx="62288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이토추(일본)</a:t>
            </a:r>
            <a:endParaRPr lang="en-US" sz="700" dirty="0"/>
          </a:p>
        </p:txBody>
      </p:sp>
      <p:sp>
        <p:nvSpPr>
          <p:cNvPr id="123" name="배지 티몰(중국)"/>
          <p:cNvSpPr/>
          <p:nvPr/>
        </p:nvSpPr>
        <p:spPr>
          <a:xfrm>
            <a:off x="9731908"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티몰(중국)</a:t>
            </a:r>
            <a:endParaRPr lang="en-US" sz="700" dirty="0"/>
          </a:p>
        </p:txBody>
      </p:sp>
      <p:sp>
        <p:nvSpPr>
          <p:cNvPr id="124" name="단계 7 소비자"/>
          <p:cNvSpPr txBox="1"/>
          <p:nvPr/>
        </p:nvSpPr>
        <p:spPr>
          <a:xfrm>
            <a:off x="10661904" y="2148840"/>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소비자</a:t>
            </a:r>
            <a:endParaRPr lang="en-US" sz="680" dirty="0"/>
          </a:p>
        </p:txBody>
      </p:sp>
      <p:sp>
        <p:nvSpPr>
          <p:cNvPr id="125" name="배지 2030 도시 소비자"/>
          <p:cNvSpPr/>
          <p:nvPr/>
        </p:nvSpPr>
        <p:spPr>
          <a:xfrm>
            <a:off x="10661904" y="2295144"/>
            <a:ext cx="758368"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2030 도시 소비자</a:t>
            </a:r>
            <a:endParaRPr lang="en-US" sz="700" dirty="0"/>
          </a:p>
        </p:txBody>
      </p:sp>
      <p:sp>
        <p:nvSpPr>
          <p:cNvPr id="126" name="배지 하이킹 · 러닝 크루"/>
          <p:cNvSpPr/>
          <p:nvPr/>
        </p:nvSpPr>
        <p:spPr>
          <a:xfrm>
            <a:off x="10661904" y="2491740"/>
            <a:ext cx="81517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하이킹 · 러닝 크루</a:t>
            </a:r>
            <a:endParaRPr lang="en-US" sz="700" dirty="0"/>
          </a:p>
        </p:txBody>
      </p:sp>
      <p:sp>
        <p:nvSpPr>
          <p:cNvPr id="127" name="단계 7 리세일"/>
          <p:cNvSpPr txBox="1"/>
          <p:nvPr/>
        </p:nvSpPr>
        <p:spPr>
          <a:xfrm>
            <a:off x="10661904" y="2711196"/>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리세일</a:t>
            </a:r>
            <a:endParaRPr lang="en-US" sz="680" dirty="0"/>
          </a:p>
        </p:txBody>
      </p:sp>
      <p:sp>
        <p:nvSpPr>
          <p:cNvPr id="128" name="배지 KREAM"/>
          <p:cNvSpPr/>
          <p:nvPr/>
        </p:nvSpPr>
        <p:spPr>
          <a:xfrm>
            <a:off x="10661904" y="2857500"/>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29" name="배지 후루츠패밀리"/>
          <p:cNvSpPr/>
          <p:nvPr/>
        </p:nvSpPr>
        <p:spPr>
          <a:xfrm>
            <a:off x="10661904" y="305409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후루츠패밀리</a:t>
            </a:r>
            <a:endParaRPr lang="en-US" sz="700" dirty="0"/>
          </a:p>
        </p:txBody>
      </p:sp>
      <p:sp>
        <p:nvSpPr>
          <p:cNvPr id="130" name="배지 번개장터"/>
          <p:cNvSpPr/>
          <p:nvPr/>
        </p:nvSpPr>
        <p:spPr>
          <a:xfrm>
            <a:off x="10661904" y="325069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번개장터</a:t>
            </a:r>
            <a:endParaRPr lang="en-US" sz="700" dirty="0"/>
          </a:p>
        </p:txBody>
      </p:sp>
      <p:sp>
        <p:nvSpPr>
          <p:cNvPr id="131" name="단계 7 재활용"/>
          <p:cNvSpPr txBox="1"/>
          <p:nvPr/>
        </p:nvSpPr>
        <p:spPr>
          <a:xfrm>
            <a:off x="10661904" y="347014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재활용</a:t>
            </a:r>
            <a:endParaRPr lang="en-US" sz="680" dirty="0"/>
          </a:p>
        </p:txBody>
      </p:sp>
      <p:sp>
        <p:nvSpPr>
          <p:cNvPr id="132" name="배지 프라우덴 리사이클"/>
          <p:cNvSpPr/>
          <p:nvPr/>
        </p:nvSpPr>
        <p:spPr>
          <a:xfrm>
            <a:off x="10661904" y="3616452"/>
            <a:ext cx="76565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 리사이클</a:t>
            </a:r>
            <a:endParaRPr lang="en-US" sz="700" dirty="0"/>
          </a:p>
        </p:txBody>
      </p:sp>
      <p:sp>
        <p:nvSpPr>
          <p:cNvPr id="133" name="단계 7 관리 · 세탁"/>
          <p:cNvSpPr txBox="1"/>
          <p:nvPr/>
        </p:nvSpPr>
        <p:spPr>
          <a:xfrm>
            <a:off x="10661904" y="383590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관리 · 세탁</a:t>
            </a:r>
            <a:endParaRPr lang="en-US" sz="680" dirty="0"/>
          </a:p>
        </p:txBody>
      </p:sp>
      <p:sp>
        <p:nvSpPr>
          <p:cNvPr id="134" name="배지 크린토피아"/>
          <p:cNvSpPr/>
          <p:nvPr/>
        </p:nvSpPr>
        <p:spPr>
          <a:xfrm>
            <a:off x="10661904" y="3982212"/>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크린토피아</a:t>
            </a:r>
            <a:endParaRPr lang="en-US" sz="700" dirty="0"/>
          </a:p>
        </p:txBody>
      </p:sp>
      <p:sp>
        <p:nvSpPr>
          <p:cNvPr id="135" name="표시 ①"/>
          <p:cNvSpPr/>
          <p:nvPr/>
        </p:nvSpPr>
        <p:spPr>
          <a:xfrm>
            <a:off x="6076188" y="277977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①</a:t>
            </a:r>
            <a:endParaRPr lang="en-US" sz="750" dirty="0"/>
          </a:p>
        </p:txBody>
      </p:sp>
      <p:sp>
        <p:nvSpPr>
          <p:cNvPr id="136" name="표시 ②"/>
          <p:cNvSpPr/>
          <p:nvPr/>
        </p:nvSpPr>
        <p:spPr>
          <a:xfrm>
            <a:off x="8289036" y="2281428"/>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②</a:t>
            </a:r>
            <a:endParaRPr lang="en-US" sz="750" dirty="0"/>
          </a:p>
        </p:txBody>
      </p:sp>
      <p:sp>
        <p:nvSpPr>
          <p:cNvPr id="137" name="표시 ③"/>
          <p:cNvSpPr/>
          <p:nvPr/>
        </p:nvSpPr>
        <p:spPr>
          <a:xfrm>
            <a:off x="8289036" y="311124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③</a:t>
            </a:r>
            <a:endParaRPr lang="en-US" sz="750" dirty="0"/>
          </a:p>
        </p:txBody>
      </p:sp>
      <p:sp>
        <p:nvSpPr>
          <p:cNvPr id="138" name="돈의 흐름"/>
          <p:cNvSpPr/>
          <p:nvPr/>
        </p:nvSpPr>
        <p:spPr>
          <a:xfrm>
            <a:off x="530352" y="4425696"/>
            <a:ext cx="11128248" cy="0"/>
          </a:xfrm>
          <a:prstGeom prst="line">
            <a:avLst/>
          </a:prstGeom>
          <a:noFill/>
          <a:ln w="22225">
            <a:solidFill>
              <a:srgbClr val="C2410C"/>
            </a:solidFill>
            <a:prstDash val="solid"/>
            <a:headEnd type="triangle"/>
          </a:ln>
        </p:spPr>
      </p:sp>
      <p:sp>
        <p:nvSpPr>
          <p:cNvPr id="139" name="돈 1"/>
          <p:cNvSpPr txBox="1"/>
          <p:nvPr/>
        </p:nvSpPr>
        <p:spPr>
          <a:xfrm>
            <a:off x="484632" y="4242816"/>
            <a:ext cx="100584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원사 대금</a:t>
            </a:r>
            <a:endParaRPr lang="en-US" sz="680" dirty="0"/>
          </a:p>
        </p:txBody>
      </p:sp>
      <p:sp>
        <p:nvSpPr>
          <p:cNvPr id="140" name="돈 2"/>
          <p:cNvSpPr txBox="1"/>
          <p:nvPr/>
        </p:nvSpPr>
        <p:spPr>
          <a:xfrm>
            <a:off x="1600200" y="4242816"/>
            <a:ext cx="148132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원단 대금</a:t>
            </a:r>
            <a:endParaRPr lang="en-US" sz="680" dirty="0"/>
          </a:p>
        </p:txBody>
      </p:sp>
      <p:sp>
        <p:nvSpPr>
          <p:cNvPr id="141" name="돈 3"/>
          <p:cNvSpPr txBox="1"/>
          <p:nvPr/>
        </p:nvSpPr>
        <p:spPr>
          <a:xfrm>
            <a:off x="3191256" y="4242816"/>
            <a:ext cx="129844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부자재 대금</a:t>
            </a:r>
            <a:endParaRPr lang="en-US" sz="680" dirty="0"/>
          </a:p>
        </p:txBody>
      </p:sp>
      <p:sp>
        <p:nvSpPr>
          <p:cNvPr id="142" name="돈 4"/>
          <p:cNvSpPr txBox="1"/>
          <p:nvPr/>
        </p:nvSpPr>
        <p:spPr>
          <a:xfrm>
            <a:off x="4599432" y="4242816"/>
            <a:ext cx="1517904"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생산비 · 공임</a:t>
            </a:r>
            <a:endParaRPr lang="en-US" sz="680" dirty="0"/>
          </a:p>
        </p:txBody>
      </p:sp>
      <p:sp>
        <p:nvSpPr>
          <p:cNvPr id="143" name="돈 5"/>
          <p:cNvSpPr txBox="1"/>
          <p:nvPr/>
        </p:nvSpPr>
        <p:spPr>
          <a:xfrm>
            <a:off x="6227064" y="4242816"/>
            <a:ext cx="210312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브랜드 매출 → 로열티 · 생산비</a:t>
            </a:r>
            <a:endParaRPr lang="en-US" sz="680" dirty="0"/>
          </a:p>
        </p:txBody>
      </p:sp>
      <p:sp>
        <p:nvSpPr>
          <p:cNvPr id="144" name="돈 6"/>
          <p:cNvSpPr txBox="1"/>
          <p:nvPr/>
        </p:nvSpPr>
        <p:spPr>
          <a:xfrm>
            <a:off x="8439912" y="4242816"/>
            <a:ext cx="205740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유통 수수료 23~28% 차감</a:t>
            </a:r>
            <a:endParaRPr lang="en-US" sz="680" dirty="0"/>
          </a:p>
        </p:txBody>
      </p:sp>
      <p:sp>
        <p:nvSpPr>
          <p:cNvPr id="145" name="돈 7"/>
          <p:cNvSpPr txBox="1"/>
          <p:nvPr/>
        </p:nvSpPr>
        <p:spPr>
          <a:xfrm>
            <a:off x="10607040" y="4242816"/>
            <a:ext cx="109728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소비자 결제</a:t>
            </a:r>
            <a:endParaRPr lang="en-US" sz="680" dirty="0"/>
          </a:p>
        </p:txBody>
      </p:sp>
      <p:sp>
        <p:nvSpPr>
          <p:cNvPr id="146" name="지원 기능 표시"/>
          <p:cNvSpPr txBox="1"/>
          <p:nvPr/>
        </p:nvSpPr>
        <p:spPr>
          <a:xfrm>
            <a:off x="484632" y="4498848"/>
            <a:ext cx="1005840" cy="274320"/>
          </a:xfrm>
          <a:prstGeom prst="rect">
            <a:avLst/>
          </a:prstGeom>
          <a:noFill/>
          <a:ln/>
        </p:spPr>
        <p:txBody>
          <a:bodyPr wrap="square" lIns="0" tIns="0" rIns="0" bIns="0" rtlCol="0" anchor="ctr"/>
          <a:lstStyle/>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지원</a:t>
            </a:r>
            <a:endParaRPr lang="en-US" sz="800" dirty="0"/>
          </a:p>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기능</a:t>
            </a:r>
            <a:endParaRPr lang="en-US" sz="800" dirty="0"/>
          </a:p>
        </p:txBody>
      </p:sp>
      <p:sp>
        <p:nvSpPr>
          <p:cNvPr id="147" name="지원 시험 인증"/>
          <p:cNvSpPr txBox="1"/>
          <p:nvPr/>
        </p:nvSpPr>
        <p:spPr>
          <a:xfrm>
            <a:off x="1600200" y="4498848"/>
            <a:ext cx="4517136"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시험 · 인증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FITI시험연구원 · 한국섬유개발연구원 · bluesign · RDS 인증</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8" name="지원 물류"/>
          <p:cNvSpPr txBox="1"/>
          <p:nvPr/>
        </p:nvSpPr>
        <p:spPr>
          <a:xfrm>
            <a:off x="6227064" y="4498848"/>
            <a:ext cx="4270248"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물류 · 풀필먼트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CJ대한통운(더 풀필) · 무신사 로지스틱스(700여 브랜드)</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9" name="지원 미디어"/>
          <p:cNvSpPr txBox="1"/>
          <p:nvPr/>
        </p:nvSpPr>
        <p:spPr>
          <a:xfrm>
            <a:off x="10607040" y="4498848"/>
            <a:ext cx="1097280" cy="274320"/>
          </a:xfrm>
          <a:prstGeom prst="roundRect">
            <a:avLst>
              <a:gd name="adj" fmla="val 16667"/>
            </a:avLst>
          </a:prstGeom>
          <a:solidFill>
            <a:srgbClr val="EEF0F3"/>
          </a:solidFill>
          <a:ln/>
        </p:spPr>
        <p:txBody>
          <a:bodyPr wrap="square" lIns="0" tIns="0" rIns="0" bIns="0" rtlCol="0" anchor="ctr"/>
          <a:lstStyle/>
          <a:p>
            <a:pPr algn="ctr" indent="0" marL="0">
              <a:lnSpc>
                <a:spcPct val="85000"/>
              </a:lnSpc>
              <a:buNone/>
            </a:pPr>
            <a:r>
              <a:rPr lang="en-US" sz="680" b="1" dirty="0">
                <a:solidFill>
                  <a:srgbClr val="182F48"/>
                </a:solidFill>
                <a:latin typeface="Noto Sans KR" pitchFamily="34" charset="0"/>
                <a:ea typeface="Noto Sans KR" pitchFamily="34" charset="-122"/>
                <a:cs typeface="Noto Sans KR" pitchFamily="34" charset="-120"/>
              </a:rPr>
              <a:t>미디어</a:t>
            </a:r>
            <a:endParaRPr lang="en-US" sz="680" dirty="0"/>
          </a:p>
          <a:p>
            <a:pPr algn="ctr" indent="0" marL="0">
              <a:lnSpc>
                <a:spcPct val="85000"/>
              </a:lnSpc>
              <a:buNone/>
            </a:pPr>
            <a:r>
              <a:rPr lang="en-US" sz="680" dirty="0">
                <a:solidFill>
                  <a:srgbClr val="334155"/>
                </a:solidFill>
                <a:latin typeface="Noto Sans KR" pitchFamily="34" charset="0"/>
                <a:ea typeface="Noto Sans KR" pitchFamily="34" charset="-122"/>
                <a:cs typeface="Noto Sans KR" pitchFamily="34" charset="-120"/>
              </a:rPr>
              <a:t>GO OUT KOREA 외</a:t>
            </a:r>
            <a:endParaRPr lang="en-US" sz="680" dirty="0"/>
          </a:p>
        </p:txBody>
      </p:sp>
      <p:sp>
        <p:nvSpPr>
          <p:cNvPr id="150" name="지원 정책"/>
          <p:cNvSpPr txBox="1"/>
          <p:nvPr/>
        </p:nvSpPr>
        <p:spPr>
          <a:xfrm>
            <a:off x="484632" y="4818888"/>
            <a:ext cx="11219688" cy="274320"/>
          </a:xfrm>
          <a:prstGeom prst="roundRect">
            <a:avLst>
              <a:gd name="adj" fmla="val 16667"/>
            </a:avLst>
          </a:prstGeom>
          <a:solidFill>
            <a:srgbClr val="EEF0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정책 · 협회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산업통상부(All in Korea 230억) · KOTRA(해외 바이어) · 한국패션협회 · 한국섬유산업연합회(프리뷰 인 서울) · 한국아웃도어스포츠산업협회 · 산림청</a:t>
            </a:r>
            <a:endParaRPr lang="en-US" sz="700" dirty="0"/>
          </a:p>
        </p:txBody>
      </p:sp>
      <p:sp>
        <p:nvSpPr>
          <p:cNvPr id="151" name="범위 이유 제목"/>
          <p:cNvSpPr txBox="1"/>
          <p:nvPr/>
        </p:nvSpPr>
        <p:spPr>
          <a:xfrm>
            <a:off x="411480" y="5285232"/>
            <a:ext cx="1828800" cy="457200"/>
          </a:xfrm>
          <a:prstGeom prst="rect">
            <a:avLst/>
          </a:prstGeom>
          <a:noFill/>
          <a:ln/>
        </p:spPr>
        <p:txBody>
          <a:bodyPr wrap="square" lIns="0" tIns="0" rIns="0" bIns="0" rtlCol="0" anchor="t"/>
          <a:lstStyle/>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전시회가 다룰</a:t>
            </a:r>
            <a:endParaRPr lang="en-US" sz="1000" dirty="0"/>
          </a:p>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범위와 선정 이유</a:t>
            </a:r>
            <a:endParaRPr lang="en-US" sz="1000" dirty="0"/>
          </a:p>
        </p:txBody>
      </p:sp>
      <p:sp>
        <p:nvSpPr>
          <p:cNvPr id="152" name="범위 이유"/>
          <p:cNvSpPr txBox="1"/>
          <p:nvPr/>
        </p:nvSpPr>
        <p:spPr>
          <a:xfrm>
            <a:off x="2331720" y="5285232"/>
            <a:ext cx="9445752" cy="1024128"/>
          </a:xfrm>
          <a:prstGeom prst="rect">
            <a:avLst/>
          </a:prstGeom>
          <a:noFill/>
          <a:ln/>
        </p:spPr>
        <p:txBody>
          <a:bodyPr wrap="square" lIns="0" tIns="0" rIns="0" bIns="0" rtlCol="0" anchor="t"/>
          <a:lstStyle/>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①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소재·제조 ↔ 브랜드 단절 → 소재관·제조관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원단 최소주문량·심실링 공정·PFAS 전환(2027·2028) 문제를 브랜드와 공급사의 사전 매칭으로 푼다.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②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고비용 국내 유통 → 트레이드 데이(국내)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수수료 27.8%·특약매입 구조 대신, 플랫폼·백화점·편집숍 바이어와 직거래로 잇는다.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③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해외 접점 부재 → 트레이드 데이(해외)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수출 이력이 없어도 KOTRA 초청 바이어와 1:1로 만나 코오롱스포츠-안타형 파트너십을 만든다.</a:t>
            </a:r>
            <a:endParaRPr lang="en-US" sz="800" dirty="0"/>
          </a:p>
          <a:p>
            <a:pPr algn="l" indent="0" marL="0">
              <a:lnSpc>
                <a:spcPct val="92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부분 포함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시험·인증과 물류는 브랜드 수출에 필요한 서비스라 서비스관으로 들이고, ⑦ 소비자는 퍼블릭 랩 데이로 기능 신뢰를 만든다.</a:t>
            </a:r>
            <a:endParaRPr lang="en-US" sz="800" dirty="0"/>
          </a:p>
          <a:p>
            <a:pPr algn="l" indent="0" marL="0">
              <a:lnSpc>
                <a:spcPct val="92000"/>
              </a:lnSpc>
              <a:spcAft>
                <a:spcPts val="200"/>
              </a:spcAft>
              <a:buNone/>
            </a:pPr>
            <a:r>
              <a:rPr lang="en-US" sz="800" b="1" dirty="0">
                <a:solidFill>
                  <a:srgbClr val="64748B"/>
                </a:solidFill>
                <a:latin typeface="Noto Sans KR" pitchFamily="34" charset="0"/>
                <a:ea typeface="Noto Sans KR" pitchFamily="34" charset="-122"/>
                <a:cs typeface="Noto Sans KR" pitchFamily="34" charset="-120"/>
              </a:rPr>
              <a:t>제외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① 원사·원료는 K-브랜드와 직접 거래하지 않고, 원사·원단 B2B는 프리뷰 인 서울(섬산련)이 이미 다룬다.</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참가업체 · 바이어 연결표</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무신사 뉴스룸(2022.10.13 그레일즈 · 2024.7.17 도쿄 쇼룸) · 스마트투데이(2026.8, 무신사 스탠다드 글로벌 수주회) · 데일리안(2026, 무신사 아우터 거래액) · 이데일리(무신사 스탠다드 고프코어 확장) · 중소기업중앙회(2024.7.3)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국제섬유신문(코오롱스포츠 일본 진출) · 연세춘추(2021 봉제업체 실태조사) · Morgan Lewis·Certivo(PFAS) · 파이낸셜뉴스(2024.2.1 신한산업 · 2025.6.10 무신사 풀필먼트)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innoforest(기도산업) · BUYMA·프루츠패밀리(고요웨어 · 산산기어) · Houyhnhnm·END.(케일) · 이투데이(2025, 더 풀필) · 참가업체 측 인터뷰(2026.10.17)</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참가업체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8" name="라벨 안내"/>
          <p:cNvSpPr txBox="1"/>
          <p:nvPr/>
        </p:nvSpPr>
        <p:spPr>
          <a:xfrm>
            <a:off x="612648" y="20116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업종·제품·서비스 유형</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 예시</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6개 그룹이 곧 전시관</a:t>
            </a:r>
            <a:endParaRPr lang="en-US" sz="800" dirty="0"/>
          </a:p>
        </p:txBody>
      </p:sp>
      <p:sp>
        <p:nvSpPr>
          <p:cNvPr id="9" name="참가업체 E1"/>
          <p:cNvSpPr txBox="1"/>
          <p:nvPr/>
        </p:nvSpPr>
        <p:spPr>
          <a:xfrm>
            <a:off x="2121408"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E1  기능성 소재</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소재관 · 원단 · 충전재 · 부자재</a:t>
            </a:r>
            <a:endParaRPr lang="en-US" sz="850" dirty="0"/>
          </a:p>
        </p:txBody>
      </p:sp>
      <p:sp>
        <p:nvSpPr>
          <p:cNvPr id="10" name="참가업체 E1 본문"/>
          <p:cNvSpPr/>
          <p:nvPr/>
        </p:nvSpPr>
        <p:spPr>
          <a:xfrm>
            <a:off x="2121408" y="1847088"/>
            <a:ext cx="1514856" cy="914400"/>
          </a:xfrm>
          <a:prstGeom prst="rect">
            <a:avLst/>
          </a:prstGeom>
          <a:solidFill>
            <a:srgbClr val="FFFFFF"/>
          </a:solidFill>
          <a:ln w="9525">
            <a:solidFill>
              <a:srgbClr val="CBD5E1"/>
            </a:solidFill>
            <a:prstDash val="solid"/>
          </a:ln>
        </p:spPr>
      </p:sp>
      <p:sp>
        <p:nvSpPr>
          <p:cNvPr id="11" name="참가업체 E1 제공"/>
          <p:cNvSpPr txBox="1"/>
          <p:nvPr/>
        </p:nvSpPr>
        <p:spPr>
          <a:xfrm>
            <a:off x="218541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소량(저MOQ) 원단 · 비불소 발수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멤브레인 · 충전재 · 지퍼</a:t>
            </a:r>
            <a:endParaRPr lang="en-US" sz="680" dirty="0"/>
          </a:p>
        </p:txBody>
      </p:sp>
      <p:sp>
        <p:nvSpPr>
          <p:cNvPr id="12" name="배지 코오롱인더스트리"/>
          <p:cNvSpPr/>
          <p:nvPr/>
        </p:nvSpPr>
        <p:spPr>
          <a:xfrm>
            <a:off x="2185416" y="2185416"/>
            <a:ext cx="72705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코오롱인더스트리</a:t>
            </a:r>
            <a:endParaRPr lang="en-US" sz="680" dirty="0"/>
          </a:p>
        </p:txBody>
      </p:sp>
      <p:sp>
        <p:nvSpPr>
          <p:cNvPr id="13" name="배지 효성티앤씨"/>
          <p:cNvSpPr/>
          <p:nvPr/>
        </p:nvSpPr>
        <p:spPr>
          <a:xfrm>
            <a:off x="2949042" y="2185416"/>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효성티앤씨</a:t>
            </a:r>
            <a:endParaRPr lang="en-US" sz="680" dirty="0"/>
          </a:p>
        </p:txBody>
      </p:sp>
      <p:sp>
        <p:nvSpPr>
          <p:cNvPr id="14" name="배지 벤텍스"/>
          <p:cNvSpPr/>
          <p:nvPr/>
        </p:nvSpPr>
        <p:spPr>
          <a:xfrm>
            <a:off x="2185416"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벤텍스</a:t>
            </a:r>
            <a:endParaRPr lang="en-US" sz="680" dirty="0"/>
          </a:p>
        </p:txBody>
      </p:sp>
      <p:sp>
        <p:nvSpPr>
          <p:cNvPr id="15" name="배지 신한산업"/>
          <p:cNvSpPr/>
          <p:nvPr/>
        </p:nvSpPr>
        <p:spPr>
          <a:xfrm>
            <a:off x="255178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신한산업</a:t>
            </a:r>
            <a:endParaRPr lang="en-US" sz="680" dirty="0"/>
          </a:p>
        </p:txBody>
      </p:sp>
      <p:sp>
        <p:nvSpPr>
          <p:cNvPr id="16" name="배지 프라우덴"/>
          <p:cNvSpPr/>
          <p:nvPr/>
        </p:nvSpPr>
        <p:spPr>
          <a:xfrm>
            <a:off x="299760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프라우덴</a:t>
            </a:r>
            <a:endParaRPr lang="en-US" sz="680" dirty="0"/>
          </a:p>
        </p:txBody>
      </p:sp>
      <p:sp>
        <p:nvSpPr>
          <p:cNvPr id="17" name="배지 고어텍스"/>
          <p:cNvSpPr/>
          <p:nvPr/>
        </p:nvSpPr>
        <p:spPr>
          <a:xfrm>
            <a:off x="2185416" y="2551176"/>
            <a:ext cx="409245"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고어텍스</a:t>
            </a:r>
            <a:endParaRPr lang="en-US" sz="680" dirty="0"/>
          </a:p>
        </p:txBody>
      </p:sp>
      <p:sp>
        <p:nvSpPr>
          <p:cNvPr id="18" name="배지 폴라텍"/>
          <p:cNvSpPr/>
          <p:nvPr/>
        </p:nvSpPr>
        <p:spPr>
          <a:xfrm>
            <a:off x="2631237" y="255117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폴라텍</a:t>
            </a:r>
            <a:endParaRPr lang="en-US" sz="680" dirty="0"/>
          </a:p>
        </p:txBody>
      </p:sp>
      <p:sp>
        <p:nvSpPr>
          <p:cNvPr id="19" name="배지 YKK코리아"/>
          <p:cNvSpPr/>
          <p:nvPr/>
        </p:nvSpPr>
        <p:spPr>
          <a:xfrm>
            <a:off x="2997606" y="2551176"/>
            <a:ext cx="50743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YKK코리아</a:t>
            </a:r>
            <a:endParaRPr lang="en-US" sz="680" dirty="0"/>
          </a:p>
        </p:txBody>
      </p:sp>
      <p:sp>
        <p:nvSpPr>
          <p:cNvPr id="20" name="참가업체 E2"/>
          <p:cNvSpPr txBox="1"/>
          <p:nvPr/>
        </p:nvSpPr>
        <p:spPr>
          <a:xfrm>
            <a:off x="3709416"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E2  생산 · 봉제</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제조관 · OEM · ODM · 신발</a:t>
            </a:r>
            <a:endParaRPr lang="en-US" sz="850" dirty="0"/>
          </a:p>
        </p:txBody>
      </p:sp>
      <p:sp>
        <p:nvSpPr>
          <p:cNvPr id="21" name="참가업체 E2 본문"/>
          <p:cNvSpPr/>
          <p:nvPr/>
        </p:nvSpPr>
        <p:spPr>
          <a:xfrm>
            <a:off x="3709416" y="1847088"/>
            <a:ext cx="1514856" cy="914400"/>
          </a:xfrm>
          <a:prstGeom prst="rect">
            <a:avLst/>
          </a:prstGeom>
          <a:solidFill>
            <a:srgbClr val="FFFFFF"/>
          </a:solidFill>
          <a:ln w="9525">
            <a:solidFill>
              <a:srgbClr val="CBD5E1"/>
            </a:solidFill>
            <a:prstDash val="solid"/>
          </a:ln>
        </p:spPr>
      </p:sp>
      <p:sp>
        <p:nvSpPr>
          <p:cNvPr id="22" name="참가업체 E2 제공"/>
          <p:cNvSpPr txBox="1"/>
          <p:nvPr/>
        </p:nvSpPr>
        <p:spPr>
          <a:xfrm>
            <a:off x="3773424"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 · 샘플 생산 · 심실링 봉제</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의류 OEM · 신발 개발</a:t>
            </a:r>
            <a:endParaRPr lang="en-US" sz="680" dirty="0"/>
          </a:p>
        </p:txBody>
      </p:sp>
      <p:sp>
        <p:nvSpPr>
          <p:cNvPr id="23" name="배지 영원무역"/>
          <p:cNvSpPr/>
          <p:nvPr/>
        </p:nvSpPr>
        <p:spPr>
          <a:xfrm>
            <a:off x="3773424"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영원무역</a:t>
            </a:r>
            <a:endParaRPr lang="en-US" sz="680" dirty="0"/>
          </a:p>
        </p:txBody>
      </p:sp>
      <p:sp>
        <p:nvSpPr>
          <p:cNvPr id="24" name="배지 기도산업"/>
          <p:cNvSpPr/>
          <p:nvPr/>
        </p:nvSpPr>
        <p:spPr>
          <a:xfrm>
            <a:off x="4219245"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기도산업</a:t>
            </a:r>
            <a:endParaRPr lang="en-US" sz="680" dirty="0"/>
          </a:p>
        </p:txBody>
      </p:sp>
      <p:sp>
        <p:nvSpPr>
          <p:cNvPr id="25" name="배지 트렉스타"/>
          <p:cNvSpPr/>
          <p:nvPr/>
        </p:nvSpPr>
        <p:spPr>
          <a:xfrm>
            <a:off x="4665066"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트렉스타</a:t>
            </a:r>
            <a:endParaRPr lang="en-US" sz="680" dirty="0"/>
          </a:p>
        </p:txBody>
      </p:sp>
      <p:sp>
        <p:nvSpPr>
          <p:cNvPr id="26" name="배지 서울 도심 봉제업체"/>
          <p:cNvSpPr/>
          <p:nvPr/>
        </p:nvSpPr>
        <p:spPr>
          <a:xfrm>
            <a:off x="3773424" y="2368296"/>
            <a:ext cx="765739"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 도심 봉제업체</a:t>
            </a:r>
            <a:endParaRPr lang="en-US" sz="680" dirty="0"/>
          </a:p>
        </p:txBody>
      </p:sp>
      <p:sp>
        <p:nvSpPr>
          <p:cNvPr id="27" name="배지 대구 봉제 맵"/>
          <p:cNvSpPr/>
          <p:nvPr/>
        </p:nvSpPr>
        <p:spPr>
          <a:xfrm>
            <a:off x="4575739" y="2368296"/>
            <a:ext cx="52738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대구 봉제 맵</a:t>
            </a:r>
            <a:endParaRPr lang="en-US" sz="680" dirty="0"/>
          </a:p>
        </p:txBody>
      </p:sp>
      <p:sp>
        <p:nvSpPr>
          <p:cNvPr id="28" name="참가업체 E3"/>
          <p:cNvSpPr txBox="1"/>
          <p:nvPr/>
        </p:nvSpPr>
        <p:spPr>
          <a:xfrm>
            <a:off x="5297424"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E3  K-고프코어 신진</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독립 브랜드</a:t>
            </a:r>
            <a:endParaRPr lang="en-US" sz="850" dirty="0"/>
          </a:p>
        </p:txBody>
      </p:sp>
      <p:sp>
        <p:nvSpPr>
          <p:cNvPr id="29" name="참가업체 E3 본문"/>
          <p:cNvSpPr/>
          <p:nvPr/>
        </p:nvSpPr>
        <p:spPr>
          <a:xfrm>
            <a:off x="5297424" y="1847088"/>
            <a:ext cx="1514856" cy="914400"/>
          </a:xfrm>
          <a:prstGeom prst="rect">
            <a:avLst/>
          </a:prstGeom>
          <a:solidFill>
            <a:srgbClr val="FFFFFF"/>
          </a:solidFill>
          <a:ln w="9525">
            <a:solidFill>
              <a:srgbClr val="CBD5E1"/>
            </a:solidFill>
            <a:prstDash val="solid"/>
          </a:ln>
        </p:spPr>
      </p:sp>
      <p:sp>
        <p:nvSpPr>
          <p:cNvPr id="30" name="참가업체 E3 제공"/>
          <p:cNvSpPr txBox="1"/>
          <p:nvPr/>
        </p:nvSpPr>
        <p:spPr>
          <a:xfrm>
            <a:off x="5361432"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다음 시즌(2028 S/S) 컬렉션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홀세일 · 해외 독점 판매권</a:t>
            </a:r>
            <a:endParaRPr lang="en-US" sz="680" dirty="0"/>
          </a:p>
        </p:txBody>
      </p:sp>
      <p:sp>
        <p:nvSpPr>
          <p:cNvPr id="31" name="배지 케일"/>
          <p:cNvSpPr/>
          <p:nvPr/>
        </p:nvSpPr>
        <p:spPr>
          <a:xfrm>
            <a:off x="5361432" y="218541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케일</a:t>
            </a:r>
            <a:endParaRPr lang="en-US" sz="680" dirty="0"/>
          </a:p>
        </p:txBody>
      </p:sp>
      <p:sp>
        <p:nvSpPr>
          <p:cNvPr id="32" name="배지 산산기어"/>
          <p:cNvSpPr/>
          <p:nvPr/>
        </p:nvSpPr>
        <p:spPr>
          <a:xfrm>
            <a:off x="5648350"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산산기어</a:t>
            </a:r>
            <a:endParaRPr lang="en-US" sz="680" dirty="0"/>
          </a:p>
        </p:txBody>
      </p:sp>
      <p:sp>
        <p:nvSpPr>
          <p:cNvPr id="33" name="배지 고요웨어"/>
          <p:cNvSpPr/>
          <p:nvPr/>
        </p:nvSpPr>
        <p:spPr>
          <a:xfrm>
            <a:off x="6094171"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고요웨어</a:t>
            </a:r>
            <a:endParaRPr lang="en-US" sz="680" dirty="0"/>
          </a:p>
        </p:txBody>
      </p:sp>
      <p:sp>
        <p:nvSpPr>
          <p:cNvPr id="34" name="배지 그레일즈"/>
          <p:cNvSpPr/>
          <p:nvPr/>
        </p:nvSpPr>
        <p:spPr>
          <a:xfrm>
            <a:off x="5361432"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그레일즈</a:t>
            </a:r>
            <a:endParaRPr lang="en-US" sz="680" dirty="0"/>
          </a:p>
        </p:txBody>
      </p:sp>
      <p:sp>
        <p:nvSpPr>
          <p:cNvPr id="35" name="배지 제로그램"/>
          <p:cNvSpPr/>
          <p:nvPr/>
        </p:nvSpPr>
        <p:spPr>
          <a:xfrm>
            <a:off x="5807253"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제로그램</a:t>
            </a:r>
            <a:endParaRPr lang="en-US" sz="680" dirty="0"/>
          </a:p>
        </p:txBody>
      </p:sp>
      <p:sp>
        <p:nvSpPr>
          <p:cNvPr id="36" name="참가업체 E4"/>
          <p:cNvSpPr txBox="1"/>
          <p:nvPr/>
        </p:nvSpPr>
        <p:spPr>
          <a:xfrm>
            <a:off x="6885432"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E4  국내 아웃도어 대형사</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오리지널 브랜드</a:t>
            </a:r>
            <a:endParaRPr lang="en-US" sz="850" dirty="0"/>
          </a:p>
        </p:txBody>
      </p:sp>
      <p:sp>
        <p:nvSpPr>
          <p:cNvPr id="37" name="참가업체 E4 본문"/>
          <p:cNvSpPr/>
          <p:nvPr/>
        </p:nvSpPr>
        <p:spPr>
          <a:xfrm>
            <a:off x="6885432" y="1847088"/>
            <a:ext cx="1514856" cy="914400"/>
          </a:xfrm>
          <a:prstGeom prst="rect">
            <a:avLst/>
          </a:prstGeom>
          <a:solidFill>
            <a:srgbClr val="FFFFFF"/>
          </a:solidFill>
          <a:ln w="9525">
            <a:solidFill>
              <a:srgbClr val="CBD5E1"/>
            </a:solidFill>
            <a:prstDash val="solid"/>
          </a:ln>
        </p:spPr>
      </p:sp>
      <p:sp>
        <p:nvSpPr>
          <p:cNvPr id="38" name="참가업체 E4 제공"/>
          <p:cNvSpPr txBox="1"/>
          <p:nvPr/>
        </p:nvSpPr>
        <p:spPr>
          <a:xfrm>
            <a:off x="6949440"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고프코어 라인 · 아시아 라이선스</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합작 · 유통 사업권</a:t>
            </a:r>
            <a:endParaRPr lang="en-US" sz="680" dirty="0"/>
          </a:p>
        </p:txBody>
      </p:sp>
      <p:sp>
        <p:nvSpPr>
          <p:cNvPr id="39" name="배지 코오롱스포츠"/>
          <p:cNvSpPr/>
          <p:nvPr/>
        </p:nvSpPr>
        <p:spPr>
          <a:xfrm>
            <a:off x="6949440" y="2185416"/>
            <a:ext cx="568147"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코오롱스포츠</a:t>
            </a:r>
            <a:endParaRPr lang="en-US" sz="680" dirty="0"/>
          </a:p>
        </p:txBody>
      </p:sp>
      <p:sp>
        <p:nvSpPr>
          <p:cNvPr id="40" name="배지 K2"/>
          <p:cNvSpPr/>
          <p:nvPr/>
        </p:nvSpPr>
        <p:spPr>
          <a:xfrm>
            <a:off x="7554163" y="2185416"/>
            <a:ext cx="195158"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K2</a:t>
            </a:r>
            <a:endParaRPr lang="en-US" sz="680" dirty="0"/>
          </a:p>
        </p:txBody>
      </p:sp>
      <p:sp>
        <p:nvSpPr>
          <p:cNvPr id="41" name="배지 블랙야크"/>
          <p:cNvSpPr/>
          <p:nvPr/>
        </p:nvSpPr>
        <p:spPr>
          <a:xfrm>
            <a:off x="7785898"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블랙야크</a:t>
            </a:r>
            <a:endParaRPr lang="en-US" sz="680" dirty="0"/>
          </a:p>
        </p:txBody>
      </p:sp>
      <p:sp>
        <p:nvSpPr>
          <p:cNvPr id="42" name="배지 네파"/>
          <p:cNvSpPr/>
          <p:nvPr/>
        </p:nvSpPr>
        <p:spPr>
          <a:xfrm>
            <a:off x="6949440" y="236829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네파</a:t>
            </a:r>
            <a:endParaRPr lang="en-US" sz="680" dirty="0"/>
          </a:p>
        </p:txBody>
      </p:sp>
      <p:sp>
        <p:nvSpPr>
          <p:cNvPr id="43" name="배지 아이더"/>
          <p:cNvSpPr/>
          <p:nvPr/>
        </p:nvSpPr>
        <p:spPr>
          <a:xfrm>
            <a:off x="7236358"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아이더</a:t>
            </a:r>
            <a:endParaRPr lang="en-US" sz="680" dirty="0"/>
          </a:p>
        </p:txBody>
      </p:sp>
      <p:sp>
        <p:nvSpPr>
          <p:cNvPr id="44" name="참가업체 E5"/>
          <p:cNvSpPr txBox="1"/>
          <p:nvPr/>
        </p:nvSpPr>
        <p:spPr>
          <a:xfrm>
            <a:off x="8473440" y="1481328"/>
            <a:ext cx="1514856" cy="365760"/>
          </a:xfrm>
          <a:prstGeom prst="rect">
            <a:avLst/>
          </a:prstGeom>
          <a:solidFill>
            <a:srgbClr val="64748B"/>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E5  해외 프리미엄 앵커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퍼블릭 랩 데이 중심</a:t>
            </a:r>
            <a:endParaRPr lang="en-US" sz="850" dirty="0"/>
          </a:p>
        </p:txBody>
      </p:sp>
      <p:sp>
        <p:nvSpPr>
          <p:cNvPr id="45" name="참가업체 E5 본문"/>
          <p:cNvSpPr/>
          <p:nvPr/>
        </p:nvSpPr>
        <p:spPr>
          <a:xfrm>
            <a:off x="8473440" y="1847088"/>
            <a:ext cx="1514856" cy="914400"/>
          </a:xfrm>
          <a:prstGeom prst="rect">
            <a:avLst/>
          </a:prstGeom>
          <a:solidFill>
            <a:srgbClr val="FFFFFF"/>
          </a:solidFill>
          <a:ln w="9525">
            <a:solidFill>
              <a:srgbClr val="CBD5E1"/>
            </a:solidFill>
            <a:prstDash val="solid"/>
          </a:ln>
        </p:spPr>
      </p:sp>
      <p:sp>
        <p:nvSpPr>
          <p:cNvPr id="46" name="참가업체 E5 제공"/>
          <p:cNvSpPr txBox="1"/>
          <p:nvPr/>
        </p:nvSpPr>
        <p:spPr>
          <a:xfrm>
            <a:off x="8537448"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신제품 기능 시연 · 브랜드 체험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관람객을 모으는 집객 역할</a:t>
            </a:r>
            <a:endParaRPr lang="en-US" sz="680" dirty="0"/>
          </a:p>
        </p:txBody>
      </p:sp>
      <p:sp>
        <p:nvSpPr>
          <p:cNvPr id="47" name="배지 아크테릭스"/>
          <p:cNvSpPr/>
          <p:nvPr/>
        </p:nvSpPr>
        <p:spPr>
          <a:xfrm>
            <a:off x="8537448" y="218541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아크테릭스</a:t>
            </a:r>
            <a:endParaRPr lang="en-US" sz="680" dirty="0"/>
          </a:p>
        </p:txBody>
      </p:sp>
      <p:sp>
        <p:nvSpPr>
          <p:cNvPr id="48" name="배지 살로몬"/>
          <p:cNvSpPr/>
          <p:nvPr/>
        </p:nvSpPr>
        <p:spPr>
          <a:xfrm>
            <a:off x="906272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살로몬</a:t>
            </a:r>
            <a:endParaRPr lang="en-US" sz="680" dirty="0"/>
          </a:p>
        </p:txBody>
      </p:sp>
      <p:sp>
        <p:nvSpPr>
          <p:cNvPr id="49" name="배지 마무트"/>
          <p:cNvSpPr/>
          <p:nvPr/>
        </p:nvSpPr>
        <p:spPr>
          <a:xfrm>
            <a:off x="942909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마무트</a:t>
            </a:r>
            <a:endParaRPr lang="en-US" sz="680" dirty="0"/>
          </a:p>
        </p:txBody>
      </p:sp>
      <p:sp>
        <p:nvSpPr>
          <p:cNvPr id="50" name="배지 살레와"/>
          <p:cNvSpPr/>
          <p:nvPr/>
        </p:nvSpPr>
        <p:spPr>
          <a:xfrm>
            <a:off x="8537448" y="236829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살레와</a:t>
            </a:r>
            <a:endParaRPr lang="en-US" sz="680" dirty="0"/>
          </a:p>
        </p:txBody>
      </p:sp>
      <p:sp>
        <p:nvSpPr>
          <p:cNvPr id="51" name="배지 파타고니아"/>
          <p:cNvSpPr/>
          <p:nvPr/>
        </p:nvSpPr>
        <p:spPr>
          <a:xfrm>
            <a:off x="8903818" y="236829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파타고니아</a:t>
            </a:r>
            <a:endParaRPr lang="en-US" sz="680" dirty="0"/>
          </a:p>
        </p:txBody>
      </p:sp>
      <p:sp>
        <p:nvSpPr>
          <p:cNvPr id="52" name="참가업체 E6"/>
          <p:cNvSpPr txBox="1"/>
          <p:nvPr/>
        </p:nvSpPr>
        <p:spPr>
          <a:xfrm>
            <a:off x="10061448" y="1481328"/>
            <a:ext cx="1514856" cy="365760"/>
          </a:xfrm>
          <a:prstGeom prst="rect">
            <a:avLst/>
          </a:prstGeom>
          <a:solidFill>
            <a:srgbClr val="475569"/>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E6  성장 서비스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서비스관 · 시험 · 물류 · 판매</a:t>
            </a:r>
            <a:endParaRPr lang="en-US" sz="850" dirty="0"/>
          </a:p>
        </p:txBody>
      </p:sp>
      <p:sp>
        <p:nvSpPr>
          <p:cNvPr id="53" name="참가업체 E6 본문"/>
          <p:cNvSpPr/>
          <p:nvPr/>
        </p:nvSpPr>
        <p:spPr>
          <a:xfrm>
            <a:off x="10061448" y="1847088"/>
            <a:ext cx="1514856" cy="914400"/>
          </a:xfrm>
          <a:prstGeom prst="rect">
            <a:avLst/>
          </a:prstGeom>
          <a:solidFill>
            <a:srgbClr val="FFFFFF"/>
          </a:solidFill>
          <a:ln w="9525">
            <a:solidFill>
              <a:srgbClr val="CBD5E1"/>
            </a:solidFill>
            <a:prstDash val="solid"/>
          </a:ln>
        </p:spPr>
      </p:sp>
      <p:sp>
        <p:nvSpPr>
          <p:cNvPr id="54" name="참가업체 E6 제공"/>
          <p:cNvSpPr txBox="1"/>
          <p:nvPr/>
        </p:nvSpPr>
        <p:spPr>
          <a:xfrm>
            <a:off x="1012545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기능 시험성적서 · 해외 인증</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수출 풀필먼트 · 해외 자사몰</a:t>
            </a:r>
            <a:endParaRPr lang="en-US" sz="680" dirty="0"/>
          </a:p>
        </p:txBody>
      </p:sp>
      <p:sp>
        <p:nvSpPr>
          <p:cNvPr id="55" name="배지 FITI시험연구원"/>
          <p:cNvSpPr/>
          <p:nvPr/>
        </p:nvSpPr>
        <p:spPr>
          <a:xfrm>
            <a:off x="10125456" y="2185416"/>
            <a:ext cx="65891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56" name="배지 CJ대한통운"/>
          <p:cNvSpPr/>
          <p:nvPr/>
        </p:nvSpPr>
        <p:spPr>
          <a:xfrm>
            <a:off x="10820944" y="2185416"/>
            <a:ext cx="53075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CJ대한통운</a:t>
            </a:r>
            <a:endParaRPr lang="en-US" sz="680" dirty="0"/>
          </a:p>
        </p:txBody>
      </p:sp>
      <p:sp>
        <p:nvSpPr>
          <p:cNvPr id="57" name="배지 KATRI시험연구원"/>
          <p:cNvSpPr/>
          <p:nvPr/>
        </p:nvSpPr>
        <p:spPr>
          <a:xfrm>
            <a:off x="10125456" y="2368296"/>
            <a:ext cx="749071"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KATRI시험연구원</a:t>
            </a:r>
            <a:endParaRPr lang="en-US" sz="680" dirty="0"/>
          </a:p>
        </p:txBody>
      </p:sp>
      <p:sp>
        <p:nvSpPr>
          <p:cNvPr id="58" name="배지 카페24"/>
          <p:cNvSpPr/>
          <p:nvPr/>
        </p:nvSpPr>
        <p:spPr>
          <a:xfrm>
            <a:off x="10911103" y="2368296"/>
            <a:ext cx="36641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카페24</a:t>
            </a:r>
            <a:endParaRPr lang="en-US" sz="680" dirty="0"/>
          </a:p>
        </p:txBody>
      </p:sp>
      <p:sp>
        <p:nvSpPr>
          <p:cNvPr id="59" name="배지 무신사 로지스틱스"/>
          <p:cNvSpPr/>
          <p:nvPr/>
        </p:nvSpPr>
        <p:spPr>
          <a:xfrm>
            <a:off x="10125456" y="2551176"/>
            <a:ext cx="7463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로지스틱스</a:t>
            </a:r>
            <a:endParaRPr lang="en-US" sz="680" dirty="0"/>
          </a:p>
        </p:txBody>
      </p:sp>
      <p:sp>
        <p:nvSpPr>
          <p:cNvPr id="60" name="라벨"/>
          <p:cNvSpPr txBox="1"/>
          <p:nvPr/>
        </p:nvSpPr>
        <p:spPr>
          <a:xfrm>
            <a:off x="612648" y="28712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바이어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61" name="라벨 안내"/>
          <p:cNvSpPr txBox="1"/>
          <p:nvPr/>
        </p:nvSpPr>
        <p:spPr>
          <a:xfrm>
            <a:off x="612648" y="33832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조직·업종·직무</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기업·기관 예시</a:t>
            </a:r>
            <a:endParaRPr lang="en-US" sz="800" dirty="0"/>
          </a:p>
        </p:txBody>
      </p:sp>
      <p:sp>
        <p:nvSpPr>
          <p:cNvPr id="62" name="바이어 B1"/>
          <p:cNvSpPr txBox="1"/>
          <p:nvPr/>
        </p:nvSpPr>
        <p:spPr>
          <a:xfrm>
            <a:off x="212140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B1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플랫폼 MD</a:t>
            </a:r>
            <a:endParaRPr lang="en-US" sz="780" dirty="0"/>
          </a:p>
        </p:txBody>
      </p:sp>
      <p:sp>
        <p:nvSpPr>
          <p:cNvPr id="63" name="바이어 B1 본문"/>
          <p:cNvSpPr/>
          <p:nvPr/>
        </p:nvSpPr>
        <p:spPr>
          <a:xfrm>
            <a:off x="2121408" y="3072384"/>
            <a:ext cx="1295835" cy="603504"/>
          </a:xfrm>
          <a:prstGeom prst="rect">
            <a:avLst/>
          </a:prstGeom>
          <a:solidFill>
            <a:srgbClr val="FFFFFF"/>
          </a:solidFill>
          <a:ln w="9525">
            <a:solidFill>
              <a:srgbClr val="CBD5E1"/>
            </a:solidFill>
            <a:prstDash val="solid"/>
          </a:ln>
        </p:spPr>
      </p:sp>
      <p:sp>
        <p:nvSpPr>
          <p:cNvPr id="64" name="바이어 B1 직무"/>
          <p:cNvSpPr txBox="1"/>
          <p:nvPr/>
        </p:nvSpPr>
        <p:spPr>
          <a:xfrm>
            <a:off x="218541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아웃도어·스포츠 카테고리</a:t>
            </a:r>
            <a:endParaRPr lang="en-US" sz="680" dirty="0"/>
          </a:p>
        </p:txBody>
      </p:sp>
      <p:sp>
        <p:nvSpPr>
          <p:cNvPr id="65" name="배지 무신사"/>
          <p:cNvSpPr/>
          <p:nvPr/>
        </p:nvSpPr>
        <p:spPr>
          <a:xfrm>
            <a:off x="2185416"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66" name="배지 29CM"/>
          <p:cNvSpPr/>
          <p:nvPr/>
        </p:nvSpPr>
        <p:spPr>
          <a:xfrm>
            <a:off x="2551786" y="3273552"/>
            <a:ext cx="31252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29CM</a:t>
            </a:r>
            <a:endParaRPr lang="en-US" sz="680" dirty="0"/>
          </a:p>
        </p:txBody>
      </p:sp>
      <p:sp>
        <p:nvSpPr>
          <p:cNvPr id="67" name="배지 W컨셉"/>
          <p:cNvSpPr/>
          <p:nvPr/>
        </p:nvSpPr>
        <p:spPr>
          <a:xfrm>
            <a:off x="2900883" y="3273552"/>
            <a:ext cx="34637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W컨셉</a:t>
            </a:r>
            <a:endParaRPr lang="en-US" sz="680" dirty="0"/>
          </a:p>
        </p:txBody>
      </p:sp>
      <p:sp>
        <p:nvSpPr>
          <p:cNvPr id="68" name="바이어 B2"/>
          <p:cNvSpPr txBox="1"/>
          <p:nvPr/>
        </p:nvSpPr>
        <p:spPr>
          <a:xfrm>
            <a:off x="3481251"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B2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백화점 바이어</a:t>
            </a:r>
            <a:endParaRPr lang="en-US" sz="780" dirty="0"/>
          </a:p>
        </p:txBody>
      </p:sp>
      <p:sp>
        <p:nvSpPr>
          <p:cNvPr id="69" name="바이어 B2 본문"/>
          <p:cNvSpPr/>
          <p:nvPr/>
        </p:nvSpPr>
        <p:spPr>
          <a:xfrm>
            <a:off x="3481251" y="3072384"/>
            <a:ext cx="1295835" cy="603504"/>
          </a:xfrm>
          <a:prstGeom prst="rect">
            <a:avLst/>
          </a:prstGeom>
          <a:solidFill>
            <a:srgbClr val="FFFFFF"/>
          </a:solidFill>
          <a:ln w="9525">
            <a:solidFill>
              <a:srgbClr val="CBD5E1"/>
            </a:solidFill>
            <a:prstDash val="solid"/>
          </a:ln>
        </p:spPr>
      </p:sp>
      <p:sp>
        <p:nvSpPr>
          <p:cNvPr id="70" name="바이어 B2 직무"/>
          <p:cNvSpPr txBox="1"/>
          <p:nvPr/>
        </p:nvSpPr>
        <p:spPr>
          <a:xfrm>
            <a:off x="3545259"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 바이어 · 팝업 기획</a:t>
            </a:r>
            <a:endParaRPr lang="en-US" sz="680" dirty="0"/>
          </a:p>
        </p:txBody>
      </p:sp>
      <p:sp>
        <p:nvSpPr>
          <p:cNvPr id="71" name="배지 현대백화점"/>
          <p:cNvSpPr/>
          <p:nvPr/>
        </p:nvSpPr>
        <p:spPr>
          <a:xfrm>
            <a:off x="3545259" y="3273552"/>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현대백화점</a:t>
            </a:r>
            <a:endParaRPr lang="en-US" sz="680" dirty="0"/>
          </a:p>
        </p:txBody>
      </p:sp>
      <p:sp>
        <p:nvSpPr>
          <p:cNvPr id="72" name="배지 신세계"/>
          <p:cNvSpPr/>
          <p:nvPr/>
        </p:nvSpPr>
        <p:spPr>
          <a:xfrm>
            <a:off x="4070531"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신세계</a:t>
            </a:r>
            <a:endParaRPr lang="en-US" sz="680" dirty="0"/>
          </a:p>
        </p:txBody>
      </p:sp>
      <p:sp>
        <p:nvSpPr>
          <p:cNvPr id="73" name="배지 롯데"/>
          <p:cNvSpPr/>
          <p:nvPr/>
        </p:nvSpPr>
        <p:spPr>
          <a:xfrm>
            <a:off x="4436901" y="3273552"/>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롯데</a:t>
            </a:r>
            <a:endParaRPr lang="en-US" sz="680" dirty="0"/>
          </a:p>
        </p:txBody>
      </p:sp>
      <p:sp>
        <p:nvSpPr>
          <p:cNvPr id="74" name="바이어 B3"/>
          <p:cNvSpPr txBox="1"/>
          <p:nvPr/>
        </p:nvSpPr>
        <p:spPr>
          <a:xfrm>
            <a:off x="4841095"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B3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편집숍</a:t>
            </a:r>
            <a:endParaRPr lang="en-US" sz="780" dirty="0"/>
          </a:p>
        </p:txBody>
      </p:sp>
      <p:sp>
        <p:nvSpPr>
          <p:cNvPr id="75" name="바이어 B3 본문"/>
          <p:cNvSpPr/>
          <p:nvPr/>
        </p:nvSpPr>
        <p:spPr>
          <a:xfrm>
            <a:off x="4841095" y="3072384"/>
            <a:ext cx="1295835" cy="603504"/>
          </a:xfrm>
          <a:prstGeom prst="rect">
            <a:avLst/>
          </a:prstGeom>
          <a:solidFill>
            <a:srgbClr val="FFFFFF"/>
          </a:solidFill>
          <a:ln w="9525">
            <a:solidFill>
              <a:srgbClr val="CBD5E1"/>
            </a:solidFill>
            <a:prstDash val="solid"/>
          </a:ln>
        </p:spPr>
      </p:sp>
      <p:sp>
        <p:nvSpPr>
          <p:cNvPr id="76" name="바이어 B3 직무"/>
          <p:cNvSpPr txBox="1"/>
          <p:nvPr/>
        </p:nvSpPr>
        <p:spPr>
          <a:xfrm>
            <a:off x="4905103"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셀렉트숍 바잉 MD</a:t>
            </a:r>
            <a:endParaRPr lang="en-US" sz="680" dirty="0"/>
          </a:p>
        </p:txBody>
      </p:sp>
      <p:sp>
        <p:nvSpPr>
          <p:cNvPr id="77" name="배지 웍스아웃"/>
          <p:cNvSpPr/>
          <p:nvPr/>
        </p:nvSpPr>
        <p:spPr>
          <a:xfrm>
            <a:off x="4905103" y="3273552"/>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웍스아웃</a:t>
            </a:r>
            <a:endParaRPr lang="en-US" sz="680" dirty="0"/>
          </a:p>
        </p:txBody>
      </p:sp>
      <p:sp>
        <p:nvSpPr>
          <p:cNvPr id="78" name="배지 비이커"/>
          <p:cNvSpPr/>
          <p:nvPr/>
        </p:nvSpPr>
        <p:spPr>
          <a:xfrm>
            <a:off x="5350924"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비이커</a:t>
            </a:r>
            <a:endParaRPr lang="en-US" sz="680" dirty="0"/>
          </a:p>
        </p:txBody>
      </p:sp>
      <p:sp>
        <p:nvSpPr>
          <p:cNvPr id="79" name="바이어 B4"/>
          <p:cNvSpPr txBox="1"/>
          <p:nvPr/>
        </p:nvSpPr>
        <p:spPr>
          <a:xfrm>
            <a:off x="620093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B4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편집숍</a:t>
            </a:r>
            <a:endParaRPr lang="en-US" sz="780" dirty="0"/>
          </a:p>
        </p:txBody>
      </p:sp>
      <p:sp>
        <p:nvSpPr>
          <p:cNvPr id="80" name="바이어 B4 본문"/>
          <p:cNvSpPr/>
          <p:nvPr/>
        </p:nvSpPr>
        <p:spPr>
          <a:xfrm>
            <a:off x="6200938" y="3072384"/>
            <a:ext cx="1295835" cy="603504"/>
          </a:xfrm>
          <a:prstGeom prst="rect">
            <a:avLst/>
          </a:prstGeom>
          <a:solidFill>
            <a:srgbClr val="FFFFFF"/>
          </a:solidFill>
          <a:ln w="9525">
            <a:solidFill>
              <a:srgbClr val="CBD5E1"/>
            </a:solidFill>
            <a:prstDash val="solid"/>
          </a:ln>
        </p:spPr>
      </p:sp>
      <p:sp>
        <p:nvSpPr>
          <p:cNvPr id="81" name="바이어 B4 직무"/>
          <p:cNvSpPr txBox="1"/>
          <p:nvPr/>
        </p:nvSpPr>
        <p:spPr>
          <a:xfrm>
            <a:off x="626494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일본 · 영국 편집숍 바이어</a:t>
            </a:r>
            <a:endParaRPr lang="en-US" sz="680" dirty="0"/>
          </a:p>
        </p:txBody>
      </p:sp>
      <p:sp>
        <p:nvSpPr>
          <p:cNvPr id="82" name="배지 빔즈"/>
          <p:cNvSpPr/>
          <p:nvPr/>
        </p:nvSpPr>
        <p:spPr>
          <a:xfrm>
            <a:off x="6264946" y="3273552"/>
            <a:ext cx="25034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빔즈</a:t>
            </a:r>
            <a:endParaRPr lang="en-US" sz="680" dirty="0"/>
          </a:p>
        </p:txBody>
      </p:sp>
      <p:sp>
        <p:nvSpPr>
          <p:cNvPr id="83" name="배지 유나이티드애로우즈"/>
          <p:cNvSpPr/>
          <p:nvPr/>
        </p:nvSpPr>
        <p:spPr>
          <a:xfrm>
            <a:off x="6551865" y="3273552"/>
            <a:ext cx="806501"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유나이티드애로우즈</a:t>
            </a:r>
            <a:endParaRPr lang="en-US" sz="680" dirty="0"/>
          </a:p>
        </p:txBody>
      </p:sp>
      <p:sp>
        <p:nvSpPr>
          <p:cNvPr id="84" name="배지 1LDK"/>
          <p:cNvSpPr/>
          <p:nvPr/>
        </p:nvSpPr>
        <p:spPr>
          <a:xfrm>
            <a:off x="6264946" y="3456432"/>
            <a:ext cx="3014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1LDK</a:t>
            </a:r>
            <a:endParaRPr lang="en-US" sz="680" dirty="0"/>
          </a:p>
        </p:txBody>
      </p:sp>
      <p:sp>
        <p:nvSpPr>
          <p:cNvPr id="85" name="배지 END."/>
          <p:cNvSpPr/>
          <p:nvPr/>
        </p:nvSpPr>
        <p:spPr>
          <a:xfrm>
            <a:off x="6602990" y="3456432"/>
            <a:ext cx="2881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END.</a:t>
            </a:r>
            <a:endParaRPr lang="en-US" sz="680" dirty="0"/>
          </a:p>
        </p:txBody>
      </p:sp>
      <p:sp>
        <p:nvSpPr>
          <p:cNvPr id="86" name="바이어 B5"/>
          <p:cNvSpPr txBox="1"/>
          <p:nvPr/>
        </p:nvSpPr>
        <p:spPr>
          <a:xfrm>
            <a:off x="7560782"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B5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유통 파트너</a:t>
            </a:r>
            <a:endParaRPr lang="en-US" sz="780" dirty="0"/>
          </a:p>
        </p:txBody>
      </p:sp>
      <p:sp>
        <p:nvSpPr>
          <p:cNvPr id="87" name="바이어 B5 본문"/>
          <p:cNvSpPr/>
          <p:nvPr/>
        </p:nvSpPr>
        <p:spPr>
          <a:xfrm>
            <a:off x="7560782" y="3072384"/>
            <a:ext cx="1295835" cy="603504"/>
          </a:xfrm>
          <a:prstGeom prst="rect">
            <a:avLst/>
          </a:prstGeom>
          <a:solidFill>
            <a:srgbClr val="FFFFFF"/>
          </a:solidFill>
          <a:ln w="9525">
            <a:solidFill>
              <a:srgbClr val="CBD5E1"/>
            </a:solidFill>
            <a:prstDash val="solid"/>
          </a:ln>
        </p:spPr>
      </p:sp>
      <p:sp>
        <p:nvSpPr>
          <p:cNvPr id="88" name="바이어 B5 직무"/>
          <p:cNvSpPr txBox="1"/>
          <p:nvPr/>
        </p:nvSpPr>
        <p:spPr>
          <a:xfrm>
            <a:off x="7624790"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라이선스 · 합작 사업 개발</a:t>
            </a:r>
            <a:endParaRPr lang="en-US" sz="680" dirty="0"/>
          </a:p>
        </p:txBody>
      </p:sp>
      <p:sp>
        <p:nvSpPr>
          <p:cNvPr id="89" name="배지 안타(중국)"/>
          <p:cNvSpPr/>
          <p:nvPr/>
        </p:nvSpPr>
        <p:spPr>
          <a:xfrm>
            <a:off x="7624790" y="3273552"/>
            <a:ext cx="528249"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안타(중국)</a:t>
            </a:r>
            <a:endParaRPr lang="en-US" sz="680" dirty="0"/>
          </a:p>
        </p:txBody>
      </p:sp>
      <p:sp>
        <p:nvSpPr>
          <p:cNvPr id="90" name="배지 이토추상사(일본)"/>
          <p:cNvSpPr/>
          <p:nvPr/>
        </p:nvSpPr>
        <p:spPr>
          <a:xfrm>
            <a:off x="7624790" y="3456432"/>
            <a:ext cx="76660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이토추상사(일본)</a:t>
            </a:r>
            <a:endParaRPr lang="en-US" sz="680" dirty="0"/>
          </a:p>
        </p:txBody>
      </p:sp>
      <p:sp>
        <p:nvSpPr>
          <p:cNvPr id="91" name="바이어 B6"/>
          <p:cNvSpPr txBox="1"/>
          <p:nvPr/>
        </p:nvSpPr>
        <p:spPr>
          <a:xfrm>
            <a:off x="8920625" y="2852928"/>
            <a:ext cx="1295835" cy="219456"/>
          </a:xfrm>
          <a:prstGeom prst="rect">
            <a:avLst/>
          </a:prstGeom>
          <a:solidFill>
            <a:srgbClr val="FDEDE3"/>
          </a:solidFill>
          <a:ln/>
        </p:spPr>
        <p:txBody>
          <a:bodyPr wrap="square" lIns="64008" tIns="0" rIns="64008" bIns="0" rtlCol="0" anchor="ctr"/>
          <a:lstStyle/>
          <a:p>
            <a:pPr algn="l" indent="0" marL="0">
              <a:lnSpc>
                <a:spcPct val="100000"/>
              </a:lnSpc>
              <a:buNone/>
            </a:pPr>
            <a:r>
              <a:rPr lang="en-US" sz="780" b="1" dirty="0">
                <a:solidFill>
                  <a:srgbClr val="C2410C"/>
                </a:solidFill>
                <a:latin typeface="Noto Sans KR" pitchFamily="34" charset="0"/>
                <a:ea typeface="Noto Sans KR" pitchFamily="34" charset="-122"/>
                <a:cs typeface="Noto Sans KR" pitchFamily="34" charset="-120"/>
              </a:rPr>
              <a:t>B6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브랜드 소싱 · 운영팀</a:t>
            </a:r>
            <a:endParaRPr lang="en-US" sz="780" dirty="0"/>
          </a:p>
        </p:txBody>
      </p:sp>
      <p:sp>
        <p:nvSpPr>
          <p:cNvPr id="92" name="바이어 B6 본문"/>
          <p:cNvSpPr/>
          <p:nvPr/>
        </p:nvSpPr>
        <p:spPr>
          <a:xfrm>
            <a:off x="8920625" y="3072384"/>
            <a:ext cx="1295835" cy="603504"/>
          </a:xfrm>
          <a:prstGeom prst="rect">
            <a:avLst/>
          </a:prstGeom>
          <a:solidFill>
            <a:srgbClr val="FFFFFF"/>
          </a:solidFill>
          <a:ln w="9525">
            <a:solidFill>
              <a:srgbClr val="C2410C"/>
            </a:solidFill>
            <a:prstDash val="solid"/>
          </a:ln>
        </p:spPr>
      </p:sp>
      <p:sp>
        <p:nvSpPr>
          <p:cNvPr id="93" name="바이어 B6 직무"/>
          <p:cNvSpPr txBox="1"/>
          <p:nvPr/>
        </p:nvSpPr>
        <p:spPr>
          <a:xfrm>
            <a:off x="8984633" y="3108960"/>
            <a:ext cx="1167819" cy="137160"/>
          </a:xfrm>
          <a:prstGeom prst="rect">
            <a:avLst/>
          </a:prstGeom>
          <a:noFill/>
          <a:ln/>
        </p:spPr>
        <p:txBody>
          <a:bodyPr wrap="square" lIns="0" tIns="0" rIns="0" bIns="0" rtlCol="0" anchor="t"/>
          <a:lstStyle/>
          <a:p>
            <a:pPr algn="l" indent="0" marL="0">
              <a:lnSpc>
                <a:spcPct val="95000"/>
              </a:lnSpc>
              <a:buNone/>
            </a:pPr>
            <a:r>
              <a:rPr lang="en-US" sz="680" b="1" dirty="0">
                <a:solidFill>
                  <a:srgbClr val="C2410C"/>
                </a:solidFill>
                <a:latin typeface="Noto Sans KR" pitchFamily="34" charset="0"/>
                <a:ea typeface="Noto Sans KR" pitchFamily="34" charset="-122"/>
                <a:cs typeface="Noto Sans KR" pitchFamily="34" charset="-120"/>
              </a:rPr>
              <a:t>참가 브랜드가 구매자로</a:t>
            </a:r>
            <a:endParaRPr lang="en-US" sz="680" dirty="0"/>
          </a:p>
        </p:txBody>
      </p:sp>
      <p:sp>
        <p:nvSpPr>
          <p:cNvPr id="94" name="배지 E3 · E4 참가 브랜드"/>
          <p:cNvSpPr/>
          <p:nvPr/>
        </p:nvSpPr>
        <p:spPr>
          <a:xfrm>
            <a:off x="8984633" y="3273552"/>
            <a:ext cx="832322"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E3 · E4 참가 브랜드</a:t>
            </a:r>
            <a:endParaRPr lang="en-US" sz="680" dirty="0"/>
          </a:p>
        </p:txBody>
      </p:sp>
      <p:sp>
        <p:nvSpPr>
          <p:cNvPr id="95" name="배지 무신사 스탠다드"/>
          <p:cNvSpPr/>
          <p:nvPr/>
        </p:nvSpPr>
        <p:spPr>
          <a:xfrm>
            <a:off x="8984633" y="3456432"/>
            <a:ext cx="66694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스탠다드</a:t>
            </a:r>
            <a:endParaRPr lang="en-US" sz="680" dirty="0"/>
          </a:p>
        </p:txBody>
      </p:sp>
      <p:sp>
        <p:nvSpPr>
          <p:cNvPr id="96" name="바이어 B7"/>
          <p:cNvSpPr txBox="1"/>
          <p:nvPr/>
        </p:nvSpPr>
        <p:spPr>
          <a:xfrm>
            <a:off x="10280469"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B7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관심 소비자</a:t>
            </a:r>
            <a:endParaRPr lang="en-US" sz="780" dirty="0"/>
          </a:p>
        </p:txBody>
      </p:sp>
      <p:sp>
        <p:nvSpPr>
          <p:cNvPr id="97" name="바이어 B7 본문"/>
          <p:cNvSpPr/>
          <p:nvPr/>
        </p:nvSpPr>
        <p:spPr>
          <a:xfrm>
            <a:off x="10280469" y="3072384"/>
            <a:ext cx="1295835" cy="603504"/>
          </a:xfrm>
          <a:prstGeom prst="rect">
            <a:avLst/>
          </a:prstGeom>
          <a:solidFill>
            <a:srgbClr val="FFFFFF"/>
          </a:solidFill>
          <a:ln w="9525">
            <a:solidFill>
              <a:srgbClr val="CBD5E1"/>
            </a:solidFill>
            <a:prstDash val="solid"/>
          </a:ln>
        </p:spPr>
      </p:sp>
      <p:sp>
        <p:nvSpPr>
          <p:cNvPr id="98" name="바이어 B7 직무"/>
          <p:cNvSpPr txBox="1"/>
          <p:nvPr/>
        </p:nvSpPr>
        <p:spPr>
          <a:xfrm>
            <a:off x="10344477"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퍼블릭 랩 데이 · B2C</a:t>
            </a:r>
            <a:endParaRPr lang="en-US" sz="680" dirty="0"/>
          </a:p>
        </p:txBody>
      </p:sp>
      <p:sp>
        <p:nvSpPr>
          <p:cNvPr id="99" name="배지 하이킹 · 러닝 크루"/>
          <p:cNvSpPr/>
          <p:nvPr/>
        </p:nvSpPr>
        <p:spPr>
          <a:xfrm>
            <a:off x="10344477" y="3273552"/>
            <a:ext cx="794497"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하이킹 · 러닝 크루</a:t>
            </a:r>
            <a:endParaRPr lang="en-US" sz="680" dirty="0"/>
          </a:p>
        </p:txBody>
      </p:sp>
      <p:sp>
        <p:nvSpPr>
          <p:cNvPr id="100" name="배지 2030 도시 소비자"/>
          <p:cNvSpPr/>
          <p:nvPr/>
        </p:nvSpPr>
        <p:spPr>
          <a:xfrm>
            <a:off x="10344477" y="3456432"/>
            <a:ext cx="739313"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2030 도시 소비자</a:t>
            </a:r>
            <a:endParaRPr lang="en-US" sz="680" dirty="0"/>
          </a:p>
        </p:txBody>
      </p:sp>
      <p:sp>
        <p:nvSpPr>
          <p:cNvPr id="101" name="라벨"/>
          <p:cNvSpPr txBox="1"/>
          <p:nvPr/>
        </p:nvSpPr>
        <p:spPr>
          <a:xfrm>
            <a:off x="612648" y="380390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거래 연결</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관계</a:t>
            </a:r>
            <a:endParaRPr lang="en-US" sz="1200" dirty="0"/>
          </a:p>
        </p:txBody>
      </p:sp>
      <p:sp>
        <p:nvSpPr>
          <p:cNvPr id="102" name="라벨 안내"/>
          <p:cNvSpPr txBox="1"/>
          <p:nvPr/>
        </p:nvSpPr>
        <p:spPr>
          <a:xfrm>
            <a:off x="612648" y="4315968"/>
            <a:ext cx="1417320" cy="857805"/>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참가업체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제공 품목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바이어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이유</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2121408" y="3785616"/>
          <a:ext cx="9454896" cy="914400"/>
        </p:xfrm>
        <a:graphic>
          <a:graphicData uri="http://schemas.openxmlformats.org/drawingml/2006/table">
            <a:tbl>
              <a:tblPr/>
              <a:tblGrid>
                <a:gridCol w="1325880"/>
                <a:gridCol w="1600200"/>
                <a:gridCol w="1600200"/>
                <a:gridCol w="492861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참가업체 유형 (E)</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제공 품목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바이어 유형 (B)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구매 이유 · 해소하는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E1  </a:t>
                      </a:r>
                      <a:pPr algn="l" indent="0" marL="0">
                        <a:buNone/>
                      </a:pPr>
                      <a:r>
                        <a:rPr lang="en-US" sz="750" b="1" dirty="0">
                          <a:solidFill>
                            <a:srgbClr val="182F48"/>
                          </a:solidFill>
                          <a:latin typeface="Noto Sans KR" pitchFamily="34" charset="0"/>
                          <a:ea typeface="Noto Sans KR" pitchFamily="34" charset="-122"/>
                          <a:cs typeface="Noto Sans KR" pitchFamily="34" charset="-120"/>
                        </a:rPr>
                        <a:t>기능성 소재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소량(저MOQ) 원단</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PFAS-free 발수 · 멤브레인</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(신진 ·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신진 브랜드는 원단 최소주문량 때문에 기능성 원단을 쓰기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대형사는 PFAS 기준 강화(2027 · 2028)에 맞춘 소재 전환이 급하다.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E2  </a:t>
                      </a:r>
                      <a:pPr algn="l" indent="0" marL="0">
                        <a:buNone/>
                      </a:pPr>
                      <a:r>
                        <a:rPr lang="en-US" sz="750" b="1" dirty="0">
                          <a:solidFill>
                            <a:srgbClr val="182F48"/>
                          </a:solidFill>
                          <a:latin typeface="Noto Sans KR" pitchFamily="34" charset="0"/>
                          <a:ea typeface="Noto Sans KR" pitchFamily="34" charset="-122"/>
                          <a:cs typeface="Noto Sans KR" pitchFamily="34" charset="-120"/>
                        </a:rPr>
                        <a:t>생산 ·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 · 샘플 생산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심실링 · 투습방수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글로벌 대량 물량 중심 공장은 신진의 소량 주문을 받기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반대로 서울 도심 봉제업체 1.8만 곳의 최대 애로는 일감 수주라 수요가 맞물린다.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2028 S/S 컬렉션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홀세일 · 팝업</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B1 플랫폼 MD · B2 백화점</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B3 국내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② </a:t>
                      </a:r>
                      <a:pPr algn="l" indent="0" marL="0">
                        <a:buNone/>
                      </a:pPr>
                      <a:r>
                        <a:rPr lang="en-US" sz="750" dirty="0">
                          <a:solidFill>
                            <a:srgbClr val="334155"/>
                          </a:solidFill>
                          <a:latin typeface="Noto Sans KR" pitchFamily="34" charset="0"/>
                          <a:ea typeface="Noto Sans KR" pitchFamily="34" charset="-122"/>
                          <a:cs typeface="Noto Sans KR" pitchFamily="34" charset="-120"/>
                        </a:rPr>
                        <a:t>바이어는 커진 프리미엄 아웃도어 수요(무신사 거래액 2배)를 채울 신규 브랜드가 필요하다.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브랜드는 수수료(평균 27.8%) · 특약매입에 기대지 않는 홀세일 판로를 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홀세일</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국가별 독점 판매권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B4 해외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무신사 도쿄 쇼룸에 일본 바이어 200명 이상이 왔고, 주문은 3배 늘었다.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스탠다드 서울 수주회(2026.8)에도 조조타운·티몰이 왔지만, 플랫폼 전속이라 독립 브랜드엔 닫혀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E4  </a:t>
                      </a:r>
                      <a:pPr algn="l" indent="0" marL="0">
                        <a:buNone/>
                      </a:pPr>
                      <a:r>
                        <a:rPr lang="en-US" sz="750" b="1" dirty="0">
                          <a:solidFill>
                            <a:srgbClr val="182F48"/>
                          </a:solidFill>
                          <a:latin typeface="Noto Sans KR" pitchFamily="34" charset="0"/>
                          <a:ea typeface="Noto Sans KR" pitchFamily="34" charset="-122"/>
                          <a:cs typeface="Noto Sans KR" pitchFamily="34" charset="-120"/>
                        </a:rPr>
                        <a:t>국내 아웃도어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라이선스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합작 · 유통 사업권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B5 해외 유통 파트너</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코오롱스포츠는 안타와 합작해 5년 만에 26배 컸고, 2024년 이토추와 일본에 진출했다.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파트너는 검증된 한국 IP를, 국내 대형사는 역성장을 벗어날 해외 판로를 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64748B"/>
                          </a:solidFill>
                          <a:latin typeface="Noto Sans KR" pitchFamily="34" charset="0"/>
                          <a:ea typeface="Noto Sans KR" pitchFamily="34" charset="-122"/>
                          <a:cs typeface="Noto Sans KR" pitchFamily="34" charset="-120"/>
                        </a:rPr>
                        <a:t>E5  </a:t>
                      </a:r>
                      <a:pPr algn="l" indent="0" marL="0">
                        <a:buNone/>
                      </a:pPr>
                      <a:r>
                        <a:rPr lang="en-US" sz="750" b="1" dirty="0">
                          <a:solidFill>
                            <a:srgbClr val="182F48"/>
                          </a:solidFill>
                          <a:latin typeface="Noto Sans KR" pitchFamily="34" charset="0"/>
                          <a:ea typeface="Noto Sans KR" pitchFamily="34" charset="-122"/>
                          <a:cs typeface="Noto Sans KR" pitchFamily="34" charset="-120"/>
                        </a:rPr>
                        <a:t>해외 앵커</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신제품 기능 시연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 체험 · 스토리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B7 관심 소비자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기능  </a:t>
                      </a:r>
                      <a:pPr algn="l" indent="0" marL="0">
                        <a:buNone/>
                      </a:pPr>
                      <a:r>
                        <a:rPr lang="en-US" sz="750" dirty="0">
                          <a:solidFill>
                            <a:srgbClr val="334155"/>
                          </a:solidFill>
                          <a:latin typeface="Noto Sans KR" pitchFamily="34" charset="0"/>
                          <a:ea typeface="Noto Sans KR" pitchFamily="34" charset="-122"/>
                          <a:cs typeface="Noto Sans KR" pitchFamily="34" charset="-120"/>
                        </a:rPr>
                        <a:t>인터뷰: "이 장비에 대한 좋은 점을 설명하는 것, 그걸 관심 깊게 들어주는 고객들이 필요"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판매보다 기능을 이해하는 고객 접점이 목적이고, 앵커의 집객이 K-브랜드 관람으로 이어진다.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475569"/>
                          </a:solidFill>
                          <a:latin typeface="Noto Sans KR" pitchFamily="34" charset="0"/>
                          <a:ea typeface="Noto Sans KR" pitchFamily="34" charset="-122"/>
                          <a:cs typeface="Noto Sans KR" pitchFamily="34" charset="-120"/>
                        </a:rPr>
                        <a:t>E6  </a:t>
                      </a:r>
                      <a:pPr algn="l" indent="0" marL="0">
                        <a:buNone/>
                      </a:pPr>
                      <a:r>
                        <a:rPr lang="en-US" sz="750" b="1" dirty="0">
                          <a:solidFill>
                            <a:srgbClr val="182F48"/>
                          </a:solidFill>
                          <a:latin typeface="Noto Sans KR" pitchFamily="34" charset="0"/>
                          <a:ea typeface="Noto Sans KR" pitchFamily="34" charset="-122"/>
                          <a:cs typeface="Noto Sans KR" pitchFamily="34" charset="-120"/>
                        </a:rPr>
                        <a:t>성장 서비스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시험성적서 · 해외 인증</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풀필먼트 · 자사몰</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운영팀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(수출 준비 브랜드)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없는 브랜드는 시험성적서 · 해외 배송 · 현지 판매 채널을 혼자 갖추기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무신사도 해외 주문 풀필먼트를 준비할 만큼 이 수요는 커지고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주요 이해관계자 · 역할</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산업통상부(2026.2.3, 섬유패션 All in Korea) · 산업통상부 「전시산업 발전 로드맵 2030」(2026.10.14) · 한국패션협회(All in Korea 2026~2028, 280개사) · 서울 관광·MICE기업 지원센터 공고(2026) · 연세춘추(2021 봉제업체 실태조사)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스마트투데이(2025.10, 코오롱스포츠·산림청·한국등산트레킹지원센터 동서트레일 협약 / 2025, 프리뷰 인 서울) · 쿠키뉴스(2019.4.17, 한국아웃도어스포츠산업협회) · TENANT news(2025) · 데일리안(FITI 시험설비) · 산에이(2025, GO OUT KOREA)</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주요</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이해관계자</a:t>
            </a:r>
            <a:endParaRPr lang="en-US" sz="1200" dirty="0"/>
          </a:p>
        </p:txBody>
      </p:sp>
      <p:sp>
        <p:nvSpPr>
          <p:cNvPr id="8" name="이해관계자 분류 1"/>
          <p:cNvSpPr/>
          <p:nvPr/>
        </p:nvSpPr>
        <p:spPr>
          <a:xfrm>
            <a:off x="2121408" y="1481328"/>
            <a:ext cx="2697480" cy="566928"/>
          </a:xfrm>
          <a:prstGeom prst="roundRect">
            <a:avLst>
              <a:gd name="adj" fmla="val 8065"/>
            </a:avLst>
          </a:prstGeom>
          <a:solidFill>
            <a:srgbClr val="F1F5F9"/>
          </a:solidFill>
          <a:ln/>
        </p:spPr>
      </p:sp>
      <p:sp>
        <p:nvSpPr>
          <p:cNvPr id="9" name="이해관계자 분류명 1"/>
          <p:cNvSpPr txBox="1"/>
          <p:nvPr/>
        </p:nvSpPr>
        <p:spPr>
          <a:xfrm>
            <a:off x="2194560" y="1517904"/>
            <a:ext cx="25511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공공기관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재원·해외 바이어 유치</a:t>
            </a:r>
            <a:endParaRPr lang="en-US" sz="800" dirty="0"/>
          </a:p>
        </p:txBody>
      </p:sp>
      <p:sp>
        <p:nvSpPr>
          <p:cNvPr id="10" name="배지 산업통상부"/>
          <p:cNvSpPr/>
          <p:nvPr/>
        </p:nvSpPr>
        <p:spPr>
          <a:xfrm>
            <a:off x="2194560" y="1700784"/>
            <a:ext cx="48869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산업통상부</a:t>
            </a:r>
            <a:endParaRPr lang="en-US" sz="680" dirty="0"/>
          </a:p>
        </p:txBody>
      </p:sp>
      <p:sp>
        <p:nvSpPr>
          <p:cNvPr id="11" name="배지 KOTRA"/>
          <p:cNvSpPr/>
          <p:nvPr/>
        </p:nvSpPr>
        <p:spPr>
          <a:xfrm>
            <a:off x="2719832" y="1700784"/>
            <a:ext cx="370383"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KOTRA</a:t>
            </a:r>
            <a:endParaRPr lang="en-US" sz="680" dirty="0"/>
          </a:p>
        </p:txBody>
      </p:sp>
      <p:sp>
        <p:nvSpPr>
          <p:cNvPr id="12" name="배지 서울시 · 서울관광재단"/>
          <p:cNvSpPr/>
          <p:nvPr/>
        </p:nvSpPr>
        <p:spPr>
          <a:xfrm>
            <a:off x="3126791" y="1700784"/>
            <a:ext cx="93405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서울시 · 서울관광재단</a:t>
            </a:r>
            <a:endParaRPr lang="en-US" sz="680" dirty="0"/>
          </a:p>
        </p:txBody>
      </p:sp>
      <p:sp>
        <p:nvSpPr>
          <p:cNvPr id="13" name="배지 산림청 · 한국등산트레킹지원센터"/>
          <p:cNvSpPr/>
          <p:nvPr/>
        </p:nvSpPr>
        <p:spPr>
          <a:xfrm>
            <a:off x="2194560" y="1874520"/>
            <a:ext cx="133131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680" dirty="0"/>
          </a:p>
        </p:txBody>
      </p:sp>
      <p:sp>
        <p:nvSpPr>
          <p:cNvPr id="14" name="이해관계자 분류 2"/>
          <p:cNvSpPr/>
          <p:nvPr/>
        </p:nvSpPr>
        <p:spPr>
          <a:xfrm>
            <a:off x="4869180" y="1481328"/>
            <a:ext cx="2560320" cy="566928"/>
          </a:xfrm>
          <a:prstGeom prst="roundRect">
            <a:avLst>
              <a:gd name="adj" fmla="val 8065"/>
            </a:avLst>
          </a:prstGeom>
          <a:solidFill>
            <a:srgbClr val="F1F5F9"/>
          </a:solidFill>
          <a:ln/>
        </p:spPr>
      </p:sp>
      <p:sp>
        <p:nvSpPr>
          <p:cNvPr id="15" name="이해관계자 분류명 2"/>
          <p:cNvSpPr txBox="1"/>
          <p:nvPr/>
        </p:nvSpPr>
        <p:spPr>
          <a:xfrm>
            <a:off x="4942332" y="1517904"/>
            <a:ext cx="2414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협회·단체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참가업체 모집</a:t>
            </a:r>
            <a:endParaRPr lang="en-US" sz="800" dirty="0"/>
          </a:p>
        </p:txBody>
      </p:sp>
      <p:sp>
        <p:nvSpPr>
          <p:cNvPr id="16" name="배지 한국패션협회"/>
          <p:cNvSpPr/>
          <p:nvPr/>
        </p:nvSpPr>
        <p:spPr>
          <a:xfrm>
            <a:off x="4942332" y="1700784"/>
            <a:ext cx="568147"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한국패션협회</a:t>
            </a:r>
            <a:endParaRPr lang="en-US" sz="680" dirty="0"/>
          </a:p>
        </p:txBody>
      </p:sp>
      <p:sp>
        <p:nvSpPr>
          <p:cNvPr id="17" name="배지 한국섬유산업연합회"/>
          <p:cNvSpPr/>
          <p:nvPr/>
        </p:nvSpPr>
        <p:spPr>
          <a:xfrm>
            <a:off x="5547055" y="1700784"/>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한국섬유산업연합회</a:t>
            </a:r>
            <a:endParaRPr lang="en-US" sz="680" dirty="0"/>
          </a:p>
        </p:txBody>
      </p:sp>
      <p:sp>
        <p:nvSpPr>
          <p:cNvPr id="18" name="배지 한국의류산업협회"/>
          <p:cNvSpPr/>
          <p:nvPr/>
        </p:nvSpPr>
        <p:spPr>
          <a:xfrm>
            <a:off x="6390132" y="1700784"/>
            <a:ext cx="727050"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한국의류산업협회</a:t>
            </a:r>
            <a:endParaRPr lang="en-US" sz="680" dirty="0"/>
          </a:p>
        </p:txBody>
      </p:sp>
      <p:sp>
        <p:nvSpPr>
          <p:cNvPr id="19" name="배지 한국아웃도어스포츠산업협회"/>
          <p:cNvSpPr/>
          <p:nvPr/>
        </p:nvSpPr>
        <p:spPr>
          <a:xfrm>
            <a:off x="4942332" y="1874520"/>
            <a:ext cx="112430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한국아웃도어스포츠산업협회</a:t>
            </a:r>
            <a:endParaRPr lang="en-US" sz="680" dirty="0"/>
          </a:p>
        </p:txBody>
      </p:sp>
      <p:sp>
        <p:nvSpPr>
          <p:cNvPr id="20" name="이해관계자 분류 3"/>
          <p:cNvSpPr/>
          <p:nvPr/>
        </p:nvSpPr>
        <p:spPr>
          <a:xfrm>
            <a:off x="7479792" y="1481328"/>
            <a:ext cx="1481328" cy="566928"/>
          </a:xfrm>
          <a:prstGeom prst="roundRect">
            <a:avLst>
              <a:gd name="adj" fmla="val 8065"/>
            </a:avLst>
          </a:prstGeom>
          <a:solidFill>
            <a:srgbClr val="F1F5F9"/>
          </a:solidFill>
          <a:ln/>
        </p:spPr>
      </p:sp>
      <p:sp>
        <p:nvSpPr>
          <p:cNvPr id="21" name="이해관계자 분류명 3"/>
          <p:cNvSpPr txBox="1"/>
          <p:nvPr/>
        </p:nvSpPr>
        <p:spPr>
          <a:xfrm>
            <a:off x="7552944" y="1517904"/>
            <a:ext cx="1335024"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연구·시험기관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기능 신뢰</a:t>
            </a:r>
            <a:endParaRPr lang="en-US" sz="800" dirty="0"/>
          </a:p>
        </p:txBody>
      </p:sp>
      <p:sp>
        <p:nvSpPr>
          <p:cNvPr id="22" name="배지 FITI시험연구원"/>
          <p:cNvSpPr/>
          <p:nvPr/>
        </p:nvSpPr>
        <p:spPr>
          <a:xfrm>
            <a:off x="7552944" y="1700784"/>
            <a:ext cx="658912"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23" name="배지 한국섬유개발연구원"/>
          <p:cNvSpPr/>
          <p:nvPr/>
        </p:nvSpPr>
        <p:spPr>
          <a:xfrm>
            <a:off x="7552944" y="1874520"/>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한국섬유개발연구원</a:t>
            </a:r>
            <a:endParaRPr lang="en-US" sz="680" dirty="0"/>
          </a:p>
        </p:txBody>
      </p:sp>
      <p:sp>
        <p:nvSpPr>
          <p:cNvPr id="24" name="이해관계자 분류 4"/>
          <p:cNvSpPr/>
          <p:nvPr/>
        </p:nvSpPr>
        <p:spPr>
          <a:xfrm>
            <a:off x="9011412" y="1481328"/>
            <a:ext cx="1097280" cy="566928"/>
          </a:xfrm>
          <a:prstGeom prst="roundRect">
            <a:avLst>
              <a:gd name="adj" fmla="val 8065"/>
            </a:avLst>
          </a:prstGeom>
          <a:solidFill>
            <a:srgbClr val="F1F5F9"/>
          </a:solidFill>
          <a:ln/>
        </p:spPr>
      </p:sp>
      <p:sp>
        <p:nvSpPr>
          <p:cNvPr id="25" name="이해관계자 분류명 4"/>
          <p:cNvSpPr txBox="1"/>
          <p:nvPr/>
        </p:nvSpPr>
        <p:spPr>
          <a:xfrm>
            <a:off x="9084564" y="1517904"/>
            <a:ext cx="9509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미디어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업계 홍보</a:t>
            </a:r>
            <a:endParaRPr lang="en-US" sz="800" dirty="0"/>
          </a:p>
        </p:txBody>
      </p:sp>
      <p:sp>
        <p:nvSpPr>
          <p:cNvPr id="26" name="배지 GO OUT KOREA"/>
          <p:cNvSpPr/>
          <p:nvPr/>
        </p:nvSpPr>
        <p:spPr>
          <a:xfrm>
            <a:off x="9084564" y="1700784"/>
            <a:ext cx="70986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GO OUT KOREA</a:t>
            </a:r>
            <a:endParaRPr lang="en-US" sz="680" dirty="0"/>
          </a:p>
        </p:txBody>
      </p:sp>
      <p:sp>
        <p:nvSpPr>
          <p:cNvPr id="27" name="배지 패션비즈"/>
          <p:cNvSpPr/>
          <p:nvPr/>
        </p:nvSpPr>
        <p:spPr>
          <a:xfrm>
            <a:off x="9084564" y="1874520"/>
            <a:ext cx="40924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패션비즈</a:t>
            </a:r>
            <a:endParaRPr lang="en-US" sz="680" dirty="0"/>
          </a:p>
        </p:txBody>
      </p:sp>
      <p:sp>
        <p:nvSpPr>
          <p:cNvPr id="28" name="이해관계자 분류 5"/>
          <p:cNvSpPr/>
          <p:nvPr/>
        </p:nvSpPr>
        <p:spPr>
          <a:xfrm>
            <a:off x="10158984" y="1481328"/>
            <a:ext cx="1417320" cy="566928"/>
          </a:xfrm>
          <a:prstGeom prst="roundRect">
            <a:avLst>
              <a:gd name="adj" fmla="val 8065"/>
            </a:avLst>
          </a:prstGeom>
          <a:solidFill>
            <a:srgbClr val="F1F5F9"/>
          </a:solidFill>
          <a:ln/>
        </p:spPr>
      </p:sp>
      <p:sp>
        <p:nvSpPr>
          <p:cNvPr id="29" name="이해관계자 분류명 5"/>
          <p:cNvSpPr txBox="1"/>
          <p:nvPr/>
        </p:nvSpPr>
        <p:spPr>
          <a:xfrm>
            <a:off x="10232136" y="1517904"/>
            <a:ext cx="1271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베뉴·플랫폼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장소·브랜드 풀</a:t>
            </a:r>
            <a:endParaRPr lang="en-US" sz="800" dirty="0"/>
          </a:p>
        </p:txBody>
      </p:sp>
      <p:sp>
        <p:nvSpPr>
          <p:cNvPr id="30" name="배지 코엑스"/>
          <p:cNvSpPr/>
          <p:nvPr/>
        </p:nvSpPr>
        <p:spPr>
          <a:xfrm>
            <a:off x="1023213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코엑스</a:t>
            </a:r>
            <a:endParaRPr lang="en-US" sz="680" dirty="0"/>
          </a:p>
        </p:txBody>
      </p:sp>
      <p:sp>
        <p:nvSpPr>
          <p:cNvPr id="31" name="배지 무신사"/>
          <p:cNvSpPr/>
          <p:nvPr/>
        </p:nvSpPr>
        <p:spPr>
          <a:xfrm>
            <a:off x="1059850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32" name="라벨"/>
          <p:cNvSpPr txBox="1"/>
          <p:nvPr/>
        </p:nvSpPr>
        <p:spPr>
          <a:xfrm>
            <a:off x="612648" y="215798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역할과</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참여 이유</a:t>
            </a:r>
            <a:endParaRPr lang="en-US" sz="1200" dirty="0"/>
          </a:p>
        </p:txBody>
      </p:sp>
      <p:sp>
        <p:nvSpPr>
          <p:cNvPr id="33" name="라벨 안내"/>
          <p:cNvSpPr txBox="1"/>
          <p:nvPr/>
        </p:nvSpPr>
        <p:spPr>
          <a:xfrm>
            <a:off x="612648" y="2670048"/>
            <a:ext cx="1417320" cy="58711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기관명 / 기대 역할·기여</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참여로 얻는 이익</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2121408" y="2139696"/>
          <a:ext cx="9454896" cy="914400"/>
        </p:xfrm>
        <a:graphic>
          <a:graphicData uri="http://schemas.openxmlformats.org/drawingml/2006/table">
            <a:tbl>
              <a:tblPr/>
              <a:tblGrid>
                <a:gridCol w="566928"/>
                <a:gridCol w="1828800"/>
                <a:gridCol w="3246120"/>
                <a:gridCol w="3813048"/>
              </a:tblGrid>
              <a:tr h="182880">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구분</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기관명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기대 역할 · 기여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참여로 얻는 이익 (근거)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공공</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기관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산업통상부</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섬유패션 · 전시 정책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후원 명칭 · 'All in Korea' 참가 지원과 연계</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소재-제조-브랜드 협력관 공동 기획</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Korea(230억)가 목표로 하는 협력 성과를 한 현장에서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「전시산업 발전 로드맵 2030」의 산업 융합형 전시 사례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KOTRA</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③ </a:t>
                      </a:r>
                      <a:pPr algn="l" indent="0" marL="0">
                        <a:buNone/>
                      </a:pPr>
                      <a:r>
                        <a:rPr lang="en-US" sz="730" dirty="0">
                          <a:solidFill>
                            <a:srgbClr val="334155"/>
                          </a:solidFill>
                          <a:latin typeface="Noto Sans KR" pitchFamily="34" charset="0"/>
                          <a:ea typeface="Noto Sans KR" pitchFamily="34" charset="-122"/>
                          <a:cs typeface="Noto Sans KR" pitchFamily="34" charset="-120"/>
                        </a:rPr>
                        <a:t>해외 바이어 150명 발굴 · 초청</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수출상담회 공동 운영 · 통역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중소 패션 브랜드의 수출 상담 · 계약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 지원 기관의 핵심 성과)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서울특별시 · 서울관광재단</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MICE 지원(전시회 분야) · 해외 홍보</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제조관 공동관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외국인 바이어의 체류 소비 · 서울 MICE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1.8만 곳의 일감 확보(최대 애로가 일감 수주)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숲길 · 안전 산행 캠페인관 운영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트레일 체험 콘텐츠 제공</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늘어난 2030 등산 인구에게 숲길 정책 홍보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(선례: 코오롱스포츠와 동서트레일 협약, 2025.10)</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협회</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단체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한국패션협회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All in Korea 수행</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 참여 기업(280곳) 공동관 모집</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K-브랜드 해외 진출 세미나 공동 개최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사업 목표인 소재-제조-브랜드 협력의 성과 발표 무대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회원사의 판로 확대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한국섬유산업연합회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프리뷰 인 서울 주최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서울과 연계한 기능성 소재 특별관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 참가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소재사가 완제품 브랜드라는 새 고객을 만난다</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서울에는 브랜드 · 유통 바이어가 없음)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한국의류산업협회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회원 의류 제조 · 수출 기업의 제조관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해외 물량에 기대던 회원사의 국내 브랜드 수주처 다변화</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한국아웃도어스포츠산업협회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아웃도어 브랜드 공동관 · 업계 의견 수렴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역성장 중인 회원사의 고프코어 · 해외 판로</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(2024년 국내 오리지널 4곳 모두 역성장)</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2">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연구</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시험</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FITI시험연구원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퍼블릭 랩 데이 Test Lab 시험 자문</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(인공강우 · 써멀마네킹) · 기능 어워드 심사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신진 브랜드라는 시험 · 인증 신규 고객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기관의 기능 시험 신뢰도 홍보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한국섬유개발연구원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PFAS-free 소재 전환 세미나 · 개발 상담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연구 성과를 기업에 이전할 기술 사업화 기회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미디어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GO OUT KOREA · 패션비즈</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미디어 파트너 · 인플루언서 · 모델 섭외 지원</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참가업체 모집 홍보 · 어워드 공동 주관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독점 콘텐츠 · 광고 수익과 업계 영향력</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(GO OUT KOREA 월 2만 부 · 인스타그램 7.4만)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베뉴</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플랫폼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코엑스 / 무신사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전시장 · 옥외 미디어 · 공동 마케팅</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신진 브랜드 발굴 스폰서 · 팝업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신규 정기 전시회 · 대관 수익</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신규 입점 브랜드 · 도쿄 쇼룸에 보낼 브랜드 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35" name="라벨"/>
          <p:cNvSpPr txBox="1"/>
          <p:nvPr/>
        </p:nvSpPr>
        <p:spPr>
          <a:xfrm>
            <a:off x="612648" y="5705035"/>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별첨 제출</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전화 검증</a:t>
            </a:r>
            <a:endParaRPr lang="en-US" sz="1200" dirty="0"/>
          </a:p>
        </p:txBody>
      </p:sp>
      <p:sp>
        <p:nvSpPr>
          <p:cNvPr id="36" name="검증 참가업체"/>
          <p:cNvSpPr txBox="1"/>
          <p:nvPr/>
        </p:nvSpPr>
        <p:spPr>
          <a:xfrm>
            <a:off x="2121408" y="5686747"/>
            <a:ext cx="4681728" cy="604325"/>
          </a:xfrm>
          <a:prstGeom prst="roundRect">
            <a:avLst>
              <a:gd name="adj" fmla="val 7565"/>
            </a:avLst>
          </a:prstGeom>
          <a:solidFill>
            <a:srgbClr val="E6F2F3"/>
          </a:solidFill>
          <a:ln/>
        </p:spPr>
        <p:txBody>
          <a:bodyPr wrap="square" lIns="91440" tIns="0" rIns="91440" bIns="0" rtlCol="0" anchor="ctr"/>
          <a:lstStyle/>
          <a:p>
            <a:pPr algn="l" indent="0" marL="0">
              <a:lnSpc>
                <a:spcPct val="92000"/>
              </a:lnSpc>
              <a:spcAft>
                <a:spcPts val="150"/>
              </a:spcAft>
              <a:buNone/>
            </a:pPr>
            <a:r>
              <a:rPr lang="en-US" sz="750" b="1" dirty="0">
                <a:solidFill>
                  <a:srgbClr val="267D86"/>
                </a:solidFill>
                <a:latin typeface="Noto Sans KR" pitchFamily="34" charset="0"/>
                <a:ea typeface="Noto Sans KR" pitchFamily="34" charset="-122"/>
                <a:cs typeface="Noto Sans KR" pitchFamily="34" charset="-120"/>
              </a:rPr>
              <a:t>참가업체 측 · 완료</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1</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아웃도어 브랜드 유통 · 판매 담당 (마무트 종로점 · 제로그램 등 운영) · 2026.10.17 대면 · 약 5분</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가정 4개 중 3개 기각 → Test Lab · 관심도 지표 · 목적별 연결 · 미디어 섭외 지원을 기획에 반영</a:t>
            </a:r>
            <a:endParaRPr lang="en-US" sz="750" dirty="0"/>
          </a:p>
        </p:txBody>
      </p:sp>
      <p:sp>
        <p:nvSpPr>
          <p:cNvPr id="37" name="검증 바이어"/>
          <p:cNvSpPr txBox="1"/>
          <p:nvPr/>
        </p:nvSpPr>
        <p:spPr>
          <a:xfrm>
            <a:off x="6894576" y="5686747"/>
            <a:ext cx="4681728" cy="604325"/>
          </a:xfrm>
          <a:prstGeom prst="roundRect">
            <a:avLst>
              <a:gd name="adj" fmla="val 7565"/>
            </a:avLst>
          </a:prstGeom>
          <a:solidFill>
            <a:srgbClr val="FDEDE3"/>
          </a:solidFill>
          <a:ln/>
        </p:spPr>
        <p:txBody>
          <a:bodyPr wrap="square" lIns="91440" tIns="0" rIns="91440" bIns="0" rtlCol="0" anchor="ctr"/>
          <a:lstStyle/>
          <a:p>
            <a:pPr algn="l" indent="0" marL="0">
              <a:lnSpc>
                <a:spcPct val="92000"/>
              </a:lnSpc>
              <a:spcAft>
                <a:spcPts val="150"/>
              </a:spcAft>
              <a:buNone/>
            </a:pPr>
            <a:r>
              <a:rPr lang="en-US" sz="750" b="1" dirty="0">
                <a:solidFill>
                  <a:srgbClr val="C2410C"/>
                </a:solidFill>
                <a:latin typeface="Noto Sans KR" pitchFamily="34" charset="0"/>
                <a:ea typeface="Noto Sans KR" pitchFamily="34" charset="-122"/>
                <a:cs typeface="Noto Sans KR" pitchFamily="34" charset="-120"/>
              </a:rPr>
              <a:t>바이어 측 · 진행 예정 (최소 1곳 필수)</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플랫폼 MD · 국내 편집숍 · 백화점 · 해외 편집숍 5곳 + 소재 · 제조사 2곳</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가정 H5~H8 · 질문지 · 시도 기록표 준비 완료 (연결 실패도 시도 내역으로 기록)</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 전화 검증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브랜드 유통 · 판매 담당자에게 참가 수요를 직접 확인하고 기획을 고쳤다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 기준(2026.10.17, 약 5분 12초, 녹음 동의). 큰따옴표 안은 녹취 원문 그대로이고, 나머지는 요약이다. 답변은 수업 발표용으로만 쓰고 폐기하기로 안내했다.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전화번호는 제출본에 직접 기입한다. '통화 후 추가로 확인할 사항'은 인터뷰를 다시 검토하며 새 기획(소재관 · 제조관, 유통 구조)에 비춰 더 물었어야 할 질문을 적은 것이다.</a:t>
            </a:r>
            <a:endParaRPr lang="en-US" sz="700" dirty="0"/>
          </a:p>
        </p:txBody>
      </p:sp>
      <p:sp>
        <p:nvSpPr>
          <p:cNvPr id="7" name="접촉 정보 1"/>
          <p:cNvSpPr txBox="1"/>
          <p:nvPr/>
        </p:nvSpPr>
        <p:spPr>
          <a:xfrm>
            <a:off x="612648" y="1481328"/>
            <a:ext cx="3886200" cy="512064"/>
          </a:xfrm>
          <a:prstGeom prst="roundRect">
            <a:avLst>
              <a:gd name="adj" fmla="val 8929"/>
            </a:avLst>
          </a:prstGeom>
          <a:solidFill>
            <a:srgbClr val="E6F2F3"/>
          </a:solidFill>
          <a:ln/>
        </p:spPr>
        <p:txBody>
          <a:bodyPr wrap="square" lIns="91440" tIns="0" rIns="91440" bIns="0" rtlCol="0" anchor="ctr"/>
          <a:lstStyle/>
          <a:p>
            <a:pPr algn="l" indent="0" marL="0">
              <a:lnSpc>
                <a:spcPct val="95000"/>
              </a:lnSpc>
              <a:buNone/>
            </a:pPr>
            <a:r>
              <a:rPr lang="en-US" sz="830" b="1" dirty="0">
                <a:solidFill>
                  <a:srgbClr val="267D86"/>
                </a:solidFill>
                <a:latin typeface="Noto Sans KR" pitchFamily="34" charset="0"/>
                <a:ea typeface="Noto Sans KR" pitchFamily="34" charset="-122"/>
                <a:cs typeface="Noto Sans KR" pitchFamily="34" charset="-120"/>
              </a:rPr>
              <a:t>접촉 대상</a:t>
            </a:r>
            <a:endParaRPr lang="en-US" sz="830" dirty="0"/>
          </a:p>
          <a:p>
            <a:pPr algn="l" indent="0" marL="0">
              <a:lnSpc>
                <a:spcPct val="95000"/>
              </a:lnSpc>
              <a:buNone/>
            </a:pPr>
            <a:r>
              <a:rPr lang="en-US" sz="830" b="1" dirty="0">
                <a:solidFill>
                  <a:srgbClr val="182F48"/>
                </a:solidFill>
                <a:latin typeface="Noto Sans KR" pitchFamily="34" charset="0"/>
                <a:ea typeface="Noto Sans KR" pitchFamily="34" charset="-122"/>
                <a:cs typeface="Noto Sans KR" pitchFamily="34" charset="-120"/>
              </a:rPr>
              <a:t>손호영 님 · 아웃도어 브랜드 유통 · 판매 담당</a:t>
            </a:r>
            <a:endParaRPr lang="en-US" sz="830" dirty="0"/>
          </a:p>
          <a:p>
            <a:pPr algn="l" indent="0" marL="0">
              <a:lnSpc>
                <a:spcPct val="95000"/>
              </a:lnSpc>
              <a:buNone/>
            </a:pPr>
            <a:r>
              <a:rPr lang="en-US" sz="730" dirty="0">
                <a:solidFill>
                  <a:srgbClr val="334155"/>
                </a:solidFill>
                <a:latin typeface="Noto Sans KR" pitchFamily="34" charset="0"/>
                <a:ea typeface="Noto Sans KR" pitchFamily="34" charset="-122"/>
                <a:cs typeface="Noto Sans KR" pitchFamily="34" charset="-120"/>
              </a:rPr>
              <a:t>마이기어 운영 · 제로그램 · 아울렛 · 마무트 종로점 운영</a:t>
            </a:r>
            <a:endParaRPr lang="en-US" sz="830" dirty="0"/>
          </a:p>
        </p:txBody>
      </p:sp>
      <p:sp>
        <p:nvSpPr>
          <p:cNvPr id="8" name="접촉 정보 2"/>
          <p:cNvSpPr txBox="1"/>
          <p:nvPr/>
        </p:nvSpPr>
        <p:spPr>
          <a:xfrm>
            <a:off x="4590288" y="1481328"/>
            <a:ext cx="2743200" cy="512064"/>
          </a:xfrm>
          <a:prstGeom prst="roundRect">
            <a:avLst>
              <a:gd name="adj" fmla="val 8929"/>
            </a:avLst>
          </a:prstGeom>
          <a:solidFill>
            <a:srgbClr val="E6F2F3"/>
          </a:solidFill>
          <a:ln/>
        </p:spPr>
        <p:txBody>
          <a:bodyPr wrap="square" lIns="91440" tIns="0" rIns="91440" bIns="0" rtlCol="0" anchor="ctr"/>
          <a:lstStyle/>
          <a:p>
            <a:pPr algn="l" indent="0" marL="0">
              <a:lnSpc>
                <a:spcPct val="95000"/>
              </a:lnSpc>
              <a:buNone/>
            </a:pPr>
            <a:r>
              <a:rPr lang="en-US" sz="830" b="1" dirty="0">
                <a:solidFill>
                  <a:srgbClr val="267D86"/>
                </a:solidFill>
                <a:latin typeface="Noto Sans KR" pitchFamily="34" charset="0"/>
                <a:ea typeface="Noto Sans KR" pitchFamily="34" charset="-122"/>
                <a:cs typeface="Noto Sans KR" pitchFamily="34" charset="-120"/>
              </a:rPr>
              <a:t>일시 · 방식</a:t>
            </a:r>
            <a:endParaRPr lang="en-US" sz="830" dirty="0"/>
          </a:p>
          <a:p>
            <a:pPr algn="l" indent="0" marL="0">
              <a:lnSpc>
                <a:spcPct val="95000"/>
              </a:lnSpc>
              <a:buNone/>
            </a:pPr>
            <a:r>
              <a:rPr lang="en-US" sz="830" b="1" dirty="0">
                <a:solidFill>
                  <a:srgbClr val="182F48"/>
                </a:solidFill>
                <a:latin typeface="Noto Sans KR" pitchFamily="34" charset="0"/>
                <a:ea typeface="Noto Sans KR" pitchFamily="34" charset="-122"/>
                <a:cs typeface="Noto Sans KR" pitchFamily="34" charset="-120"/>
              </a:rPr>
              <a:t>2026. 10. 17(토) · 대면 인터뷰</a:t>
            </a:r>
            <a:endParaRPr lang="en-US" sz="830" dirty="0"/>
          </a:p>
          <a:p>
            <a:pPr algn="l" indent="0" marL="0">
              <a:lnSpc>
                <a:spcPct val="95000"/>
              </a:lnSpc>
              <a:buNone/>
            </a:pPr>
            <a:r>
              <a:rPr lang="en-US" sz="730" dirty="0">
                <a:solidFill>
                  <a:srgbClr val="334155"/>
                </a:solidFill>
                <a:latin typeface="Noto Sans KR" pitchFamily="34" charset="0"/>
                <a:ea typeface="Noto Sans KR" pitchFamily="34" charset="-122"/>
                <a:cs typeface="Noto Sans KR" pitchFamily="34" charset="-120"/>
              </a:rPr>
              <a:t>녹음 동의 · 약 5분 12초</a:t>
            </a:r>
            <a:endParaRPr lang="en-US" sz="830" dirty="0"/>
          </a:p>
        </p:txBody>
      </p:sp>
      <p:sp>
        <p:nvSpPr>
          <p:cNvPr id="9" name="접촉 정보 3"/>
          <p:cNvSpPr txBox="1"/>
          <p:nvPr/>
        </p:nvSpPr>
        <p:spPr>
          <a:xfrm>
            <a:off x="7424928" y="1481328"/>
            <a:ext cx="1737360" cy="512064"/>
          </a:xfrm>
          <a:prstGeom prst="roundRect">
            <a:avLst>
              <a:gd name="adj" fmla="val 8929"/>
            </a:avLst>
          </a:prstGeom>
          <a:solidFill>
            <a:srgbClr val="E6F2F3"/>
          </a:solidFill>
          <a:ln/>
        </p:spPr>
        <p:txBody>
          <a:bodyPr wrap="square" lIns="91440" tIns="0" rIns="91440" bIns="0" rtlCol="0" anchor="ctr"/>
          <a:lstStyle/>
          <a:p>
            <a:pPr algn="l" indent="0" marL="0">
              <a:lnSpc>
                <a:spcPct val="95000"/>
              </a:lnSpc>
              <a:buNone/>
            </a:pPr>
            <a:r>
              <a:rPr lang="en-US" sz="830" b="1" dirty="0">
                <a:solidFill>
                  <a:srgbClr val="267D86"/>
                </a:solidFill>
                <a:latin typeface="Noto Sans KR" pitchFamily="34" charset="0"/>
                <a:ea typeface="Noto Sans KR" pitchFamily="34" charset="-122"/>
                <a:cs typeface="Noto Sans KR" pitchFamily="34" charset="-120"/>
              </a:rPr>
              <a:t>전화번호</a:t>
            </a:r>
            <a:endParaRPr lang="en-US" sz="830" dirty="0"/>
          </a:p>
          <a:p>
            <a:pPr algn="l" indent="0" marL="0">
              <a:lnSpc>
                <a:spcPct val="95000"/>
              </a:lnSpc>
              <a:buNone/>
            </a:pPr>
            <a:r>
              <a:rPr lang="en-US" sz="830" b="1" dirty="0">
                <a:solidFill>
                  <a:srgbClr val="182F48"/>
                </a:solidFill>
                <a:latin typeface="Noto Sans KR" pitchFamily="34" charset="0"/>
                <a:ea typeface="Noto Sans KR" pitchFamily="34" charset="-122"/>
                <a:cs typeface="Noto Sans KR" pitchFamily="34" charset="-120"/>
              </a:rPr>
              <a:t>( 제출본에 직접 기입 )</a:t>
            </a:r>
            <a:endParaRPr lang="en-US" sz="830" dirty="0"/>
          </a:p>
        </p:txBody>
      </p:sp>
      <p:sp>
        <p:nvSpPr>
          <p:cNvPr id="10" name="접촉 정보 4"/>
          <p:cNvSpPr txBox="1"/>
          <p:nvPr/>
        </p:nvSpPr>
        <p:spPr>
          <a:xfrm>
            <a:off x="9253728" y="1481328"/>
            <a:ext cx="2322576" cy="512064"/>
          </a:xfrm>
          <a:prstGeom prst="roundRect">
            <a:avLst>
              <a:gd name="adj" fmla="val 8929"/>
            </a:avLst>
          </a:prstGeom>
          <a:solidFill>
            <a:srgbClr val="182F48"/>
          </a:solidFill>
          <a:ln/>
        </p:spPr>
        <p:txBody>
          <a:bodyPr wrap="square" lIns="91440" tIns="0" rIns="91440" bIns="0" rtlCol="0" anchor="ctr"/>
          <a:lstStyle/>
          <a:p>
            <a:pPr algn="l" indent="0" marL="0">
              <a:lnSpc>
                <a:spcPct val="95000"/>
              </a:lnSpc>
              <a:buNone/>
            </a:pPr>
            <a:r>
              <a:rPr lang="en-US" sz="830" b="1" dirty="0">
                <a:solidFill>
                  <a:srgbClr val="9FE0E6"/>
                </a:solidFill>
                <a:latin typeface="Noto Sans KR" pitchFamily="34" charset="0"/>
                <a:ea typeface="Noto Sans KR" pitchFamily="34" charset="-122"/>
                <a:cs typeface="Noto Sans KR" pitchFamily="34" charset="-120"/>
              </a:rPr>
              <a:t>결과</a:t>
            </a:r>
            <a:endParaRPr lang="en-US" sz="830" dirty="0"/>
          </a:p>
          <a:p>
            <a:pPr algn="l" indent="0" marL="0">
              <a:lnSpc>
                <a:spcPct val="95000"/>
              </a:lnSpc>
              <a:buNone/>
            </a:pPr>
            <a:r>
              <a:rPr lang="en-US" sz="830" b="1" dirty="0">
                <a:solidFill>
                  <a:srgbClr val="FFFFFF"/>
                </a:solidFill>
                <a:latin typeface="Noto Sans KR" pitchFamily="34" charset="0"/>
                <a:ea typeface="Noto Sans KR" pitchFamily="34" charset="-122"/>
                <a:cs typeface="Noto Sans KR" pitchFamily="34" charset="-120"/>
              </a:rPr>
              <a:t>연결 성공 · 가정 4개 중 3개 기각</a:t>
            </a:r>
            <a:endParaRPr lang="en-US" sz="830" dirty="0"/>
          </a:p>
          <a:p>
            <a:pPr algn="l" indent="0" marL="0">
              <a:lnSpc>
                <a:spcPct val="95000"/>
              </a:lnSpc>
              <a:buNone/>
            </a:pPr>
            <a:r>
              <a:rPr lang="en-US" sz="730" dirty="0">
                <a:solidFill>
                  <a:srgbClr val="E2E8F0"/>
                </a:solidFill>
                <a:latin typeface="Noto Sans KR" pitchFamily="34" charset="0"/>
                <a:ea typeface="Noto Sans KR" pitchFamily="34" charset="-122"/>
                <a:cs typeface="Noto Sans KR" pitchFamily="34" charset="-120"/>
              </a:rPr>
              <a:t>기획 수정 4건 반영 (2 · 3 · 5 · 6장)</a:t>
            </a:r>
            <a:endParaRPr lang="en-US" sz="830" dirty="0"/>
          </a:p>
        </p:txBody>
      </p:sp>
      <p:sp>
        <p:nvSpPr>
          <p:cNvPr id="11" name="제목 사전 가정 → 검증 결과"/>
          <p:cNvSpPr txBox="1"/>
          <p:nvPr/>
        </p:nvSpPr>
        <p:spPr>
          <a:xfrm>
            <a:off x="612648" y="2103120"/>
            <a:ext cx="3429000"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사전 가정 → 검증 결과</a:t>
            </a:r>
            <a:endParaRPr lang="en-US" sz="1100" dirty="0"/>
          </a:p>
        </p:txBody>
      </p:sp>
      <p:sp>
        <p:nvSpPr>
          <p:cNvPr id="12" name="가정 H1"/>
          <p:cNvSpPr txBox="1"/>
          <p:nvPr/>
        </p:nvSpPr>
        <p:spPr>
          <a:xfrm>
            <a:off x="612648" y="2395728"/>
            <a:ext cx="3429000" cy="548117"/>
          </a:xfrm>
          <a:prstGeom prst="roundRect">
            <a:avLst>
              <a:gd name="adj" fmla="val 8341"/>
            </a:avLst>
          </a:prstGeom>
          <a:solidFill>
            <a:srgbClr val="F1F5F9"/>
          </a:solidFill>
          <a:ln/>
        </p:spPr>
        <p:txBody>
          <a:bodyPr wrap="square" lIns="91440" tIns="0" rIns="91440" bIns="0" rtlCol="0" anchor="ctr"/>
          <a:lstStyle/>
          <a:p>
            <a:pPr algn="l" indent="0" marL="0">
              <a:lnSpc>
                <a:spcPct val="95000"/>
              </a:lnSpc>
              <a:spcAft>
                <a:spcPts val="100"/>
              </a:spcAft>
              <a:buNone/>
            </a:pPr>
            <a:r>
              <a:rPr lang="en-US" sz="800" b="1" dirty="0">
                <a:solidFill>
                  <a:srgbClr val="267D86"/>
                </a:solidFill>
                <a:latin typeface="Noto Sans KR" pitchFamily="34" charset="0"/>
                <a:ea typeface="Noto Sans KR" pitchFamily="34" charset="-122"/>
                <a:cs typeface="Noto Sans KR" pitchFamily="34" charset="-120"/>
              </a:rPr>
              <a:t>H1  </a:t>
            </a:r>
            <a:pPr algn="l" indent="0" marL="0">
              <a:lnSpc>
                <a:spcPct val="95000"/>
              </a:lnSpc>
              <a:spcAft>
                <a:spcPts val="100"/>
              </a:spcAft>
              <a:buNone/>
            </a:pPr>
            <a:r>
              <a:rPr lang="en-US" sz="800" b="1" dirty="0">
                <a:solidFill>
                  <a:srgbClr val="182F48"/>
                </a:solidFill>
                <a:latin typeface="Noto Sans KR" pitchFamily="34" charset="0"/>
                <a:ea typeface="Noto Sans KR" pitchFamily="34" charset="-122"/>
                <a:cs typeface="Noto Sans KR" pitchFamily="34" charset="-120"/>
              </a:rPr>
              <a:t>브랜드는 바이어 미팅 · 현장판매를 가장 중시할 것</a:t>
            </a:r>
            <a:endParaRPr lang="en-US" sz="800" dirty="0"/>
          </a:p>
          <a:p>
            <a:pPr algn="l" indent="0" marL="0">
              <a:lnSpc>
                <a:spcPct val="95000"/>
              </a:lnSpc>
              <a:spcAft>
                <a:spcPts val="100"/>
              </a:spcAft>
              <a:buNone/>
            </a:pPr>
            <a:r>
              <a:rPr lang="en-US" sz="80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50" dirty="0">
                <a:solidFill>
                  <a:srgbClr val="334155"/>
                </a:solidFill>
                <a:latin typeface="Noto Sans KR" pitchFamily="34" charset="0"/>
                <a:ea typeface="Noto Sans KR" pitchFamily="34" charset="-122"/>
                <a:cs typeface="Noto Sans KR" pitchFamily="34" charset="-120"/>
              </a:rPr>
              <a:t>투자 · 바이어 · 현장판매 · 고객 확보는 의미가 적다고 답했다.</a:t>
            </a:r>
            <a:endParaRPr lang="en-US" sz="800" dirty="0"/>
          </a:p>
          <a:p>
            <a:pPr algn="l" indent="0" marL="0">
              <a:lnSpc>
                <a:spcPct val="95000"/>
              </a:lnSpc>
              <a:spcAft>
                <a:spcPts val="100"/>
              </a:spcAft>
              <a:buNone/>
            </a:pPr>
            <a:r>
              <a:rPr lang="en-US" sz="80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50" dirty="0">
                <a:solidFill>
                  <a:srgbClr val="334155"/>
                </a:solidFill>
                <a:latin typeface="Noto Sans KR" pitchFamily="34" charset="0"/>
                <a:ea typeface="Noto Sans KR" pitchFamily="34" charset="-122"/>
                <a:cs typeface="Noto Sans KR" pitchFamily="34" charset="-120"/>
              </a:rPr>
              <a:t>목적은 브랜드 홍보와 장비를 깊게 들어줄 관심 고객이다.</a:t>
            </a:r>
            <a:endParaRPr lang="en-US" sz="800" dirty="0"/>
          </a:p>
        </p:txBody>
      </p:sp>
      <p:sp>
        <p:nvSpPr>
          <p:cNvPr id="13" name="가정 H2"/>
          <p:cNvSpPr txBox="1"/>
          <p:nvPr/>
        </p:nvSpPr>
        <p:spPr>
          <a:xfrm>
            <a:off x="612648" y="3016997"/>
            <a:ext cx="3429000" cy="548117"/>
          </a:xfrm>
          <a:prstGeom prst="roundRect">
            <a:avLst>
              <a:gd name="adj" fmla="val 8341"/>
            </a:avLst>
          </a:prstGeom>
          <a:solidFill>
            <a:srgbClr val="F1F5F9"/>
          </a:solidFill>
          <a:ln/>
        </p:spPr>
        <p:txBody>
          <a:bodyPr wrap="square" lIns="91440" tIns="0" rIns="91440" bIns="0" rtlCol="0" anchor="ctr"/>
          <a:lstStyle/>
          <a:p>
            <a:pPr algn="l" indent="0" marL="0">
              <a:lnSpc>
                <a:spcPct val="95000"/>
              </a:lnSpc>
              <a:spcAft>
                <a:spcPts val="100"/>
              </a:spcAft>
              <a:buNone/>
            </a:pPr>
            <a:r>
              <a:rPr lang="en-US" sz="800" b="1" dirty="0">
                <a:solidFill>
                  <a:srgbClr val="267D86"/>
                </a:solidFill>
                <a:latin typeface="Noto Sans KR" pitchFamily="34" charset="0"/>
                <a:ea typeface="Noto Sans KR" pitchFamily="34" charset="-122"/>
                <a:cs typeface="Noto Sans KR" pitchFamily="34" charset="-120"/>
              </a:rPr>
              <a:t>H2  </a:t>
            </a:r>
            <a:pPr algn="l" indent="0" marL="0">
              <a:lnSpc>
                <a:spcPct val="95000"/>
              </a:lnSpc>
              <a:spcAft>
                <a:spcPts val="100"/>
              </a:spcAft>
              <a:buNone/>
            </a:pPr>
            <a:r>
              <a:rPr lang="en-US" sz="800" b="1" dirty="0">
                <a:solidFill>
                  <a:srgbClr val="182F48"/>
                </a:solidFill>
                <a:latin typeface="Noto Sans KR" pitchFamily="34" charset="0"/>
                <a:ea typeface="Noto Sans KR" pitchFamily="34" charset="-122"/>
                <a:cs typeface="Noto Sans KR" pitchFamily="34" charset="-120"/>
              </a:rPr>
              <a:t>부스비가 가장 큰 참가 장벽일 것</a:t>
            </a:r>
            <a:endParaRPr lang="en-US" sz="800" dirty="0"/>
          </a:p>
          <a:p>
            <a:pPr algn="l" indent="0" marL="0">
              <a:lnSpc>
                <a:spcPct val="95000"/>
              </a:lnSpc>
              <a:spcAft>
                <a:spcPts val="100"/>
              </a:spcAft>
              <a:buNone/>
            </a:pPr>
            <a:r>
              <a:rPr lang="en-US" sz="800" b="1" dirty="0">
                <a:solidFill>
                  <a:srgbClr val="267D86"/>
                </a:solidFill>
                <a:latin typeface="Noto Sans KR" pitchFamily="34" charset="0"/>
                <a:ea typeface="Noto Sans KR" pitchFamily="34" charset="-122"/>
                <a:cs typeface="Noto Sans KR" pitchFamily="34" charset="-120"/>
              </a:rPr>
              <a:t>부분  </a:t>
            </a:r>
            <a:pPr algn="l" indent="0" marL="0">
              <a:lnSpc>
                <a:spcPct val="95000"/>
              </a:lnSpc>
              <a:spcAft>
                <a:spcPts val="100"/>
              </a:spcAft>
              <a:buNone/>
            </a:pPr>
            <a:r>
              <a:rPr lang="en-US" sz="750" dirty="0">
                <a:solidFill>
                  <a:srgbClr val="334155"/>
                </a:solidFill>
                <a:latin typeface="Noto Sans KR" pitchFamily="34" charset="0"/>
                <a:ea typeface="Noto Sans KR" pitchFamily="34" charset="-122"/>
                <a:cs typeface="Noto Sans KR" pitchFamily="34" charset="-120"/>
              </a:rPr>
              <a:t>부스비는 늘 2만~5만 달러로 책정해 왔다.</a:t>
            </a:r>
            <a:endParaRPr lang="en-US" sz="800" dirty="0"/>
          </a:p>
          <a:p>
            <a:pPr algn="l" indent="0" marL="0">
              <a:lnSpc>
                <a:spcPct val="95000"/>
              </a:lnSpc>
              <a:spcAft>
                <a:spcPts val="100"/>
              </a:spcAft>
              <a:buNone/>
            </a:pPr>
            <a:r>
              <a:rPr lang="en-US" sz="80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50" dirty="0">
                <a:solidFill>
                  <a:srgbClr val="334155"/>
                </a:solidFill>
                <a:latin typeface="Noto Sans KR" pitchFamily="34" charset="0"/>
                <a:ea typeface="Noto Sans KR" pitchFamily="34" charset="-122"/>
                <a:cs typeface="Noto Sans KR" pitchFamily="34" charset="-120"/>
              </a:rPr>
              <a:t>실제 장벽은 비용 대비 효과 · 공간 · 인플루언서 일정이다.</a:t>
            </a:r>
            <a:endParaRPr lang="en-US" sz="800" dirty="0"/>
          </a:p>
        </p:txBody>
      </p:sp>
      <p:sp>
        <p:nvSpPr>
          <p:cNvPr id="14" name="가정 H3"/>
          <p:cNvSpPr txBox="1"/>
          <p:nvPr/>
        </p:nvSpPr>
        <p:spPr>
          <a:xfrm>
            <a:off x="612648" y="3638266"/>
            <a:ext cx="3429000" cy="417091"/>
          </a:xfrm>
          <a:prstGeom prst="roundRect">
            <a:avLst>
              <a:gd name="adj" fmla="val 10962"/>
            </a:avLst>
          </a:prstGeom>
          <a:solidFill>
            <a:srgbClr val="F1F5F9"/>
          </a:solidFill>
          <a:ln/>
        </p:spPr>
        <p:txBody>
          <a:bodyPr wrap="square" lIns="91440" tIns="0" rIns="91440" bIns="0" rtlCol="0" anchor="ctr"/>
          <a:lstStyle/>
          <a:p>
            <a:pPr algn="l" indent="0" marL="0">
              <a:lnSpc>
                <a:spcPct val="95000"/>
              </a:lnSpc>
              <a:spcAft>
                <a:spcPts val="100"/>
              </a:spcAft>
              <a:buNone/>
            </a:pPr>
            <a:r>
              <a:rPr lang="en-US" sz="800" b="1" dirty="0">
                <a:solidFill>
                  <a:srgbClr val="267D86"/>
                </a:solidFill>
                <a:latin typeface="Noto Sans KR" pitchFamily="34" charset="0"/>
                <a:ea typeface="Noto Sans KR" pitchFamily="34" charset="-122"/>
                <a:cs typeface="Noto Sans KR" pitchFamily="34" charset="-120"/>
              </a:rPr>
              <a:t>H3  </a:t>
            </a:r>
            <a:pPr algn="l" indent="0" marL="0">
              <a:lnSpc>
                <a:spcPct val="95000"/>
              </a:lnSpc>
              <a:spcAft>
                <a:spcPts val="100"/>
              </a:spcAft>
              <a:buNone/>
            </a:pPr>
            <a:r>
              <a:rPr lang="en-US" sz="800" b="1" dirty="0">
                <a:solidFill>
                  <a:srgbClr val="182F48"/>
                </a:solidFill>
                <a:latin typeface="Noto Sans KR" pitchFamily="34" charset="0"/>
                <a:ea typeface="Noto Sans KR" pitchFamily="34" charset="-122"/>
                <a:cs typeface="Noto Sans KR" pitchFamily="34" charset="-120"/>
              </a:rPr>
              <a:t>기존 코엑스 · 킨텍스 아웃도어 행사로 충분할 것</a:t>
            </a:r>
            <a:endParaRPr lang="en-US" sz="800" dirty="0"/>
          </a:p>
          <a:p>
            <a:pPr algn="l" indent="0" marL="0">
              <a:lnSpc>
                <a:spcPct val="95000"/>
              </a:lnSpc>
              <a:spcAft>
                <a:spcPts val="100"/>
              </a:spcAft>
              <a:buNone/>
            </a:pPr>
            <a:r>
              <a:rPr lang="en-US" sz="80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50" dirty="0">
                <a:solidFill>
                  <a:srgbClr val="334155"/>
                </a:solidFill>
                <a:latin typeface="Noto Sans KR" pitchFamily="34" charset="0"/>
                <a:ea typeface="Noto Sans KR" pitchFamily="34" charset="-122"/>
                <a:cs typeface="Noto Sans KR" pitchFamily="34" charset="-120"/>
              </a:rPr>
              <a:t>"고객의 니즈가 다르기 때문에 저희는 참여를 안 하고 있습니다"</a:t>
            </a:r>
            <a:endParaRPr lang="en-US" sz="800" dirty="0"/>
          </a:p>
        </p:txBody>
      </p:sp>
      <p:sp>
        <p:nvSpPr>
          <p:cNvPr id="15" name="가정 H4"/>
          <p:cNvSpPr txBox="1"/>
          <p:nvPr/>
        </p:nvSpPr>
        <p:spPr>
          <a:xfrm>
            <a:off x="612648" y="4128508"/>
            <a:ext cx="3429000" cy="417091"/>
          </a:xfrm>
          <a:prstGeom prst="roundRect">
            <a:avLst>
              <a:gd name="adj" fmla="val 10962"/>
            </a:avLst>
          </a:prstGeom>
          <a:solidFill>
            <a:srgbClr val="F1F5F9"/>
          </a:solidFill>
          <a:ln/>
        </p:spPr>
        <p:txBody>
          <a:bodyPr wrap="square" lIns="91440" tIns="0" rIns="91440" bIns="0" rtlCol="0" anchor="ctr"/>
          <a:lstStyle/>
          <a:p>
            <a:pPr algn="l" indent="0" marL="0">
              <a:lnSpc>
                <a:spcPct val="95000"/>
              </a:lnSpc>
              <a:spcAft>
                <a:spcPts val="100"/>
              </a:spcAft>
              <a:buNone/>
            </a:pPr>
            <a:r>
              <a:rPr lang="en-US" sz="800" b="1" dirty="0">
                <a:solidFill>
                  <a:srgbClr val="267D86"/>
                </a:solidFill>
                <a:latin typeface="Noto Sans KR" pitchFamily="34" charset="0"/>
                <a:ea typeface="Noto Sans KR" pitchFamily="34" charset="-122"/>
                <a:cs typeface="Noto Sans KR" pitchFamily="34" charset="-120"/>
              </a:rPr>
              <a:t>H4  </a:t>
            </a:r>
            <a:pPr algn="l" indent="0" marL="0">
              <a:lnSpc>
                <a:spcPct val="95000"/>
              </a:lnSpc>
              <a:spcAft>
                <a:spcPts val="100"/>
              </a:spcAft>
              <a:buNone/>
            </a:pPr>
            <a:r>
              <a:rPr lang="en-US" sz="800" b="1" dirty="0">
                <a:solidFill>
                  <a:srgbClr val="182F48"/>
                </a:solidFill>
                <a:latin typeface="Noto Sans KR" pitchFamily="34" charset="0"/>
                <a:ea typeface="Noto Sans KR" pitchFamily="34" charset="-122"/>
                <a:cs typeface="Noto Sans KR" pitchFamily="34" charset="-120"/>
              </a:rPr>
              <a:t>일반 소비자(B2C)는 주요 고객이 아닐 것</a:t>
            </a:r>
            <a:endParaRPr lang="en-US" sz="800" dirty="0"/>
          </a:p>
          <a:p>
            <a:pPr algn="l" indent="0" marL="0">
              <a:lnSpc>
                <a:spcPct val="95000"/>
              </a:lnSpc>
              <a:spcAft>
                <a:spcPts val="100"/>
              </a:spcAft>
              <a:buNone/>
            </a:pPr>
            <a:r>
              <a:rPr lang="en-US" sz="80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50" dirty="0">
                <a:solidFill>
                  <a:srgbClr val="334155"/>
                </a:solidFill>
                <a:latin typeface="Noto Sans KR" pitchFamily="34" charset="0"/>
                <a:ea typeface="Noto Sans KR" pitchFamily="34" charset="-122"/>
                <a:cs typeface="Noto Sans KR" pitchFamily="34" charset="-120"/>
              </a:rPr>
              <a:t>B2C 매출 비중이 약 30%라 일반 고객을 매우 중요하게 생각한다.</a:t>
            </a:r>
            <a:endParaRPr lang="en-US" sz="800" dirty="0"/>
          </a:p>
        </p:txBody>
      </p:sp>
      <p:sp>
        <p:nvSpPr>
          <p:cNvPr id="16" name="대상 선정 이유"/>
          <p:cNvSpPr txBox="1"/>
          <p:nvPr/>
        </p:nvSpPr>
        <p:spPr>
          <a:xfrm>
            <a:off x="612648" y="4655327"/>
            <a:ext cx="3429000" cy="739633"/>
          </a:xfrm>
          <a:prstGeom prst="roundRect">
            <a:avLst>
              <a:gd name="adj" fmla="val 6181"/>
            </a:avLst>
          </a:prstGeom>
          <a:solidFill>
            <a:srgbClr val="FFFFFF"/>
          </a:solidFill>
          <a:ln w="9525">
            <a:solidFill>
              <a:srgbClr val="CBD5E1"/>
            </a:solidFill>
            <a:prstDash val="solid"/>
          </a:ln>
        </p:spPr>
        <p:txBody>
          <a:bodyPr wrap="square" lIns="91440" tIns="0" rIns="9144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왜 이 사람인가</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해외 프리미엄(마무트)과 K-브랜드(제로그램)를 함께 유통한다.</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E5 해외 앵커와 E3 신진, 두 참가업체 그룹의 시각을 한 번에 들었다.</a:t>
            </a:r>
            <a:endParaRPr lang="en-US" sz="780" dirty="0"/>
          </a:p>
        </p:txBody>
      </p:sp>
      <p:sp>
        <p:nvSpPr>
          <p:cNvPr id="17" name="제목 질문 · 답변 요지"/>
          <p:cNvSpPr txBox="1"/>
          <p:nvPr/>
        </p:nvSpPr>
        <p:spPr>
          <a:xfrm>
            <a:off x="4178808" y="2103120"/>
            <a:ext cx="3886200"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질문 · 답변 요지</a:t>
            </a:r>
            <a:endParaRPr lang="en-US" sz="1100" dirty="0"/>
          </a:p>
        </p:txBody>
      </p:sp>
      <p:graphicFrame>
        <p:nvGraphicFramePr>
          <p:cNvPr id="8" name="질문 답변표"/>
          <p:cNvGraphicFramePr>
            <a:graphicFrameLocks noGrp="1"/>
          </p:cNvGraphicFramePr>
          <p:nvPr>
            <p:extLst>
              <p:ext uri="{D42A27DB-BD31-4B8C-83A1-F6EECF244321}">
                <p14:modId xmlns:p14="http://schemas.microsoft.com/office/powerpoint/2010/main" val="1579011935"/>
              </p:ext>
            </p:extLst>
          </p:nvPr>
        </p:nvGraphicFramePr>
        <p:xfrm>
          <a:off x="4178808" y="2395728"/>
          <a:ext cx="3886200" cy="914400"/>
        </p:xfrm>
        <a:graphic>
          <a:graphicData uri="http://schemas.openxmlformats.org/drawingml/2006/table">
            <a:tbl>
              <a:tblPr/>
              <a:tblGrid>
                <a:gridCol w="932688"/>
                <a:gridCol w="2953512"/>
              </a:tblGrid>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Q1 고객층</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 소비자와 기업(B2B) 모두에 판매한다.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Q2 B2C 비중</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일반인 판매 매출이 약 30%라 매우 중요하다.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Q3 참여 조건</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트레킹 · 백패킹 상품을 아는 고객의 수와 관심도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Q4 부스비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국내 10년 이상 · 해외 2년에 1회 · 2만~5만 달러</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Q5 현장 시연</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고어텍스 방수용 샤워부스 · 냉기 차단용 얼음 바닥</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Q6 참여 장애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인플루언서 · 모델 일정, 공간 크기, 비용 대비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Q7 성공 기준</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"고객의 반응이겠죠."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01052">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Q8 기대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투자 · 바이어 · 현장판매보다 브랜드 홍보가 목적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9" name="제목 통화 후 추가로 확인할 사항"/>
          <p:cNvSpPr txBox="1"/>
          <p:nvPr/>
        </p:nvSpPr>
        <p:spPr>
          <a:xfrm>
            <a:off x="4178808" y="4132158"/>
            <a:ext cx="3886200"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통화 후 추가로 확인할 사항</a:t>
            </a:r>
            <a:endParaRPr lang="en-US" sz="1100" dirty="0"/>
          </a:p>
        </p:txBody>
      </p:sp>
      <p:sp>
        <p:nvSpPr>
          <p:cNvPr id="20" name="추가 확인"/>
          <p:cNvSpPr txBox="1"/>
          <p:nvPr/>
        </p:nvSpPr>
        <p:spPr>
          <a:xfrm>
            <a:off x="4178808" y="4406478"/>
            <a:ext cx="3886200" cy="988482"/>
          </a:xfrm>
          <a:prstGeom prst="rect">
            <a:avLst/>
          </a:prstGeom>
          <a:noFill/>
          <a:ln/>
        </p:spPr>
        <p:txBody>
          <a:bodyPr wrap="square" lIns="0" tIns="0" rIns="0" bIns="0" rtlCol="0" anchor="t"/>
          <a:lstStyle/>
          <a:p>
            <a:pPr algn="l" indent="0" marL="0">
              <a:lnSpc>
                <a:spcPct val="95000"/>
              </a:lnSpc>
              <a:spcAft>
                <a:spcPts val="250"/>
              </a:spcAft>
              <a:buNone/>
            </a:pPr>
            <a:r>
              <a:rPr lang="en-US" sz="780" b="1" dirty="0">
                <a:solidFill>
                  <a:srgbClr val="C2410C"/>
                </a:solidFill>
                <a:latin typeface="Noto Sans KR" pitchFamily="34" charset="0"/>
                <a:ea typeface="Noto Sans KR" pitchFamily="34" charset="-122"/>
                <a:cs typeface="Noto Sans KR" pitchFamily="34" charset="-120"/>
              </a:rPr>
              <a:t>① </a:t>
            </a:r>
            <a:pPr algn="l" indent="0" marL="0">
              <a:lnSpc>
                <a:spcPct val="95000"/>
              </a:lnSpc>
              <a:spcAft>
                <a:spcPts val="250"/>
              </a:spcAft>
              <a:buNone/>
            </a:pPr>
            <a:r>
              <a:rPr lang="en-US" sz="780" dirty="0">
                <a:solidFill>
                  <a:srgbClr val="334155"/>
                </a:solidFill>
                <a:latin typeface="Noto Sans KR" pitchFamily="34" charset="0"/>
                <a:ea typeface="Noto Sans KR" pitchFamily="34" charset="-122"/>
                <a:cs typeface="Noto Sans KR" pitchFamily="34" charset="-120"/>
              </a:rPr>
              <a:t>제로그램 같은 K-브랜드의 국내 소량 생산처 확보 어려움</a:t>
            </a:r>
            <a:endParaRPr lang="en-US" sz="780" dirty="0"/>
          </a:p>
          <a:p>
            <a:pPr algn="l" indent="0" marL="0">
              <a:lnSpc>
                <a:spcPct val="95000"/>
              </a:lnSpc>
              <a:spcAft>
                <a:spcPts val="250"/>
              </a:spcAft>
              <a:buNone/>
            </a:pPr>
            <a:r>
              <a:rPr lang="en-US" sz="780" b="1" dirty="0">
                <a:solidFill>
                  <a:srgbClr val="C2410C"/>
                </a:solidFill>
                <a:latin typeface="Noto Sans KR" pitchFamily="34" charset="0"/>
                <a:ea typeface="Noto Sans KR" pitchFamily="34" charset="-122"/>
                <a:cs typeface="Noto Sans KR" pitchFamily="34" charset="-120"/>
              </a:rPr>
              <a:t>② </a:t>
            </a:r>
            <a:pPr algn="l" indent="0" marL="0">
              <a:lnSpc>
                <a:spcPct val="95000"/>
              </a:lnSpc>
              <a:spcAft>
                <a:spcPts val="250"/>
              </a:spcAft>
              <a:buNone/>
            </a:pPr>
            <a:r>
              <a:rPr lang="en-US" sz="780" dirty="0">
                <a:solidFill>
                  <a:srgbClr val="334155"/>
                </a:solidFill>
                <a:latin typeface="Noto Sans KR" pitchFamily="34" charset="0"/>
                <a:ea typeface="Noto Sans KR" pitchFamily="34" charset="-122"/>
                <a:cs typeface="Noto Sans KR" pitchFamily="34" charset="-120"/>
              </a:rPr>
              <a:t>수입 브랜드 대비 K-브랜드를 유통할 때의 수수료 · 마진 차이</a:t>
            </a:r>
            <a:endParaRPr lang="en-US" sz="780" dirty="0"/>
          </a:p>
          <a:p>
            <a:pPr algn="l" indent="0" marL="0">
              <a:lnSpc>
                <a:spcPct val="95000"/>
              </a:lnSpc>
              <a:spcAft>
                <a:spcPts val="250"/>
              </a:spcAft>
              <a:buNone/>
            </a:pPr>
            <a:r>
              <a:rPr lang="en-US" sz="780" b="1" dirty="0">
                <a:solidFill>
                  <a:srgbClr val="182F48"/>
                </a:solidFill>
                <a:latin typeface="Noto Sans KR" pitchFamily="34" charset="0"/>
                <a:ea typeface="Noto Sans KR" pitchFamily="34" charset="-122"/>
                <a:cs typeface="Noto Sans KR" pitchFamily="34" charset="-120"/>
              </a:rPr>
              <a:t>· </a:t>
            </a:r>
            <a:pPr algn="l" indent="0" marL="0">
              <a:lnSpc>
                <a:spcPct val="95000"/>
              </a:lnSpc>
              <a:spcAft>
                <a:spcPts val="250"/>
              </a:spcAft>
              <a:buNone/>
            </a:pPr>
            <a:r>
              <a:rPr lang="en-US" sz="780" dirty="0">
                <a:solidFill>
                  <a:srgbClr val="334155"/>
                </a:solidFill>
                <a:latin typeface="Noto Sans KR" pitchFamily="34" charset="0"/>
                <a:ea typeface="Noto Sans KR" pitchFamily="34" charset="-122"/>
                <a:cs typeface="Noto Sans KR" pitchFamily="34" charset="-120"/>
              </a:rPr>
              <a:t>트레이드 데이와 퍼블릭 랩 데이 중 희망 참가일</a:t>
            </a:r>
            <a:endParaRPr lang="en-US" sz="780" dirty="0"/>
          </a:p>
          <a:p>
            <a:pPr algn="l" indent="0" marL="0">
              <a:lnSpc>
                <a:spcPct val="95000"/>
              </a:lnSpc>
              <a:spcAft>
                <a:spcPts val="250"/>
              </a:spcAft>
              <a:buNone/>
            </a:pPr>
            <a:r>
              <a:rPr lang="en-US" sz="780" b="1" dirty="0">
                <a:solidFill>
                  <a:srgbClr val="182F48"/>
                </a:solidFill>
                <a:latin typeface="Noto Sans KR" pitchFamily="34" charset="0"/>
                <a:ea typeface="Noto Sans KR" pitchFamily="34" charset="-122"/>
                <a:cs typeface="Noto Sans KR" pitchFamily="34" charset="-120"/>
              </a:rPr>
              <a:t>· </a:t>
            </a:r>
            <a:pPr algn="l" indent="0" marL="0">
              <a:lnSpc>
                <a:spcPct val="95000"/>
              </a:lnSpc>
              <a:spcAft>
                <a:spcPts val="250"/>
              </a:spcAft>
              <a:buNone/>
            </a:pPr>
            <a:r>
              <a:rPr lang="en-US" sz="780" dirty="0">
                <a:solidFill>
                  <a:srgbClr val="334155"/>
                </a:solidFill>
                <a:latin typeface="Noto Sans KR" pitchFamily="34" charset="0"/>
                <a:ea typeface="Noto Sans KR" pitchFamily="34" charset="-122"/>
                <a:cs typeface="Noto Sans KR" pitchFamily="34" charset="-120"/>
              </a:rPr>
              <a:t>부스비 수용 범위(원화)와 9월 말 일정의 시즌 적합성</a:t>
            </a:r>
            <a:endParaRPr lang="en-US" sz="780" dirty="0"/>
          </a:p>
        </p:txBody>
      </p:sp>
      <p:sp>
        <p:nvSpPr>
          <p:cNvPr id="21" name="제목 기획 수정 (반영 위치)"/>
          <p:cNvSpPr txBox="1"/>
          <p:nvPr/>
        </p:nvSpPr>
        <p:spPr>
          <a:xfrm>
            <a:off x="8202168" y="2103120"/>
            <a:ext cx="3374136"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기획 수정 (반영 위치)</a:t>
            </a:r>
            <a:endParaRPr lang="en-US" sz="1100" dirty="0"/>
          </a:p>
        </p:txBody>
      </p:sp>
      <p:sp>
        <p:nvSpPr>
          <p:cNvPr id="22" name="기획 수정 배경"/>
          <p:cNvSpPr/>
          <p:nvPr/>
        </p:nvSpPr>
        <p:spPr>
          <a:xfrm>
            <a:off x="8202168" y="2395728"/>
            <a:ext cx="3374136" cy="2999232"/>
          </a:xfrm>
          <a:prstGeom prst="roundRect">
            <a:avLst>
              <a:gd name="adj" fmla="val 1524"/>
            </a:avLst>
          </a:prstGeom>
          <a:solidFill>
            <a:srgbClr val="E6F2F3"/>
          </a:solidFill>
          <a:ln/>
        </p:spPr>
      </p:sp>
      <p:sp>
        <p:nvSpPr>
          <p:cNvPr id="23" name="기획 수정 1"/>
          <p:cNvSpPr txBox="1"/>
          <p:nvPr/>
        </p:nvSpPr>
        <p:spPr>
          <a:xfrm>
            <a:off x="8293608" y="2395728"/>
            <a:ext cx="3191256" cy="749808"/>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공동 Test Lab(샤워부스 · 얼음 바닥)을 주최 측이 설치</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Q5 · Q6: 시연 공간과 비용 대비 효과가 장벽</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브랜드마다 시연 공간을 만들 부담을 덜어 준다 (2장)</a:t>
            </a:r>
            <a:endParaRPr lang="en-US" sz="780" dirty="0"/>
          </a:p>
        </p:txBody>
      </p:sp>
      <p:sp>
        <p:nvSpPr>
          <p:cNvPr id="24" name="기획 수정 2"/>
          <p:cNvSpPr txBox="1"/>
          <p:nvPr/>
        </p:nvSpPr>
        <p:spPr>
          <a:xfrm>
            <a:off x="8293608" y="3145536"/>
            <a:ext cx="3191256" cy="749808"/>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관람객의 '수'보다 '관심도'를 지표로</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Q3 · Q7: 참여 조건은 관심 고객, 성공 기준은 반응</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관심사 사전등록 · Test Lab 체험률을 함께 잰다 (3장)</a:t>
            </a:r>
            <a:endParaRPr lang="en-US" sz="780" dirty="0"/>
          </a:p>
        </p:txBody>
      </p:sp>
      <p:sp>
        <p:nvSpPr>
          <p:cNvPr id="25" name="기획 수정 3"/>
          <p:cNvSpPr txBox="1"/>
          <p:nvPr/>
        </p:nvSpPr>
        <p:spPr>
          <a:xfrm>
            <a:off x="8293608" y="3895344"/>
            <a:ext cx="3191256" cy="749808"/>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참가업체를 목적별로 나눠 연결</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Q8: 고가 브랜드는 판매보다 브랜드 홍보가 목적</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해외 앵커는 관심 고객과, K-브랜드는 바이어와 (5장)</a:t>
            </a:r>
            <a:endParaRPr lang="en-US" sz="780" dirty="0"/>
          </a:p>
        </p:txBody>
      </p:sp>
      <p:sp>
        <p:nvSpPr>
          <p:cNvPr id="26" name="기획 수정 4"/>
          <p:cNvSpPr txBox="1"/>
          <p:nvPr/>
        </p:nvSpPr>
        <p:spPr>
          <a:xfrm>
            <a:off x="8293608" y="4645152"/>
            <a:ext cx="3191256" cy="749808"/>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인플루언서 · 모델 섭외를 미디어 파트너가 지원</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Q6: 인플루언서 · 모델 일정 조율이 참여 장애</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GO OUT KOREA · 패션비즈와 협력 (6장)</a:t>
            </a:r>
            <a:endParaRPr lang="en-US" sz="780" dirty="0"/>
          </a:p>
        </p:txBody>
      </p:sp>
      <p:sp>
        <p:nvSpPr>
          <p:cNvPr id="27" name="핵심 발언"/>
          <p:cNvSpPr txBox="1"/>
          <p:nvPr/>
        </p:nvSpPr>
        <p:spPr>
          <a:xfrm>
            <a:off x="612648" y="5486400"/>
            <a:ext cx="10963656" cy="822960"/>
          </a:xfrm>
          <a:prstGeom prst="roundRect">
            <a:avLst>
              <a:gd name="adj" fmla="val 5556"/>
            </a:avLst>
          </a:prstGeom>
          <a:solidFill>
            <a:srgbClr val="182F48"/>
          </a:solidFill>
          <a:ln/>
        </p:spPr>
        <p:txBody>
          <a:bodyPr wrap="square" lIns="128016" tIns="0" rIns="128016" bIns="0" rtlCol="0" anchor="ctr"/>
          <a:lstStyle/>
          <a:p>
            <a:pPr algn="l" indent="0" marL="0">
              <a:lnSpc>
                <a:spcPct val="95000"/>
              </a:lnSpc>
              <a:spcAft>
                <a:spcPts val="100"/>
              </a:spcAft>
              <a:buNone/>
            </a:pPr>
            <a:r>
              <a:rPr lang="en-US" sz="780" b="1" dirty="0">
                <a:solidFill>
                  <a:srgbClr val="9FE0E6"/>
                </a:solidFill>
                <a:latin typeface="Noto Sans KR" pitchFamily="34" charset="0"/>
                <a:ea typeface="Noto Sans KR" pitchFamily="34" charset="-122"/>
                <a:cs typeface="Noto Sans KR" pitchFamily="34" charset="-120"/>
              </a:rPr>
              <a:t>핵심 발언 (녹취 원문)</a:t>
            </a:r>
            <a:endParaRPr lang="en-US" sz="780" dirty="0"/>
          </a:p>
          <a:p>
            <a:pPr algn="l" indent="0" marL="0">
              <a:lnSpc>
                <a:spcPct val="95000"/>
              </a:lnSpc>
              <a:spcAft>
                <a:spcPts val="100"/>
              </a:spcAft>
              <a:buNone/>
            </a:pPr>
            <a:r>
              <a:rPr lang="en-US" sz="780" b="1" dirty="0">
                <a:solidFill>
                  <a:srgbClr val="FFFFFF"/>
                </a:solidFill>
                <a:latin typeface="Noto Sans KR" pitchFamily="34" charset="0"/>
                <a:ea typeface="Noto Sans KR" pitchFamily="34" charset="-122"/>
                <a:cs typeface="Noto Sans KR" pitchFamily="34" charset="-120"/>
              </a:rPr>
              <a:t>"고객의 반응이겠죠."</a:t>
            </a:r>
            <a:pPr algn="l" indent="0" marL="0">
              <a:lnSpc>
                <a:spcPct val="95000"/>
              </a:lnSpc>
              <a:spcAft>
                <a:spcPts val="100"/>
              </a:spcAft>
              <a:buNone/>
            </a:pPr>
            <a:r>
              <a:rPr lang="en-US" sz="780" dirty="0">
                <a:solidFill>
                  <a:srgbClr val="CBD5E1"/>
                </a:solidFill>
                <a:latin typeface="Noto Sans KR" pitchFamily="34" charset="0"/>
                <a:ea typeface="Noto Sans KR" pitchFamily="34" charset="-122"/>
                <a:cs typeface="Noto Sans KR" pitchFamily="34" charset="-120"/>
              </a:rPr>
              <a:t>   — Q7 성공 기준</a:t>
            </a:r>
            <a:endParaRPr lang="en-US" sz="780" dirty="0"/>
          </a:p>
          <a:p>
            <a:pPr algn="l" indent="0" marL="0">
              <a:lnSpc>
                <a:spcPct val="95000"/>
              </a:lnSpc>
              <a:spcAft>
                <a:spcPts val="100"/>
              </a:spcAft>
              <a:buNone/>
            </a:pPr>
            <a:r>
              <a:rPr lang="en-US" sz="780" b="1" dirty="0">
                <a:solidFill>
                  <a:srgbClr val="FFFFFF"/>
                </a:solidFill>
                <a:latin typeface="Noto Sans KR" pitchFamily="34" charset="0"/>
                <a:ea typeface="Noto Sans KR" pitchFamily="34" charset="-122"/>
                <a:cs typeface="Noto Sans KR" pitchFamily="34" charset="-120"/>
              </a:rPr>
              <a:t>"이 장비에 대한 좋은 점을 설명하는 것, 그걸 관심 깊게 들어주는 고객들이 필요하지, 현장에서 판매를 하거나 이런 거는 의미가 없고요."</a:t>
            </a:r>
            <a:pPr algn="l" indent="0" marL="0">
              <a:lnSpc>
                <a:spcPct val="95000"/>
              </a:lnSpc>
              <a:spcAft>
                <a:spcPts val="100"/>
              </a:spcAft>
              <a:buNone/>
            </a:pPr>
            <a:r>
              <a:rPr lang="en-US" sz="780" dirty="0">
                <a:solidFill>
                  <a:srgbClr val="CBD5E1"/>
                </a:solidFill>
                <a:latin typeface="Noto Sans KR" pitchFamily="34" charset="0"/>
                <a:ea typeface="Noto Sans KR" pitchFamily="34" charset="-122"/>
                <a:cs typeface="Noto Sans KR" pitchFamily="34" charset="-120"/>
              </a:rPr>
              <a:t>   — Q8</a:t>
            </a:r>
            <a:endParaRPr lang="en-US" sz="780" dirty="0"/>
          </a:p>
          <a:p>
            <a:pPr algn="l" indent="0" marL="0">
              <a:lnSpc>
                <a:spcPct val="95000"/>
              </a:lnSpc>
              <a:spcAft>
                <a:spcPts val="100"/>
              </a:spcAft>
              <a:buNone/>
            </a:pPr>
            <a:r>
              <a:rPr lang="en-US" sz="780" b="1" dirty="0">
                <a:solidFill>
                  <a:srgbClr val="FFFFFF"/>
                </a:solidFill>
                <a:latin typeface="Noto Sans KR" pitchFamily="34" charset="0"/>
                <a:ea typeface="Noto Sans KR" pitchFamily="34" charset="-122"/>
                <a:cs typeface="Noto Sans KR" pitchFamily="34" charset="-120"/>
              </a:rPr>
              <a:t>"고객의 니즈가 다르기 때문에 저희는 참여를 안 하고 있습니다."</a:t>
            </a:r>
            <a:pPr algn="l" indent="0" marL="0">
              <a:lnSpc>
                <a:spcPct val="95000"/>
              </a:lnSpc>
              <a:spcAft>
                <a:spcPts val="100"/>
              </a:spcAft>
              <a:buNone/>
            </a:pPr>
            <a:r>
              <a:rPr lang="en-US" sz="780" dirty="0">
                <a:solidFill>
                  <a:srgbClr val="CBD5E1"/>
                </a:solidFill>
                <a:latin typeface="Noto Sans KR" pitchFamily="34" charset="0"/>
                <a:ea typeface="Noto Sans KR" pitchFamily="34" charset="-122"/>
                <a:cs typeface="Noto Sans KR" pitchFamily="34" charset="-120"/>
              </a:rPr>
              <a:t>   — Q6 기존 코엑스 · 킨텍스 아웃도어 행사</a:t>
            </a:r>
            <a:endParaRPr lang="en-US" sz="780" dirty="0"/>
          </a:p>
          <a:p>
            <a:pPr algn="l" indent="0" marL="0">
              <a:lnSpc>
                <a:spcPct val="95000"/>
              </a:lnSpc>
              <a:spcAft>
                <a:spcPts val="100"/>
              </a:spcAft>
              <a:buNone/>
            </a:pPr>
            <a:r>
              <a:rPr lang="en-US" sz="780" b="1" dirty="0">
                <a:solidFill>
                  <a:srgbClr val="9FE0E6"/>
                </a:solidFill>
                <a:latin typeface="Noto Sans KR" pitchFamily="34" charset="0"/>
                <a:ea typeface="Noto Sans KR" pitchFamily="34" charset="-122"/>
                <a:cs typeface="Noto Sans KR" pitchFamily="34" charset="-120"/>
              </a:rPr>
              <a:t>→ 해외 프리미엄 브랜드에게는 바이어보다 관심 고객이 중요하므로, 트레이드 데이(K-브랜드 · 바이어)와 퍼블릭 랩 데이(관심 고객)를 목적별로 나눴다.</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2/2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 전화 검증 기록 (바이어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바이어 · 공급 측 사전 가정과 질문지, 시도 기록표 — 통화 후 빈칸을 채운다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결과 표기: ● 연결 성공 / ○ 부재 · 재시도 / ✕ 거절 · 연결 실패. 연결에 실패한 시도도 지우지 않고 시도 내역으로 남긴다. 해외 바이어는 이메일 · DM 시도도 함께 적는다.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바이어 측 1곳 이상은 반드시 통화한다(교수님 기준). 공급 측 2곳은 새 기획의 소재관 · 제조관 수요를 확인하기 위한 추가 통화다.</a:t>
            </a:r>
            <a:endParaRPr lang="en-US" sz="700" dirty="0"/>
          </a:p>
        </p:txBody>
      </p:sp>
      <p:sp>
        <p:nvSpPr>
          <p:cNvPr id="7" name="제목 사전 가정 H5~H8 (바이어 · 공급 측)"/>
          <p:cNvSpPr txBox="1"/>
          <p:nvPr/>
        </p:nvSpPr>
        <p:spPr>
          <a:xfrm>
            <a:off x="612648" y="1481328"/>
            <a:ext cx="3931920"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사전 가정 H5~H8 (바이어 · 공급 측)</a:t>
            </a:r>
            <a:endParaRPr lang="en-US" sz="1100" dirty="0"/>
          </a:p>
        </p:txBody>
      </p:sp>
      <p:sp>
        <p:nvSpPr>
          <p:cNvPr id="8" name="바이어 가정"/>
          <p:cNvSpPr txBox="1"/>
          <p:nvPr/>
        </p:nvSpPr>
        <p:spPr>
          <a:xfrm>
            <a:off x="612648" y="1755648"/>
            <a:ext cx="3931920" cy="713232"/>
          </a:xfrm>
          <a:prstGeom prst="roundRect">
            <a:avLst>
              <a:gd name="adj" fmla="val 6410"/>
            </a:avLst>
          </a:prstGeom>
          <a:solidFill>
            <a:srgbClr val="E6F2F3"/>
          </a:solidFill>
          <a:ln/>
        </p:spPr>
        <p:txBody>
          <a:bodyPr wrap="square" lIns="91440" tIns="0" rIns="9144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H5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국내 MD는 신진 K-고프코어를 한 번에 볼 창구가 없다</a:t>
            </a:r>
            <a:pPr algn="l" indent="0" marL="0">
              <a:lnSpc>
                <a:spcPct val="95000"/>
              </a:lnSpc>
              <a:spcAft>
                <a:spcPts val="200"/>
              </a:spcAft>
              <a:buNone/>
            </a:pPr>
            <a:r>
              <a:rPr lang="en-US" sz="780" b="1" dirty="0">
                <a:solidFill>
                  <a:srgbClr val="C2410C"/>
                </a:solidFill>
                <a:latin typeface="Noto Sans KR" pitchFamily="34" charset="0"/>
                <a:ea typeface="Noto Sans KR" pitchFamily="34" charset="-122"/>
                <a:cs typeface="Noto Sans KR" pitchFamily="34" charset="-120"/>
              </a:rPr>
              <a:t>  ②</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H6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해외 편집숍은 1:1 사전 매칭이 잡히면 서울로 출장 온다</a:t>
            </a:r>
            <a:pPr algn="l" indent="0" marL="0">
              <a:lnSpc>
                <a:spcPct val="95000"/>
              </a:lnSpc>
              <a:spcAft>
                <a:spcPts val="200"/>
              </a:spcAft>
              <a:buNone/>
            </a:pPr>
            <a:r>
              <a:rPr lang="en-US" sz="780" b="1" dirty="0">
                <a:solidFill>
                  <a:srgbClr val="C2410C"/>
                </a:solidFill>
                <a:latin typeface="Noto Sans KR" pitchFamily="34" charset="0"/>
                <a:ea typeface="Noto Sans KR" pitchFamily="34" charset="-122"/>
                <a:cs typeface="Noto Sans KR" pitchFamily="34" charset="-120"/>
              </a:rPr>
              <a:t>  ③</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H7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바이어는 방수 · 보온 시험성적서를 구매 판단에 쓴다</a:t>
            </a:r>
            <a:pPr algn="l" indent="0" marL="0">
              <a:lnSpc>
                <a:spcPct val="95000"/>
              </a:lnSpc>
              <a:spcAft>
                <a:spcPts val="200"/>
              </a:spcAft>
              <a:buNone/>
            </a:pPr>
            <a:r>
              <a:rPr lang="en-US" sz="780" b="1" dirty="0">
                <a:solidFill>
                  <a:srgbClr val="C2410C"/>
                </a:solidFill>
                <a:latin typeface="Noto Sans KR" pitchFamily="34" charset="0"/>
                <a:ea typeface="Noto Sans KR" pitchFamily="34" charset="-122"/>
                <a:cs typeface="Noto Sans KR" pitchFamily="34" charset="-120"/>
              </a:rPr>
              <a:t>  기능</a:t>
            </a:r>
            <a:endParaRPr lang="en-US" sz="780" dirty="0"/>
          </a:p>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H8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소재 · 제조사는 조건이 맞으면 K-브랜드 소량 주문을 받는다</a:t>
            </a:r>
            <a:pPr algn="l" indent="0" marL="0">
              <a:lnSpc>
                <a:spcPct val="95000"/>
              </a:lnSpc>
              <a:spcAft>
                <a:spcPts val="200"/>
              </a:spcAft>
              <a:buNone/>
            </a:pPr>
            <a:r>
              <a:rPr lang="en-US" sz="780" b="1" dirty="0">
                <a:solidFill>
                  <a:srgbClr val="C2410C"/>
                </a:solidFill>
                <a:latin typeface="Noto Sans KR" pitchFamily="34" charset="0"/>
                <a:ea typeface="Noto Sans KR" pitchFamily="34" charset="-122"/>
                <a:cs typeface="Noto Sans KR" pitchFamily="34" charset="-120"/>
              </a:rPr>
              <a:t>  ①</a:t>
            </a:r>
            <a:endParaRPr lang="en-US" sz="780" dirty="0"/>
          </a:p>
        </p:txBody>
      </p:sp>
      <p:sp>
        <p:nvSpPr>
          <p:cNvPr id="9" name="제목 통화 질문지"/>
          <p:cNvSpPr txBox="1"/>
          <p:nvPr/>
        </p:nvSpPr>
        <p:spPr>
          <a:xfrm>
            <a:off x="612648" y="2560320"/>
            <a:ext cx="3931920"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통화 질문지</a:t>
            </a:r>
            <a:endParaRPr lang="en-US" sz="1100" dirty="0"/>
          </a:p>
        </p:txBody>
      </p:sp>
      <p:sp>
        <p:nvSpPr>
          <p:cNvPr id="10" name="질문지"/>
          <p:cNvSpPr txBox="1"/>
          <p:nvPr/>
        </p:nvSpPr>
        <p:spPr>
          <a:xfrm>
            <a:off x="612648" y="2816352"/>
            <a:ext cx="3931920" cy="1161288"/>
          </a:xfrm>
          <a:prstGeom prst="rect">
            <a:avLst/>
          </a:prstGeom>
          <a:noFill/>
          <a:ln/>
        </p:spPr>
        <p:txBody>
          <a:bodyPr wrap="square" lIns="0" tIns="0" rIns="0" bIns="0" rtlCol="0" anchor="t"/>
          <a:lstStyle/>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신규 고프코어 브랜드는 주로 어떤 경로로 발굴하나요?</a:t>
            </a:r>
            <a:pPr algn="l" indent="0" marL="0">
              <a:lnSpc>
                <a:spcPct val="95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차기 시즌 바이잉은 언제 하나요? (9월 말 일정 적합성)</a:t>
            </a:r>
            <a:pPr algn="l" indent="0" marL="0">
              <a:lnSpc>
                <a:spcPct val="95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K-고프코어 90곳과 1:1 사전 매칭이 있다면 참관하시겠어요?</a:t>
            </a:r>
            <a:pPr algn="l" indent="0" marL="0">
              <a:lnSpc>
                <a:spcPct val="95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H5·H6</a:t>
            </a:r>
            <a:endParaRPr lang="en-US" sz="800" dirty="0"/>
          </a:p>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입점 · 사입 판단에서 기능 시험성적서는 얼마나 중요한가요?</a:t>
            </a:r>
            <a:pPr algn="l" indent="0" marL="0">
              <a:lnSpc>
                <a:spcPct val="95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H7</a:t>
            </a:r>
            <a:endParaRPr lang="en-US" sz="800" dirty="0"/>
          </a:p>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5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신진 브랜드와 거래할 때 가장 걱정되는 점은 무엇인가요?</a:t>
            </a:r>
            <a:pPr algn="l" indent="0" marL="0">
              <a:lnSpc>
                <a:spcPct val="95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생산 · 납기</a:t>
            </a:r>
            <a:endParaRPr lang="en-US" sz="800" dirty="0"/>
          </a:p>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6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참관을 막는 요인은 무엇인가요? (일정 · 출장비 · 브랜드 수준)</a:t>
            </a:r>
            <a:endParaRPr lang="en-US" sz="800" dirty="0"/>
          </a:p>
          <a:p>
            <a:pPr algn="l" indent="0" marL="0">
              <a:lnSpc>
                <a:spcPct val="95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7  </a:t>
            </a:r>
            <a:pPr algn="l" indent="0" marL="0">
              <a:lnSpc>
                <a:spcPct val="95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(공급사) K-브랜드의 소량 주문은 몇 벌부터 가능한가요?</a:t>
            </a:r>
            <a:pPr algn="l" indent="0" marL="0">
              <a:lnSpc>
                <a:spcPct val="95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p:txBody>
      </p:sp>
      <p:sp>
        <p:nvSpPr>
          <p:cNvPr id="11" name="오프닝 스크립트"/>
          <p:cNvSpPr txBox="1"/>
          <p:nvPr/>
        </p:nvSpPr>
        <p:spPr>
          <a:xfrm>
            <a:off x="612648" y="4041648"/>
            <a:ext cx="3931920" cy="932688"/>
          </a:xfrm>
          <a:prstGeom prst="roundRect">
            <a:avLst>
              <a:gd name="adj" fmla="val 4902"/>
            </a:avLst>
          </a:prstGeom>
          <a:solidFill>
            <a:srgbClr val="F1F5F9"/>
          </a:solidFill>
          <a:ln/>
        </p:spPr>
        <p:txBody>
          <a:bodyPr wrap="square" lIns="91440" tIns="0" rIns="91440" bIns="0" rtlCol="0" anchor="ctr"/>
          <a:lstStyle/>
          <a:p>
            <a:pPr algn="l" indent="0" marL="0">
              <a:lnSpc>
                <a:spcPct val="95000"/>
              </a:lnSpc>
              <a:spcAft>
                <a:spcPts val="50"/>
              </a:spcAft>
              <a:buNone/>
            </a:pPr>
            <a:r>
              <a:rPr lang="en-US" sz="750" b="1" dirty="0">
                <a:solidFill>
                  <a:srgbClr val="267D86"/>
                </a:solidFill>
                <a:latin typeface="Noto Sans KR" pitchFamily="34" charset="0"/>
                <a:ea typeface="Noto Sans KR" pitchFamily="34" charset="-122"/>
                <a:cs typeface="Noto Sans KR" pitchFamily="34" charset="-120"/>
              </a:rPr>
              <a:t>오프닝 스크립트</a:t>
            </a:r>
            <a:endParaRPr lang="en-US" sz="750" dirty="0"/>
          </a:p>
          <a:p>
            <a:pPr algn="l" indent="0" marL="0">
              <a:lnSpc>
                <a:spcPct val="95000"/>
              </a:lnSpc>
              <a:spcAft>
                <a:spcPts val="50"/>
              </a:spcAft>
              <a:buNone/>
            </a:pPr>
            <a:r>
              <a:rPr lang="en-US" sz="750" dirty="0">
                <a:solidFill>
                  <a:srgbClr val="334155"/>
                </a:solidFill>
                <a:latin typeface="Noto Sans KR" pitchFamily="34" charset="0"/>
                <a:ea typeface="Noto Sans KR" pitchFamily="34" charset="-122"/>
                <a:cs typeface="Noto Sans KR" pitchFamily="34" charset="-120"/>
              </a:rPr>
              <a:t>"안녕하세요, 한림대학교 MICE 전공 학생 ○○○입니다.</a:t>
            </a:r>
            <a:endParaRPr lang="en-US" sz="750" dirty="0"/>
          </a:p>
          <a:p>
            <a:pPr algn="l" indent="0" marL="0">
              <a:lnSpc>
                <a:spcPct val="95000"/>
              </a:lnSpc>
              <a:spcAft>
                <a:spcPts val="50"/>
              </a:spcAft>
              <a:buNone/>
            </a:pPr>
            <a:r>
              <a:rPr lang="en-US" sz="750" dirty="0">
                <a:solidFill>
                  <a:srgbClr val="334155"/>
                </a:solidFill>
                <a:latin typeface="Noto Sans KR" pitchFamily="34" charset="0"/>
                <a:ea typeface="Noto Sans KR" pitchFamily="34" charset="-122"/>
                <a:cs typeface="Noto Sans KR" pitchFamily="34" charset="-120"/>
              </a:rPr>
              <a:t>수업 과제로 '고프코어 패션 페어 서울'을 기획하고 있습니다.</a:t>
            </a:r>
            <a:endParaRPr lang="en-US" sz="750" dirty="0"/>
          </a:p>
          <a:p>
            <a:pPr algn="l" indent="0" marL="0">
              <a:lnSpc>
                <a:spcPct val="95000"/>
              </a:lnSpc>
              <a:spcAft>
                <a:spcPts val="50"/>
              </a:spcAft>
              <a:buNone/>
            </a:pPr>
            <a:r>
              <a:rPr lang="en-US" sz="750" dirty="0">
                <a:solidFill>
                  <a:srgbClr val="334155"/>
                </a:solidFill>
                <a:latin typeface="Noto Sans KR" pitchFamily="34" charset="0"/>
                <a:ea typeface="Noto Sans KR" pitchFamily="34" charset="-122"/>
                <a:cs typeface="Noto Sans KR" pitchFamily="34" charset="-120"/>
              </a:rPr>
              <a:t>바이어 입장의 의견을 3분만 여쭤봐도 될까요?</a:t>
            </a:r>
            <a:endParaRPr lang="en-US" sz="750" dirty="0"/>
          </a:p>
          <a:p>
            <a:pPr algn="l" indent="0" marL="0">
              <a:lnSpc>
                <a:spcPct val="95000"/>
              </a:lnSpc>
              <a:spcAft>
                <a:spcPts val="50"/>
              </a:spcAft>
              <a:buNone/>
            </a:pPr>
            <a:r>
              <a:rPr lang="en-US" sz="750" dirty="0">
                <a:solidFill>
                  <a:srgbClr val="334155"/>
                </a:solidFill>
                <a:latin typeface="Noto Sans KR" pitchFamily="34" charset="0"/>
                <a:ea typeface="Noto Sans KR" pitchFamily="34" charset="-122"/>
                <a:cs typeface="Noto Sans KR" pitchFamily="34" charset="-120"/>
              </a:rPr>
              <a:t>답변은 수업 발표용으로만 쓰고 폐기합니다.</a:t>
            </a:r>
            <a:endParaRPr lang="en-US" sz="750" dirty="0"/>
          </a:p>
          <a:p>
            <a:pPr algn="l" indent="0" marL="0">
              <a:lnSpc>
                <a:spcPct val="95000"/>
              </a:lnSpc>
              <a:spcAft>
                <a:spcPts val="50"/>
              </a:spcAft>
              <a:buNone/>
            </a:pPr>
            <a:r>
              <a:rPr lang="en-US" sz="750" dirty="0">
                <a:solidFill>
                  <a:srgbClr val="334155"/>
                </a:solidFill>
                <a:latin typeface="Noto Sans KR" pitchFamily="34" charset="0"/>
                <a:ea typeface="Noto Sans KR" pitchFamily="34" charset="-122"/>
                <a:cs typeface="Noto Sans KR" pitchFamily="34" charset="-120"/>
              </a:rPr>
              <a:t>통화 내용을 녹음해도 괜찮을까요?"</a:t>
            </a:r>
            <a:endParaRPr lang="en-US" sz="750" dirty="0"/>
          </a:p>
        </p:txBody>
      </p:sp>
      <p:sp>
        <p:nvSpPr>
          <p:cNvPr id="12" name="제목 가정이 틀리면 이렇게 바꾼다"/>
          <p:cNvSpPr txBox="1"/>
          <p:nvPr/>
        </p:nvSpPr>
        <p:spPr>
          <a:xfrm>
            <a:off x="612648" y="5047488"/>
            <a:ext cx="3931920"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가정이 틀리면 이렇게 바꾼다</a:t>
            </a:r>
            <a:endParaRPr lang="en-US" sz="1100" dirty="0"/>
          </a:p>
        </p:txBody>
      </p:sp>
      <p:graphicFrame>
        <p:nvGraphicFramePr>
          <p:cNvPr id="9" name="가정 실패 시 대응"/>
          <p:cNvGraphicFramePr>
            <a:graphicFrameLocks noGrp="1"/>
          </p:cNvGraphicFramePr>
          <p:nvPr>
            <p:extLst>
              <p:ext uri="{D42A27DB-BD31-4B8C-83A1-F6EECF244321}">
                <p14:modId xmlns:p14="http://schemas.microsoft.com/office/powerpoint/2010/main" val="1579011935"/>
              </p:ext>
            </p:extLst>
          </p:nvPr>
        </p:nvGraphicFramePr>
        <p:xfrm>
          <a:off x="612648" y="5321808"/>
          <a:ext cx="3931920" cy="914400"/>
        </p:xfrm>
        <a:graphic>
          <a:graphicData uri="http://schemas.openxmlformats.org/drawingml/2006/table">
            <a:tbl>
              <a:tblPr/>
              <a:tblGrid>
                <a:gridCol w="566928"/>
                <a:gridCol w="3364992"/>
              </a:tblGrid>
              <a:tr h="182880">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H5 ✕</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바이어 매칭 비중을 줄이고 브랜드 쇼케이스 중심으로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H6 ✕</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초청 대신 KOTRA 무역관 화상 상담회로 대체</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H7 ✕</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Test Lab을 B2C 체험 콘텐츠로만 운영</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H8 ✕</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제조관을 샘플 공방 · 상담 데스크 규모로 축소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4" name="제목 통화 대상 · 시도 기록표"/>
          <p:cNvSpPr txBox="1"/>
          <p:nvPr/>
        </p:nvSpPr>
        <p:spPr>
          <a:xfrm>
            <a:off x="4681728" y="1481328"/>
            <a:ext cx="6894576" cy="237744"/>
          </a:xfrm>
          <a:prstGeom prst="rect">
            <a:avLst/>
          </a:prstGeom>
          <a:noFill/>
          <a:ln/>
        </p:spPr>
        <p:txBody>
          <a:bodyPr wrap="square" lIns="0" tIns="0" rIns="0" bIns="0" rtlCol="0" anchor="ctr"/>
          <a:lstStyle/>
          <a:p>
            <a:pPr algn="l" indent="0" marL="0">
              <a:lnSpc>
                <a:spcPct val="100000"/>
              </a:lnSpc>
              <a:buNone/>
            </a:pPr>
            <a:r>
              <a:rPr lang="en-US" sz="1100" b="1" dirty="0">
                <a:solidFill>
                  <a:srgbClr val="182F48"/>
                </a:solidFill>
                <a:latin typeface="Noto Sans KR" pitchFamily="34" charset="0"/>
                <a:ea typeface="Noto Sans KR" pitchFamily="34" charset="-122"/>
                <a:cs typeface="Noto Sans KR" pitchFamily="34" charset="-120"/>
              </a:rPr>
              <a:t>통화 대상 · 시도 기록표</a:t>
            </a:r>
            <a:endParaRPr lang="en-US" sz="1100" dirty="0"/>
          </a:p>
        </p:txBody>
      </p:sp>
      <p:graphicFrame>
        <p:nvGraphicFramePr>
          <p:cNvPr id="17" name="시도 기록표"/>
          <p:cNvGraphicFramePr>
            <a:graphicFrameLocks noGrp="1"/>
          </p:cNvGraphicFramePr>
          <p:nvPr>
            <p:extLst>
              <p:ext uri="{D42A27DB-BD31-4B8C-83A1-F6EECF244321}">
                <p14:modId xmlns:p14="http://schemas.microsoft.com/office/powerpoint/2010/main" val="1579011935"/>
              </p:ext>
            </p:extLst>
          </p:nvPr>
        </p:nvGraphicFramePr>
        <p:xfrm>
          <a:off x="4681728" y="1755648"/>
          <a:ext cx="6894576" cy="914400"/>
        </p:xfrm>
        <a:graphic>
          <a:graphicData uri="http://schemas.openxmlformats.org/drawingml/2006/table">
            <a:tbl>
              <a:tblPr/>
              <a:tblGrid>
                <a:gridCol w="292608"/>
                <a:gridCol w="2057400"/>
                <a:gridCol w="914400"/>
                <a:gridCol w="960120"/>
                <a:gridCol w="822960"/>
                <a:gridCol w="411480"/>
                <a:gridCol w="1435608"/>
              </a:tblGrid>
              <a:tr h="237744">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No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대상 (기관 · 직무)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구분 · 가정</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전화번호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시도 일시</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결과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주요 답변 · 기획 수정</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1</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무신사 · 스포츠/아웃도어 카테고리 MD</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267D86"/>
                          </a:solidFill>
                          <a:latin typeface="Noto Sans KR" pitchFamily="34" charset="0"/>
                          <a:ea typeface="Noto Sans KR" pitchFamily="34" charset="-122"/>
                          <a:cs typeface="Noto Sans KR" pitchFamily="34" charset="-120"/>
                        </a:rPr>
                        <a:t>바이어 B1 · H5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2</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29CM · 아웃도어 MD</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267D86"/>
                          </a:solidFill>
                          <a:latin typeface="Noto Sans KR" pitchFamily="34" charset="0"/>
                          <a:ea typeface="Noto Sans KR" pitchFamily="34" charset="-122"/>
                          <a:cs typeface="Noto Sans KR" pitchFamily="34" charset="-120"/>
                        </a:rPr>
                        <a:t>바이어 B1 · H5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웍스아웃 · 바잉 MD</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267D86"/>
                          </a:solidFill>
                          <a:latin typeface="Noto Sans KR" pitchFamily="34" charset="0"/>
                          <a:ea typeface="Noto Sans KR" pitchFamily="34" charset="-122"/>
                          <a:cs typeface="Noto Sans KR" pitchFamily="34" charset="-120"/>
                        </a:rPr>
                        <a:t>바이어 B3 · H5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4</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현대백화점 · 아웃도어 바이어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267D86"/>
                          </a:solidFill>
                          <a:latin typeface="Noto Sans KR" pitchFamily="34" charset="0"/>
                          <a:ea typeface="Noto Sans KR" pitchFamily="34" charset="-122"/>
                          <a:cs typeface="Noto Sans KR" pitchFamily="34" charset="-120"/>
                        </a:rPr>
                        <a:t>바이어 B2 · H7</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1LDK(일본) · 바이어 (이메일 · DM)</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267D86"/>
                          </a:solidFill>
                          <a:latin typeface="Noto Sans KR" pitchFamily="34" charset="0"/>
                          <a:ea typeface="Noto Sans KR" pitchFamily="34" charset="-122"/>
                          <a:cs typeface="Noto Sans KR" pitchFamily="34" charset="-120"/>
                        </a:rPr>
                        <a:t>바이어 B4 · H6</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6</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벤텍스 · 영업 담당</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475569"/>
                          </a:solidFill>
                          <a:latin typeface="Noto Sans KR" pitchFamily="34" charset="0"/>
                          <a:ea typeface="Noto Sans KR" pitchFamily="34" charset="-122"/>
                          <a:cs typeface="Noto Sans KR" pitchFamily="34" charset="-120"/>
                        </a:rPr>
                        <a:t>공급 E1 · H8</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7</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기도산업 · 영업 담당</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475569"/>
                          </a:solidFill>
                          <a:latin typeface="Noto Sans KR" pitchFamily="34" charset="0"/>
                          <a:ea typeface="Noto Sans KR" pitchFamily="34" charset="-122"/>
                          <a:cs typeface="Noto Sans KR" pitchFamily="34" charset="-120"/>
                        </a:rPr>
                        <a:t>공급 E2 · H8</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65760">
                <a:tc>
                  <a:txBody>
                    <a:bodyPr/>
                    <a:lstStyle/>
                    <a:p>
                      <a:pPr algn="ctr" indent="0" marL="0">
                        <a:buNone/>
                      </a:pPr>
                      <a:r>
                        <a:rPr lang="en-US" sz="750" dirty="0">
                          <a:solidFill>
                            <a:srgbClr val="64748B"/>
                          </a:solidFill>
                          <a:latin typeface="Noto Sans KR" pitchFamily="34" charset="0"/>
                          <a:ea typeface="Noto Sans KR" pitchFamily="34" charset="-122"/>
                          <a:cs typeface="Noto Sans KR" pitchFamily="34" charset="-120"/>
                        </a:rPr>
                        <a:t>8</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00" dirty="0">
                          <a:solidFill>
                            <a:srgbClr val="267D86"/>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 </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6" name="바이어 추가 확인"/>
          <p:cNvSpPr txBox="1"/>
          <p:nvPr/>
        </p:nvSpPr>
        <p:spPr>
          <a:xfrm>
            <a:off x="4681728" y="5047488"/>
            <a:ext cx="6894576" cy="566928"/>
          </a:xfrm>
          <a:prstGeom prst="roundRect">
            <a:avLst>
              <a:gd name="adj" fmla="val 8065"/>
            </a:avLst>
          </a:prstGeom>
          <a:solidFill>
            <a:srgbClr val="FFFFFF"/>
          </a:solidFill>
          <a:ln w="9525">
            <a:solidFill>
              <a:srgbClr val="CBD5E1"/>
            </a:solidFill>
            <a:prstDash val="dash"/>
          </a:ln>
        </p:spPr>
        <p:txBody>
          <a:bodyPr wrap="square" lIns="109728" tIns="0" rIns="109728" bIns="0" rtlCol="0" anchor="t"/>
          <a:lstStyle/>
          <a:p>
            <a:pPr algn="l" indent="0" marL="0">
              <a:lnSpc>
                <a:spcPct val="100000"/>
              </a:lnSpc>
              <a:spcAft>
                <a:spcPts val="300"/>
              </a:spcAft>
              <a:buNone/>
            </a:pPr>
            <a:r>
              <a:rPr lang="en-US" sz="780" b="1" dirty="0">
                <a:solidFill>
                  <a:srgbClr val="182F48"/>
                </a:solidFill>
                <a:latin typeface="Noto Sans KR" pitchFamily="34" charset="0"/>
                <a:ea typeface="Noto Sans KR" pitchFamily="34" charset="-122"/>
                <a:cs typeface="Noto Sans KR" pitchFamily="34" charset="-120"/>
              </a:rPr>
              <a:t>통화 후 추가로 확인할 사항</a:t>
            </a:r>
            <a:endParaRPr lang="en-US" sz="780" dirty="0"/>
          </a:p>
          <a:p>
            <a:pPr algn="l" indent="0" marL="0">
              <a:lnSpc>
                <a:spcPct val="100000"/>
              </a:lnSpc>
              <a:spcAft>
                <a:spcPts val="300"/>
              </a:spcAft>
              <a:buNone/>
            </a:pPr>
            <a:r>
              <a:rPr lang="en-US" sz="780" dirty="0">
                <a:solidFill>
                  <a:srgbClr val="64748B"/>
                </a:solidFill>
                <a:latin typeface="Noto Sans KR" pitchFamily="34" charset="0"/>
                <a:ea typeface="Noto Sans KR" pitchFamily="34" charset="-122"/>
                <a:cs typeface="Noto Sans KR" pitchFamily="34" charset="-120"/>
              </a:rPr>
              <a:t>( 통화 후 기입 — 답변을 듣고 새로 생긴 질문을 적는다 )</a:t>
            </a:r>
            <a:endParaRPr lang="en-US" sz="780" dirty="0"/>
          </a:p>
        </p:txBody>
      </p:sp>
      <p:sp>
        <p:nvSpPr>
          <p:cNvPr id="17" name="기록 후 할 일"/>
          <p:cNvSpPr txBox="1"/>
          <p:nvPr/>
        </p:nvSpPr>
        <p:spPr>
          <a:xfrm>
            <a:off x="4681728" y="5705856"/>
            <a:ext cx="6894576" cy="274320"/>
          </a:xfrm>
          <a:prstGeom prst="rect">
            <a:avLst/>
          </a:prstGeom>
          <a:noFill/>
          <a:ln/>
        </p:spPr>
        <p:txBody>
          <a:bodyPr wrap="square" lIns="0" tIns="0" rIns="0"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통화가 끝나면  </a:t>
            </a:r>
            <a:pPr algn="l" indent="0" marL="0">
              <a:lnSpc>
                <a:spcPct val="100000"/>
              </a:lnSpc>
              <a:buNone/>
            </a:pPr>
            <a:r>
              <a:rPr lang="en-US" sz="780" dirty="0">
                <a:solidFill>
                  <a:srgbClr val="334155"/>
                </a:solidFill>
                <a:latin typeface="Noto Sans KR" pitchFamily="34" charset="0"/>
                <a:ea typeface="Noto Sans KR" pitchFamily="34" charset="-122"/>
                <a:cs typeface="Noto Sans KR" pitchFamily="34" charset="-120"/>
              </a:rPr>
              <a:t>6장 '별첨 제출'의 바이어 측 상태를 '완료'로 바꾸고, 틀린 가정은 왼쪽 아래 표대로 기획에 반영한다.</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전시산업론 중간고사</dc:creator>
  <cp:lastModifiedBy>전시산업론 중간고사</cp:lastModifiedBy>
  <cp:revision>1</cp:revision>
  <dcterms:created xsi:type="dcterms:W3CDTF">2026-10-24T06:54:02Z</dcterms:created>
  <dcterms:modified xsi:type="dcterms:W3CDTF">2026-10-24T06:54:02Z</dcterms:modified>
</cp:coreProperties>
</file>
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[전시회명] 고프코어 패션 페어 서울 2027(GORPCORE FASHION FAIR SEOUL). 산에서 입던 기능성 아웃도어가 도시의 패션이 된 '고프코어'를 단일 카테고리로 다루는 B2B+B2C 하이브리드 전시회입니다. 2027년 9월 30일(목)~10월 3일(일) 코엑스(가안, 예산·장소 검토는 중간고사 이후 단계), 앞 2일은 트레이드 데이, 뒤 2일은 퍼블릭 랩 데이입니다.
[기획 배경] 첫째, 시장이 양극화됐습니다. 국내 아웃도어 시장은 2014년 약 7조 원에서 2024년 약 4조 원으로 줄었는데, 2024년 상위 12개 브랜드 중 성장한 곳은 노스페이스(+4.3%), 스노우피크어패럴(+32%), 아크테릭스(+41%) 세 곳뿐이었습니다. 등산복형 브랜드(K2 -8.8%, 블랙야크 -11.7%)는 줄고 패션성이 강한 브랜드만 컸습니다. 즉 수요가 '등산복'에서 '고프코어 패션'으로 이동했습니다.
둘째, 소비자가 바뀌었습니다. 2026년 최근 1년 등산 경험률은 66.9%이고 20대 64.5%, 30대 62%로 젊은 층의 상승이 두드러집니다. 지그재그에서는 2026년 2~3월 '등산' 검색이 57%, '등산화' 검색이 170% 늘었습니다.
셋째, 해외 수요가 한국으로 오고 있습니다. 아크테릭스는 2026년 한국에 직진출했고, 무신사가 도쿄에서 연 한국 브랜드 수주 쇼룸에는 빔즈·유나이티드애로우즈 등 일본 편집숍 바이어 200명 이상이 왔으며 주문이 3배 늘었습니다. 이것은 몇몇 브랜드의 불편이 아니라 산업 구조의 문제입니다. 고프코어 패션 산업이 더 커지려면 브랜드·바이어·관심 고객이 만나는 거래 인프라가 필요한데, 지금은 거래가 특정 플랫폼의 해외 쇼룸과 팝업으로 흩어져 있고 국내에는 중립적인 거래의 장이 없습니다.
[기존 전시회와의 차이] SPOEX는 스포츠·레저 용품 전반, 캠핑앤피크닉페어와 고카프는 캠핑 장비 현장판매, 서울패션위크 트레이드쇼는 디자이너 의류 중심이라 '기능+패션'이 빠져 있습니다. 해외 ISPO는 기능 중심이며 출품사가 3,307개(2018)에서 1,937개(2024)로 줄어 2026년 암스테르담으로 이전합니다. 실제로 인터뷰한 마무트 유통 담당자도 코엑스·킨텍스 아웃도어 행사는 "고객의 니즈가 다르기 때문에" 참여하지 않는다고 했습니다. 우리 전시회는 고프코어 패션 단일 카테고리, 사전 매칭 수주상담, 기능을 검증하는 Test Lab과 고객 반응 리포트로 차별화합니다.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이 산업에서 문제를 가진 이해관계자는 둘입니다. 신진 K-고프코어 브랜드는 바이어를 만날 창구가 특정 플랫폼의 쇼룸이나 팝업으로 흩어져 있고, 국내에 들어온 해외 아웃도어 브랜드는 비싼 제품의 기능을 깊이 들어줄 고객을 만날 곳이 없습니다. 그래서 미션은 '신진 브랜드에게는 맞는 바이어를, 아웃도어 브랜드에게는 기능을 깊이 들어줄 고객을 한 곳에서 연결해, 고프코어 패션이 제값에 거래되는 장을 만든다'입니다.
[비전] 2030년, 아시아 바이어가 다음 시즌 고프코어 트렌드를 사러 서울에 오는 아시아 대표 고프코어 패션 거래 플랫폼이 되는 것입니다. 이 전시회가 계속되면 산업이 이렇게 바뀝니다. K-고프코어 브랜드가 국내 플랫폼 입점 경쟁에만 기대지 않고 해외 편집숍과 총판으로 진출하고, 등산복 중심으로 7조에서 4조로 줄어든 아웃도어 산업이 '기능+패션' 수출 산업으로 다시 성장합니다.
[연결] 이 문제는 몇몇 브랜드의 작은 불편이 아니라 산업 구조의 문제입니다. 고프코어 패션 산업이 더 커지려면 브랜드와 국내외 바이어가 만나는 거래 인프라, 그리고 기능의 가치를 소비자에게 전달할 접점이 필요한데 지금은 둘 다 없습니다. 미션은 이 두 가지를 해결하고, 비전은 그 결과 산업이 수출형으로 커지는 모습입니다. 정부가 이달 14일 발표한 「전시산업 발전 로드맵 2030」도 산업·문화 융합형 대형 전시회를 5%에서 20%로 늘리겠다고 해서 방향이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모두 '제1회 폐막일인 2027년 10월 3일'까지로 기한을 정했고, 숫자는 실제 비교 전시회 실적에서 가져왔습니다.
[목표 1 참가업체] 고프코어 패션 브랜드 120개사, 200부스. 그중 신진 K-브랜드를 60개사 이상으로 해서 '발굴' 기능을 지키고, 2029년 3회차에는 300개사로 2.5배 키웁니다. 서울패션위크 트레이드쇼가 130개 브랜드, 캠핑앤피크닉페어가 116개사이므로 단일 카테고리 첫 회로 달성 가능한 규모입니다. SPOEX 수준인 300개사는 3회차 목표로 둡니다.
[목표 2 거래] 사전 인증 바이어 300명(해외 100명), 1:1 매칭 상담 1,200건(브랜드당 10건), 수주상담액 700만 달러. 서울패션위크 트레이드쇼가 바이어 300명으로 671만 달러를 기록했고, 무신사 도쿄 쇼룸에는 해외 바이어만 200명 이상이 왔습니다. KOTRA 초청을 연계하면 해외 100명은 현실적입니다. 폐막 3개월 뒤 실제 계약 전환율까지 추적합니다. 거래 성과가 나오지 않으면 참가업체가 다음 해에 돌아오지 않아 전시회가 존속할 수 없기 때문에 이 목표가 가장 중요합니다.
[목표 3 관심 고객 경험] 퍼블릭 랩 데이 사전등록 관람객 2만 명, 그중 50% 이상이 Test Lab을 체험하고, 참가업체의 '고객 반응' 만족도 4.0/5 이상. 인터뷰에서 브랜드가 말한 성공 기준이 '고객의 반응'이었기 때문에 관람객 수보다 체험률과 반응 만족도를 핵심 지표로 삼았습니다. 일본 FIELDSTYLE이 2일간 4.8만 명, SPOEX가 4일간 4.7만 명이므로 2일 2만 명은 보수적인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고프코어 패션 산업은 다섯 단계로 흐르고, 그 사이를 물류와 마케팅 서비스가 잇습니다. 위쪽 회색 화살표는 제품의 흐름, 아래쪽 주황 화살표는 돈의 흐름입니다.
① 소재·부자재: 고어텍스, 폴라텍 같은 기능성 원단과 효성티앤씨·코오롱인더스트리 같은 국내 소재사, YKK 지퍼와 비브람 밑창입니다. ② 생산: 영원무역 같은 OEM 기업입니다. 영원무역은 OEM과 동시에 노스페이스의 국내 유통까지 맡아 ②와 ③을 겸합니다. ③ 브랜드·기획: 아크테릭스·살로몬·마무트 같은 해외 브랜드, 노스페이스·스노우피크어패럴, 그리고 케일·산산기어·제로그램 같은 K-고프코어 브랜드입니다. ④ 유통: 무신사·29CM 같은 플랫폼, 백화점, 국내외 편집숍입니다. ⑤ 소비자: 2030 도시 소비자, 하이킹·러닝 크루, 크림 같은 리세일 시장입니다.
단계 사이에는 무신사 로지스틱스나 CJ대한통운 '더 풀필' 같은 패션 풀필먼트, 인플루언서·모델과 PR 에이전시 같은 마케팅 서비스가 있고, 그 바깥을 시험기관·미디어·협회·정부가 받치고 있습니다.
[범위] 핵심 범위는 ③ 브랜드와 ④ 바이어 사이의 거래(트레이드 데이), ③과 ⑤ 소비자 사이의 경험(퍼블릭 랩 데이)입니다. ① 소재는 스폰서형 소재 랩, 물류·마케팅은 서비스관으로 부분 포함하고, ② 생산은 제외합니다. 고프코어의 가격 프리미엄이 브랜드 스토리·기능 검증·유통 입점에서 결정되고, 소재·OEM 거래는 섬유산업연합회의 '프리뷰 인 서울'이 이미 다루고 있으며, 물류·마케팅사는 신진 브랜드의 해외 진출을 돕는 조력자이기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다섯 그룹입니다. A는 아크테릭스·살로몬·마무트·살레와 같은 해외 프리미엄 브랜드의 국내 법인이나 수입사, B는 케일·산산기어·제로그램 같은 K-고프코어 브랜드, C는 노스페이스·코오롱스포츠·스노우피크어패럴 같은 국내 대형사의 고프코어 라인, D는 고어텍스·폴라텍·효성티앤씨 같은 기능성 소재사, E는 CJ대한통운 '더 풀필'·무신사 로지스틱스 같은 물류·풀필먼트와 마케팅 대행사입니다. D와 E는 브랜드를 고객으로 하는 참가업체입니다.
[바이어] 무신사·29CM·크림 같은 온라인 플랫폼 MD, 백화점 아웃도어 바이어, 웍스아웃이나 일본 1LDK·빔즈, 영국 END. 같은 국내외 편집숍, 이토추·센트럴 같은 해외 총판, 그리고 퍼블릭 랩 데이의 관심 소비자입니다.
[연결] 참가업체마다 원하는 상대가 다릅니다. 인터뷰한 마무트 유통 담당자는 바이어 미팅이나 현장판매는 의미가 적고, 장비의 장점을 관심 깊게 들어줄 고객이 필요하다고 했습니다. 그래서 A그룹은 관심 고객과, 판로가 필요한 B그룹은 플랫폼·편집숍 바이어와, C그룹은 해외 총판과, D·E그룹은 참가 브랜드와 연결합니다. 교수님이 예로 드신 '유통 물류를 바꿔 마진을 늘리는' 거래가 E그룹입니다.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이해관계자는 정부·공공, 협회, 시험연구기관, 미디어, 베뉴·플랫폼으로 나눴습니다. 교수님 말씀처럼 각 주체가 '왜 우리 배에 타야 하는지', 즉 얻는 이익을 함께 적었습니다.
산업통상부는 이달 발표한 로드맵 2030의 융합형 전시 확대 성과를, KOTRA는 수출 상담 실적을, 서울관광재단은 외국인 MICE 방문객을 얻습니다. 한국아웃도어스포츠산업협회는 회원사 판로를, 섬유산업연합회는 프리뷰 인 서울과 연계한 소재 수요를 얻습니다. FITI시험연구원은 Test Lab의 방수·보온 시험을 자문하고 시험 고객을 얻습니다. 미디어 파트너인 GO OUT KOREA는 업계에 대한 영향력을 우리와 나누고 콘텐츠를 얻습니다. 협회와 산업 미디어는 회원사와 업계를 꽉 쥐고 있어 참가업체 모집에 가장 강한 파트너입니다.
[별첨] 참가업체 측 검증은 아웃도어 브랜드 유통·판매 담당자 인터뷰(2026.10.17)로 했고, 그 결과로 Test Lab 도입, '고객 반응' KPI, 인플루언서·모델 콘텐츠 지원을 기획에 반영했습니다. 바이어 측 통화는 질문지와 대상 목록을 별첨에 정리했고 진행 예정입니다.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측 검증은 아웃도어 브랜드 유통·판매를 맡고 있는 손호영 님(마이기어 운영, 제로그램·아울렛·마무트 종로점 운영)과 진행했습니다. 처음 세운 가정 네 가지 중 세 가지가 틀렸고, 그 결과로 Test Lab, 관심도 KPI, 참가업체 목적별 분리, 콘텐츠 파트너 지원을 기획에 넣었습니다. 가장 중요한 발언은 성공 기준을 묻자 '고객의 반응이겠죠'라고 답한 것과, 현장 판매보다 장비의 장점을 관심 깊게 들어줄 고객이 필요하다고 한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바이어 측은 아직 통화 전입니다. 온라인 플랫폼 MD, 국내 편집숍, 백화점 아웃도어 바이어, 일본 편집숍까지 다섯 곳을 대상으로 정했고, 확인할 가정은 세 가지입니다. 통화 결과는 오른쪽 표에 바로 적고, 기획을 바꾼 내용은 마지막 칸에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FF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0" y="283464"/>
            <a:ext cx="3154680" cy="265176"/>
          </a:xfrm>
          <a:prstGeom prst="rect">
            <a:avLst/>
          </a:prstGeom>
          <a:noFill/>
          <a:ln/>
        </p:spPr>
        <p:txBody>
          <a:bodyPr wrap="square" lIns="0" tIns="0" rIns="0" bIns="0" rtlCol="0" anchor="ctr"/>
          <a:lstStyle/>
          <a:p>
            <a:pPr algn="r" indent="0" marL="0">
              <a:buNone/>
            </a:pPr>
            <a:r>
              <a:rPr lang="en-US" sz="1200" dirty="0">
                <a:solidFill>
                  <a:srgbClr val="64748B"/>
                </a:solidFill>
                <a:latin typeface="Noto Sans KR" pitchFamily="34" charset="0"/>
                <a:ea typeface="Noto Sans KR" pitchFamily="34" charset="-122"/>
                <a:cs typeface="Noto Sans KR" pitchFamily="34" charset="-120"/>
              </a:rPr>
              <a:t>( 이름 / 학번 )</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rtlCol="0"/>
          <a:lstStyle>
            <a:lvl1pPr algn="l" indent="0" marL="0">
              <a:buNone/>
              <a:defRPr lang="en-US" sz="3300" b="1" dirty="0">
                <a:solidFill>
                  <a:srgbClr val="182F48"/>
                </a:solidFill>
                <a:latin typeface="Noto Sans KR" pitchFamily="34" charset="0"/>
                <a:ea typeface="Noto Sans KR" pitchFamily="34" charset="-122"/>
                <a:cs typeface="Noto Sans KR" pitchFamily="34" charset="-120"/>
              </a:defRPr>
            </a:lvl1pPr>
          </a:lstStyle>
          <a:p>
            <a:pPr algn="l" indent="0" marL="0">
              <a:buNone/>
            </a:pP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rtlCol="0"/>
          <a:lstStyle>
            <a:lvl1pPr algn="l" indent="0" marL="0">
              <a:buNone/>
              <a:defRPr lang="en-US" sz="1800" dirty="0">
                <a:solidFill>
                  <a:srgbClr val="267D86"/>
                </a:solidFill>
                <a:latin typeface="Noto Sans KR" pitchFamily="34" charset="0"/>
                <a:ea typeface="Noto Sans KR" pitchFamily="34" charset="-122"/>
                <a:cs typeface="Noto Sans KR" pitchFamily="34" charset="-120"/>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1/6</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전시회 제목 · 기획 배경</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무슨 전시회이며, 왜 지금 필요한가?</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출처: TENANT news(2025, 2024년 아웃도어 상위 12개 브랜드 매출) · 뉴데일리(2025.4.11, 아웃도어 시장 7조→4조) · 엠브레인 트렌드모니터 「2026 등산 경험 및 인식 조사」(농촌진흥청 웹진 2026.6) · 뉴시스(2026.3.24, 지그재그 검색량) · 무신사 뉴스룸(2024.7.17, 도쿄 쇼룸) · 한국경제(2025.11.21, 아크테릭스 한국 직진출) · 한국경제(2026.5.28, SPOEX 2026 성과) · 쿠키뉴스(2026.3.6, 캠핑앤피크닉페어) · 서울특별시 보도자료(2025.2.27, 서울패션위크 트레이드쇼) · FashionUnited(2025.11, ISPO) · 참가업체 측 인터뷰(2026.10.17)</a:t>
            </a:r>
            <a:endParaRPr lang="en-US" sz="850" dirty="0"/>
          </a:p>
        </p:txBody>
      </p:sp>
      <p:sp>
        <p:nvSpPr>
          <p:cNvPr id="7" name="라벨 전시회명 · 작성자"/>
          <p:cNvSpPr txBox="1"/>
          <p:nvPr/>
        </p:nvSpPr>
        <p:spPr>
          <a:xfrm>
            <a:off x="612648" y="1938528"/>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전시회명 · 작성자</a:t>
            </a:r>
            <a:endParaRPr lang="en-US" sz="1500" dirty="0"/>
          </a:p>
        </p:txBody>
      </p:sp>
      <p:sp>
        <p:nvSpPr>
          <p:cNvPr id="8" name="전시회명"/>
          <p:cNvSpPr txBox="1"/>
          <p:nvPr/>
        </p:nvSpPr>
        <p:spPr>
          <a:xfrm>
            <a:off x="3383280" y="1874520"/>
            <a:ext cx="8183880" cy="411480"/>
          </a:xfrm>
          <a:prstGeom prst="rect">
            <a:avLst/>
          </a:prstGeom>
          <a:noFill/>
          <a:ln/>
        </p:spPr>
        <p:txBody>
          <a:bodyPr wrap="square" lIns="0" tIns="0" rIns="0" bIns="0" rtlCol="0" anchor="ctr"/>
          <a:lstStyle/>
          <a:p>
            <a:pPr indent="0" marL="0">
              <a:buNone/>
            </a:pPr>
            <a:r>
              <a:rPr lang="en-US" sz="2100" b="1" dirty="0">
                <a:solidFill>
                  <a:srgbClr val="182F48"/>
                </a:solidFill>
                <a:latin typeface="Noto Sans KR" pitchFamily="34" charset="0"/>
                <a:ea typeface="Noto Sans KR" pitchFamily="34" charset="-122"/>
                <a:cs typeface="Noto Sans KR" pitchFamily="34" charset="-120"/>
              </a:rPr>
              <a:t>고프코어 패션 페어 서울 2027</a:t>
            </a:r>
            <a:pPr indent="0" marL="0">
              <a:buNone/>
            </a:pPr>
            <a:r>
              <a:rPr lang="en-US" sz="1200" b="1" dirty="0">
                <a:solidFill>
                  <a:srgbClr val="267D86"/>
                </a:solidFill>
                <a:latin typeface="Noto Sans KR" pitchFamily="34" charset="0"/>
                <a:ea typeface="Noto Sans KR" pitchFamily="34" charset="-122"/>
                <a:cs typeface="Noto Sans KR" pitchFamily="34" charset="-120"/>
              </a:rPr>
              <a:t>   GORPCORE FASHION FAIR SEOUL (GFF SEOUL)</a:t>
            </a:r>
            <a:endParaRPr lang="en-US" sz="2100" dirty="0"/>
          </a:p>
        </p:txBody>
      </p:sp>
      <p:sp>
        <p:nvSpPr>
          <p:cNvPr id="9" name="개요"/>
          <p:cNvSpPr txBox="1"/>
          <p:nvPr/>
        </p:nvSpPr>
        <p:spPr>
          <a:xfrm>
            <a:off x="3383280" y="2286000"/>
            <a:ext cx="6355080" cy="274320"/>
          </a:xfrm>
          <a:prstGeom prst="rect">
            <a:avLst/>
          </a:prstGeom>
          <a:noFill/>
          <a:ln/>
        </p:spPr>
        <p:txBody>
          <a:bodyPr wrap="square" lIns="0" tIns="0" rIns="0" bIns="0" rtlCol="0" anchor="ctr"/>
          <a:lstStyle/>
          <a:p>
            <a:pPr indent="0" marL="0">
              <a:buNone/>
            </a:pPr>
            <a:r>
              <a:rPr lang="en-US" sz="1050" dirty="0">
                <a:solidFill>
                  <a:srgbClr val="334155"/>
                </a:solidFill>
                <a:latin typeface="Noto Sans KR" pitchFamily="34" charset="0"/>
                <a:ea typeface="Noto Sans KR" pitchFamily="34" charset="-122"/>
                <a:cs typeface="Noto Sans KR" pitchFamily="34" charset="-120"/>
              </a:rPr>
              <a:t>2027. 9. 30(목)~10. 3(일) · 코엑스(가안) · 트레이드 데이(B2B) 2일 + 퍼블릭 랩 데이(B2C) 2일</a:t>
            </a:r>
            <a:endParaRPr lang="en-US" sz="1050" dirty="0"/>
          </a:p>
        </p:txBody>
      </p:sp>
      <p:sp>
        <p:nvSpPr>
          <p:cNvPr id="10" name="작성자"/>
          <p:cNvSpPr txBox="1"/>
          <p:nvPr/>
        </p:nvSpPr>
        <p:spPr>
          <a:xfrm>
            <a:off x="9738360" y="2286000"/>
            <a:ext cx="1828800" cy="274320"/>
          </a:xfrm>
          <a:prstGeom prst="rect">
            <a:avLst/>
          </a:prstGeom>
          <a:noFill/>
          <a:ln/>
        </p:spPr>
        <p:txBody>
          <a:bodyPr wrap="square" lIns="0" tIns="0" rIns="0" bIns="0" rtlCol="0" anchor="ctr"/>
          <a:lstStyle/>
          <a:p>
            <a:pPr algn="r" indent="0" marL="0">
              <a:buNone/>
            </a:pPr>
            <a:r>
              <a:rPr lang="en-US" sz="1050" b="1" dirty="0">
                <a:solidFill>
                  <a:srgbClr val="182F48"/>
                </a:solidFill>
                <a:latin typeface="Noto Sans KR" pitchFamily="34" charset="0"/>
                <a:ea typeface="Noto Sans KR" pitchFamily="34" charset="-122"/>
                <a:cs typeface="Noto Sans KR" pitchFamily="34" charset="-120"/>
              </a:rPr>
              <a:t>작성자: [ 이름 / 학번 ]</a:t>
            </a:r>
            <a:endParaRPr lang="en-US" sz="1050" dirty="0"/>
          </a:p>
        </p:txBody>
      </p:sp>
      <p:sp>
        <p:nvSpPr>
          <p:cNvPr id="11" name="라벨 기획 배경"/>
          <p:cNvSpPr txBox="1"/>
          <p:nvPr/>
        </p:nvSpPr>
        <p:spPr>
          <a:xfrm>
            <a:off x="612648" y="274320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기획 배경</a:t>
            </a:r>
            <a:endParaRPr lang="en-US" sz="1500" dirty="0"/>
          </a:p>
        </p:txBody>
      </p:sp>
      <p:sp>
        <p:nvSpPr>
          <p:cNvPr id="12" name="근거 카드 1"/>
          <p:cNvSpPr/>
          <p:nvPr/>
        </p:nvSpPr>
        <p:spPr>
          <a:xfrm>
            <a:off x="3383280" y="2724912"/>
            <a:ext cx="2651760" cy="1463040"/>
          </a:xfrm>
          <a:prstGeom prst="roundRect">
            <a:avLst>
              <a:gd name="adj" fmla="val 3750"/>
            </a:avLst>
          </a:prstGeom>
          <a:solidFill>
            <a:srgbClr val="F1F5F9"/>
          </a:solidFill>
          <a:ln/>
        </p:spPr>
      </p:sp>
      <p:sp>
        <p:nvSpPr>
          <p:cNvPr id="13" name="근거 수치 1"/>
          <p:cNvSpPr txBox="1"/>
          <p:nvPr/>
        </p:nvSpPr>
        <p:spPr>
          <a:xfrm>
            <a:off x="3520440" y="2779776"/>
            <a:ext cx="2377440" cy="457200"/>
          </a:xfrm>
          <a:prstGeom prst="rect">
            <a:avLst/>
          </a:prstGeom>
          <a:noFill/>
          <a:ln/>
        </p:spPr>
        <p:txBody>
          <a:bodyPr wrap="square" lIns="0" tIns="0" rIns="0" bIns="0" rtlCol="0" anchor="ctr"/>
          <a:lstStyle/>
          <a:p>
            <a:pPr indent="0" marL="0">
              <a:buNone/>
            </a:pPr>
            <a:r>
              <a:rPr lang="en-US" sz="2400" b="1" dirty="0">
                <a:solidFill>
                  <a:srgbClr val="267D86"/>
                </a:solidFill>
                <a:latin typeface="Noto Sans KR" pitchFamily="34" charset="0"/>
                <a:ea typeface="Noto Sans KR" pitchFamily="34" charset="-122"/>
                <a:cs typeface="Noto Sans KR" pitchFamily="34" charset="-120"/>
              </a:rPr>
              <a:t>3 / 12</a:t>
            </a:r>
            <a:endParaRPr lang="en-US" sz="2400" dirty="0"/>
          </a:p>
        </p:txBody>
      </p:sp>
      <p:sp>
        <p:nvSpPr>
          <p:cNvPr id="14" name="근거 제목 1"/>
          <p:cNvSpPr txBox="1"/>
          <p:nvPr/>
        </p:nvSpPr>
        <p:spPr>
          <a:xfrm>
            <a:off x="3520440" y="3218688"/>
            <a:ext cx="2377440" cy="237744"/>
          </a:xfrm>
          <a:prstGeom prst="rect">
            <a:avLst/>
          </a:prstGeom>
          <a:noFill/>
          <a:ln/>
        </p:spPr>
        <p:txBody>
          <a:bodyPr wrap="square" lIns="0" tIns="0" rIns="0" bIns="0" rtlCol="0" anchor="t"/>
          <a:lstStyle/>
          <a:p>
            <a:pPr indent="0" marL="0">
              <a:buNone/>
            </a:pPr>
            <a:r>
              <a:rPr lang="en-US" sz="1000" b="1" dirty="0">
                <a:solidFill>
                  <a:srgbClr val="182F48"/>
                </a:solidFill>
                <a:latin typeface="Noto Sans KR" pitchFamily="34" charset="0"/>
                <a:ea typeface="Noto Sans KR" pitchFamily="34" charset="-122"/>
                <a:cs typeface="Noto Sans KR" pitchFamily="34" charset="-120"/>
              </a:rPr>
              <a:t>상위 12개 브랜드 중 성장(2024)</a:t>
            </a:r>
            <a:endParaRPr lang="en-US" sz="1000" dirty="0"/>
          </a:p>
        </p:txBody>
      </p:sp>
      <p:sp>
        <p:nvSpPr>
          <p:cNvPr id="15" name="근거 설명 1"/>
          <p:cNvSpPr txBox="1"/>
          <p:nvPr/>
        </p:nvSpPr>
        <p:spPr>
          <a:xfrm>
            <a:off x="3520440" y="3474720"/>
            <a:ext cx="2377440" cy="676656"/>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아크테릭스 +41%, 스노우피크어패럴 +32%, 노스페이스 +4.3%만 성장. 시장은 7조(2014)→약 4조(2024). 등산복 수요가 고프코어 패션으로 이동</a:t>
            </a:r>
            <a:endParaRPr lang="en-US" sz="950" dirty="0"/>
          </a:p>
        </p:txBody>
      </p:sp>
      <p:sp>
        <p:nvSpPr>
          <p:cNvPr id="16" name="근거 카드 2"/>
          <p:cNvSpPr/>
          <p:nvPr/>
        </p:nvSpPr>
        <p:spPr>
          <a:xfrm>
            <a:off x="6149340" y="2724912"/>
            <a:ext cx="2651760" cy="1463040"/>
          </a:xfrm>
          <a:prstGeom prst="roundRect">
            <a:avLst>
              <a:gd name="adj" fmla="val 3750"/>
            </a:avLst>
          </a:prstGeom>
          <a:solidFill>
            <a:srgbClr val="F1F5F9"/>
          </a:solidFill>
          <a:ln/>
        </p:spPr>
      </p:sp>
      <p:sp>
        <p:nvSpPr>
          <p:cNvPr id="17" name="근거 수치 2"/>
          <p:cNvSpPr txBox="1"/>
          <p:nvPr/>
        </p:nvSpPr>
        <p:spPr>
          <a:xfrm>
            <a:off x="6286500" y="2779776"/>
            <a:ext cx="2377440" cy="457200"/>
          </a:xfrm>
          <a:prstGeom prst="rect">
            <a:avLst/>
          </a:prstGeom>
          <a:noFill/>
          <a:ln/>
        </p:spPr>
        <p:txBody>
          <a:bodyPr wrap="square" lIns="0" tIns="0" rIns="0" bIns="0" rtlCol="0" anchor="ctr"/>
          <a:lstStyle/>
          <a:p>
            <a:pPr indent="0" marL="0">
              <a:buNone/>
            </a:pPr>
            <a:r>
              <a:rPr lang="en-US" sz="2400" b="1" dirty="0">
                <a:solidFill>
                  <a:srgbClr val="267D86"/>
                </a:solidFill>
                <a:latin typeface="Noto Sans KR" pitchFamily="34" charset="0"/>
                <a:ea typeface="Noto Sans KR" pitchFamily="34" charset="-122"/>
                <a:cs typeface="Noto Sans KR" pitchFamily="34" charset="-120"/>
              </a:rPr>
              <a:t>66.9%</a:t>
            </a:r>
            <a:endParaRPr lang="en-US" sz="2400" dirty="0"/>
          </a:p>
        </p:txBody>
      </p:sp>
      <p:sp>
        <p:nvSpPr>
          <p:cNvPr id="18" name="근거 제목 2"/>
          <p:cNvSpPr txBox="1"/>
          <p:nvPr/>
        </p:nvSpPr>
        <p:spPr>
          <a:xfrm>
            <a:off x="6286500" y="3218688"/>
            <a:ext cx="2377440" cy="237744"/>
          </a:xfrm>
          <a:prstGeom prst="rect">
            <a:avLst/>
          </a:prstGeom>
          <a:noFill/>
          <a:ln/>
        </p:spPr>
        <p:txBody>
          <a:bodyPr wrap="square" lIns="0" tIns="0" rIns="0" bIns="0" rtlCol="0" anchor="t"/>
          <a:lstStyle/>
          <a:p>
            <a:pPr indent="0" marL="0">
              <a:buNone/>
            </a:pPr>
            <a:r>
              <a:rPr lang="en-US" sz="1000" b="1" dirty="0">
                <a:solidFill>
                  <a:srgbClr val="182F48"/>
                </a:solidFill>
                <a:latin typeface="Noto Sans KR" pitchFamily="34" charset="0"/>
                <a:ea typeface="Noto Sans KR" pitchFamily="34" charset="-122"/>
                <a:cs typeface="Noto Sans KR" pitchFamily="34" charset="-120"/>
              </a:rPr>
              <a:t>최근 1년 등산 경험률(2026)</a:t>
            </a:r>
            <a:endParaRPr lang="en-US" sz="1000" dirty="0"/>
          </a:p>
        </p:txBody>
      </p:sp>
      <p:sp>
        <p:nvSpPr>
          <p:cNvPr id="19" name="근거 설명 2"/>
          <p:cNvSpPr txBox="1"/>
          <p:nvPr/>
        </p:nvSpPr>
        <p:spPr>
          <a:xfrm>
            <a:off x="6286500" y="3474720"/>
            <a:ext cx="2377440" cy="676656"/>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20대 64.5%·30대 62%로 상승. 지그재그 '등산화' 검색 +170%(2026.2~3). 2030이 새 소비층</a:t>
            </a:r>
            <a:endParaRPr lang="en-US" sz="950" dirty="0"/>
          </a:p>
        </p:txBody>
      </p:sp>
      <p:sp>
        <p:nvSpPr>
          <p:cNvPr id="20" name="근거 카드 3"/>
          <p:cNvSpPr/>
          <p:nvPr/>
        </p:nvSpPr>
        <p:spPr>
          <a:xfrm>
            <a:off x="8915400" y="2724912"/>
            <a:ext cx="2651760" cy="1463040"/>
          </a:xfrm>
          <a:prstGeom prst="roundRect">
            <a:avLst>
              <a:gd name="adj" fmla="val 3750"/>
            </a:avLst>
          </a:prstGeom>
          <a:solidFill>
            <a:srgbClr val="F1F5F9"/>
          </a:solidFill>
          <a:ln/>
        </p:spPr>
      </p:sp>
      <p:sp>
        <p:nvSpPr>
          <p:cNvPr id="21" name="근거 수치 3"/>
          <p:cNvSpPr txBox="1"/>
          <p:nvPr/>
        </p:nvSpPr>
        <p:spPr>
          <a:xfrm>
            <a:off x="9052560" y="2779776"/>
            <a:ext cx="2377440" cy="457200"/>
          </a:xfrm>
          <a:prstGeom prst="rect">
            <a:avLst/>
          </a:prstGeom>
          <a:noFill/>
          <a:ln/>
        </p:spPr>
        <p:txBody>
          <a:bodyPr wrap="square" lIns="0" tIns="0" rIns="0" bIns="0" rtlCol="0" anchor="ctr"/>
          <a:lstStyle/>
          <a:p>
            <a:pPr indent="0" marL="0">
              <a:buNone/>
            </a:pPr>
            <a:r>
              <a:rPr lang="en-US" sz="2400" b="1" dirty="0">
                <a:solidFill>
                  <a:srgbClr val="267D86"/>
                </a:solidFill>
                <a:latin typeface="Noto Sans KR" pitchFamily="34" charset="0"/>
                <a:ea typeface="Noto Sans KR" pitchFamily="34" charset="-122"/>
                <a:cs typeface="Noto Sans KR" pitchFamily="34" charset="-120"/>
              </a:rPr>
              <a:t>200명+</a:t>
            </a:r>
            <a:endParaRPr lang="en-US" sz="2400" dirty="0"/>
          </a:p>
        </p:txBody>
      </p:sp>
      <p:sp>
        <p:nvSpPr>
          <p:cNvPr id="22" name="근거 제목 3"/>
          <p:cNvSpPr txBox="1"/>
          <p:nvPr/>
        </p:nvSpPr>
        <p:spPr>
          <a:xfrm>
            <a:off x="9052560" y="3218688"/>
            <a:ext cx="2377440" cy="237744"/>
          </a:xfrm>
          <a:prstGeom prst="rect">
            <a:avLst/>
          </a:prstGeom>
          <a:noFill/>
          <a:ln/>
        </p:spPr>
        <p:txBody>
          <a:bodyPr wrap="square" lIns="0" tIns="0" rIns="0" bIns="0" rtlCol="0" anchor="t"/>
          <a:lstStyle/>
          <a:p>
            <a:pPr indent="0" marL="0">
              <a:buNone/>
            </a:pPr>
            <a:r>
              <a:rPr lang="en-US" sz="1000" b="1" dirty="0">
                <a:solidFill>
                  <a:srgbClr val="182F48"/>
                </a:solidFill>
                <a:latin typeface="Noto Sans KR" pitchFamily="34" charset="0"/>
                <a:ea typeface="Noto Sans KR" pitchFamily="34" charset="-122"/>
                <a:cs typeface="Noto Sans KR" pitchFamily="34" charset="-120"/>
              </a:rPr>
              <a:t>무신사 도쿄 쇼룸 일본 바이어</a:t>
            </a:r>
            <a:endParaRPr lang="en-US" sz="1000" dirty="0"/>
          </a:p>
        </p:txBody>
      </p:sp>
      <p:sp>
        <p:nvSpPr>
          <p:cNvPr id="23" name="근거 설명 3"/>
          <p:cNvSpPr txBox="1"/>
          <p:nvPr/>
        </p:nvSpPr>
        <p:spPr>
          <a:xfrm>
            <a:off x="9052560" y="3474720"/>
            <a:ext cx="2377440" cy="676656"/>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빔즈·유나이티드애로우즈 등 참석, 주문 3배. 아크테릭스 2026 한국 직진출. 한국이 아시아 고프코어 테스트베드</a:t>
            </a:r>
            <a:endParaRPr lang="en-US" sz="950" dirty="0"/>
          </a:p>
        </p:txBody>
      </p:sp>
      <p:sp>
        <p:nvSpPr>
          <p:cNvPr id="24" name="문제 정의 배경"/>
          <p:cNvSpPr/>
          <p:nvPr/>
        </p:nvSpPr>
        <p:spPr>
          <a:xfrm>
            <a:off x="3383280" y="4261104"/>
            <a:ext cx="8183880" cy="457200"/>
          </a:xfrm>
          <a:prstGeom prst="roundRect">
            <a:avLst>
              <a:gd name="adj" fmla="val 12000"/>
            </a:avLst>
          </a:prstGeom>
          <a:solidFill>
            <a:srgbClr val="EAF4F5"/>
          </a:solidFill>
          <a:ln/>
        </p:spPr>
      </p:sp>
      <p:sp>
        <p:nvSpPr>
          <p:cNvPr id="25" name="문제 정의"/>
          <p:cNvSpPr txBox="1"/>
          <p:nvPr/>
        </p:nvSpPr>
        <p:spPr>
          <a:xfrm>
            <a:off x="3520440" y="4261104"/>
            <a:ext cx="7909560" cy="457200"/>
          </a:xfrm>
          <a:prstGeom prst="rect">
            <a:avLst/>
          </a:prstGeom>
          <a:noFill/>
          <a:ln/>
        </p:spPr>
        <p:txBody>
          <a:bodyPr wrap="square" lIns="0" tIns="0" rIns="0" bIns="0" rtlCol="0" anchor="ctr"/>
          <a:lstStyle/>
          <a:p>
            <a:pPr indent="0" marL="0">
              <a:buNone/>
            </a:pPr>
            <a:r>
              <a:rPr lang="en-US" sz="1100" b="1" dirty="0">
                <a:solidFill>
                  <a:srgbClr val="267D86"/>
                </a:solidFill>
                <a:latin typeface="Noto Sans KR" pitchFamily="34" charset="0"/>
                <a:ea typeface="Noto Sans KR" pitchFamily="34" charset="-122"/>
                <a:cs typeface="Noto Sans KR" pitchFamily="34" charset="-120"/>
              </a:rPr>
              <a:t>산업 구조의 문제  </a:t>
            </a:r>
            <a:pPr indent="0" marL="0">
              <a:buNone/>
            </a:pPr>
            <a:r>
              <a:rPr lang="en-US" sz="1100" b="1" dirty="0">
                <a:solidFill>
                  <a:srgbClr val="182F48"/>
                </a:solidFill>
                <a:latin typeface="Noto Sans KR" pitchFamily="34" charset="0"/>
                <a:ea typeface="Noto Sans KR" pitchFamily="34" charset="-122"/>
                <a:cs typeface="Noto Sans KR" pitchFamily="34" charset="-120"/>
              </a:rPr>
              <a:t>고프코어 패션 산업이 더 커지려면 브랜드·바이어·관심 고객이 만나는 거래 인프라가 필요한데 국내엔 없다 → 수주는 특정 플랫폼의 해외 쇼룸·팝업으로 흩어지고, 브랜드는 기능을 설명할 곳이 없다</a:t>
            </a:r>
            <a:endParaRPr lang="en-US" sz="1100" dirty="0"/>
          </a:p>
        </p:txBody>
      </p:sp>
      <p:sp>
        <p:nvSpPr>
          <p:cNvPr id="26" name="라벨 기존 전시회와의 차이"/>
          <p:cNvSpPr txBox="1"/>
          <p:nvPr/>
        </p:nvSpPr>
        <p:spPr>
          <a:xfrm>
            <a:off x="612648" y="489204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기존 전시회와의 차이</a:t>
            </a:r>
            <a:endParaRPr lang="en-US" sz="1500" dirty="0"/>
          </a:p>
        </p:txBody>
      </p:sp>
      <p:graphicFrame>
        <p:nvGraphicFramePr>
          <p:cNvPr id="2" name="기존 전시회 비교표"/>
          <p:cNvGraphicFramePr>
            <a:graphicFrameLocks noGrp="1"/>
          </p:cNvGraphicFramePr>
          <p:nvPr>
            <p:extLst>
              <p:ext uri="{D42A27DB-BD31-4B8C-83A1-F6EECF244321}">
                <p14:modId xmlns:p14="http://schemas.microsoft.com/office/powerpoint/2010/main" val="1579011935"/>
              </p:ext>
            </p:extLst>
          </p:nvPr>
        </p:nvGraphicFramePr>
        <p:xfrm>
          <a:off x="3383280" y="4846320"/>
          <a:ext cx="5074920" cy="914400"/>
        </p:xfrm>
        <a:graphic>
          <a:graphicData uri="http://schemas.openxmlformats.org/drawingml/2006/table">
            <a:tbl>
              <a:tblPr/>
              <a:tblGrid>
                <a:gridCol w="1417320"/>
                <a:gridCol w="1600200"/>
                <a:gridCol w="2057400"/>
              </a:tblGrid>
              <a:tr h="329184">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SPOEX</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64748B"/>
                          </a:solidFill>
                          <a:latin typeface="Noto Sans KR" pitchFamily="34" charset="0"/>
                          <a:ea typeface="Noto Sans KR" pitchFamily="34" charset="-122"/>
                          <a:cs typeface="Noto Sans KR" pitchFamily="34" charset="-120"/>
                        </a:rPr>
                        <a:t>코엑스·3월·300개사/4.7만 명</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스포츠·레저 용품 전반, 패션·트렌드 관점 부재</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29184">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캠핑앤피크닉페어·고카프</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64748B"/>
                          </a:solidFill>
                          <a:latin typeface="Noto Sans KR" pitchFamily="34" charset="0"/>
                          <a:ea typeface="Noto Sans KR" pitchFamily="34" charset="-122"/>
                          <a:cs typeface="Noto Sans KR" pitchFamily="34" charset="-120"/>
                        </a:rPr>
                        <a:t>킨텍스·세텍·116개사(2026.3)</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캠핑 장비 현장판매 중심 (인터뷰: 고객 니즈가 달라 불참)</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29184">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서울패션위크 트레이드쇼</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64748B"/>
                          </a:solidFill>
                          <a:latin typeface="Noto Sans KR" pitchFamily="34" charset="0"/>
                          <a:ea typeface="Noto Sans KR" pitchFamily="34" charset="-122"/>
                          <a:cs typeface="Noto Sans KR" pitchFamily="34" charset="-120"/>
                        </a:rPr>
                        <a:t>DDP·130개 브랜드·바이어 300명</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디자이너 의류 수주, 기능 검증·아웃도어 없음</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29184">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ISPO (해외)</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64748B"/>
                          </a:solidFill>
                          <a:latin typeface="Noto Sans KR" pitchFamily="34" charset="0"/>
                          <a:ea typeface="Noto Sans KR" pitchFamily="34" charset="-122"/>
                          <a:cs typeface="Noto Sans KR" pitchFamily="34" charset="-120"/>
                        </a:rPr>
                        <a:t>뮌헨→2026 암스테르담</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기능 중심 B2B, 출품 3,307→1,937개사로 축소</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28" name="차별점 배경"/>
          <p:cNvSpPr/>
          <p:nvPr/>
        </p:nvSpPr>
        <p:spPr>
          <a:xfrm>
            <a:off x="8595360" y="4846320"/>
            <a:ext cx="2971800" cy="1316736"/>
          </a:xfrm>
          <a:prstGeom prst="roundRect">
            <a:avLst>
              <a:gd name="adj" fmla="val 4167"/>
            </a:avLst>
          </a:prstGeom>
          <a:solidFill>
            <a:srgbClr val="182F48"/>
          </a:solidFill>
          <a:ln/>
        </p:spPr>
      </p:sp>
      <p:sp>
        <p:nvSpPr>
          <p:cNvPr id="29" name="차별점"/>
          <p:cNvSpPr txBox="1"/>
          <p:nvPr/>
        </p:nvSpPr>
        <p:spPr>
          <a:xfrm>
            <a:off x="8732520" y="4919472"/>
            <a:ext cx="2697480" cy="1188720"/>
          </a:xfrm>
          <a:prstGeom prst="rect">
            <a:avLst/>
          </a:prstGeom>
          <a:noFill/>
          <a:ln/>
        </p:spPr>
        <p:txBody>
          <a:bodyPr wrap="square" lIns="0" tIns="0" rIns="0" bIns="0" rtlCol="0" anchor="t"/>
          <a:lstStyle/>
          <a:p>
            <a:pPr indent="0" marL="0">
              <a:spcAft>
                <a:spcPts val="200"/>
              </a:spcAft>
              <a:buNone/>
            </a:pPr>
            <a:r>
              <a:rPr lang="en-US" sz="1100" b="1" dirty="0">
                <a:solidFill>
                  <a:srgbClr val="9FE0E6"/>
                </a:solidFill>
                <a:latin typeface="Noto Sans KR" pitchFamily="34" charset="0"/>
                <a:ea typeface="Noto Sans KR" pitchFamily="34" charset="-122"/>
                <a:cs typeface="Noto Sans KR" pitchFamily="34" charset="-120"/>
              </a:rPr>
              <a:t>GFF SEOUL 차별점</a:t>
            </a:r>
            <a:endParaRPr lang="en-US" sz="1000" dirty="0"/>
          </a:p>
          <a:p>
            <a:pPr indent="0" marL="0">
              <a:spcAft>
                <a:spcPts val="200"/>
              </a:spcAft>
              <a:buNone/>
            </a:pPr>
            <a:r>
              <a:rPr lang="en-US" sz="1000" dirty="0">
                <a:solidFill>
                  <a:srgbClr val="FFFFFF"/>
                </a:solidFill>
                <a:latin typeface="Noto Sans KR" pitchFamily="34" charset="0"/>
                <a:ea typeface="Noto Sans KR" pitchFamily="34" charset="-122"/>
                <a:cs typeface="Noto Sans KR" pitchFamily="34" charset="-120"/>
              </a:rPr>
              <a:t>① 고프코어 '패션' 단일 카테고리</a:t>
            </a:r>
            <a:endParaRPr lang="en-US" sz="1000" dirty="0"/>
          </a:p>
          <a:p>
            <a:pPr indent="0" marL="0">
              <a:spcAft>
                <a:spcPts val="200"/>
              </a:spcAft>
              <a:buNone/>
            </a:pPr>
            <a:r>
              <a:rPr lang="en-US" sz="1000" dirty="0">
                <a:solidFill>
                  <a:srgbClr val="FFFFFF"/>
                </a:solidFill>
                <a:latin typeface="Noto Sans KR" pitchFamily="34" charset="0"/>
                <a:ea typeface="Noto Sans KR" pitchFamily="34" charset="-122"/>
                <a:cs typeface="Noto Sans KR" pitchFamily="34" charset="-120"/>
              </a:rPr>
              <a:t>② 트레이드 데이: 인증 바이어 1:1 사전 매칭</a:t>
            </a:r>
            <a:endParaRPr lang="en-US" sz="1000" dirty="0"/>
          </a:p>
          <a:p>
            <a:pPr indent="0" marL="0">
              <a:spcAft>
                <a:spcPts val="200"/>
              </a:spcAft>
              <a:buNone/>
            </a:pPr>
            <a:r>
              <a:rPr lang="en-US" sz="1000" dirty="0">
                <a:solidFill>
                  <a:srgbClr val="FFFFFF"/>
                </a:solidFill>
                <a:latin typeface="Noto Sans KR" pitchFamily="34" charset="0"/>
                <a:ea typeface="Noto Sans KR" pitchFamily="34" charset="-122"/>
                <a:cs typeface="Noto Sans KR" pitchFamily="34" charset="-120"/>
              </a:rPr>
              <a:t>③ 퍼블릭 랩 데이: 방수·보온 Test Lab</a:t>
            </a:r>
            <a:endParaRPr lang="en-US" sz="1000" dirty="0"/>
          </a:p>
          <a:p>
            <a:pPr indent="0" marL="0">
              <a:spcAft>
                <a:spcPts val="200"/>
              </a:spcAft>
              <a:buNone/>
            </a:pPr>
            <a:r>
              <a:rPr lang="en-US" sz="1000" dirty="0">
                <a:solidFill>
                  <a:srgbClr val="FFFFFF"/>
                </a:solidFill>
                <a:latin typeface="Noto Sans KR" pitchFamily="34" charset="0"/>
                <a:ea typeface="Noto Sans KR" pitchFamily="34" charset="-122"/>
                <a:cs typeface="Noto Sans KR" pitchFamily="34" charset="-120"/>
              </a:rPr>
              <a:t>④ 브랜드별 고객 반응 리포트 제공</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2/6</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미션 · 비전 (Mission Statement)</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전시회의 존재 이유와 장기적인 방향</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출처: 산업통상부 「전시산업 발전 로드맵 2030」(2026.10.14 경제관계장관회의, 산업·문화 융합형 대형 전시회 비중 5%→20%, 국가·지역 대표 전시회 5개 이상) · 무신사 뉴스룸(2024.7.17, 도쿄 쇼룸) · Houyhnhnm·END.(케일 해외 판매) · TENANT news(2025) · 뉴데일리(2025.4.11) · 참가업체 측 인터뷰(2026.10.17)</a:t>
            </a:r>
            <a:endParaRPr lang="en-US" sz="850" dirty="0"/>
          </a:p>
        </p:txBody>
      </p:sp>
      <p:sp>
        <p:nvSpPr>
          <p:cNvPr id="7" name="라벨 미션  Mission"/>
          <p:cNvSpPr txBox="1"/>
          <p:nvPr/>
        </p:nvSpPr>
        <p:spPr>
          <a:xfrm>
            <a:off x="612648" y="1938528"/>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미션  Mission</a:t>
            </a:r>
            <a:endParaRPr lang="en-US" sz="1500" dirty="0"/>
          </a:p>
        </p:txBody>
      </p:sp>
      <p:sp>
        <p:nvSpPr>
          <p:cNvPr id="8" name="미션 안내"/>
          <p:cNvSpPr txBox="1"/>
          <p:nvPr/>
        </p:nvSpPr>
        <p:spPr>
          <a:xfrm>
            <a:off x="612648" y="2258568"/>
            <a:ext cx="2606040" cy="274320"/>
          </a:xfrm>
          <a:prstGeom prst="rect">
            <a:avLst/>
          </a:prstGeom>
          <a:noFill/>
          <a:ln/>
        </p:spPr>
        <p:txBody>
          <a:bodyPr wrap="square" lIns="0" tIns="0" rIns="0" bIns="0" rtlCol="0" anchor="t"/>
          <a:lstStyle/>
          <a:p>
            <a:pPr indent="0" marL="0">
              <a:buNone/>
            </a:pPr>
            <a:r>
              <a:rPr lang="en-US" sz="1000" dirty="0">
                <a:solidFill>
                  <a:srgbClr val="64748B"/>
                </a:solidFill>
                <a:latin typeface="Noto Sans KR" pitchFamily="34" charset="0"/>
                <a:ea typeface="Noto Sans KR" pitchFamily="34" charset="-122"/>
                <a:cs typeface="Noto Sans KR" pitchFamily="34" charset="-120"/>
              </a:rPr>
              <a:t>누구의 어떤 문제를 해결하나요?</a:t>
            </a:r>
            <a:endParaRPr lang="en-US" sz="1000" dirty="0"/>
          </a:p>
        </p:txBody>
      </p:sp>
      <p:sp>
        <p:nvSpPr>
          <p:cNvPr id="9" name="미션 배경"/>
          <p:cNvSpPr/>
          <p:nvPr/>
        </p:nvSpPr>
        <p:spPr>
          <a:xfrm>
            <a:off x="3383280" y="1874520"/>
            <a:ext cx="8183880" cy="1024128"/>
          </a:xfrm>
          <a:prstGeom prst="roundRect">
            <a:avLst>
              <a:gd name="adj" fmla="val 5357"/>
            </a:avLst>
          </a:prstGeom>
          <a:solidFill>
            <a:srgbClr val="EAF4F5"/>
          </a:solidFill>
          <a:ln/>
        </p:spPr>
      </p:sp>
      <p:sp>
        <p:nvSpPr>
          <p:cNvPr id="10" name="미션"/>
          <p:cNvSpPr txBox="1"/>
          <p:nvPr/>
        </p:nvSpPr>
        <p:spPr>
          <a:xfrm>
            <a:off x="3566160" y="1911096"/>
            <a:ext cx="7818120" cy="950976"/>
          </a:xfrm>
          <a:prstGeom prst="rect">
            <a:avLst/>
          </a:prstGeom>
          <a:noFill/>
          <a:ln/>
        </p:spPr>
        <p:txBody>
          <a:bodyPr wrap="square" lIns="0" tIns="0" rIns="0" bIns="0" rtlCol="0" anchor="ctr"/>
          <a:lstStyle/>
          <a:p>
            <a:pPr indent="0" marL="0">
              <a:spcAft>
                <a:spcPts val="500"/>
              </a:spcAft>
              <a:buNone/>
            </a:pPr>
            <a:r>
              <a:rPr lang="en-US" sz="1400" b="1" dirty="0">
                <a:solidFill>
                  <a:srgbClr val="182F48"/>
                </a:solidFill>
                <a:latin typeface="Noto Sans KR" pitchFamily="34" charset="0"/>
                <a:ea typeface="Noto Sans KR" pitchFamily="34" charset="-122"/>
                <a:cs typeface="Noto Sans KR" pitchFamily="34" charset="-120"/>
              </a:rPr>
              <a:t>신진 K-고프코어 브랜드에게는 '맞는 바이어'를, 아웃도어 브랜드에게는 '기능을 깊이 들어줄 고객'을 한 곳에서 연결해 고프코어 패션이 제값에 거래되는 장을 만든다.</a:t>
            </a:r>
            <a:endParaRPr lang="en-US" sz="1400" dirty="0"/>
          </a:p>
          <a:p>
            <a:pPr indent="0" marL="0">
              <a:spcAft>
                <a:spcPts val="500"/>
              </a:spcAft>
              <a:buNone/>
            </a:pPr>
            <a:r>
              <a:rPr lang="en-US" sz="1000" b="1" dirty="0">
                <a:solidFill>
                  <a:srgbClr val="267D86"/>
                </a:solidFill>
                <a:latin typeface="Noto Sans KR" pitchFamily="34" charset="0"/>
                <a:ea typeface="Noto Sans KR" pitchFamily="34" charset="-122"/>
                <a:cs typeface="Noto Sans KR" pitchFamily="34" charset="-120"/>
              </a:rPr>
              <a:t>대상  </a:t>
            </a:r>
            <a:pPr indent="0" marL="0">
              <a:spcAft>
                <a:spcPts val="500"/>
              </a:spcAft>
              <a:buNone/>
            </a:pPr>
            <a:r>
              <a:rPr lang="en-US" sz="1000" dirty="0">
                <a:solidFill>
                  <a:srgbClr val="334155"/>
                </a:solidFill>
                <a:latin typeface="Noto Sans KR" pitchFamily="34" charset="0"/>
                <a:ea typeface="Noto Sans KR" pitchFamily="34" charset="-122"/>
                <a:cs typeface="Noto Sans KR" pitchFamily="34" charset="-120"/>
              </a:rPr>
              <a:t>신진 K-고프코어 브랜드 · 국내 진출 해외 아웃도어 브랜드     </a:t>
            </a:r>
            <a:pPr indent="0" marL="0">
              <a:spcAft>
                <a:spcPts val="500"/>
              </a:spcAft>
              <a:buNone/>
            </a:pPr>
            <a:r>
              <a:rPr lang="en-US" sz="1000" b="1" dirty="0">
                <a:solidFill>
                  <a:srgbClr val="267D86"/>
                </a:solidFill>
                <a:latin typeface="Noto Sans KR" pitchFamily="34" charset="0"/>
                <a:ea typeface="Noto Sans KR" pitchFamily="34" charset="-122"/>
                <a:cs typeface="Noto Sans KR" pitchFamily="34" charset="-120"/>
              </a:rPr>
              <a:t>문제  </a:t>
            </a:r>
            <a:pPr indent="0" marL="0">
              <a:spcAft>
                <a:spcPts val="500"/>
              </a:spcAft>
              <a:buNone/>
            </a:pPr>
            <a:r>
              <a:rPr lang="en-US" sz="1000" dirty="0">
                <a:solidFill>
                  <a:srgbClr val="334155"/>
                </a:solidFill>
                <a:latin typeface="Noto Sans KR" pitchFamily="34" charset="0"/>
                <a:ea typeface="Noto Sans KR" pitchFamily="34" charset="-122"/>
                <a:cs typeface="Noto Sans KR" pitchFamily="34" charset="-120"/>
              </a:rPr>
              <a:t>바이어 창구가 플랫폼별로 흩어짐 · 기능을 들어줄 관심 고객 접점 부족</a:t>
            </a:r>
            <a:endParaRPr lang="en-US" sz="1400" dirty="0"/>
          </a:p>
        </p:txBody>
      </p:sp>
      <p:sp>
        <p:nvSpPr>
          <p:cNvPr id="11" name="라벨 비전  Vision"/>
          <p:cNvSpPr txBox="1"/>
          <p:nvPr/>
        </p:nvSpPr>
        <p:spPr>
          <a:xfrm>
            <a:off x="612648" y="3081528"/>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비전  Vision</a:t>
            </a:r>
            <a:endParaRPr lang="en-US" sz="1500" dirty="0"/>
          </a:p>
        </p:txBody>
      </p:sp>
      <p:sp>
        <p:nvSpPr>
          <p:cNvPr id="12" name="비전 안내"/>
          <p:cNvSpPr txBox="1"/>
          <p:nvPr/>
        </p:nvSpPr>
        <p:spPr>
          <a:xfrm>
            <a:off x="612648" y="3401568"/>
            <a:ext cx="2606040" cy="274320"/>
          </a:xfrm>
          <a:prstGeom prst="rect">
            <a:avLst/>
          </a:prstGeom>
          <a:noFill/>
          <a:ln/>
        </p:spPr>
        <p:txBody>
          <a:bodyPr wrap="square" lIns="0" tIns="0" rIns="0" bIns="0" rtlCol="0" anchor="t"/>
          <a:lstStyle/>
          <a:p>
            <a:pPr indent="0" marL="0">
              <a:buNone/>
            </a:pPr>
            <a:r>
              <a:rPr lang="en-US" sz="1000" dirty="0">
                <a:solidFill>
                  <a:srgbClr val="64748B"/>
                </a:solidFill>
                <a:latin typeface="Noto Sans KR" pitchFamily="34" charset="0"/>
                <a:ea typeface="Noto Sans KR" pitchFamily="34" charset="-122"/>
                <a:cs typeface="Noto Sans KR" pitchFamily="34" charset="-120"/>
              </a:rPr>
              <a:t>지속되면 산업에 어떤 변화를?</a:t>
            </a:r>
            <a:endParaRPr lang="en-US" sz="1000" dirty="0"/>
          </a:p>
        </p:txBody>
      </p:sp>
      <p:sp>
        <p:nvSpPr>
          <p:cNvPr id="13" name="비전 배경"/>
          <p:cNvSpPr/>
          <p:nvPr/>
        </p:nvSpPr>
        <p:spPr>
          <a:xfrm>
            <a:off x="3383280" y="3017520"/>
            <a:ext cx="8183880" cy="1261872"/>
          </a:xfrm>
          <a:prstGeom prst="roundRect">
            <a:avLst>
              <a:gd name="adj" fmla="val 4348"/>
            </a:avLst>
          </a:prstGeom>
          <a:solidFill>
            <a:srgbClr val="182F48"/>
          </a:solidFill>
          <a:ln/>
        </p:spPr>
      </p:sp>
      <p:sp>
        <p:nvSpPr>
          <p:cNvPr id="14" name="비전"/>
          <p:cNvSpPr txBox="1"/>
          <p:nvPr/>
        </p:nvSpPr>
        <p:spPr>
          <a:xfrm>
            <a:off x="3566160" y="3054096"/>
            <a:ext cx="7818120" cy="1188720"/>
          </a:xfrm>
          <a:prstGeom prst="rect">
            <a:avLst/>
          </a:prstGeom>
          <a:noFill/>
          <a:ln/>
        </p:spPr>
        <p:txBody>
          <a:bodyPr wrap="square" lIns="0" tIns="0" rIns="0" bIns="0" rtlCol="0" anchor="ctr"/>
          <a:lstStyle/>
          <a:p>
            <a:pPr indent="0" marL="0">
              <a:spcAft>
                <a:spcPts val="500"/>
              </a:spcAft>
              <a:buNone/>
            </a:pPr>
            <a:r>
              <a:rPr lang="en-US" sz="1400" b="1" dirty="0">
                <a:solidFill>
                  <a:srgbClr val="FFFFFF"/>
                </a:solidFill>
                <a:latin typeface="Noto Sans KR" pitchFamily="34" charset="0"/>
                <a:ea typeface="Noto Sans KR" pitchFamily="34" charset="-122"/>
                <a:cs typeface="Noto Sans KR" pitchFamily="34" charset="-120"/>
              </a:rPr>
              <a:t>2030년, 아시아 바이어가 다음 시즌 고프코어 트렌드를 사러 서울에 오는 '아시아 대표 고프코어 패션 거래 플랫폼'이 된다.</a:t>
            </a:r>
            <a:endParaRPr lang="en-US" sz="1400" dirty="0"/>
          </a:p>
          <a:p>
            <a:pPr indent="0" marL="0">
              <a:spcAft>
                <a:spcPts val="500"/>
              </a:spcAft>
              <a:buNone/>
            </a:pPr>
            <a:r>
              <a:rPr lang="en-US" sz="1000" b="1" dirty="0">
                <a:solidFill>
                  <a:srgbClr val="9FE0E6"/>
                </a:solidFill>
                <a:latin typeface="Noto Sans KR" pitchFamily="34" charset="0"/>
                <a:ea typeface="Noto Sans KR" pitchFamily="34" charset="-122"/>
                <a:cs typeface="Noto Sans KR" pitchFamily="34" charset="-120"/>
              </a:rPr>
              <a:t>산업 변화  </a:t>
            </a:r>
            <a:pPr indent="0" marL="0">
              <a:spcAft>
                <a:spcPts val="500"/>
              </a:spcAft>
              <a:buNone/>
            </a:pPr>
            <a:r>
              <a:rPr lang="en-US" sz="1000" dirty="0">
                <a:solidFill>
                  <a:srgbClr val="FFFFFF"/>
                </a:solidFill>
                <a:latin typeface="Noto Sans KR" pitchFamily="34" charset="0"/>
                <a:ea typeface="Noto Sans KR" pitchFamily="34" charset="-122"/>
                <a:cs typeface="Noto Sans KR" pitchFamily="34" charset="-120"/>
              </a:rPr>
              <a:t>K-고프코어 브랜드가 국내 플랫폼 입점 경쟁에만 기대지 않고 해외 편집숍·총판으로 진출하고, 등산복 중심으로 줄어든 아웃도어 산업이 '기능 + 패션' 수출 산업으로 다시 성장한다</a:t>
            </a:r>
            <a:endParaRPr lang="en-US" sz="1400" dirty="0"/>
          </a:p>
        </p:txBody>
      </p:sp>
      <p:sp>
        <p:nvSpPr>
          <p:cNvPr id="15" name="라벨 기획 배경과의 연결"/>
          <p:cNvSpPr txBox="1"/>
          <p:nvPr/>
        </p:nvSpPr>
        <p:spPr>
          <a:xfrm>
            <a:off x="612648" y="443484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기획 배경과의 연결</a:t>
            </a:r>
            <a:endParaRPr lang="en-US" sz="1500" dirty="0"/>
          </a:p>
        </p:txBody>
      </p:sp>
      <p:sp>
        <p:nvSpPr>
          <p:cNvPr id="16" name="연결 안내"/>
          <p:cNvSpPr txBox="1"/>
          <p:nvPr/>
        </p:nvSpPr>
        <p:spPr>
          <a:xfrm>
            <a:off x="612648" y="4754880"/>
            <a:ext cx="2606040" cy="457200"/>
          </a:xfrm>
          <a:prstGeom prst="rect">
            <a:avLst/>
          </a:prstGeom>
          <a:noFill/>
          <a:ln/>
        </p:spPr>
        <p:txBody>
          <a:bodyPr wrap="square" lIns="0" tIns="0" rIns="0" bIns="0" rtlCol="0" anchor="t"/>
          <a:lstStyle/>
          <a:p>
            <a:pPr indent="0" marL="0">
              <a:buNone/>
            </a:pPr>
            <a:r>
              <a:rPr lang="en-US" sz="1000" dirty="0">
                <a:solidFill>
                  <a:srgbClr val="64748B"/>
                </a:solidFill>
                <a:latin typeface="Noto Sans KR" pitchFamily="34" charset="0"/>
                <a:ea typeface="Noto Sans KR" pitchFamily="34" charset="-122"/>
                <a:cs typeface="Noto Sans KR" pitchFamily="34" charset="-120"/>
              </a:rPr>
              <a:t>앞 장의 문제와 미션·비전은 어떻게 이어지나요?</a:t>
            </a:r>
            <a:endParaRPr lang="en-US" sz="1000" dirty="0"/>
          </a:p>
        </p:txBody>
      </p:sp>
      <p:sp>
        <p:nvSpPr>
          <p:cNvPr id="17" name="연결 서술"/>
          <p:cNvSpPr txBox="1"/>
          <p:nvPr/>
        </p:nvSpPr>
        <p:spPr>
          <a:xfrm>
            <a:off x="3383280" y="4389120"/>
            <a:ext cx="8183880" cy="438912"/>
          </a:xfrm>
          <a:prstGeom prst="rect">
            <a:avLst/>
          </a:prstGeom>
          <a:noFill/>
          <a:ln/>
        </p:spPr>
        <p:txBody>
          <a:bodyPr wrap="square" lIns="0" tIns="0" rIns="0" bIns="0" rtlCol="0" anchor="ctr"/>
          <a:lstStyle/>
          <a:p>
            <a:pPr indent="0" marL="0">
              <a:buNone/>
            </a:pPr>
            <a:r>
              <a:rPr lang="en-US" sz="1000" dirty="0">
                <a:solidFill>
                  <a:srgbClr val="334155"/>
                </a:solidFill>
                <a:latin typeface="Noto Sans KR" pitchFamily="34" charset="0"/>
                <a:ea typeface="Noto Sans KR" pitchFamily="34" charset="-122"/>
                <a:cs typeface="Noto Sans KR" pitchFamily="34" charset="-120"/>
              </a:rPr>
              <a:t>고프코어 패션 산업이 더 커지려면 </a:t>
            </a:r>
            <a:pPr indent="0" marL="0">
              <a:buNone/>
            </a:pPr>
            <a:r>
              <a:rPr lang="en-US" sz="1000" b="1" dirty="0">
                <a:solidFill>
                  <a:srgbClr val="182F48"/>
                </a:solidFill>
                <a:latin typeface="Noto Sans KR" pitchFamily="34" charset="0"/>
                <a:ea typeface="Noto Sans KR" pitchFamily="34" charset="-122"/>
                <a:cs typeface="Noto Sans KR" pitchFamily="34" charset="-120"/>
              </a:rPr>
              <a:t>① 브랜드와 국내외 바이어가 만나는 거래 인프라</a:t>
            </a:r>
            <a:pPr indent="0" marL="0">
              <a:buNone/>
            </a:pPr>
            <a:r>
              <a:rPr lang="en-US" sz="1000" dirty="0">
                <a:solidFill>
                  <a:srgbClr val="334155"/>
                </a:solidFill>
                <a:latin typeface="Noto Sans KR" pitchFamily="34" charset="0"/>
                <a:ea typeface="Noto Sans KR" pitchFamily="34" charset="-122"/>
                <a:cs typeface="Noto Sans KR" pitchFamily="34" charset="-120"/>
              </a:rPr>
              <a:t>와 </a:t>
            </a:r>
            <a:pPr indent="0" marL="0">
              <a:buNone/>
            </a:pPr>
            <a:r>
              <a:rPr lang="en-US" sz="1000" b="1" dirty="0">
                <a:solidFill>
                  <a:srgbClr val="182F48"/>
                </a:solidFill>
                <a:latin typeface="Noto Sans KR" pitchFamily="34" charset="0"/>
                <a:ea typeface="Noto Sans KR" pitchFamily="34" charset="-122"/>
                <a:cs typeface="Noto Sans KR" pitchFamily="34" charset="-120"/>
              </a:rPr>
              <a:t>② 기능의 가치를 소비자에게 전달할 접점</a:t>
            </a:r>
            <a:pPr indent="0" marL="0">
              <a:buNone/>
            </a:pPr>
            <a:r>
              <a:rPr lang="en-US" sz="1000" dirty="0">
                <a:solidFill>
                  <a:srgbClr val="334155"/>
                </a:solidFill>
                <a:latin typeface="Noto Sans KR" pitchFamily="34" charset="0"/>
                <a:ea typeface="Noto Sans KR" pitchFamily="34" charset="-122"/>
                <a:cs typeface="Noto Sans KR" pitchFamily="34" charset="-120"/>
              </a:rPr>
              <a:t>이 필요한데 지금은 둘 다 없다(산업 구조의 문제). 미션이 이 둘을 해결하고, 비전은 그 결과 산업이 수출형으로 커지는 모습이다.</a:t>
            </a:r>
            <a:endParaRPr lang="en-US" sz="1000" dirty="0"/>
          </a:p>
        </p:txBody>
      </p:sp>
      <p:sp>
        <p:nvSpPr>
          <p:cNvPr id="18" name="연결 배경 1"/>
          <p:cNvSpPr/>
          <p:nvPr/>
        </p:nvSpPr>
        <p:spPr>
          <a:xfrm>
            <a:off x="3383280" y="4873752"/>
            <a:ext cx="3246120" cy="420624"/>
          </a:xfrm>
          <a:prstGeom prst="roundRect">
            <a:avLst>
              <a:gd name="adj" fmla="val 13043"/>
            </a:avLst>
          </a:prstGeom>
          <a:solidFill>
            <a:srgbClr val="F1F5F9"/>
          </a:solidFill>
          <a:ln/>
        </p:spPr>
      </p:sp>
      <p:sp>
        <p:nvSpPr>
          <p:cNvPr id="19" name="연결 배경 문구 1"/>
          <p:cNvSpPr txBox="1"/>
          <p:nvPr/>
        </p:nvSpPr>
        <p:spPr>
          <a:xfrm>
            <a:off x="3474720" y="4873752"/>
            <a:ext cx="3063240" cy="420624"/>
          </a:xfrm>
          <a:prstGeom prst="rect">
            <a:avLst/>
          </a:prstGeom>
          <a:noFill/>
          <a:ln/>
        </p:spPr>
        <p:txBody>
          <a:bodyPr wrap="square" lIns="0" tIns="0" rIns="0" bIns="0" rtlCol="0" anchor="ctr"/>
          <a:lstStyle/>
          <a:p>
            <a:pPr indent="0" marL="0">
              <a:buNone/>
            </a:pPr>
            <a:r>
              <a:rPr lang="en-US" sz="900" dirty="0">
                <a:solidFill>
                  <a:srgbClr val="334155"/>
                </a:solidFill>
                <a:latin typeface="Noto Sans KR" pitchFamily="34" charset="0"/>
                <a:ea typeface="Noto Sans KR" pitchFamily="34" charset="-122"/>
                <a:cs typeface="Noto Sans KR" pitchFamily="34" charset="-120"/>
              </a:rPr>
              <a:t>배경 ① 수요가 등산복→고프코어 패션으로 이동, 기존 전시는 캠핑·용품 중심</a:t>
            </a:r>
            <a:endParaRPr lang="en-US" sz="900" dirty="0"/>
          </a:p>
        </p:txBody>
      </p:sp>
      <p:sp>
        <p:nvSpPr>
          <p:cNvPr id="20" name="연결 화살표 A1"/>
          <p:cNvSpPr/>
          <p:nvPr/>
        </p:nvSpPr>
        <p:spPr>
          <a:xfrm>
            <a:off x="6656832" y="5084064"/>
            <a:ext cx="219456" cy="0"/>
          </a:xfrm>
          <a:prstGeom prst="line">
            <a:avLst/>
          </a:prstGeom>
          <a:noFill/>
          <a:ln w="19050">
            <a:solidFill>
              <a:srgbClr val="267D86"/>
            </a:solidFill>
            <a:prstDash val="solid"/>
            <a:tailEnd type="triangle"/>
          </a:ln>
        </p:spPr>
      </p:sp>
      <p:sp>
        <p:nvSpPr>
          <p:cNvPr id="21" name="연결 미션 1"/>
          <p:cNvSpPr/>
          <p:nvPr/>
        </p:nvSpPr>
        <p:spPr>
          <a:xfrm>
            <a:off x="6903720" y="4873752"/>
            <a:ext cx="1920240" cy="420624"/>
          </a:xfrm>
          <a:prstGeom prst="roundRect">
            <a:avLst>
              <a:gd name="adj" fmla="val 13043"/>
            </a:avLst>
          </a:prstGeom>
          <a:solidFill>
            <a:srgbClr val="EAF4F5"/>
          </a:solidFill>
          <a:ln/>
        </p:spPr>
      </p:sp>
      <p:sp>
        <p:nvSpPr>
          <p:cNvPr id="22" name="연결 미션 문구 1"/>
          <p:cNvSpPr txBox="1"/>
          <p:nvPr/>
        </p:nvSpPr>
        <p:spPr>
          <a:xfrm>
            <a:off x="6995160" y="4873752"/>
            <a:ext cx="1737360" cy="420624"/>
          </a:xfrm>
          <a:prstGeom prst="rect">
            <a:avLst/>
          </a:prstGeom>
          <a:noFill/>
          <a:ln/>
        </p:spPr>
        <p:txBody>
          <a:bodyPr wrap="square" lIns="0" tIns="0" rIns="0" bIns="0" rtlCol="0" anchor="ctr"/>
          <a:lstStyle/>
          <a:p>
            <a:pPr indent="0" marL="0">
              <a:buNone/>
            </a:pPr>
            <a:r>
              <a:rPr lang="en-US" sz="950" b="1" dirty="0">
                <a:solidFill>
                  <a:srgbClr val="267D86"/>
                </a:solidFill>
                <a:latin typeface="Noto Sans KR" pitchFamily="34" charset="0"/>
                <a:ea typeface="Noto Sans KR" pitchFamily="34" charset="-122"/>
                <a:cs typeface="Noto Sans KR" pitchFamily="34" charset="-120"/>
              </a:rPr>
              <a:t>미션 '기능을 깊이 들어줄 고객'</a:t>
            </a:r>
            <a:endParaRPr lang="en-US" sz="950" dirty="0"/>
          </a:p>
        </p:txBody>
      </p:sp>
      <p:sp>
        <p:nvSpPr>
          <p:cNvPr id="23" name="연결 화살표 B1"/>
          <p:cNvSpPr/>
          <p:nvPr/>
        </p:nvSpPr>
        <p:spPr>
          <a:xfrm>
            <a:off x="8851392" y="5084064"/>
            <a:ext cx="82296" cy="0"/>
          </a:xfrm>
          <a:prstGeom prst="line">
            <a:avLst/>
          </a:prstGeom>
          <a:noFill/>
          <a:ln w="19050">
            <a:solidFill>
              <a:srgbClr val="267D86"/>
            </a:solidFill>
            <a:prstDash val="solid"/>
            <a:tailEnd type="triangle"/>
          </a:ln>
        </p:spPr>
      </p:sp>
      <p:sp>
        <p:nvSpPr>
          <p:cNvPr id="24" name="연결 실행 1"/>
          <p:cNvSpPr/>
          <p:nvPr/>
        </p:nvSpPr>
        <p:spPr>
          <a:xfrm>
            <a:off x="9098280" y="4873752"/>
            <a:ext cx="2468880" cy="420624"/>
          </a:xfrm>
          <a:prstGeom prst="roundRect">
            <a:avLst>
              <a:gd name="adj" fmla="val 13043"/>
            </a:avLst>
          </a:prstGeom>
          <a:solidFill>
            <a:srgbClr val="FFFFFF"/>
          </a:solidFill>
          <a:ln w="9525">
            <a:solidFill>
              <a:srgbClr val="CBD5E1"/>
            </a:solidFill>
            <a:prstDash val="solid"/>
          </a:ln>
        </p:spPr>
      </p:sp>
      <p:sp>
        <p:nvSpPr>
          <p:cNvPr id="25" name="연결 실행 문구 1"/>
          <p:cNvSpPr txBox="1"/>
          <p:nvPr/>
        </p:nvSpPr>
        <p:spPr>
          <a:xfrm>
            <a:off x="9189720" y="4873752"/>
            <a:ext cx="2286000" cy="420624"/>
          </a:xfrm>
          <a:prstGeom prst="rect">
            <a:avLst/>
          </a:prstGeom>
          <a:noFill/>
          <a:ln/>
        </p:spPr>
        <p:txBody>
          <a:bodyPr wrap="square" lIns="0" tIns="0" rIns="0" bIns="0" rtlCol="0" anchor="ctr"/>
          <a:lstStyle/>
          <a:p>
            <a:pPr indent="0" marL="0">
              <a:buNone/>
            </a:pPr>
            <a:r>
              <a:rPr lang="en-US" sz="900" b="1" dirty="0">
                <a:solidFill>
                  <a:srgbClr val="182F48"/>
                </a:solidFill>
                <a:latin typeface="Noto Sans KR" pitchFamily="34" charset="0"/>
                <a:ea typeface="Noto Sans KR" pitchFamily="34" charset="-122"/>
                <a:cs typeface="Noto Sans KR" pitchFamily="34" charset="-120"/>
              </a:rPr>
              <a:t>퍼블릭 랩 데이: Test Lab·브랜드 스토리 무대</a:t>
            </a:r>
            <a:endParaRPr lang="en-US" sz="900" dirty="0"/>
          </a:p>
        </p:txBody>
      </p:sp>
      <p:sp>
        <p:nvSpPr>
          <p:cNvPr id="26" name="연결 배경 2"/>
          <p:cNvSpPr/>
          <p:nvPr/>
        </p:nvSpPr>
        <p:spPr>
          <a:xfrm>
            <a:off x="3383280" y="5349240"/>
            <a:ext cx="3246120" cy="420624"/>
          </a:xfrm>
          <a:prstGeom prst="roundRect">
            <a:avLst>
              <a:gd name="adj" fmla="val 13043"/>
            </a:avLst>
          </a:prstGeom>
          <a:solidFill>
            <a:srgbClr val="F1F5F9"/>
          </a:solidFill>
          <a:ln/>
        </p:spPr>
      </p:sp>
      <p:sp>
        <p:nvSpPr>
          <p:cNvPr id="27" name="연결 배경 문구 2"/>
          <p:cNvSpPr txBox="1"/>
          <p:nvPr/>
        </p:nvSpPr>
        <p:spPr>
          <a:xfrm>
            <a:off x="3474720" y="5349240"/>
            <a:ext cx="3063240" cy="420624"/>
          </a:xfrm>
          <a:prstGeom prst="rect">
            <a:avLst/>
          </a:prstGeom>
          <a:noFill/>
          <a:ln/>
        </p:spPr>
        <p:txBody>
          <a:bodyPr wrap="square" lIns="0" tIns="0" rIns="0" bIns="0" rtlCol="0" anchor="ctr"/>
          <a:lstStyle/>
          <a:p>
            <a:pPr indent="0" marL="0">
              <a:buNone/>
            </a:pPr>
            <a:r>
              <a:rPr lang="en-US" sz="900" dirty="0">
                <a:solidFill>
                  <a:srgbClr val="334155"/>
                </a:solidFill>
                <a:latin typeface="Noto Sans KR" pitchFamily="34" charset="0"/>
                <a:ea typeface="Noto Sans KR" pitchFamily="34" charset="-122"/>
                <a:cs typeface="Noto Sans KR" pitchFamily="34" charset="-120"/>
              </a:rPr>
              <a:t>배경 ② 해외 바이어 수요가 플랫폼별 쇼룸·팝업으로 분산</a:t>
            </a:r>
            <a:endParaRPr lang="en-US" sz="900" dirty="0"/>
          </a:p>
        </p:txBody>
      </p:sp>
      <p:sp>
        <p:nvSpPr>
          <p:cNvPr id="28" name="연결 화살표 A2"/>
          <p:cNvSpPr/>
          <p:nvPr/>
        </p:nvSpPr>
        <p:spPr>
          <a:xfrm>
            <a:off x="6656832" y="5559552"/>
            <a:ext cx="219456" cy="0"/>
          </a:xfrm>
          <a:prstGeom prst="line">
            <a:avLst/>
          </a:prstGeom>
          <a:noFill/>
          <a:ln w="19050">
            <a:solidFill>
              <a:srgbClr val="267D86"/>
            </a:solidFill>
            <a:prstDash val="solid"/>
            <a:tailEnd type="triangle"/>
          </a:ln>
        </p:spPr>
      </p:sp>
      <p:sp>
        <p:nvSpPr>
          <p:cNvPr id="29" name="연결 미션 2"/>
          <p:cNvSpPr/>
          <p:nvPr/>
        </p:nvSpPr>
        <p:spPr>
          <a:xfrm>
            <a:off x="6903720" y="5349240"/>
            <a:ext cx="1920240" cy="420624"/>
          </a:xfrm>
          <a:prstGeom prst="roundRect">
            <a:avLst>
              <a:gd name="adj" fmla="val 13043"/>
            </a:avLst>
          </a:prstGeom>
          <a:solidFill>
            <a:srgbClr val="EAF4F5"/>
          </a:solidFill>
          <a:ln/>
        </p:spPr>
      </p:sp>
      <p:sp>
        <p:nvSpPr>
          <p:cNvPr id="30" name="연결 미션 문구 2"/>
          <p:cNvSpPr txBox="1"/>
          <p:nvPr/>
        </p:nvSpPr>
        <p:spPr>
          <a:xfrm>
            <a:off x="6995160" y="5349240"/>
            <a:ext cx="1737360" cy="420624"/>
          </a:xfrm>
          <a:prstGeom prst="rect">
            <a:avLst/>
          </a:prstGeom>
          <a:noFill/>
          <a:ln/>
        </p:spPr>
        <p:txBody>
          <a:bodyPr wrap="square" lIns="0" tIns="0" rIns="0" bIns="0" rtlCol="0" anchor="ctr"/>
          <a:lstStyle/>
          <a:p>
            <a:pPr indent="0" marL="0">
              <a:buNone/>
            </a:pPr>
            <a:r>
              <a:rPr lang="en-US" sz="950" b="1" dirty="0">
                <a:solidFill>
                  <a:srgbClr val="267D86"/>
                </a:solidFill>
                <a:latin typeface="Noto Sans KR" pitchFamily="34" charset="0"/>
                <a:ea typeface="Noto Sans KR" pitchFamily="34" charset="-122"/>
                <a:cs typeface="Noto Sans KR" pitchFamily="34" charset="-120"/>
              </a:rPr>
              <a:t>미션 '맞는 바이어'</a:t>
            </a:r>
            <a:endParaRPr lang="en-US" sz="950" dirty="0"/>
          </a:p>
        </p:txBody>
      </p:sp>
      <p:sp>
        <p:nvSpPr>
          <p:cNvPr id="31" name="연결 화살표 B2"/>
          <p:cNvSpPr/>
          <p:nvPr/>
        </p:nvSpPr>
        <p:spPr>
          <a:xfrm>
            <a:off x="8851392" y="5559552"/>
            <a:ext cx="82296" cy="0"/>
          </a:xfrm>
          <a:prstGeom prst="line">
            <a:avLst/>
          </a:prstGeom>
          <a:noFill/>
          <a:ln w="19050">
            <a:solidFill>
              <a:srgbClr val="267D86"/>
            </a:solidFill>
            <a:prstDash val="solid"/>
            <a:tailEnd type="triangle"/>
          </a:ln>
        </p:spPr>
      </p:sp>
      <p:sp>
        <p:nvSpPr>
          <p:cNvPr id="32" name="연결 실행 2"/>
          <p:cNvSpPr/>
          <p:nvPr/>
        </p:nvSpPr>
        <p:spPr>
          <a:xfrm>
            <a:off x="9098280" y="5349240"/>
            <a:ext cx="2468880" cy="420624"/>
          </a:xfrm>
          <a:prstGeom prst="roundRect">
            <a:avLst>
              <a:gd name="adj" fmla="val 13043"/>
            </a:avLst>
          </a:prstGeom>
          <a:solidFill>
            <a:srgbClr val="FFFFFF"/>
          </a:solidFill>
          <a:ln w="9525">
            <a:solidFill>
              <a:srgbClr val="CBD5E1"/>
            </a:solidFill>
            <a:prstDash val="solid"/>
          </a:ln>
        </p:spPr>
      </p:sp>
      <p:sp>
        <p:nvSpPr>
          <p:cNvPr id="33" name="연결 실행 문구 2"/>
          <p:cNvSpPr txBox="1"/>
          <p:nvPr/>
        </p:nvSpPr>
        <p:spPr>
          <a:xfrm>
            <a:off x="9189720" y="5349240"/>
            <a:ext cx="2286000" cy="420624"/>
          </a:xfrm>
          <a:prstGeom prst="rect">
            <a:avLst/>
          </a:prstGeom>
          <a:noFill/>
          <a:ln/>
        </p:spPr>
        <p:txBody>
          <a:bodyPr wrap="square" lIns="0" tIns="0" rIns="0" bIns="0" rtlCol="0" anchor="ctr"/>
          <a:lstStyle/>
          <a:p>
            <a:pPr indent="0" marL="0">
              <a:buNone/>
            </a:pPr>
            <a:r>
              <a:rPr lang="en-US" sz="900" b="1" dirty="0">
                <a:solidFill>
                  <a:srgbClr val="182F48"/>
                </a:solidFill>
                <a:latin typeface="Noto Sans KR" pitchFamily="34" charset="0"/>
                <a:ea typeface="Noto Sans KR" pitchFamily="34" charset="-122"/>
                <a:cs typeface="Noto Sans KR" pitchFamily="34" charset="-120"/>
              </a:rPr>
              <a:t>트레이드 데이: 인증 바이어 1:1 매칭</a:t>
            </a:r>
            <a:endParaRPr lang="en-US" sz="900" dirty="0"/>
          </a:p>
        </p:txBody>
      </p:sp>
      <p:sp>
        <p:nvSpPr>
          <p:cNvPr id="34" name="연결 배경 3"/>
          <p:cNvSpPr/>
          <p:nvPr/>
        </p:nvSpPr>
        <p:spPr>
          <a:xfrm>
            <a:off x="3383280" y="5824728"/>
            <a:ext cx="3246120" cy="420624"/>
          </a:xfrm>
          <a:prstGeom prst="roundRect">
            <a:avLst>
              <a:gd name="adj" fmla="val 13043"/>
            </a:avLst>
          </a:prstGeom>
          <a:solidFill>
            <a:srgbClr val="F1F5F9"/>
          </a:solidFill>
          <a:ln/>
        </p:spPr>
      </p:sp>
      <p:sp>
        <p:nvSpPr>
          <p:cNvPr id="35" name="연결 배경 문구 3"/>
          <p:cNvSpPr txBox="1"/>
          <p:nvPr/>
        </p:nvSpPr>
        <p:spPr>
          <a:xfrm>
            <a:off x="3474720" y="5824728"/>
            <a:ext cx="3063240" cy="420624"/>
          </a:xfrm>
          <a:prstGeom prst="rect">
            <a:avLst/>
          </a:prstGeom>
          <a:noFill/>
          <a:ln/>
        </p:spPr>
        <p:txBody>
          <a:bodyPr wrap="square" lIns="0" tIns="0" rIns="0" bIns="0" rtlCol="0" anchor="ctr"/>
          <a:lstStyle/>
          <a:p>
            <a:pPr indent="0" marL="0">
              <a:buNone/>
            </a:pPr>
            <a:r>
              <a:rPr lang="en-US" sz="900" dirty="0">
                <a:solidFill>
                  <a:srgbClr val="334155"/>
                </a:solidFill>
                <a:latin typeface="Noto Sans KR" pitchFamily="34" charset="0"/>
                <a:ea typeface="Noto Sans KR" pitchFamily="34" charset="-122"/>
                <a:cs typeface="Noto Sans KR" pitchFamily="34" charset="-120"/>
              </a:rPr>
              <a:t>배경 ③ 해외가 K-고프코어를 찾음(무신사 도쿄 주문 3배) + 로드맵 2030 융합형 전시 확대</a:t>
            </a:r>
            <a:endParaRPr lang="en-US" sz="900" dirty="0"/>
          </a:p>
        </p:txBody>
      </p:sp>
      <p:sp>
        <p:nvSpPr>
          <p:cNvPr id="36" name="연결 화살표 A3"/>
          <p:cNvSpPr/>
          <p:nvPr/>
        </p:nvSpPr>
        <p:spPr>
          <a:xfrm>
            <a:off x="6656832" y="6035040"/>
            <a:ext cx="219456" cy="0"/>
          </a:xfrm>
          <a:prstGeom prst="line">
            <a:avLst/>
          </a:prstGeom>
          <a:noFill/>
          <a:ln w="19050">
            <a:solidFill>
              <a:srgbClr val="267D86"/>
            </a:solidFill>
            <a:prstDash val="solid"/>
            <a:tailEnd type="triangle"/>
          </a:ln>
        </p:spPr>
      </p:sp>
      <p:sp>
        <p:nvSpPr>
          <p:cNvPr id="37" name="연결 미션 3"/>
          <p:cNvSpPr/>
          <p:nvPr/>
        </p:nvSpPr>
        <p:spPr>
          <a:xfrm>
            <a:off x="6903720" y="5824728"/>
            <a:ext cx="1920240" cy="420624"/>
          </a:xfrm>
          <a:prstGeom prst="roundRect">
            <a:avLst>
              <a:gd name="adj" fmla="val 13043"/>
            </a:avLst>
          </a:prstGeom>
          <a:solidFill>
            <a:srgbClr val="EAF4F5"/>
          </a:solidFill>
          <a:ln/>
        </p:spPr>
      </p:sp>
      <p:sp>
        <p:nvSpPr>
          <p:cNvPr id="38" name="연결 미션 문구 3"/>
          <p:cNvSpPr txBox="1"/>
          <p:nvPr/>
        </p:nvSpPr>
        <p:spPr>
          <a:xfrm>
            <a:off x="6995160" y="5824728"/>
            <a:ext cx="1737360" cy="420624"/>
          </a:xfrm>
          <a:prstGeom prst="rect">
            <a:avLst/>
          </a:prstGeom>
          <a:noFill/>
          <a:ln/>
        </p:spPr>
        <p:txBody>
          <a:bodyPr wrap="square" lIns="0" tIns="0" rIns="0" bIns="0" rtlCol="0" anchor="ctr"/>
          <a:lstStyle/>
          <a:p>
            <a:pPr indent="0" marL="0">
              <a:buNone/>
            </a:pPr>
            <a:r>
              <a:rPr lang="en-US" sz="950" b="1" dirty="0">
                <a:solidFill>
                  <a:srgbClr val="267D86"/>
                </a:solidFill>
                <a:latin typeface="Noto Sans KR" pitchFamily="34" charset="0"/>
                <a:ea typeface="Noto Sans KR" pitchFamily="34" charset="-122"/>
                <a:cs typeface="Noto Sans KR" pitchFamily="34" charset="-120"/>
              </a:rPr>
              <a:t>비전 '아시아 대표 플랫폼'</a:t>
            </a:r>
            <a:endParaRPr lang="en-US" sz="950" dirty="0"/>
          </a:p>
        </p:txBody>
      </p:sp>
      <p:sp>
        <p:nvSpPr>
          <p:cNvPr id="39" name="연결 화살표 B3"/>
          <p:cNvSpPr/>
          <p:nvPr/>
        </p:nvSpPr>
        <p:spPr>
          <a:xfrm>
            <a:off x="8851392" y="6035040"/>
            <a:ext cx="82296" cy="0"/>
          </a:xfrm>
          <a:prstGeom prst="line">
            <a:avLst/>
          </a:prstGeom>
          <a:noFill/>
          <a:ln w="19050">
            <a:solidFill>
              <a:srgbClr val="267D86"/>
            </a:solidFill>
            <a:prstDash val="solid"/>
            <a:tailEnd type="triangle"/>
          </a:ln>
        </p:spPr>
      </p:sp>
      <p:sp>
        <p:nvSpPr>
          <p:cNvPr id="40" name="연결 실행 3"/>
          <p:cNvSpPr/>
          <p:nvPr/>
        </p:nvSpPr>
        <p:spPr>
          <a:xfrm>
            <a:off x="9098280" y="5824728"/>
            <a:ext cx="2468880" cy="420624"/>
          </a:xfrm>
          <a:prstGeom prst="roundRect">
            <a:avLst>
              <a:gd name="adj" fmla="val 13043"/>
            </a:avLst>
          </a:prstGeom>
          <a:solidFill>
            <a:srgbClr val="FFFFFF"/>
          </a:solidFill>
          <a:ln w="9525">
            <a:solidFill>
              <a:srgbClr val="CBD5E1"/>
            </a:solidFill>
            <a:prstDash val="solid"/>
          </a:ln>
        </p:spPr>
      </p:sp>
      <p:sp>
        <p:nvSpPr>
          <p:cNvPr id="41" name="연결 실행 문구 3"/>
          <p:cNvSpPr txBox="1"/>
          <p:nvPr/>
        </p:nvSpPr>
        <p:spPr>
          <a:xfrm>
            <a:off x="9189720" y="5824728"/>
            <a:ext cx="2286000" cy="420624"/>
          </a:xfrm>
          <a:prstGeom prst="rect">
            <a:avLst/>
          </a:prstGeom>
          <a:noFill/>
          <a:ln/>
        </p:spPr>
        <p:txBody>
          <a:bodyPr wrap="square" lIns="0" tIns="0" rIns="0" bIns="0" rtlCol="0" anchor="ctr"/>
          <a:lstStyle/>
          <a:p>
            <a:pPr indent="0" marL="0">
              <a:buNone/>
            </a:pPr>
            <a:r>
              <a:rPr lang="en-US" sz="900" b="1" dirty="0">
                <a:solidFill>
                  <a:srgbClr val="182F48"/>
                </a:solidFill>
                <a:latin typeface="Noto Sans KR" pitchFamily="34" charset="0"/>
                <a:ea typeface="Noto Sans KR" pitchFamily="34" charset="-122"/>
                <a:cs typeface="Noto Sans KR" pitchFamily="34" charset="-120"/>
              </a:rPr>
              <a:t>해외 바이어 비중 확대, 연례 개최</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3/6</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개최 목표 (Objective)</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이번 개최(제1회, 2027. 9. 30 ~ 10. 3)에서 달성할 목표 3가지 · SMART 기준</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출처: 서울특별시 보도자료(2025.2.27, 2025 F/W 서울패션위크 트레이드쇼 130개 브랜드·바이어 300여 명·수주상담 671만 달러) · 쿠키뉴스(2026.3.6, 캠핑앤피크닉페어 116개사) · 한국경제(2026.5.28, SPOEX 2026 300개사·4.7만 명) · 무신사 뉴스룸(2024.7.17) · BusinessWire(2023, FIELDSTYLE JAPAN 4.8만 명) · 참가업체 측 인터뷰(2026.10.17)</a:t>
            </a:r>
            <a:endParaRPr lang="en-US" sz="850" dirty="0"/>
          </a:p>
        </p:txBody>
      </p:sp>
      <p:sp>
        <p:nvSpPr>
          <p:cNvPr id="7" name="열 제목 달성할 내용"/>
          <p:cNvSpPr txBox="1"/>
          <p:nvPr/>
        </p:nvSpPr>
        <p:spPr>
          <a:xfrm>
            <a:off x="3383280" y="1874520"/>
            <a:ext cx="2697480" cy="274320"/>
          </a:xfrm>
          <a:prstGeom prst="rect">
            <a:avLst/>
          </a:prstGeom>
          <a:noFill/>
          <a:ln/>
        </p:spPr>
        <p:txBody>
          <a:bodyPr wrap="square" lIns="0" tIns="0" rIns="0" bIns="0" rtlCol="0" anchor="t"/>
          <a:lstStyle/>
          <a:p>
            <a:pPr indent="0" marL="0">
              <a:buNone/>
            </a:pPr>
            <a:r>
              <a:rPr lang="en-US" sz="1100" b="1" dirty="0">
                <a:solidFill>
                  <a:srgbClr val="267D86"/>
                </a:solidFill>
                <a:latin typeface="Noto Sans KR" pitchFamily="34" charset="0"/>
                <a:ea typeface="Noto Sans KR" pitchFamily="34" charset="-122"/>
                <a:cs typeface="Noto Sans KR" pitchFamily="34" charset="-120"/>
              </a:rPr>
              <a:t>달성할 내용</a:t>
            </a:r>
            <a:endParaRPr lang="en-US" sz="1100" dirty="0"/>
          </a:p>
        </p:txBody>
      </p:sp>
      <p:sp>
        <p:nvSpPr>
          <p:cNvPr id="8" name="열 제목 확인할 지표 · 방법"/>
          <p:cNvSpPr txBox="1"/>
          <p:nvPr/>
        </p:nvSpPr>
        <p:spPr>
          <a:xfrm>
            <a:off x="6172200" y="1874520"/>
            <a:ext cx="2606040" cy="274320"/>
          </a:xfrm>
          <a:prstGeom prst="rect">
            <a:avLst/>
          </a:prstGeom>
          <a:noFill/>
          <a:ln/>
        </p:spPr>
        <p:txBody>
          <a:bodyPr wrap="square" lIns="0" tIns="0" rIns="0" bIns="0" rtlCol="0" anchor="t"/>
          <a:lstStyle/>
          <a:p>
            <a:pPr indent="0" marL="0">
              <a:buNone/>
            </a:pPr>
            <a:r>
              <a:rPr lang="en-US" sz="1100" b="1" dirty="0">
                <a:solidFill>
                  <a:srgbClr val="267D86"/>
                </a:solidFill>
                <a:latin typeface="Noto Sans KR" pitchFamily="34" charset="0"/>
                <a:ea typeface="Noto Sans KR" pitchFamily="34" charset="-122"/>
                <a:cs typeface="Noto Sans KR" pitchFamily="34" charset="-120"/>
              </a:rPr>
              <a:t>확인할 지표 · 방법</a:t>
            </a:r>
            <a:endParaRPr lang="en-US" sz="1100" dirty="0"/>
          </a:p>
        </p:txBody>
      </p:sp>
      <p:sp>
        <p:nvSpPr>
          <p:cNvPr id="9" name="열 제목 설정 근거"/>
          <p:cNvSpPr txBox="1"/>
          <p:nvPr/>
        </p:nvSpPr>
        <p:spPr>
          <a:xfrm>
            <a:off x="8869680" y="1874520"/>
            <a:ext cx="2697480" cy="274320"/>
          </a:xfrm>
          <a:prstGeom prst="rect">
            <a:avLst/>
          </a:prstGeom>
          <a:noFill/>
          <a:ln/>
        </p:spPr>
        <p:txBody>
          <a:bodyPr wrap="square" lIns="0" tIns="0" rIns="0" bIns="0" rtlCol="0" anchor="t"/>
          <a:lstStyle/>
          <a:p>
            <a:pPr indent="0" marL="0">
              <a:buNone/>
            </a:pPr>
            <a:r>
              <a:rPr lang="en-US" sz="1100" b="1" dirty="0">
                <a:solidFill>
                  <a:srgbClr val="267D86"/>
                </a:solidFill>
                <a:latin typeface="Noto Sans KR" pitchFamily="34" charset="0"/>
                <a:ea typeface="Noto Sans KR" pitchFamily="34" charset="-122"/>
                <a:cs typeface="Noto Sans KR" pitchFamily="34" charset="-120"/>
              </a:rPr>
              <a:t>설정 근거</a:t>
            </a:r>
            <a:endParaRPr lang="en-US" sz="1100" dirty="0"/>
          </a:p>
        </p:txBody>
      </p:sp>
      <p:sp>
        <p:nvSpPr>
          <p:cNvPr id="10" name="열 제목 구분선"/>
          <p:cNvSpPr/>
          <p:nvPr/>
        </p:nvSpPr>
        <p:spPr>
          <a:xfrm>
            <a:off x="3383280" y="2176272"/>
            <a:ext cx="8183880" cy="0"/>
          </a:xfrm>
          <a:prstGeom prst="line">
            <a:avLst/>
          </a:prstGeom>
          <a:noFill/>
          <a:ln w="9525">
            <a:solidFill>
              <a:srgbClr val="CBD5E1"/>
            </a:solidFill>
            <a:prstDash val="solid"/>
          </a:ln>
        </p:spPr>
      </p:sp>
      <p:sp>
        <p:nvSpPr>
          <p:cNvPr id="11" name="라벨 목표 1"/>
          <p:cNvSpPr txBox="1"/>
          <p:nvPr/>
        </p:nvSpPr>
        <p:spPr>
          <a:xfrm>
            <a:off x="612648" y="2304288"/>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목표 1</a:t>
            </a:r>
            <a:endParaRPr lang="en-US" sz="1500" dirty="0"/>
          </a:p>
        </p:txBody>
      </p:sp>
      <p:sp>
        <p:nvSpPr>
          <p:cNvPr id="12" name="목표 분류 1"/>
          <p:cNvSpPr txBox="1"/>
          <p:nvPr/>
        </p:nvSpPr>
        <p:spPr>
          <a:xfrm>
            <a:off x="612648" y="2651760"/>
            <a:ext cx="2606040" cy="274320"/>
          </a:xfrm>
          <a:prstGeom prst="rect">
            <a:avLst/>
          </a:prstGeom>
          <a:noFill/>
          <a:ln/>
        </p:spPr>
        <p:txBody>
          <a:bodyPr wrap="square" lIns="0" tIns="0" rIns="0" bIns="0" rtlCol="0" anchor="t"/>
          <a:lstStyle/>
          <a:p>
            <a:pPr indent="0" marL="0">
              <a:buNone/>
            </a:pPr>
            <a:r>
              <a:rPr lang="en-US" sz="1200" b="1" dirty="0">
                <a:solidFill>
                  <a:srgbClr val="267D86"/>
                </a:solidFill>
                <a:latin typeface="Noto Sans KR" pitchFamily="34" charset="0"/>
                <a:ea typeface="Noto Sans KR" pitchFamily="34" charset="-122"/>
                <a:cs typeface="Noto Sans KR" pitchFamily="34" charset="-120"/>
              </a:rPr>
              <a:t>참가업체</a:t>
            </a:r>
            <a:endParaRPr lang="en-US" sz="1200" dirty="0"/>
          </a:p>
        </p:txBody>
      </p:sp>
      <p:sp>
        <p:nvSpPr>
          <p:cNvPr id="13" name="목표 1 내용 배경"/>
          <p:cNvSpPr/>
          <p:nvPr/>
        </p:nvSpPr>
        <p:spPr>
          <a:xfrm>
            <a:off x="3383280" y="2286000"/>
            <a:ext cx="2697480" cy="1216152"/>
          </a:xfrm>
          <a:prstGeom prst="roundRect">
            <a:avLst>
              <a:gd name="adj" fmla="val 4511"/>
            </a:avLst>
          </a:prstGeom>
          <a:solidFill>
            <a:srgbClr val="EAF4F5"/>
          </a:solidFill>
          <a:ln/>
        </p:spPr>
      </p:sp>
      <p:sp>
        <p:nvSpPr>
          <p:cNvPr id="14" name="목표 1 내용"/>
          <p:cNvSpPr txBox="1"/>
          <p:nvPr/>
        </p:nvSpPr>
        <p:spPr>
          <a:xfrm>
            <a:off x="3493008" y="2359152"/>
            <a:ext cx="2478024" cy="1097280"/>
          </a:xfrm>
          <a:prstGeom prst="rect">
            <a:avLst/>
          </a:prstGeom>
          <a:noFill/>
          <a:ln/>
        </p:spPr>
        <p:txBody>
          <a:bodyPr wrap="square" lIns="0" tIns="0" rIns="0" bIns="0" rtlCol="0" anchor="t"/>
          <a:lstStyle/>
          <a:p>
            <a:pPr indent="0" marL="0">
              <a:spcAft>
                <a:spcPts val="300"/>
              </a:spcAft>
              <a:buNone/>
            </a:pPr>
            <a:r>
              <a:rPr lang="en-US" sz="1500" b="1" dirty="0">
                <a:solidFill>
                  <a:srgbClr val="182F48"/>
                </a:solidFill>
                <a:latin typeface="Noto Sans KR" pitchFamily="34" charset="0"/>
                <a:ea typeface="Noto Sans KR" pitchFamily="34" charset="-122"/>
                <a:cs typeface="Noto Sans KR" pitchFamily="34" charset="-120"/>
              </a:rPr>
              <a:t>120개사 · 200부스</a:t>
            </a:r>
            <a:endParaRPr lang="en-US" sz="150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고프코어 패션 브랜드 유치 (신진 K-브랜드 60개사 이상)</a:t>
            </a:r>
            <a:endParaRPr lang="en-US" sz="150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 2029년 3회차 300개사(2.5배)로 성장</a:t>
            </a:r>
            <a:endParaRPr lang="en-US" sz="1500" dirty="0"/>
          </a:p>
        </p:txBody>
      </p:sp>
      <p:sp>
        <p:nvSpPr>
          <p:cNvPr id="15" name="목표 1 지표 배경"/>
          <p:cNvSpPr/>
          <p:nvPr/>
        </p:nvSpPr>
        <p:spPr>
          <a:xfrm>
            <a:off x="6172200" y="2286000"/>
            <a:ext cx="2606040" cy="1216152"/>
          </a:xfrm>
          <a:prstGeom prst="roundRect">
            <a:avLst>
              <a:gd name="adj" fmla="val 4511"/>
            </a:avLst>
          </a:prstGeom>
          <a:solidFill>
            <a:srgbClr val="F1F5F9"/>
          </a:solidFill>
          <a:ln/>
        </p:spPr>
      </p:sp>
      <p:sp>
        <p:nvSpPr>
          <p:cNvPr id="16" name="목표 1 지표"/>
          <p:cNvSpPr txBox="1"/>
          <p:nvPr/>
        </p:nvSpPr>
        <p:spPr>
          <a:xfrm>
            <a:off x="6281928" y="2377440"/>
            <a:ext cx="2386584" cy="1051560"/>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부스 계약서 기준 업체 수·부스 수와 카테고리 구성비</a:t>
            </a:r>
            <a:endParaRPr lang="en-US" sz="950" dirty="0"/>
          </a:p>
          <a:p>
            <a:pPr indent="0" marL="0">
              <a:buNone/>
            </a:pPr>
            <a:r>
              <a:rPr lang="en-US" sz="950" dirty="0">
                <a:solidFill>
                  <a:srgbClr val="334155"/>
                </a:solidFill>
                <a:latin typeface="Noto Sans KR" pitchFamily="34" charset="0"/>
                <a:ea typeface="Noto Sans KR" pitchFamily="34" charset="-122"/>
                <a:cs typeface="Noto Sans KR" pitchFamily="34" charset="-120"/>
              </a:rPr>
              <a:t>→ 2027.8월 모집 마감 시점 확인, 회차별 비교</a:t>
            </a:r>
            <a:endParaRPr lang="en-US" sz="950" dirty="0"/>
          </a:p>
        </p:txBody>
      </p:sp>
      <p:sp>
        <p:nvSpPr>
          <p:cNvPr id="17" name="목표 1 근거 배경"/>
          <p:cNvSpPr/>
          <p:nvPr/>
        </p:nvSpPr>
        <p:spPr>
          <a:xfrm>
            <a:off x="8869680" y="2286000"/>
            <a:ext cx="2697480" cy="1216152"/>
          </a:xfrm>
          <a:prstGeom prst="roundRect">
            <a:avLst>
              <a:gd name="adj" fmla="val 4511"/>
            </a:avLst>
          </a:prstGeom>
          <a:solidFill>
            <a:srgbClr val="FFFFFF"/>
          </a:solidFill>
          <a:ln w="9525">
            <a:solidFill>
              <a:srgbClr val="CBD5E1"/>
            </a:solidFill>
            <a:prstDash val="solid"/>
          </a:ln>
        </p:spPr>
      </p:sp>
      <p:sp>
        <p:nvSpPr>
          <p:cNvPr id="18" name="목표 1 근거"/>
          <p:cNvSpPr txBox="1"/>
          <p:nvPr/>
        </p:nvSpPr>
        <p:spPr>
          <a:xfrm>
            <a:off x="8979408" y="2377440"/>
            <a:ext cx="2478024" cy="1051560"/>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서울패션위크 트레이드쇼 130개 브랜드, 캠핑앤피크닉페어 116개사 → 단일 카테고리 첫 회에 달성 가능한 규모. 3회차 목표는 SPOEX(300개사) 수준</a:t>
            </a:r>
            <a:endParaRPr lang="en-US" sz="950" dirty="0"/>
          </a:p>
        </p:txBody>
      </p:sp>
      <p:sp>
        <p:nvSpPr>
          <p:cNvPr id="19" name="라벨 목표 2"/>
          <p:cNvSpPr txBox="1"/>
          <p:nvPr/>
        </p:nvSpPr>
        <p:spPr>
          <a:xfrm>
            <a:off x="612648" y="3648456"/>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목표 2</a:t>
            </a:r>
            <a:endParaRPr lang="en-US" sz="1500" dirty="0"/>
          </a:p>
        </p:txBody>
      </p:sp>
      <p:sp>
        <p:nvSpPr>
          <p:cNvPr id="20" name="목표 분류 2"/>
          <p:cNvSpPr txBox="1"/>
          <p:nvPr/>
        </p:nvSpPr>
        <p:spPr>
          <a:xfrm>
            <a:off x="612648" y="3995928"/>
            <a:ext cx="2606040" cy="274320"/>
          </a:xfrm>
          <a:prstGeom prst="rect">
            <a:avLst/>
          </a:prstGeom>
          <a:noFill/>
          <a:ln/>
        </p:spPr>
        <p:txBody>
          <a:bodyPr wrap="square" lIns="0" tIns="0" rIns="0" bIns="0" rtlCol="0" anchor="t"/>
          <a:lstStyle/>
          <a:p>
            <a:pPr indent="0" marL="0">
              <a:buNone/>
            </a:pPr>
            <a:r>
              <a:rPr lang="en-US" sz="1200" b="1" dirty="0">
                <a:solidFill>
                  <a:srgbClr val="267D86"/>
                </a:solidFill>
                <a:latin typeface="Noto Sans KR" pitchFamily="34" charset="0"/>
                <a:ea typeface="Noto Sans KR" pitchFamily="34" charset="-122"/>
                <a:cs typeface="Noto Sans KR" pitchFamily="34" charset="-120"/>
              </a:rPr>
              <a:t>거래 성과</a:t>
            </a:r>
            <a:endParaRPr lang="en-US" sz="1200" dirty="0"/>
          </a:p>
        </p:txBody>
      </p:sp>
      <p:sp>
        <p:nvSpPr>
          <p:cNvPr id="21" name="목표 2 내용 배경"/>
          <p:cNvSpPr/>
          <p:nvPr/>
        </p:nvSpPr>
        <p:spPr>
          <a:xfrm>
            <a:off x="3383280" y="3630168"/>
            <a:ext cx="2697480" cy="1216152"/>
          </a:xfrm>
          <a:prstGeom prst="roundRect">
            <a:avLst>
              <a:gd name="adj" fmla="val 4511"/>
            </a:avLst>
          </a:prstGeom>
          <a:solidFill>
            <a:srgbClr val="EAF4F5"/>
          </a:solidFill>
          <a:ln/>
        </p:spPr>
      </p:sp>
      <p:sp>
        <p:nvSpPr>
          <p:cNvPr id="22" name="목표 2 내용"/>
          <p:cNvSpPr txBox="1"/>
          <p:nvPr/>
        </p:nvSpPr>
        <p:spPr>
          <a:xfrm>
            <a:off x="3493008" y="3703320"/>
            <a:ext cx="2478024" cy="1097280"/>
          </a:xfrm>
          <a:prstGeom prst="rect">
            <a:avLst/>
          </a:prstGeom>
          <a:noFill/>
          <a:ln/>
        </p:spPr>
        <p:txBody>
          <a:bodyPr wrap="square" lIns="0" tIns="0" rIns="0" bIns="0" rtlCol="0" anchor="t"/>
          <a:lstStyle/>
          <a:p>
            <a:pPr indent="0" marL="0">
              <a:spcAft>
                <a:spcPts val="300"/>
              </a:spcAft>
              <a:buNone/>
            </a:pPr>
            <a:r>
              <a:rPr lang="en-US" sz="1500" b="1" dirty="0">
                <a:solidFill>
                  <a:srgbClr val="182F48"/>
                </a:solidFill>
                <a:latin typeface="Noto Sans KR" pitchFamily="34" charset="0"/>
                <a:ea typeface="Noto Sans KR" pitchFamily="34" charset="-122"/>
                <a:cs typeface="Noto Sans KR" pitchFamily="34" charset="-120"/>
              </a:rPr>
              <a:t>수주상담 700만 달러</a:t>
            </a:r>
            <a:endParaRPr lang="en-US" sz="150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사전 인증 바이어 300명(해외 100명)</a:t>
            </a:r>
            <a:endParaRPr lang="en-US" sz="150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1:1 매칭 상담 1,200건(브랜드당 10건)</a:t>
            </a:r>
            <a:endParaRPr lang="en-US" sz="1500" dirty="0"/>
          </a:p>
        </p:txBody>
      </p:sp>
      <p:sp>
        <p:nvSpPr>
          <p:cNvPr id="23" name="목표 2 지표 배경"/>
          <p:cNvSpPr/>
          <p:nvPr/>
        </p:nvSpPr>
        <p:spPr>
          <a:xfrm>
            <a:off x="6172200" y="3630168"/>
            <a:ext cx="2606040" cy="1216152"/>
          </a:xfrm>
          <a:prstGeom prst="roundRect">
            <a:avLst>
              <a:gd name="adj" fmla="val 4511"/>
            </a:avLst>
          </a:prstGeom>
          <a:solidFill>
            <a:srgbClr val="F1F5F9"/>
          </a:solidFill>
          <a:ln/>
        </p:spPr>
      </p:sp>
      <p:sp>
        <p:nvSpPr>
          <p:cNvPr id="24" name="목표 2 지표"/>
          <p:cNvSpPr txBox="1"/>
          <p:nvPr/>
        </p:nvSpPr>
        <p:spPr>
          <a:xfrm>
            <a:off x="6281928" y="3721608"/>
            <a:ext cx="2386584" cy="1051560"/>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바이어 등록·자격심사 DB, 매칭 시스템 상담 로그, 상담일지 집계</a:t>
            </a:r>
            <a:endParaRPr lang="en-US" sz="950" dirty="0"/>
          </a:p>
          <a:p>
            <a:pPr indent="0" marL="0">
              <a:buNone/>
            </a:pPr>
            <a:r>
              <a:rPr lang="en-US" sz="950" dirty="0">
                <a:solidFill>
                  <a:srgbClr val="334155"/>
                </a:solidFill>
                <a:latin typeface="Noto Sans KR" pitchFamily="34" charset="0"/>
                <a:ea typeface="Noto Sans KR" pitchFamily="34" charset="-122"/>
                <a:cs typeface="Noto Sans KR" pitchFamily="34" charset="-120"/>
              </a:rPr>
              <a:t>→ 폐막 3개월 후 계약 전환율 추적</a:t>
            </a:r>
            <a:endParaRPr lang="en-US" sz="950" dirty="0"/>
          </a:p>
        </p:txBody>
      </p:sp>
      <p:sp>
        <p:nvSpPr>
          <p:cNvPr id="25" name="목표 2 근거 배경"/>
          <p:cNvSpPr/>
          <p:nvPr/>
        </p:nvSpPr>
        <p:spPr>
          <a:xfrm>
            <a:off x="8869680" y="3630168"/>
            <a:ext cx="2697480" cy="1216152"/>
          </a:xfrm>
          <a:prstGeom prst="roundRect">
            <a:avLst>
              <a:gd name="adj" fmla="val 4511"/>
            </a:avLst>
          </a:prstGeom>
          <a:solidFill>
            <a:srgbClr val="FFFFFF"/>
          </a:solidFill>
          <a:ln w="9525">
            <a:solidFill>
              <a:srgbClr val="CBD5E1"/>
            </a:solidFill>
            <a:prstDash val="solid"/>
          </a:ln>
        </p:spPr>
      </p:sp>
      <p:sp>
        <p:nvSpPr>
          <p:cNvPr id="26" name="목표 2 근거"/>
          <p:cNvSpPr txBox="1"/>
          <p:nvPr/>
        </p:nvSpPr>
        <p:spPr>
          <a:xfrm>
            <a:off x="8979408" y="3721608"/>
            <a:ext cx="2478024" cy="1051560"/>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서울패션위크 트레이드쇼 바이어 300명·수주상담 671만 달러(2025 F/W), 무신사 도쿄 쇼룸 해외 바이어 200명+. 거래 성과가 없으면 참가업체가 재참가하지 않아 전시회가 존속할 수 없음</a:t>
            </a:r>
            <a:endParaRPr lang="en-US" sz="950" dirty="0"/>
          </a:p>
        </p:txBody>
      </p:sp>
      <p:sp>
        <p:nvSpPr>
          <p:cNvPr id="27" name="라벨 목표 3"/>
          <p:cNvSpPr txBox="1"/>
          <p:nvPr/>
        </p:nvSpPr>
        <p:spPr>
          <a:xfrm>
            <a:off x="612648" y="4992624"/>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목표 3</a:t>
            </a:r>
            <a:endParaRPr lang="en-US" sz="1500" dirty="0"/>
          </a:p>
        </p:txBody>
      </p:sp>
      <p:sp>
        <p:nvSpPr>
          <p:cNvPr id="28" name="목표 분류 3"/>
          <p:cNvSpPr txBox="1"/>
          <p:nvPr/>
        </p:nvSpPr>
        <p:spPr>
          <a:xfrm>
            <a:off x="612648" y="5340096"/>
            <a:ext cx="2606040" cy="274320"/>
          </a:xfrm>
          <a:prstGeom prst="rect">
            <a:avLst/>
          </a:prstGeom>
          <a:noFill/>
          <a:ln/>
        </p:spPr>
        <p:txBody>
          <a:bodyPr wrap="square" lIns="0" tIns="0" rIns="0" bIns="0" rtlCol="0" anchor="t"/>
          <a:lstStyle/>
          <a:p>
            <a:pPr indent="0" marL="0">
              <a:buNone/>
            </a:pPr>
            <a:r>
              <a:rPr lang="en-US" sz="1200" b="1" dirty="0">
                <a:solidFill>
                  <a:srgbClr val="267D86"/>
                </a:solidFill>
                <a:latin typeface="Noto Sans KR" pitchFamily="34" charset="0"/>
                <a:ea typeface="Noto Sans KR" pitchFamily="34" charset="-122"/>
                <a:cs typeface="Noto Sans KR" pitchFamily="34" charset="-120"/>
              </a:rPr>
              <a:t>관심 고객 경험</a:t>
            </a:r>
            <a:endParaRPr lang="en-US" sz="1200" dirty="0"/>
          </a:p>
        </p:txBody>
      </p:sp>
      <p:sp>
        <p:nvSpPr>
          <p:cNvPr id="29" name="목표 3 내용 배경"/>
          <p:cNvSpPr/>
          <p:nvPr/>
        </p:nvSpPr>
        <p:spPr>
          <a:xfrm>
            <a:off x="3383280" y="4974336"/>
            <a:ext cx="2697480" cy="1216152"/>
          </a:xfrm>
          <a:prstGeom prst="roundRect">
            <a:avLst>
              <a:gd name="adj" fmla="val 4511"/>
            </a:avLst>
          </a:prstGeom>
          <a:solidFill>
            <a:srgbClr val="EAF4F5"/>
          </a:solidFill>
          <a:ln/>
        </p:spPr>
      </p:sp>
      <p:sp>
        <p:nvSpPr>
          <p:cNvPr id="30" name="목표 3 내용"/>
          <p:cNvSpPr txBox="1"/>
          <p:nvPr/>
        </p:nvSpPr>
        <p:spPr>
          <a:xfrm>
            <a:off x="3493008" y="5047488"/>
            <a:ext cx="2478024" cy="1097280"/>
          </a:xfrm>
          <a:prstGeom prst="rect">
            <a:avLst/>
          </a:prstGeom>
          <a:noFill/>
          <a:ln/>
        </p:spPr>
        <p:txBody>
          <a:bodyPr wrap="square" lIns="0" tIns="0" rIns="0" bIns="0" rtlCol="0" anchor="t"/>
          <a:lstStyle/>
          <a:p>
            <a:pPr indent="0" marL="0">
              <a:spcAft>
                <a:spcPts val="300"/>
              </a:spcAft>
              <a:buNone/>
            </a:pPr>
            <a:r>
              <a:rPr lang="en-US" sz="1500" b="1" dirty="0">
                <a:solidFill>
                  <a:srgbClr val="182F48"/>
                </a:solidFill>
                <a:latin typeface="Noto Sans KR" pitchFamily="34" charset="0"/>
                <a:ea typeface="Noto Sans KR" pitchFamily="34" charset="-122"/>
                <a:cs typeface="Noto Sans KR" pitchFamily="34" charset="-120"/>
              </a:rPr>
              <a:t>사전등록 2만 명</a:t>
            </a:r>
            <a:endParaRPr lang="en-US" sz="150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Test Lab(방수 샤워부스·얼음 바닥) 체험률 50% 이상</a:t>
            </a:r>
            <a:endParaRPr lang="en-US" sz="1500" dirty="0"/>
          </a:p>
          <a:p>
            <a:pPr indent="0" marL="0">
              <a:spcAft>
                <a:spcPts val="300"/>
              </a:spcAft>
              <a:buNone/>
            </a:pPr>
            <a:r>
              <a:rPr lang="en-US" sz="950" dirty="0">
                <a:solidFill>
                  <a:srgbClr val="334155"/>
                </a:solidFill>
                <a:latin typeface="Noto Sans KR" pitchFamily="34" charset="0"/>
                <a:ea typeface="Noto Sans KR" pitchFamily="34" charset="-122"/>
                <a:cs typeface="Noto Sans KR" pitchFamily="34" charset="-120"/>
              </a:rPr>
              <a:t>참가업체 '고객 반응' 만족도 4.0/5 이상</a:t>
            </a:r>
            <a:endParaRPr lang="en-US" sz="1500" dirty="0"/>
          </a:p>
        </p:txBody>
      </p:sp>
      <p:sp>
        <p:nvSpPr>
          <p:cNvPr id="31" name="목표 3 지표 배경"/>
          <p:cNvSpPr/>
          <p:nvPr/>
        </p:nvSpPr>
        <p:spPr>
          <a:xfrm>
            <a:off x="6172200" y="4974336"/>
            <a:ext cx="2606040" cy="1216152"/>
          </a:xfrm>
          <a:prstGeom prst="roundRect">
            <a:avLst>
              <a:gd name="adj" fmla="val 4511"/>
            </a:avLst>
          </a:prstGeom>
          <a:solidFill>
            <a:srgbClr val="F1F5F9"/>
          </a:solidFill>
          <a:ln/>
        </p:spPr>
      </p:sp>
      <p:sp>
        <p:nvSpPr>
          <p:cNvPr id="32" name="목표 3 지표"/>
          <p:cNvSpPr txBox="1"/>
          <p:nvPr/>
        </p:nvSpPr>
        <p:spPr>
          <a:xfrm>
            <a:off x="6281928" y="5065776"/>
            <a:ext cx="2386584" cy="1051560"/>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관심사 프로필 사전등록, 체험존 QR 체크인 로그, 폐막 후 참가업체 설문</a:t>
            </a:r>
            <a:endParaRPr lang="en-US" sz="950" dirty="0"/>
          </a:p>
          <a:p>
            <a:pPr indent="0" marL="0">
              <a:buNone/>
            </a:pPr>
            <a:r>
              <a:rPr lang="en-US" sz="950" dirty="0">
                <a:solidFill>
                  <a:srgbClr val="334155"/>
                </a:solidFill>
                <a:latin typeface="Noto Sans KR" pitchFamily="34" charset="0"/>
                <a:ea typeface="Noto Sans KR" pitchFamily="34" charset="-122"/>
                <a:cs typeface="Noto Sans KR" pitchFamily="34" charset="-120"/>
              </a:rPr>
              <a:t>→ 브랜드별 고객 반응 리포트 제공</a:t>
            </a:r>
            <a:endParaRPr lang="en-US" sz="950" dirty="0"/>
          </a:p>
        </p:txBody>
      </p:sp>
      <p:sp>
        <p:nvSpPr>
          <p:cNvPr id="33" name="목표 3 근거 배경"/>
          <p:cNvSpPr/>
          <p:nvPr/>
        </p:nvSpPr>
        <p:spPr>
          <a:xfrm>
            <a:off x="8869680" y="4974336"/>
            <a:ext cx="2697480" cy="1216152"/>
          </a:xfrm>
          <a:prstGeom prst="roundRect">
            <a:avLst>
              <a:gd name="adj" fmla="val 4511"/>
            </a:avLst>
          </a:prstGeom>
          <a:solidFill>
            <a:srgbClr val="FFFFFF"/>
          </a:solidFill>
          <a:ln w="9525">
            <a:solidFill>
              <a:srgbClr val="CBD5E1"/>
            </a:solidFill>
            <a:prstDash val="solid"/>
          </a:ln>
        </p:spPr>
      </p:sp>
      <p:sp>
        <p:nvSpPr>
          <p:cNvPr id="34" name="목표 3 근거"/>
          <p:cNvSpPr txBox="1"/>
          <p:nvPr/>
        </p:nvSpPr>
        <p:spPr>
          <a:xfrm>
            <a:off x="8979408" y="5065776"/>
            <a:ext cx="2478024" cy="1051560"/>
          </a:xfrm>
          <a:prstGeom prst="rect">
            <a:avLst/>
          </a:prstGeom>
          <a:noFill/>
          <a:ln/>
        </p:spPr>
        <p:txBody>
          <a:bodyPr wrap="square" lIns="0" tIns="0" rIns="0" bIns="0" rtlCol="0" anchor="t"/>
          <a:lstStyle/>
          <a:p>
            <a:pPr indent="0" marL="0">
              <a:buNone/>
            </a:pPr>
            <a:r>
              <a:rPr lang="en-US" sz="950" dirty="0">
                <a:solidFill>
                  <a:srgbClr val="334155"/>
                </a:solidFill>
                <a:latin typeface="Noto Sans KR" pitchFamily="34" charset="0"/>
                <a:ea typeface="Noto Sans KR" pitchFamily="34" charset="-122"/>
                <a:cs typeface="Noto Sans KR" pitchFamily="34" charset="-120"/>
              </a:rPr>
              <a:t>인터뷰: "고객의 반응이겠죠", "관심 깊게 들어주는 고객들이 필요". FIELDSTYLE(일본) 2일 4.8만 명, SPOEX 4일 4.7만 명 → 2일 2만 명은 보수적</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4/6</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산업 밸류체인 지도</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고프코어 패션 산업의 흐름에서 전시회가 다룰 범위</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출처: 더구루(2026)·머니투데이(2018, 영원무역 OEM·노스페이스 유통) · 유안타증권(2024, 감성코퍼레이션) · 뉴데일리(2025.9.11) · Houyhnhnm·END.(케일) · 바이라인네트워크(2023, 무신사 로지스틱스) · 이투데이(2025, CJ대한통운 더 풀필) · 스마트투데이(2025, 프리뷰 인 서울) · 데일리안(FITI) · 산에이(2025, GO OUT KOREA)</a:t>
            </a:r>
            <a:endParaRPr lang="en-US" sz="850" dirty="0"/>
          </a:p>
        </p:txBody>
      </p:sp>
      <p:sp>
        <p:nvSpPr>
          <p:cNvPr id="7" name="라벨 밸류체인 지도 작성"/>
          <p:cNvSpPr txBox="1"/>
          <p:nvPr/>
        </p:nvSpPr>
        <p:spPr>
          <a:xfrm>
            <a:off x="612648" y="1847088"/>
            <a:ext cx="2606040" cy="32004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밸류체인 지도 작성</a:t>
            </a:r>
            <a:endParaRPr lang="en-US" sz="1500" dirty="0"/>
          </a:p>
        </p:txBody>
      </p:sp>
      <p:sp>
        <p:nvSpPr>
          <p:cNvPr id="8" name="지도 범례"/>
          <p:cNvSpPr txBox="1"/>
          <p:nvPr/>
        </p:nvSpPr>
        <p:spPr>
          <a:xfrm>
            <a:off x="3383280" y="1874520"/>
            <a:ext cx="8183880" cy="292608"/>
          </a:xfrm>
          <a:prstGeom prst="rect">
            <a:avLst/>
          </a:prstGeom>
          <a:noFill/>
          <a:ln/>
        </p:spPr>
        <p:txBody>
          <a:bodyPr wrap="square" lIns="0" tIns="0" rIns="0" bIns="0" rtlCol="0" anchor="ctr"/>
          <a:lstStyle/>
          <a:p>
            <a:pPr indent="0" marL="0">
              <a:buNone/>
            </a:pPr>
            <a:r>
              <a:rPr lang="en-US" sz="1100" b="1" dirty="0">
                <a:solidFill>
                  <a:srgbClr val="64748B"/>
                </a:solidFill>
                <a:latin typeface="Noto Sans KR" pitchFamily="34" charset="0"/>
                <a:ea typeface="Noto Sans KR" pitchFamily="34" charset="-122"/>
                <a:cs typeface="Noto Sans KR" pitchFamily="34" charset="-120"/>
              </a:rPr>
              <a:t>제품 </a:t>
            </a:r>
            <a:pPr indent="0" marL="0">
              <a:buNone/>
            </a:pPr>
            <a:r>
              <a:rPr lang="en-US" sz="1100" dirty="0">
                <a:solidFill>
                  <a:srgbClr val="334155"/>
                </a:solidFill>
                <a:latin typeface="Noto Sans KR" pitchFamily="34" charset="0"/>
                <a:ea typeface="Noto Sans KR" pitchFamily="34" charset="-122"/>
                <a:cs typeface="Noto Sans KR" pitchFamily="34" charset="-120"/>
              </a:rPr>
              <a:t>→ 소재에서 소비자로,  </a:t>
            </a:r>
            <a:pPr indent="0" marL="0">
              <a:buNone/>
            </a:pPr>
            <a:r>
              <a:rPr lang="en-US" sz="1100" b="1" dirty="0">
                <a:solidFill>
                  <a:srgbClr val="C2410C"/>
                </a:solidFill>
                <a:latin typeface="Noto Sans KR" pitchFamily="34" charset="0"/>
                <a:ea typeface="Noto Sans KR" pitchFamily="34" charset="-122"/>
                <a:cs typeface="Noto Sans KR" pitchFamily="34" charset="-120"/>
              </a:rPr>
              <a:t>돈 </a:t>
            </a:r>
            <a:pPr indent="0" marL="0">
              <a:buNone/>
            </a:pPr>
            <a:r>
              <a:rPr lang="en-US" sz="1100" dirty="0">
                <a:solidFill>
                  <a:srgbClr val="334155"/>
                </a:solidFill>
                <a:latin typeface="Noto Sans KR" pitchFamily="34" charset="0"/>
                <a:ea typeface="Noto Sans KR" pitchFamily="34" charset="-122"/>
                <a:cs typeface="Noto Sans KR" pitchFamily="34" charset="-120"/>
              </a:rPr>
              <a:t>← 소비자에서 소재로 흐른다.  </a:t>
            </a:r>
            <a:pPr indent="0" marL="0">
              <a:buNone/>
            </a:pPr>
            <a:r>
              <a:rPr lang="en-US" sz="1100" b="1" dirty="0">
                <a:solidFill>
                  <a:srgbClr val="267D86"/>
                </a:solidFill>
                <a:latin typeface="Noto Sans KR" pitchFamily="34" charset="0"/>
                <a:ea typeface="Noto Sans KR" pitchFamily="34" charset="-122"/>
                <a:cs typeface="Noto Sans KR" pitchFamily="34" charset="-120"/>
              </a:rPr>
              <a:t>점선 = 전시회가 다룰 범위</a:t>
            </a:r>
            <a:endParaRPr lang="en-US" sz="1100" dirty="0"/>
          </a:p>
        </p:txBody>
      </p:sp>
      <p:sp>
        <p:nvSpPr>
          <p:cNvPr id="9" name="전시 핵심 범위"/>
          <p:cNvSpPr/>
          <p:nvPr/>
        </p:nvSpPr>
        <p:spPr>
          <a:xfrm>
            <a:off x="5010912" y="2487168"/>
            <a:ext cx="6629400" cy="1691640"/>
          </a:xfrm>
          <a:prstGeom prst="rect">
            <a:avLst/>
          </a:prstGeom>
          <a:solidFill>
            <a:srgbClr val="EAF4F5"/>
          </a:solidFill>
          <a:ln w="19050">
            <a:solidFill>
              <a:srgbClr val="267D86"/>
            </a:solidFill>
            <a:prstDash val="dash"/>
          </a:ln>
        </p:spPr>
      </p:sp>
      <p:sp>
        <p:nvSpPr>
          <p:cNvPr id="10" name="소재 랩 부분 범위"/>
          <p:cNvSpPr/>
          <p:nvPr/>
        </p:nvSpPr>
        <p:spPr>
          <a:xfrm>
            <a:off x="557784" y="2523744"/>
            <a:ext cx="2121408" cy="1618488"/>
          </a:xfrm>
          <a:prstGeom prst="rect">
            <a:avLst/>
          </a:prstGeom>
          <a:solidFill>
            <a:srgbClr val="FFFFFF">
              <a:alpha val="0"/>
            </a:srgbClr>
          </a:solidFill>
          <a:ln w="12700">
            <a:solidFill>
              <a:srgbClr val="267D86"/>
            </a:solidFill>
            <a:prstDash val="sysDot"/>
          </a:ln>
        </p:spPr>
      </p:sp>
      <p:sp>
        <p:nvSpPr>
          <p:cNvPr id="11" name="핵심 범위 라벨"/>
          <p:cNvSpPr txBox="1"/>
          <p:nvPr/>
        </p:nvSpPr>
        <p:spPr>
          <a:xfrm>
            <a:off x="5084064" y="2231136"/>
            <a:ext cx="6483096" cy="237744"/>
          </a:xfrm>
          <a:prstGeom prst="rect">
            <a:avLst/>
          </a:prstGeom>
          <a:noFill/>
          <a:ln/>
        </p:spPr>
        <p:txBody>
          <a:bodyPr wrap="square" lIns="0" tIns="0" rIns="0" bIns="0" rtlCol="0" anchor="ctr"/>
          <a:lstStyle/>
          <a:p>
            <a:pPr algn="ctr" indent="0" marL="0">
              <a:buNone/>
            </a:pPr>
            <a:r>
              <a:rPr lang="en-US" sz="950" b="1" dirty="0">
                <a:solidFill>
                  <a:srgbClr val="267D86"/>
                </a:solidFill>
                <a:latin typeface="Noto Sans KR" pitchFamily="34" charset="0"/>
                <a:ea typeface="Noto Sans KR" pitchFamily="34" charset="-122"/>
                <a:cs typeface="Noto Sans KR" pitchFamily="34" charset="-120"/>
              </a:rPr>
              <a:t>GFF SEOUL 핵심 범위 (트레이드 데이 ③↔④ · 퍼블릭 랩 데이 ③↔⑤)</a:t>
            </a:r>
            <a:endParaRPr lang="en-US" sz="950" dirty="0"/>
          </a:p>
        </p:txBody>
      </p:sp>
      <p:sp>
        <p:nvSpPr>
          <p:cNvPr id="12" name="소재 랩 라벨"/>
          <p:cNvSpPr txBox="1"/>
          <p:nvPr/>
        </p:nvSpPr>
        <p:spPr>
          <a:xfrm>
            <a:off x="612648" y="2231136"/>
            <a:ext cx="2011680" cy="237744"/>
          </a:xfrm>
          <a:prstGeom prst="rect">
            <a:avLst/>
          </a:prstGeom>
          <a:noFill/>
          <a:ln/>
        </p:spPr>
        <p:txBody>
          <a:bodyPr wrap="square" lIns="0" tIns="0" rIns="0" bIns="0" rtlCol="0" anchor="ctr"/>
          <a:lstStyle/>
          <a:p>
            <a:pPr algn="ctr" indent="0" marL="0">
              <a:buNone/>
            </a:pPr>
            <a:r>
              <a:rPr lang="en-US" sz="950" b="1" dirty="0">
                <a:solidFill>
                  <a:srgbClr val="267D86"/>
                </a:solidFill>
                <a:latin typeface="Noto Sans KR" pitchFamily="34" charset="0"/>
                <a:ea typeface="Noto Sans KR" pitchFamily="34" charset="-122"/>
                <a:cs typeface="Noto Sans KR" pitchFamily="34" charset="-120"/>
              </a:rPr>
              <a:t>부분 포함: 스폰서형 소재 랩</a:t>
            </a:r>
            <a:endParaRPr lang="en-US" sz="950" dirty="0"/>
          </a:p>
        </p:txBody>
      </p:sp>
      <p:sp>
        <p:nvSpPr>
          <p:cNvPr id="13" name="생산 제외 라벨"/>
          <p:cNvSpPr txBox="1"/>
          <p:nvPr/>
        </p:nvSpPr>
        <p:spPr>
          <a:xfrm>
            <a:off x="2848356" y="2231136"/>
            <a:ext cx="2011680" cy="237744"/>
          </a:xfrm>
          <a:prstGeom prst="rect">
            <a:avLst/>
          </a:prstGeom>
          <a:noFill/>
          <a:ln/>
        </p:spPr>
        <p:txBody>
          <a:bodyPr wrap="square" lIns="0" tIns="0" rIns="0" bIns="0" rtlCol="0" anchor="ctr"/>
          <a:lstStyle/>
          <a:p>
            <a:pPr algn="ctr" indent="0" marL="0">
              <a:buNone/>
            </a:pPr>
            <a:r>
              <a:rPr lang="en-US" sz="950" b="1" dirty="0">
                <a:solidFill>
                  <a:srgbClr val="64748B"/>
                </a:solidFill>
                <a:latin typeface="Noto Sans KR" pitchFamily="34" charset="0"/>
                <a:ea typeface="Noto Sans KR" pitchFamily="34" charset="-122"/>
                <a:cs typeface="Noto Sans KR" pitchFamily="34" charset="-120"/>
              </a:rPr>
              <a:t>제외</a:t>
            </a:r>
            <a:endParaRPr lang="en-US" sz="950" dirty="0"/>
          </a:p>
        </p:txBody>
      </p:sp>
      <p:sp>
        <p:nvSpPr>
          <p:cNvPr id="14" name="단계 머리 1"/>
          <p:cNvSpPr/>
          <p:nvPr/>
        </p:nvSpPr>
        <p:spPr>
          <a:xfrm>
            <a:off x="612648" y="2615184"/>
            <a:ext cx="2011680" cy="384048"/>
          </a:xfrm>
          <a:prstGeom prst="rect">
            <a:avLst/>
          </a:prstGeom>
          <a:solidFill>
            <a:srgbClr val="182F48"/>
          </a:solidFill>
          <a:ln/>
        </p:spPr>
      </p:sp>
      <p:sp>
        <p:nvSpPr>
          <p:cNvPr id="15" name="단계 이름 1"/>
          <p:cNvSpPr txBox="1"/>
          <p:nvPr/>
        </p:nvSpPr>
        <p:spPr>
          <a:xfrm>
            <a:off x="612648" y="2615184"/>
            <a:ext cx="2011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Noto Sans KR" pitchFamily="34" charset="0"/>
                <a:ea typeface="Noto Sans KR" pitchFamily="34" charset="-122"/>
                <a:cs typeface="Noto Sans KR" pitchFamily="34" charset="-120"/>
              </a:rPr>
              <a:t>① 소재 · 부자재</a:t>
            </a:r>
            <a:endParaRPr lang="en-US" sz="1150" dirty="0"/>
          </a:p>
        </p:txBody>
      </p:sp>
      <p:sp>
        <p:nvSpPr>
          <p:cNvPr id="16" name="단계 본문 1"/>
          <p:cNvSpPr/>
          <p:nvPr/>
        </p:nvSpPr>
        <p:spPr>
          <a:xfrm>
            <a:off x="612648" y="2999232"/>
            <a:ext cx="2011680" cy="1051560"/>
          </a:xfrm>
          <a:prstGeom prst="rect">
            <a:avLst/>
          </a:prstGeom>
          <a:solidFill>
            <a:srgbClr val="FFFFFF"/>
          </a:solidFill>
          <a:ln w="9525">
            <a:solidFill>
              <a:srgbClr val="CBD5E1"/>
            </a:solidFill>
            <a:prstDash val="solid"/>
          </a:ln>
        </p:spPr>
      </p:sp>
      <p:sp>
        <p:nvSpPr>
          <p:cNvPr id="17" name="단계 기업 1"/>
          <p:cNvSpPr txBox="1"/>
          <p:nvPr/>
        </p:nvSpPr>
        <p:spPr>
          <a:xfrm>
            <a:off x="667512" y="3044952"/>
            <a:ext cx="1901952" cy="978408"/>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고어텍스(W. L. Gore)</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폴라텍</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효성티앤씨 · 코오롱인더스트리</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YKK(지퍼) · 비브람(밑창)</a:t>
            </a:r>
            <a:endParaRPr lang="en-US" sz="850" dirty="0"/>
          </a:p>
        </p:txBody>
      </p:sp>
      <p:sp>
        <p:nvSpPr>
          <p:cNvPr id="18" name="제품 흐름 1"/>
          <p:cNvSpPr/>
          <p:nvPr/>
        </p:nvSpPr>
        <p:spPr>
          <a:xfrm>
            <a:off x="2642616" y="2807208"/>
            <a:ext cx="187452" cy="0"/>
          </a:xfrm>
          <a:prstGeom prst="line">
            <a:avLst/>
          </a:prstGeom>
          <a:noFill/>
          <a:ln w="19050">
            <a:solidFill>
              <a:srgbClr val="94A3B8"/>
            </a:solidFill>
            <a:prstDash val="solid"/>
            <a:tailEnd type="triangle"/>
          </a:ln>
        </p:spPr>
      </p:sp>
      <p:sp>
        <p:nvSpPr>
          <p:cNvPr id="19" name="단계 머리 2"/>
          <p:cNvSpPr/>
          <p:nvPr/>
        </p:nvSpPr>
        <p:spPr>
          <a:xfrm>
            <a:off x="2848356" y="2615184"/>
            <a:ext cx="2011680" cy="384048"/>
          </a:xfrm>
          <a:prstGeom prst="rect">
            <a:avLst/>
          </a:prstGeom>
          <a:solidFill>
            <a:srgbClr val="94A3B8"/>
          </a:solidFill>
          <a:ln/>
        </p:spPr>
      </p:sp>
      <p:sp>
        <p:nvSpPr>
          <p:cNvPr id="20" name="단계 이름 2"/>
          <p:cNvSpPr txBox="1"/>
          <p:nvPr/>
        </p:nvSpPr>
        <p:spPr>
          <a:xfrm>
            <a:off x="2848356" y="2615184"/>
            <a:ext cx="2011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Noto Sans KR" pitchFamily="34" charset="0"/>
                <a:ea typeface="Noto Sans KR" pitchFamily="34" charset="-122"/>
                <a:cs typeface="Noto Sans KR" pitchFamily="34" charset="-120"/>
              </a:rPr>
              <a:t>② 생산 (OEM/ODM)</a:t>
            </a:r>
            <a:endParaRPr lang="en-US" sz="1150" dirty="0"/>
          </a:p>
        </p:txBody>
      </p:sp>
      <p:sp>
        <p:nvSpPr>
          <p:cNvPr id="21" name="단계 본문 2"/>
          <p:cNvSpPr/>
          <p:nvPr/>
        </p:nvSpPr>
        <p:spPr>
          <a:xfrm>
            <a:off x="2848356" y="2999232"/>
            <a:ext cx="2011680" cy="1051560"/>
          </a:xfrm>
          <a:prstGeom prst="rect">
            <a:avLst/>
          </a:prstGeom>
          <a:solidFill>
            <a:srgbClr val="FFFFFF"/>
          </a:solidFill>
          <a:ln w="9525">
            <a:solidFill>
              <a:srgbClr val="CBD5E1"/>
            </a:solidFill>
            <a:prstDash val="solid"/>
          </a:ln>
        </p:spPr>
      </p:sp>
      <p:sp>
        <p:nvSpPr>
          <p:cNvPr id="22" name="단계 기업 2"/>
          <p:cNvSpPr txBox="1"/>
          <p:nvPr/>
        </p:nvSpPr>
        <p:spPr>
          <a:xfrm>
            <a:off x="2903220" y="3044952"/>
            <a:ext cx="1901952" cy="978408"/>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영원무역 (룰루레몬 등 OEM)</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국내외 봉제 · 신발 공장</a:t>
            </a:r>
            <a:endParaRPr lang="en-US" sz="850" dirty="0"/>
          </a:p>
          <a:p>
            <a:pPr marL="127000" indent="-127000">
              <a:spcAft>
                <a:spcPts val="200"/>
              </a:spcAft>
              <a:buSzPct val="100000"/>
              <a:buChar char="•"/>
            </a:pPr>
            <a:r>
              <a:rPr lang="en-US" sz="850" dirty="0">
                <a:solidFill>
                  <a:srgbClr val="64748B"/>
                </a:solidFill>
                <a:latin typeface="Noto Sans KR" pitchFamily="34" charset="0"/>
                <a:ea typeface="Noto Sans KR" pitchFamily="34" charset="-122"/>
                <a:cs typeface="Noto Sans KR" pitchFamily="34" charset="-120"/>
              </a:rPr>
              <a:t>※ 영원무역은 노스페이스 국내 유통(③)도 겸함</a:t>
            </a:r>
            <a:endParaRPr lang="en-US" sz="850" dirty="0"/>
          </a:p>
        </p:txBody>
      </p:sp>
      <p:sp>
        <p:nvSpPr>
          <p:cNvPr id="23" name="제품 흐름 2"/>
          <p:cNvSpPr/>
          <p:nvPr/>
        </p:nvSpPr>
        <p:spPr>
          <a:xfrm>
            <a:off x="4878324" y="2807208"/>
            <a:ext cx="187452" cy="0"/>
          </a:xfrm>
          <a:prstGeom prst="line">
            <a:avLst/>
          </a:prstGeom>
          <a:noFill/>
          <a:ln w="19050">
            <a:solidFill>
              <a:srgbClr val="94A3B8"/>
            </a:solidFill>
            <a:prstDash val="solid"/>
            <a:tailEnd type="triangle"/>
          </a:ln>
        </p:spPr>
      </p:sp>
      <p:sp>
        <p:nvSpPr>
          <p:cNvPr id="24" name="단계 머리 3"/>
          <p:cNvSpPr/>
          <p:nvPr/>
        </p:nvSpPr>
        <p:spPr>
          <a:xfrm>
            <a:off x="5084064" y="2615184"/>
            <a:ext cx="2011680" cy="384048"/>
          </a:xfrm>
          <a:prstGeom prst="rect">
            <a:avLst/>
          </a:prstGeom>
          <a:solidFill>
            <a:srgbClr val="182F48"/>
          </a:solidFill>
          <a:ln/>
        </p:spPr>
      </p:sp>
      <p:sp>
        <p:nvSpPr>
          <p:cNvPr id="25" name="단계 이름 3"/>
          <p:cNvSpPr txBox="1"/>
          <p:nvPr/>
        </p:nvSpPr>
        <p:spPr>
          <a:xfrm>
            <a:off x="5084064" y="2615184"/>
            <a:ext cx="2011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Noto Sans KR" pitchFamily="34" charset="0"/>
                <a:ea typeface="Noto Sans KR" pitchFamily="34" charset="-122"/>
                <a:cs typeface="Noto Sans KR" pitchFamily="34" charset="-120"/>
              </a:rPr>
              <a:t>③ 브랜드 · 기획</a:t>
            </a:r>
            <a:endParaRPr lang="en-US" sz="1150" dirty="0"/>
          </a:p>
        </p:txBody>
      </p:sp>
      <p:sp>
        <p:nvSpPr>
          <p:cNvPr id="26" name="단계 본문 3"/>
          <p:cNvSpPr/>
          <p:nvPr/>
        </p:nvSpPr>
        <p:spPr>
          <a:xfrm>
            <a:off x="5084064" y="2999232"/>
            <a:ext cx="2011680" cy="1051560"/>
          </a:xfrm>
          <a:prstGeom prst="rect">
            <a:avLst/>
          </a:prstGeom>
          <a:solidFill>
            <a:srgbClr val="FFFFFF"/>
          </a:solidFill>
          <a:ln w="9525">
            <a:solidFill>
              <a:srgbClr val="CBD5E1"/>
            </a:solidFill>
            <a:prstDash val="solid"/>
          </a:ln>
        </p:spPr>
      </p:sp>
      <p:sp>
        <p:nvSpPr>
          <p:cNvPr id="27" name="단계 기업 3"/>
          <p:cNvSpPr txBox="1"/>
          <p:nvPr/>
        </p:nvSpPr>
        <p:spPr>
          <a:xfrm>
            <a:off x="5138928" y="3044952"/>
            <a:ext cx="1901952" cy="978408"/>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해외: 아크테릭스 · 살로몬 (아머스포츠), 마무트, 살레와</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국내: 노스페이스(영원아웃도어), 스노우피크어패럴(감성코퍼레이션)</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K-고프코어: 케일 · 산산기어 · 제로그램</a:t>
            </a:r>
            <a:endParaRPr lang="en-US" sz="850" dirty="0"/>
          </a:p>
        </p:txBody>
      </p:sp>
      <p:sp>
        <p:nvSpPr>
          <p:cNvPr id="28" name="제품 흐름 3"/>
          <p:cNvSpPr/>
          <p:nvPr/>
        </p:nvSpPr>
        <p:spPr>
          <a:xfrm>
            <a:off x="7114032" y="2807208"/>
            <a:ext cx="187452" cy="0"/>
          </a:xfrm>
          <a:prstGeom prst="line">
            <a:avLst/>
          </a:prstGeom>
          <a:noFill/>
          <a:ln w="19050">
            <a:solidFill>
              <a:srgbClr val="94A3B8"/>
            </a:solidFill>
            <a:prstDash val="solid"/>
            <a:tailEnd type="triangle"/>
          </a:ln>
        </p:spPr>
      </p:sp>
      <p:sp>
        <p:nvSpPr>
          <p:cNvPr id="29" name="단계 머리 4"/>
          <p:cNvSpPr/>
          <p:nvPr/>
        </p:nvSpPr>
        <p:spPr>
          <a:xfrm>
            <a:off x="7319772" y="2615184"/>
            <a:ext cx="2011680" cy="384048"/>
          </a:xfrm>
          <a:prstGeom prst="rect">
            <a:avLst/>
          </a:prstGeom>
          <a:solidFill>
            <a:srgbClr val="182F48"/>
          </a:solidFill>
          <a:ln/>
        </p:spPr>
      </p:sp>
      <p:sp>
        <p:nvSpPr>
          <p:cNvPr id="30" name="단계 이름 4"/>
          <p:cNvSpPr txBox="1"/>
          <p:nvPr/>
        </p:nvSpPr>
        <p:spPr>
          <a:xfrm>
            <a:off x="7319772" y="2615184"/>
            <a:ext cx="2011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Noto Sans KR" pitchFamily="34" charset="0"/>
                <a:ea typeface="Noto Sans KR" pitchFamily="34" charset="-122"/>
                <a:cs typeface="Noto Sans KR" pitchFamily="34" charset="-120"/>
              </a:rPr>
              <a:t>④ 유통 (바이어)</a:t>
            </a:r>
            <a:endParaRPr lang="en-US" sz="1150" dirty="0"/>
          </a:p>
        </p:txBody>
      </p:sp>
      <p:sp>
        <p:nvSpPr>
          <p:cNvPr id="31" name="단계 본문 4"/>
          <p:cNvSpPr/>
          <p:nvPr/>
        </p:nvSpPr>
        <p:spPr>
          <a:xfrm>
            <a:off x="7319772" y="2999232"/>
            <a:ext cx="2011680" cy="1051560"/>
          </a:xfrm>
          <a:prstGeom prst="rect">
            <a:avLst/>
          </a:prstGeom>
          <a:solidFill>
            <a:srgbClr val="FFFFFF"/>
          </a:solidFill>
          <a:ln w="9525">
            <a:solidFill>
              <a:srgbClr val="CBD5E1"/>
            </a:solidFill>
            <a:prstDash val="solid"/>
          </a:ln>
        </p:spPr>
      </p:sp>
      <p:sp>
        <p:nvSpPr>
          <p:cNvPr id="32" name="단계 기업 4"/>
          <p:cNvSpPr txBox="1"/>
          <p:nvPr/>
        </p:nvSpPr>
        <p:spPr>
          <a:xfrm>
            <a:off x="7374636" y="3044952"/>
            <a:ext cx="1901952" cy="978408"/>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플랫폼: 무신사 · 29CM · KREAM</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백화점: 현대 · 신세계 · 롯데</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편집숍: 웍스아웃 / 1LDK · 빔즈(일본) / END.(영국)</a:t>
            </a:r>
            <a:endParaRPr lang="en-US" sz="850" dirty="0"/>
          </a:p>
        </p:txBody>
      </p:sp>
      <p:sp>
        <p:nvSpPr>
          <p:cNvPr id="33" name="제품 흐름 4"/>
          <p:cNvSpPr/>
          <p:nvPr/>
        </p:nvSpPr>
        <p:spPr>
          <a:xfrm>
            <a:off x="9349740" y="2807208"/>
            <a:ext cx="187452" cy="0"/>
          </a:xfrm>
          <a:prstGeom prst="line">
            <a:avLst/>
          </a:prstGeom>
          <a:noFill/>
          <a:ln w="19050">
            <a:solidFill>
              <a:srgbClr val="94A3B8"/>
            </a:solidFill>
            <a:prstDash val="solid"/>
            <a:tailEnd type="triangle"/>
          </a:ln>
        </p:spPr>
      </p:sp>
      <p:sp>
        <p:nvSpPr>
          <p:cNvPr id="34" name="단계 머리 5"/>
          <p:cNvSpPr/>
          <p:nvPr/>
        </p:nvSpPr>
        <p:spPr>
          <a:xfrm>
            <a:off x="9555480" y="2615184"/>
            <a:ext cx="2011680" cy="384048"/>
          </a:xfrm>
          <a:prstGeom prst="rect">
            <a:avLst/>
          </a:prstGeom>
          <a:solidFill>
            <a:srgbClr val="182F48"/>
          </a:solidFill>
          <a:ln/>
        </p:spPr>
      </p:sp>
      <p:sp>
        <p:nvSpPr>
          <p:cNvPr id="35" name="단계 이름 5"/>
          <p:cNvSpPr txBox="1"/>
          <p:nvPr/>
        </p:nvSpPr>
        <p:spPr>
          <a:xfrm>
            <a:off x="9555480" y="2615184"/>
            <a:ext cx="2011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Noto Sans KR" pitchFamily="34" charset="0"/>
                <a:ea typeface="Noto Sans KR" pitchFamily="34" charset="-122"/>
                <a:cs typeface="Noto Sans KR" pitchFamily="34" charset="-120"/>
              </a:rPr>
              <a:t>⑤ 소비자 · 커뮤니티</a:t>
            </a:r>
            <a:endParaRPr lang="en-US" sz="1150" dirty="0"/>
          </a:p>
        </p:txBody>
      </p:sp>
      <p:sp>
        <p:nvSpPr>
          <p:cNvPr id="36" name="단계 본문 5"/>
          <p:cNvSpPr/>
          <p:nvPr/>
        </p:nvSpPr>
        <p:spPr>
          <a:xfrm>
            <a:off x="9555480" y="2999232"/>
            <a:ext cx="2011680" cy="1051560"/>
          </a:xfrm>
          <a:prstGeom prst="rect">
            <a:avLst/>
          </a:prstGeom>
          <a:solidFill>
            <a:srgbClr val="FFFFFF"/>
          </a:solidFill>
          <a:ln w="9525">
            <a:solidFill>
              <a:srgbClr val="CBD5E1"/>
            </a:solidFill>
            <a:prstDash val="solid"/>
          </a:ln>
        </p:spPr>
      </p:sp>
      <p:sp>
        <p:nvSpPr>
          <p:cNvPr id="37" name="단계 기업 5"/>
          <p:cNvSpPr txBox="1"/>
          <p:nvPr/>
        </p:nvSpPr>
        <p:spPr>
          <a:xfrm>
            <a:off x="9610344" y="3044952"/>
            <a:ext cx="1901952" cy="978408"/>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2030 도시 고프코어 소비자</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하이킹 · 러닝 크루</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리세일: KREAM · 후루츠패밀리</a:t>
            </a:r>
            <a:endParaRPr lang="en-US" sz="850" dirty="0"/>
          </a:p>
        </p:txBody>
      </p:sp>
      <p:sp>
        <p:nvSpPr>
          <p:cNvPr id="38" name="거래 관계 1"/>
          <p:cNvSpPr txBox="1"/>
          <p:nvPr/>
        </p:nvSpPr>
        <p:spPr>
          <a:xfrm>
            <a:off x="2096262" y="4187952"/>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Noto Sans KR" pitchFamily="34" charset="0"/>
                <a:ea typeface="Noto Sans KR" pitchFamily="34" charset="-122"/>
                <a:cs typeface="Noto Sans KR" pitchFamily="34" charset="-120"/>
              </a:rPr>
              <a:t>→ 원단·부자재 공급</a:t>
            </a:r>
            <a:endParaRPr lang="en-US" sz="800" dirty="0"/>
          </a:p>
        </p:txBody>
      </p:sp>
      <p:sp>
        <p:nvSpPr>
          <p:cNvPr id="39" name="거래 관계 2"/>
          <p:cNvSpPr txBox="1"/>
          <p:nvPr/>
        </p:nvSpPr>
        <p:spPr>
          <a:xfrm>
            <a:off x="4331970" y="4187952"/>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Noto Sans KR" pitchFamily="34" charset="0"/>
                <a:ea typeface="Noto Sans KR" pitchFamily="34" charset="-122"/>
                <a:cs typeface="Noto Sans KR" pitchFamily="34" charset="-120"/>
              </a:rPr>
              <a:t>→ 완제품 납품</a:t>
            </a:r>
            <a:endParaRPr lang="en-US" sz="800" dirty="0"/>
          </a:p>
        </p:txBody>
      </p:sp>
      <p:sp>
        <p:nvSpPr>
          <p:cNvPr id="40" name="거래 관계 3"/>
          <p:cNvSpPr txBox="1"/>
          <p:nvPr/>
        </p:nvSpPr>
        <p:spPr>
          <a:xfrm>
            <a:off x="6567678" y="4187952"/>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Noto Sans KR" pitchFamily="34" charset="0"/>
                <a:ea typeface="Noto Sans KR" pitchFamily="34" charset="-122"/>
                <a:cs typeface="Noto Sans KR" pitchFamily="34" charset="-120"/>
              </a:rPr>
              <a:t>→ 수주 · 매입 · 위탁</a:t>
            </a:r>
            <a:endParaRPr lang="en-US" sz="800" dirty="0"/>
          </a:p>
        </p:txBody>
      </p:sp>
      <p:sp>
        <p:nvSpPr>
          <p:cNvPr id="41" name="거래 관계 4"/>
          <p:cNvSpPr txBox="1"/>
          <p:nvPr/>
        </p:nvSpPr>
        <p:spPr>
          <a:xfrm>
            <a:off x="8803386" y="4187952"/>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Noto Sans KR" pitchFamily="34" charset="0"/>
                <a:ea typeface="Noto Sans KR" pitchFamily="34" charset="-122"/>
                <a:cs typeface="Noto Sans KR" pitchFamily="34" charset="-120"/>
              </a:rPr>
              <a:t>→ 판매 · 체험</a:t>
            </a:r>
            <a:endParaRPr lang="en-US" sz="800" dirty="0"/>
          </a:p>
        </p:txBody>
      </p:sp>
      <p:sp>
        <p:nvSpPr>
          <p:cNvPr id="42" name="돈의 흐름"/>
          <p:cNvSpPr/>
          <p:nvPr/>
        </p:nvSpPr>
        <p:spPr>
          <a:xfrm>
            <a:off x="704088" y="4462272"/>
            <a:ext cx="10771632" cy="0"/>
          </a:xfrm>
          <a:prstGeom prst="line">
            <a:avLst/>
          </a:prstGeom>
          <a:noFill/>
          <a:ln w="25400">
            <a:solidFill>
              <a:srgbClr val="C2410C"/>
            </a:solidFill>
            <a:prstDash val="solid"/>
            <a:headEnd type="triangle"/>
          </a:ln>
        </p:spPr>
      </p:sp>
      <p:sp>
        <p:nvSpPr>
          <p:cNvPr id="43" name="돈의 흐름 라벨"/>
          <p:cNvSpPr txBox="1"/>
          <p:nvPr/>
        </p:nvSpPr>
        <p:spPr>
          <a:xfrm>
            <a:off x="2441448" y="4498848"/>
            <a:ext cx="7315200" cy="219456"/>
          </a:xfrm>
          <a:prstGeom prst="rect">
            <a:avLst/>
          </a:prstGeom>
          <a:noFill/>
          <a:ln/>
        </p:spPr>
        <p:txBody>
          <a:bodyPr wrap="square" lIns="0" tIns="0" rIns="0" bIns="0" rtlCol="0" anchor="ctr"/>
          <a:lstStyle/>
          <a:p>
            <a:pPr algn="ctr" indent="0" marL="0">
              <a:buNone/>
            </a:pPr>
            <a:r>
              <a:rPr lang="en-US" sz="900" b="1" dirty="0">
                <a:solidFill>
                  <a:srgbClr val="C2410C"/>
                </a:solidFill>
                <a:latin typeface="Noto Sans KR" pitchFamily="34" charset="0"/>
                <a:ea typeface="Noto Sans KR" pitchFamily="34" charset="-122"/>
                <a:cs typeface="Noto Sans KR" pitchFamily="34" charset="-120"/>
              </a:rPr>
              <a:t>₩ 돈의 흐름(⑤→①):  소비자 결제 → 유통 수수료·마진 → 브랜드 매입대금 → 생산비 → 원단대금</a:t>
            </a:r>
            <a:endParaRPr lang="en-US" sz="900" dirty="0"/>
          </a:p>
        </p:txBody>
      </p:sp>
      <p:sp>
        <p:nvSpPr>
          <p:cNvPr id="44" name="서비스 그룹 라벨"/>
          <p:cNvSpPr txBox="1"/>
          <p:nvPr/>
        </p:nvSpPr>
        <p:spPr>
          <a:xfrm>
            <a:off x="612648" y="4764024"/>
            <a:ext cx="3590544" cy="182880"/>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유통 지원 서비스 · 부분 포함(서비스관)</a:t>
            </a:r>
            <a:endParaRPr lang="en-US" sz="850" dirty="0"/>
          </a:p>
        </p:txBody>
      </p:sp>
      <p:sp>
        <p:nvSpPr>
          <p:cNvPr id="45" name="생태계 그룹 라벨"/>
          <p:cNvSpPr txBox="1"/>
          <p:nvPr/>
        </p:nvSpPr>
        <p:spPr>
          <a:xfrm>
            <a:off x="4294632" y="4764024"/>
            <a:ext cx="7272528" cy="182880"/>
          </a:xfrm>
          <a:prstGeom prst="rect">
            <a:avLst/>
          </a:prstGeom>
          <a:noFill/>
          <a:ln/>
        </p:spPr>
        <p:txBody>
          <a:bodyPr wrap="square" lIns="0" tIns="0" rIns="0" bIns="0" rtlCol="0" anchor="ctr"/>
          <a:lstStyle/>
          <a:p>
            <a:pPr indent="0" marL="0">
              <a:buNone/>
            </a:pPr>
            <a:r>
              <a:rPr lang="en-US" sz="850" b="1" dirty="0">
                <a:solidFill>
                  <a:srgbClr val="64748B"/>
                </a:solidFill>
                <a:latin typeface="Noto Sans KR" pitchFamily="34" charset="0"/>
                <a:ea typeface="Noto Sans KR" pitchFamily="34" charset="-122"/>
                <a:cs typeface="Noto Sans KR" pitchFamily="34" charset="-120"/>
              </a:rPr>
              <a:t>지원 생태계 (6장 이해관계자)</a:t>
            </a:r>
            <a:endParaRPr lang="en-US" sz="850" dirty="0"/>
          </a:p>
        </p:txBody>
      </p:sp>
      <p:sp>
        <p:nvSpPr>
          <p:cNvPr id="46" name="지원 칩 1"/>
          <p:cNvSpPr/>
          <p:nvPr/>
        </p:nvSpPr>
        <p:spPr>
          <a:xfrm>
            <a:off x="612648" y="4965192"/>
            <a:ext cx="1749552" cy="457200"/>
          </a:xfrm>
          <a:prstGeom prst="roundRect">
            <a:avLst>
              <a:gd name="adj" fmla="val 12000"/>
            </a:avLst>
          </a:prstGeom>
          <a:solidFill>
            <a:srgbClr val="EAF4F5"/>
          </a:solidFill>
          <a:ln w="9525">
            <a:solidFill>
              <a:srgbClr val="267D86"/>
            </a:solidFill>
            <a:prstDash val="solid"/>
          </a:ln>
        </p:spPr>
      </p:sp>
      <p:sp>
        <p:nvSpPr>
          <p:cNvPr id="47" name="지원 칩 문구 1"/>
          <p:cNvSpPr txBox="1"/>
          <p:nvPr/>
        </p:nvSpPr>
        <p:spPr>
          <a:xfrm>
            <a:off x="685800" y="4965192"/>
            <a:ext cx="1603248" cy="457200"/>
          </a:xfrm>
          <a:prstGeom prst="rect">
            <a:avLst/>
          </a:prstGeom>
          <a:noFill/>
          <a:ln/>
        </p:spPr>
        <p:txBody>
          <a:bodyPr wrap="square" lIns="0" tIns="0" rIns="0" bIns="0" rtlCol="0" anchor="ctr"/>
          <a:lstStyle/>
          <a:p>
            <a:pPr indent="0" marL="0">
              <a:buNone/>
            </a:pPr>
            <a:r>
              <a:rPr lang="en-US" sz="800" b="1" dirty="0">
                <a:solidFill>
                  <a:srgbClr val="267D86"/>
                </a:solidFill>
                <a:latin typeface="Noto Sans KR" pitchFamily="34" charset="0"/>
                <a:ea typeface="Noto Sans KR" pitchFamily="34" charset="-122"/>
                <a:cs typeface="Noto Sans KR" pitchFamily="34" charset="-120"/>
              </a:rPr>
              <a:t>물류 · 풀필먼트</a:t>
            </a:r>
            <a:endParaRPr lang="en-US" sz="800" dirty="0"/>
          </a:p>
          <a:p>
            <a:pPr indent="0" marL="0">
              <a:buNone/>
            </a:pPr>
            <a:r>
              <a:rPr lang="en-US" sz="800" dirty="0">
                <a:solidFill>
                  <a:srgbClr val="334155"/>
                </a:solidFill>
                <a:latin typeface="Noto Sans KR" pitchFamily="34" charset="0"/>
                <a:ea typeface="Noto Sans KR" pitchFamily="34" charset="-122"/>
                <a:cs typeface="Noto Sans KR" pitchFamily="34" charset="-120"/>
              </a:rPr>
              <a:t>CJ대한통운(더 풀필) · 무신사 로지스틱스</a:t>
            </a:r>
            <a:endParaRPr lang="en-US" sz="800" dirty="0"/>
          </a:p>
        </p:txBody>
      </p:sp>
      <p:sp>
        <p:nvSpPr>
          <p:cNvPr id="48" name="지원 칩 2"/>
          <p:cNvSpPr/>
          <p:nvPr/>
        </p:nvSpPr>
        <p:spPr>
          <a:xfrm>
            <a:off x="2453640" y="4965192"/>
            <a:ext cx="1749552" cy="457200"/>
          </a:xfrm>
          <a:prstGeom prst="roundRect">
            <a:avLst>
              <a:gd name="adj" fmla="val 12000"/>
            </a:avLst>
          </a:prstGeom>
          <a:solidFill>
            <a:srgbClr val="EAF4F5"/>
          </a:solidFill>
          <a:ln w="9525">
            <a:solidFill>
              <a:srgbClr val="267D86"/>
            </a:solidFill>
            <a:prstDash val="solid"/>
          </a:ln>
        </p:spPr>
      </p:sp>
      <p:sp>
        <p:nvSpPr>
          <p:cNvPr id="49" name="지원 칩 문구 2"/>
          <p:cNvSpPr txBox="1"/>
          <p:nvPr/>
        </p:nvSpPr>
        <p:spPr>
          <a:xfrm>
            <a:off x="2526792" y="4965192"/>
            <a:ext cx="1603248" cy="457200"/>
          </a:xfrm>
          <a:prstGeom prst="rect">
            <a:avLst/>
          </a:prstGeom>
          <a:noFill/>
          <a:ln/>
        </p:spPr>
        <p:txBody>
          <a:bodyPr wrap="square" lIns="0" tIns="0" rIns="0" bIns="0" rtlCol="0" anchor="ctr"/>
          <a:lstStyle/>
          <a:p>
            <a:pPr indent="0" marL="0">
              <a:buNone/>
            </a:pPr>
            <a:r>
              <a:rPr lang="en-US" sz="800" b="1" dirty="0">
                <a:solidFill>
                  <a:srgbClr val="267D86"/>
                </a:solidFill>
                <a:latin typeface="Noto Sans KR" pitchFamily="34" charset="0"/>
                <a:ea typeface="Noto Sans KR" pitchFamily="34" charset="-122"/>
                <a:cs typeface="Noto Sans KR" pitchFamily="34" charset="-120"/>
              </a:rPr>
              <a:t>마케팅 · 홍보</a:t>
            </a:r>
            <a:endParaRPr lang="en-US" sz="800" dirty="0"/>
          </a:p>
          <a:p>
            <a:pPr indent="0" marL="0">
              <a:buNone/>
            </a:pPr>
            <a:r>
              <a:rPr lang="en-US" sz="800" dirty="0">
                <a:solidFill>
                  <a:srgbClr val="334155"/>
                </a:solidFill>
                <a:latin typeface="Noto Sans KR" pitchFamily="34" charset="0"/>
                <a:ea typeface="Noto Sans KR" pitchFamily="34" charset="-122"/>
                <a:cs typeface="Noto Sans KR" pitchFamily="34" charset="-120"/>
              </a:rPr>
              <a:t>인플루언서 · 모델, 패션 PR 에이전시 외</a:t>
            </a:r>
            <a:endParaRPr lang="en-US" sz="800" dirty="0"/>
          </a:p>
        </p:txBody>
      </p:sp>
      <p:sp>
        <p:nvSpPr>
          <p:cNvPr id="50" name="지원 칩 3"/>
          <p:cNvSpPr/>
          <p:nvPr/>
        </p:nvSpPr>
        <p:spPr>
          <a:xfrm>
            <a:off x="4294632" y="4965192"/>
            <a:ext cx="1749552" cy="457200"/>
          </a:xfrm>
          <a:prstGeom prst="roundRect">
            <a:avLst>
              <a:gd name="adj" fmla="val 12000"/>
            </a:avLst>
          </a:prstGeom>
          <a:solidFill>
            <a:srgbClr val="F1F5F9"/>
          </a:solidFill>
          <a:ln/>
        </p:spPr>
      </p:sp>
      <p:sp>
        <p:nvSpPr>
          <p:cNvPr id="51" name="지원 칩 문구 3"/>
          <p:cNvSpPr txBox="1"/>
          <p:nvPr/>
        </p:nvSpPr>
        <p:spPr>
          <a:xfrm>
            <a:off x="4367784" y="4965192"/>
            <a:ext cx="1603248" cy="457200"/>
          </a:xfrm>
          <a:prstGeom prst="rect">
            <a:avLst/>
          </a:prstGeom>
          <a:noFill/>
          <a:ln/>
        </p:spPr>
        <p:txBody>
          <a:bodyPr wrap="square" lIns="0" tIns="0" rIns="0" bIns="0" rtlCol="0" anchor="ctr"/>
          <a:lstStyle/>
          <a:p>
            <a:pPr indent="0" marL="0">
              <a:buNone/>
            </a:pPr>
            <a:r>
              <a:rPr lang="en-US" sz="800" b="1" dirty="0">
                <a:solidFill>
                  <a:srgbClr val="182F48"/>
                </a:solidFill>
                <a:latin typeface="Noto Sans KR" pitchFamily="34" charset="0"/>
                <a:ea typeface="Noto Sans KR" pitchFamily="34" charset="-122"/>
                <a:cs typeface="Noto Sans KR" pitchFamily="34" charset="-120"/>
              </a:rPr>
              <a:t>시험 · 인증</a:t>
            </a:r>
            <a:endParaRPr lang="en-US" sz="800" dirty="0"/>
          </a:p>
          <a:p>
            <a:pPr indent="0" marL="0">
              <a:buNone/>
            </a:pPr>
            <a:r>
              <a:rPr lang="en-US" sz="800" dirty="0">
                <a:solidFill>
                  <a:srgbClr val="334155"/>
                </a:solidFill>
                <a:latin typeface="Noto Sans KR" pitchFamily="34" charset="0"/>
                <a:ea typeface="Noto Sans KR" pitchFamily="34" charset="-122"/>
                <a:cs typeface="Noto Sans KR" pitchFamily="34" charset="-120"/>
              </a:rPr>
              <a:t>FITI시험연구원 (인공강우·써멀마네킨)</a:t>
            </a:r>
            <a:endParaRPr lang="en-US" sz="800" dirty="0"/>
          </a:p>
        </p:txBody>
      </p:sp>
      <p:sp>
        <p:nvSpPr>
          <p:cNvPr id="52" name="지원 칩 4"/>
          <p:cNvSpPr/>
          <p:nvPr/>
        </p:nvSpPr>
        <p:spPr>
          <a:xfrm>
            <a:off x="6135624" y="4965192"/>
            <a:ext cx="1749552" cy="457200"/>
          </a:xfrm>
          <a:prstGeom prst="roundRect">
            <a:avLst>
              <a:gd name="adj" fmla="val 12000"/>
            </a:avLst>
          </a:prstGeom>
          <a:solidFill>
            <a:srgbClr val="F1F5F9"/>
          </a:solidFill>
          <a:ln/>
        </p:spPr>
      </p:sp>
      <p:sp>
        <p:nvSpPr>
          <p:cNvPr id="53" name="지원 칩 문구 4"/>
          <p:cNvSpPr txBox="1"/>
          <p:nvPr/>
        </p:nvSpPr>
        <p:spPr>
          <a:xfrm>
            <a:off x="6208776" y="4965192"/>
            <a:ext cx="1603248" cy="457200"/>
          </a:xfrm>
          <a:prstGeom prst="rect">
            <a:avLst/>
          </a:prstGeom>
          <a:noFill/>
          <a:ln/>
        </p:spPr>
        <p:txBody>
          <a:bodyPr wrap="square" lIns="0" tIns="0" rIns="0" bIns="0" rtlCol="0" anchor="ctr"/>
          <a:lstStyle/>
          <a:p>
            <a:pPr indent="0" marL="0">
              <a:buNone/>
            </a:pPr>
            <a:r>
              <a:rPr lang="en-US" sz="800" b="1" dirty="0">
                <a:solidFill>
                  <a:srgbClr val="182F48"/>
                </a:solidFill>
                <a:latin typeface="Noto Sans KR" pitchFamily="34" charset="0"/>
                <a:ea typeface="Noto Sans KR" pitchFamily="34" charset="-122"/>
                <a:cs typeface="Noto Sans KR" pitchFamily="34" charset="-120"/>
              </a:rPr>
              <a:t>미디어</a:t>
            </a:r>
            <a:endParaRPr lang="en-US" sz="800" dirty="0"/>
          </a:p>
          <a:p>
            <a:pPr indent="0" marL="0">
              <a:buNone/>
            </a:pPr>
            <a:r>
              <a:rPr lang="en-US" sz="800" dirty="0">
                <a:solidFill>
                  <a:srgbClr val="334155"/>
                </a:solidFill>
                <a:latin typeface="Noto Sans KR" pitchFamily="34" charset="0"/>
                <a:ea typeface="Noto Sans KR" pitchFamily="34" charset="-122"/>
                <a:cs typeface="Noto Sans KR" pitchFamily="34" charset="-120"/>
              </a:rPr>
              <a:t>GO OUT KOREA · 패션비즈 · 어패럴뉴스</a:t>
            </a:r>
            <a:endParaRPr lang="en-US" sz="800" dirty="0"/>
          </a:p>
        </p:txBody>
      </p:sp>
      <p:sp>
        <p:nvSpPr>
          <p:cNvPr id="54" name="지원 칩 5"/>
          <p:cNvSpPr/>
          <p:nvPr/>
        </p:nvSpPr>
        <p:spPr>
          <a:xfrm>
            <a:off x="7976616" y="4965192"/>
            <a:ext cx="1749552" cy="457200"/>
          </a:xfrm>
          <a:prstGeom prst="roundRect">
            <a:avLst>
              <a:gd name="adj" fmla="val 12000"/>
            </a:avLst>
          </a:prstGeom>
          <a:solidFill>
            <a:srgbClr val="F1F5F9"/>
          </a:solidFill>
          <a:ln/>
        </p:spPr>
      </p:sp>
      <p:sp>
        <p:nvSpPr>
          <p:cNvPr id="55" name="지원 칩 문구 5"/>
          <p:cNvSpPr txBox="1"/>
          <p:nvPr/>
        </p:nvSpPr>
        <p:spPr>
          <a:xfrm>
            <a:off x="8049768" y="4965192"/>
            <a:ext cx="1603248" cy="457200"/>
          </a:xfrm>
          <a:prstGeom prst="rect">
            <a:avLst/>
          </a:prstGeom>
          <a:noFill/>
          <a:ln/>
        </p:spPr>
        <p:txBody>
          <a:bodyPr wrap="square" lIns="0" tIns="0" rIns="0" bIns="0" rtlCol="0" anchor="ctr"/>
          <a:lstStyle/>
          <a:p>
            <a:pPr indent="0" marL="0">
              <a:buNone/>
            </a:pPr>
            <a:r>
              <a:rPr lang="en-US" sz="800" b="1" dirty="0">
                <a:solidFill>
                  <a:srgbClr val="182F48"/>
                </a:solidFill>
                <a:latin typeface="Noto Sans KR" pitchFamily="34" charset="0"/>
                <a:ea typeface="Noto Sans KR" pitchFamily="34" charset="-122"/>
                <a:cs typeface="Noto Sans KR" pitchFamily="34" charset="-120"/>
              </a:rPr>
              <a:t>협회</a:t>
            </a:r>
            <a:endParaRPr lang="en-US" sz="800" dirty="0"/>
          </a:p>
          <a:p>
            <a:pPr indent="0" marL="0">
              <a:buNone/>
            </a:pPr>
            <a:r>
              <a:rPr lang="en-US" sz="800" dirty="0">
                <a:solidFill>
                  <a:srgbClr val="334155"/>
                </a:solidFill>
                <a:latin typeface="Noto Sans KR" pitchFamily="34" charset="0"/>
                <a:ea typeface="Noto Sans KR" pitchFamily="34" charset="-122"/>
                <a:cs typeface="Noto Sans KR" pitchFamily="34" charset="-120"/>
              </a:rPr>
              <a:t>한국아웃도어스포츠산업협회 · 섬유산업연합회</a:t>
            </a:r>
            <a:endParaRPr lang="en-US" sz="800" dirty="0"/>
          </a:p>
        </p:txBody>
      </p:sp>
      <p:sp>
        <p:nvSpPr>
          <p:cNvPr id="56" name="지원 칩 6"/>
          <p:cNvSpPr/>
          <p:nvPr/>
        </p:nvSpPr>
        <p:spPr>
          <a:xfrm>
            <a:off x="9817608" y="4965192"/>
            <a:ext cx="1749552" cy="457200"/>
          </a:xfrm>
          <a:prstGeom prst="roundRect">
            <a:avLst>
              <a:gd name="adj" fmla="val 12000"/>
            </a:avLst>
          </a:prstGeom>
          <a:solidFill>
            <a:srgbClr val="F1F5F9"/>
          </a:solidFill>
          <a:ln/>
        </p:spPr>
      </p:sp>
      <p:sp>
        <p:nvSpPr>
          <p:cNvPr id="57" name="지원 칩 문구 6"/>
          <p:cNvSpPr txBox="1"/>
          <p:nvPr/>
        </p:nvSpPr>
        <p:spPr>
          <a:xfrm>
            <a:off x="9890760" y="4965192"/>
            <a:ext cx="1603248" cy="457200"/>
          </a:xfrm>
          <a:prstGeom prst="rect">
            <a:avLst/>
          </a:prstGeom>
          <a:noFill/>
          <a:ln/>
        </p:spPr>
        <p:txBody>
          <a:bodyPr wrap="square" lIns="0" tIns="0" rIns="0" bIns="0" rtlCol="0" anchor="ctr"/>
          <a:lstStyle/>
          <a:p>
            <a:pPr indent="0" marL="0">
              <a:buNone/>
            </a:pPr>
            <a:r>
              <a:rPr lang="en-US" sz="800" b="1" dirty="0">
                <a:solidFill>
                  <a:srgbClr val="182F48"/>
                </a:solidFill>
                <a:latin typeface="Noto Sans KR" pitchFamily="34" charset="0"/>
                <a:ea typeface="Noto Sans KR" pitchFamily="34" charset="-122"/>
                <a:cs typeface="Noto Sans KR" pitchFamily="34" charset="-120"/>
              </a:rPr>
              <a:t>정책 · 공공</a:t>
            </a:r>
            <a:endParaRPr lang="en-US" sz="800" dirty="0"/>
          </a:p>
          <a:p>
            <a:pPr indent="0" marL="0">
              <a:buNone/>
            </a:pPr>
            <a:r>
              <a:rPr lang="en-US" sz="800" dirty="0">
                <a:solidFill>
                  <a:srgbClr val="334155"/>
                </a:solidFill>
                <a:latin typeface="Noto Sans KR" pitchFamily="34" charset="0"/>
                <a:ea typeface="Noto Sans KR" pitchFamily="34" charset="-122"/>
                <a:cs typeface="Noto Sans KR" pitchFamily="34" charset="-120"/>
              </a:rPr>
              <a:t>산업통상부 · KOTRA · 산림청</a:t>
            </a:r>
            <a:endParaRPr lang="en-US" sz="800" dirty="0"/>
          </a:p>
        </p:txBody>
      </p:sp>
      <p:sp>
        <p:nvSpPr>
          <p:cNvPr id="58" name="라벨 전시회가 다룰 범위"/>
          <p:cNvSpPr txBox="1"/>
          <p:nvPr/>
        </p:nvSpPr>
        <p:spPr>
          <a:xfrm>
            <a:off x="612648" y="5559552"/>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전시회가 다룰 범위</a:t>
            </a:r>
            <a:endParaRPr lang="en-US" sz="1500" dirty="0"/>
          </a:p>
        </p:txBody>
      </p:sp>
      <p:sp>
        <p:nvSpPr>
          <p:cNvPr id="59" name="범위 설명"/>
          <p:cNvSpPr txBox="1"/>
          <p:nvPr/>
        </p:nvSpPr>
        <p:spPr>
          <a:xfrm>
            <a:off x="3383280" y="5541264"/>
            <a:ext cx="8183880" cy="731520"/>
          </a:xfrm>
          <a:prstGeom prst="rect">
            <a:avLst/>
          </a:prstGeom>
          <a:noFill/>
          <a:ln/>
        </p:spPr>
        <p:txBody>
          <a:bodyPr wrap="square" lIns="0" tIns="0" rIns="0" bIns="0" rtlCol="0" anchor="t"/>
          <a:lstStyle/>
          <a:p>
            <a:pPr indent="0" marL="0">
              <a:spcAft>
                <a:spcPts val="200"/>
              </a:spcAft>
              <a:buNone/>
            </a:pPr>
            <a:r>
              <a:rPr lang="en-US" sz="900" b="1" dirty="0">
                <a:solidFill>
                  <a:srgbClr val="267D86"/>
                </a:solidFill>
                <a:latin typeface="Noto Sans KR" pitchFamily="34" charset="0"/>
                <a:ea typeface="Noto Sans KR" pitchFamily="34" charset="-122"/>
                <a:cs typeface="Noto Sans KR" pitchFamily="34" charset="-120"/>
              </a:rPr>
              <a:t>포함 </a:t>
            </a:r>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③ 브랜드 ↔ ④ 바이어(수주) + ③ 브랜드 ↔ ⑤ 관심 고객(체험)   </a:t>
            </a:r>
            <a:pPr indent="0" marL="0">
              <a:spcAft>
                <a:spcPts val="200"/>
              </a:spcAft>
              <a:buNone/>
            </a:pPr>
            <a:r>
              <a:rPr lang="en-US" sz="900" b="1" dirty="0">
                <a:solidFill>
                  <a:srgbClr val="267D86"/>
                </a:solidFill>
                <a:latin typeface="Noto Sans KR" pitchFamily="34" charset="0"/>
                <a:ea typeface="Noto Sans KR" pitchFamily="34" charset="-122"/>
                <a:cs typeface="Noto Sans KR" pitchFamily="34" charset="-120"/>
              </a:rPr>
              <a:t>부분 포함 </a:t>
            </a:r>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① 소재 랩 · 물류/마케팅 서비스관   </a:t>
            </a:r>
            <a:pPr indent="0" marL="0">
              <a:spcAft>
                <a:spcPts val="200"/>
              </a:spcAft>
              <a:buNone/>
            </a:pPr>
            <a:r>
              <a:rPr lang="en-US" sz="900" b="1" dirty="0">
                <a:solidFill>
                  <a:srgbClr val="64748B"/>
                </a:solidFill>
                <a:latin typeface="Noto Sans KR" pitchFamily="34" charset="0"/>
                <a:ea typeface="Noto Sans KR" pitchFamily="34" charset="-122"/>
                <a:cs typeface="Noto Sans KR" pitchFamily="34" charset="-120"/>
              </a:rPr>
              <a:t>제외 </a:t>
            </a:r>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② 생산(OEM)</a:t>
            </a:r>
            <a:endParaRPr lang="en-US" sz="900" dirty="0"/>
          </a:p>
          <a:p>
            <a:pPr indent="0" marL="0">
              <a:spcAft>
                <a:spcPts val="200"/>
              </a:spcAft>
              <a:buNone/>
            </a:pPr>
            <a:r>
              <a:rPr lang="en-US" sz="900" dirty="0">
                <a:solidFill>
                  <a:srgbClr val="334155"/>
                </a:solidFill>
                <a:latin typeface="Noto Sans KR" pitchFamily="34" charset="0"/>
                <a:ea typeface="Noto Sans KR" pitchFamily="34" charset="-122"/>
                <a:cs typeface="Noto Sans KR" pitchFamily="34" charset="-120"/>
              </a:rPr>
              <a:t>이유  (1) 고프코어의 가격 프리미엄은 브랜드 스토리·기능 검증·유통 입점(③~⑤)에서 결정  (2) 소재·OEM 거래는 섬유산업연합회 '프리뷰 인 서울'(코엑스, 약 500개사)이 이미 담당 → 중복 회피  (3) 물류·마케팅사는 신진 브랜드의 해외 진출을 돕는 조력자라 서비스관으로만 참여  (4) 인터뷰: 브랜드가 원하는 성과는 관심 고객의 반응</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5/6</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참가업체 · 바이어 연결표</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누가 무엇을 제공하고, 누가 왜 구매하는가?</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출처: 뉴데일리(2025.9.11) · 한국경제(2025.11.21) · Houyhnhnm·END.(케일) · 무신사 뉴스룸(2024.7.17, 도쿄 쇼룸) · 헤럴드경제(2025.12.30, 무신사 회원 1,600만) · 스마트투데이(2024, 코오롱스포츠 이토추·센트럴 유통 계약) · 파이낸셜뉴스(2025.6.10, 무신사 해외 주문 풀필먼트) · 이투데이(2025, CJ대한통운 '더 풀필') · 참가업체 측 인터뷰(2026.10.17)</a:t>
            </a:r>
            <a:endParaRPr lang="en-US" sz="850" dirty="0"/>
          </a:p>
        </p:txBody>
      </p:sp>
      <p:sp>
        <p:nvSpPr>
          <p:cNvPr id="7" name="라벨 참가업체 카테고리"/>
          <p:cNvSpPr txBox="1"/>
          <p:nvPr/>
        </p:nvSpPr>
        <p:spPr>
          <a:xfrm>
            <a:off x="612648" y="192024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참가업체 카테고리</a:t>
            </a:r>
            <a:endParaRPr lang="en-US" sz="1500" dirty="0"/>
          </a:p>
        </p:txBody>
      </p:sp>
      <p:sp>
        <p:nvSpPr>
          <p:cNvPr id="8" name="참가업체 A 배경"/>
          <p:cNvSpPr/>
          <p:nvPr/>
        </p:nvSpPr>
        <p:spPr>
          <a:xfrm>
            <a:off x="3383280" y="1874520"/>
            <a:ext cx="1563624" cy="1051560"/>
          </a:xfrm>
          <a:prstGeom prst="roundRect">
            <a:avLst>
              <a:gd name="adj" fmla="val 5217"/>
            </a:avLst>
          </a:prstGeom>
          <a:solidFill>
            <a:srgbClr val="EAF4F5"/>
          </a:solidFill>
          <a:ln/>
        </p:spPr>
      </p:sp>
      <p:sp>
        <p:nvSpPr>
          <p:cNvPr id="9" name="참가업체 A"/>
          <p:cNvSpPr txBox="1"/>
          <p:nvPr/>
        </p:nvSpPr>
        <p:spPr>
          <a:xfrm>
            <a:off x="3456432" y="1911096"/>
            <a:ext cx="1417320" cy="978408"/>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A  해외 프리미엄 아웃도어</a:t>
            </a:r>
            <a:endParaRPr lang="en-US" sz="950" dirty="0"/>
          </a:p>
          <a:p>
            <a:pPr indent="0" marL="0">
              <a:spcAft>
                <a:spcPts val="200"/>
              </a:spcAft>
              <a:buNone/>
            </a:pPr>
            <a:r>
              <a:rPr lang="en-US" sz="850" b="1" dirty="0">
                <a:solidFill>
                  <a:srgbClr val="267D86"/>
                </a:solidFill>
                <a:latin typeface="Noto Sans KR" pitchFamily="34" charset="0"/>
                <a:ea typeface="Noto Sans KR" pitchFamily="34" charset="-122"/>
                <a:cs typeface="Noto Sans KR" pitchFamily="34" charset="-120"/>
              </a:rPr>
              <a:t>국내 법인·수입유통</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아크테릭스 · 살로몬 · 마무트 · 살레와(에스엠케이컴퍼니)</a:t>
            </a:r>
            <a:endParaRPr lang="en-US" sz="950" dirty="0"/>
          </a:p>
        </p:txBody>
      </p:sp>
      <p:sp>
        <p:nvSpPr>
          <p:cNvPr id="10" name="참가업체 B 배경"/>
          <p:cNvSpPr/>
          <p:nvPr/>
        </p:nvSpPr>
        <p:spPr>
          <a:xfrm>
            <a:off x="5038344" y="1874520"/>
            <a:ext cx="1563624" cy="1051560"/>
          </a:xfrm>
          <a:prstGeom prst="roundRect">
            <a:avLst>
              <a:gd name="adj" fmla="val 5217"/>
            </a:avLst>
          </a:prstGeom>
          <a:solidFill>
            <a:srgbClr val="EAF4F5"/>
          </a:solidFill>
          <a:ln/>
        </p:spPr>
      </p:sp>
      <p:sp>
        <p:nvSpPr>
          <p:cNvPr id="11" name="참가업체 B"/>
          <p:cNvSpPr txBox="1"/>
          <p:nvPr/>
        </p:nvSpPr>
        <p:spPr>
          <a:xfrm>
            <a:off x="5111496" y="1911096"/>
            <a:ext cx="1417320" cy="978408"/>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B  K-고프코어 브랜드</a:t>
            </a:r>
            <a:endParaRPr lang="en-US" sz="950" dirty="0"/>
          </a:p>
          <a:p>
            <a:pPr indent="0" marL="0">
              <a:spcAft>
                <a:spcPts val="200"/>
              </a:spcAft>
              <a:buNone/>
            </a:pPr>
            <a:r>
              <a:rPr lang="en-US" sz="850" b="1" dirty="0">
                <a:solidFill>
                  <a:srgbClr val="267D86"/>
                </a:solidFill>
                <a:latin typeface="Noto Sans KR" pitchFamily="34" charset="0"/>
                <a:ea typeface="Noto Sans KR" pitchFamily="34" charset="-122"/>
                <a:cs typeface="Noto Sans KR" pitchFamily="34" charset="-120"/>
              </a:rPr>
              <a:t>신진·독립 브랜드</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케일(CAYL) · 산산기어 · 제로그램</a:t>
            </a:r>
            <a:endParaRPr lang="en-US" sz="950" dirty="0"/>
          </a:p>
        </p:txBody>
      </p:sp>
      <p:sp>
        <p:nvSpPr>
          <p:cNvPr id="12" name="참가업체 C 배경"/>
          <p:cNvSpPr/>
          <p:nvPr/>
        </p:nvSpPr>
        <p:spPr>
          <a:xfrm>
            <a:off x="6693408" y="1874520"/>
            <a:ext cx="1563624" cy="1051560"/>
          </a:xfrm>
          <a:prstGeom prst="roundRect">
            <a:avLst>
              <a:gd name="adj" fmla="val 5217"/>
            </a:avLst>
          </a:prstGeom>
          <a:solidFill>
            <a:srgbClr val="EAF4F5"/>
          </a:solidFill>
          <a:ln/>
        </p:spPr>
      </p:sp>
      <p:sp>
        <p:nvSpPr>
          <p:cNvPr id="13" name="참가업체 C"/>
          <p:cNvSpPr txBox="1"/>
          <p:nvPr/>
        </p:nvSpPr>
        <p:spPr>
          <a:xfrm>
            <a:off x="6766560" y="1911096"/>
            <a:ext cx="1417320" cy="978408"/>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C  국내 대형사 고프코어 라인</a:t>
            </a:r>
            <a:endParaRPr lang="en-US" sz="950" dirty="0"/>
          </a:p>
          <a:p>
            <a:pPr indent="0" marL="0">
              <a:spcAft>
                <a:spcPts val="200"/>
              </a:spcAft>
              <a:buNone/>
            </a:pPr>
            <a:r>
              <a:rPr lang="en-US" sz="850" b="1" dirty="0">
                <a:solidFill>
                  <a:srgbClr val="267D86"/>
                </a:solidFill>
                <a:latin typeface="Noto Sans KR" pitchFamily="34" charset="0"/>
                <a:ea typeface="Noto Sans KR" pitchFamily="34" charset="-122"/>
                <a:cs typeface="Noto Sans KR" pitchFamily="34" charset="-120"/>
              </a:rPr>
              <a:t>아웃도어 대기업</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노스페이스(영원아웃도어) · 코오롱스포츠 · 스노우피크어패럴</a:t>
            </a:r>
            <a:endParaRPr lang="en-US" sz="950" dirty="0"/>
          </a:p>
        </p:txBody>
      </p:sp>
      <p:sp>
        <p:nvSpPr>
          <p:cNvPr id="14" name="참가업체 D 배경"/>
          <p:cNvSpPr/>
          <p:nvPr/>
        </p:nvSpPr>
        <p:spPr>
          <a:xfrm>
            <a:off x="8348472" y="1874520"/>
            <a:ext cx="1563624" cy="1051560"/>
          </a:xfrm>
          <a:prstGeom prst="roundRect">
            <a:avLst>
              <a:gd name="adj" fmla="val 5217"/>
            </a:avLst>
          </a:prstGeom>
          <a:solidFill>
            <a:srgbClr val="F1F5F9"/>
          </a:solidFill>
          <a:ln/>
        </p:spPr>
      </p:sp>
      <p:sp>
        <p:nvSpPr>
          <p:cNvPr id="15" name="참가업체 D"/>
          <p:cNvSpPr txBox="1"/>
          <p:nvPr/>
        </p:nvSpPr>
        <p:spPr>
          <a:xfrm>
            <a:off x="8421624" y="1911096"/>
            <a:ext cx="1417320" cy="978408"/>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D  기능성 소재 (소재 랩)</a:t>
            </a:r>
            <a:endParaRPr lang="en-US" sz="950" dirty="0"/>
          </a:p>
          <a:p>
            <a:pPr indent="0" marL="0">
              <a:spcAft>
                <a:spcPts val="200"/>
              </a:spcAft>
              <a:buNone/>
            </a:pPr>
            <a:r>
              <a:rPr lang="en-US" sz="850" b="1" dirty="0">
                <a:solidFill>
                  <a:srgbClr val="267D86"/>
                </a:solidFill>
                <a:latin typeface="Noto Sans KR" pitchFamily="34" charset="0"/>
                <a:ea typeface="Noto Sans KR" pitchFamily="34" charset="-122"/>
                <a:cs typeface="Noto Sans KR" pitchFamily="34" charset="-120"/>
              </a:rPr>
              <a:t>스폰서형 참가</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고어텍스 · 폴라텍 · 효성티앤씨</a:t>
            </a:r>
            <a:endParaRPr lang="en-US" sz="950" dirty="0"/>
          </a:p>
        </p:txBody>
      </p:sp>
      <p:sp>
        <p:nvSpPr>
          <p:cNvPr id="16" name="참가업체 E 배경"/>
          <p:cNvSpPr/>
          <p:nvPr/>
        </p:nvSpPr>
        <p:spPr>
          <a:xfrm>
            <a:off x="10003536" y="1874520"/>
            <a:ext cx="1563624" cy="1051560"/>
          </a:xfrm>
          <a:prstGeom prst="roundRect">
            <a:avLst>
              <a:gd name="adj" fmla="val 5217"/>
            </a:avLst>
          </a:prstGeom>
          <a:solidFill>
            <a:srgbClr val="F1F5F9"/>
          </a:solidFill>
          <a:ln/>
        </p:spPr>
      </p:sp>
      <p:sp>
        <p:nvSpPr>
          <p:cNvPr id="17" name="참가업체 E"/>
          <p:cNvSpPr txBox="1"/>
          <p:nvPr/>
        </p:nvSpPr>
        <p:spPr>
          <a:xfrm>
            <a:off x="10076688" y="1911096"/>
            <a:ext cx="1417320" cy="978408"/>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E  성장 서비스 (서비스관)</a:t>
            </a:r>
            <a:endParaRPr lang="en-US" sz="950" dirty="0"/>
          </a:p>
          <a:p>
            <a:pPr indent="0" marL="0">
              <a:spcAft>
                <a:spcPts val="200"/>
              </a:spcAft>
              <a:buNone/>
            </a:pPr>
            <a:r>
              <a:rPr lang="en-US" sz="850" b="1" dirty="0">
                <a:solidFill>
                  <a:srgbClr val="267D86"/>
                </a:solidFill>
                <a:latin typeface="Noto Sans KR" pitchFamily="34" charset="0"/>
                <a:ea typeface="Noto Sans KR" pitchFamily="34" charset="-122"/>
                <a:cs typeface="Noto Sans KR" pitchFamily="34" charset="-120"/>
              </a:rPr>
              <a:t>물류 · 마케팅</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CJ대한통운(더 풀필) · 무신사 로지스틱스 · 마케팅 대행사 외</a:t>
            </a:r>
            <a:endParaRPr lang="en-US" sz="950" dirty="0"/>
          </a:p>
        </p:txBody>
      </p:sp>
      <p:sp>
        <p:nvSpPr>
          <p:cNvPr id="18" name="라벨 바이어 카테고리"/>
          <p:cNvSpPr txBox="1"/>
          <p:nvPr/>
        </p:nvSpPr>
        <p:spPr>
          <a:xfrm>
            <a:off x="612648" y="3090672"/>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바이어 카테고리</a:t>
            </a:r>
            <a:endParaRPr lang="en-US" sz="1500" dirty="0"/>
          </a:p>
        </p:txBody>
      </p:sp>
      <p:sp>
        <p:nvSpPr>
          <p:cNvPr id="19" name="바이어 ① 배경"/>
          <p:cNvSpPr/>
          <p:nvPr/>
        </p:nvSpPr>
        <p:spPr>
          <a:xfrm>
            <a:off x="3383280" y="3017520"/>
            <a:ext cx="1563624" cy="896112"/>
          </a:xfrm>
          <a:prstGeom prst="roundRect">
            <a:avLst>
              <a:gd name="adj" fmla="val 6122"/>
            </a:avLst>
          </a:prstGeom>
          <a:solidFill>
            <a:srgbClr val="F1F5F9"/>
          </a:solidFill>
          <a:ln/>
        </p:spPr>
      </p:sp>
      <p:sp>
        <p:nvSpPr>
          <p:cNvPr id="20" name="바이어 ①"/>
          <p:cNvSpPr txBox="1"/>
          <p:nvPr/>
        </p:nvSpPr>
        <p:spPr>
          <a:xfrm>
            <a:off x="3456432" y="3054096"/>
            <a:ext cx="1417320" cy="822960"/>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① 온라인 패션 플랫폼 MD</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무신사(회원 1,600만) · 29CM · KREAM</a:t>
            </a:r>
            <a:endParaRPr lang="en-US" sz="950" dirty="0"/>
          </a:p>
        </p:txBody>
      </p:sp>
      <p:sp>
        <p:nvSpPr>
          <p:cNvPr id="21" name="바이어 ② 배경"/>
          <p:cNvSpPr/>
          <p:nvPr/>
        </p:nvSpPr>
        <p:spPr>
          <a:xfrm>
            <a:off x="5038344" y="3017520"/>
            <a:ext cx="1563624" cy="896112"/>
          </a:xfrm>
          <a:prstGeom prst="roundRect">
            <a:avLst>
              <a:gd name="adj" fmla="val 6122"/>
            </a:avLst>
          </a:prstGeom>
          <a:solidFill>
            <a:srgbClr val="F1F5F9"/>
          </a:solidFill>
          <a:ln/>
        </p:spPr>
      </p:sp>
      <p:sp>
        <p:nvSpPr>
          <p:cNvPr id="22" name="바이어 ②"/>
          <p:cNvSpPr txBox="1"/>
          <p:nvPr/>
        </p:nvSpPr>
        <p:spPr>
          <a:xfrm>
            <a:off x="5111496" y="3054096"/>
            <a:ext cx="1417320" cy="822960"/>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② 백화점 아웃도어 바이어</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현대 · 신세계 · 롯데백화점</a:t>
            </a:r>
            <a:endParaRPr lang="en-US" sz="950" dirty="0"/>
          </a:p>
        </p:txBody>
      </p:sp>
      <p:sp>
        <p:nvSpPr>
          <p:cNvPr id="23" name="바이어 ③ 배경"/>
          <p:cNvSpPr/>
          <p:nvPr/>
        </p:nvSpPr>
        <p:spPr>
          <a:xfrm>
            <a:off x="6693408" y="3017520"/>
            <a:ext cx="1563624" cy="896112"/>
          </a:xfrm>
          <a:prstGeom prst="roundRect">
            <a:avLst>
              <a:gd name="adj" fmla="val 6122"/>
            </a:avLst>
          </a:prstGeom>
          <a:solidFill>
            <a:srgbClr val="F1F5F9"/>
          </a:solidFill>
          <a:ln/>
        </p:spPr>
      </p:sp>
      <p:sp>
        <p:nvSpPr>
          <p:cNvPr id="24" name="바이어 ③"/>
          <p:cNvSpPr txBox="1"/>
          <p:nvPr/>
        </p:nvSpPr>
        <p:spPr>
          <a:xfrm>
            <a:off x="6766560" y="3054096"/>
            <a:ext cx="1417320" cy="822960"/>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③ 국내외 편집숍 바이어</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웍스아웃 / 1LDK · 빔즈 · 유나이티드애로우즈 / END.</a:t>
            </a:r>
            <a:endParaRPr lang="en-US" sz="950" dirty="0"/>
          </a:p>
        </p:txBody>
      </p:sp>
      <p:sp>
        <p:nvSpPr>
          <p:cNvPr id="25" name="바이어 ④ 배경"/>
          <p:cNvSpPr/>
          <p:nvPr/>
        </p:nvSpPr>
        <p:spPr>
          <a:xfrm>
            <a:off x="8348472" y="3017520"/>
            <a:ext cx="1563624" cy="896112"/>
          </a:xfrm>
          <a:prstGeom prst="roundRect">
            <a:avLst>
              <a:gd name="adj" fmla="val 6122"/>
            </a:avLst>
          </a:prstGeom>
          <a:solidFill>
            <a:srgbClr val="F1F5F9"/>
          </a:solidFill>
          <a:ln/>
        </p:spPr>
      </p:sp>
      <p:sp>
        <p:nvSpPr>
          <p:cNvPr id="26" name="바이어 ④"/>
          <p:cNvSpPr txBox="1"/>
          <p:nvPr/>
        </p:nvSpPr>
        <p:spPr>
          <a:xfrm>
            <a:off x="8421624" y="3054096"/>
            <a:ext cx="1417320" cy="822960"/>
          </a:xfrm>
          <a:prstGeom prst="rect">
            <a:avLst/>
          </a:prstGeom>
          <a:noFill/>
          <a:ln/>
        </p:spPr>
        <p:txBody>
          <a:bodyPr wrap="square" lIns="0" tIns="0" rIns="0" bIns="0" rtlCol="0" anchor="t"/>
          <a:lstStyle/>
          <a:p>
            <a:pPr indent="0" marL="0">
              <a:spcAft>
                <a:spcPts val="200"/>
              </a:spcAft>
              <a:buNone/>
            </a:pPr>
            <a:r>
              <a:rPr lang="en-US" sz="950" b="1" dirty="0">
                <a:solidFill>
                  <a:srgbClr val="182F48"/>
                </a:solidFill>
                <a:latin typeface="Noto Sans KR" pitchFamily="34" charset="0"/>
                <a:ea typeface="Noto Sans KR" pitchFamily="34" charset="-122"/>
                <a:cs typeface="Noto Sans KR" pitchFamily="34" charset="-120"/>
              </a:rPr>
              <a:t>④ 해외 총판 · 종합상사</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이토추상사(일본) · 센트럴그룹(태국)</a:t>
            </a:r>
            <a:endParaRPr lang="en-US" sz="950" dirty="0"/>
          </a:p>
        </p:txBody>
      </p:sp>
      <p:sp>
        <p:nvSpPr>
          <p:cNvPr id="27" name="바이어 ⑤ 배경"/>
          <p:cNvSpPr/>
          <p:nvPr/>
        </p:nvSpPr>
        <p:spPr>
          <a:xfrm>
            <a:off x="10003536" y="3017520"/>
            <a:ext cx="1563624" cy="896112"/>
          </a:xfrm>
          <a:prstGeom prst="roundRect">
            <a:avLst>
              <a:gd name="adj" fmla="val 6122"/>
            </a:avLst>
          </a:prstGeom>
          <a:solidFill>
            <a:srgbClr val="FFF1E8"/>
          </a:solidFill>
          <a:ln/>
        </p:spPr>
      </p:sp>
      <p:sp>
        <p:nvSpPr>
          <p:cNvPr id="28" name="바이어 ⑤"/>
          <p:cNvSpPr txBox="1"/>
          <p:nvPr/>
        </p:nvSpPr>
        <p:spPr>
          <a:xfrm>
            <a:off x="10076688" y="3054096"/>
            <a:ext cx="1417320" cy="822960"/>
          </a:xfrm>
          <a:prstGeom prst="rect">
            <a:avLst/>
          </a:prstGeom>
          <a:noFill/>
          <a:ln/>
        </p:spPr>
        <p:txBody>
          <a:bodyPr wrap="square" lIns="0" tIns="0" rIns="0" bIns="0" rtlCol="0" anchor="t"/>
          <a:lstStyle/>
          <a:p>
            <a:pPr indent="0" marL="0">
              <a:spcAft>
                <a:spcPts val="200"/>
              </a:spcAft>
              <a:buNone/>
            </a:pPr>
            <a:r>
              <a:rPr lang="en-US" sz="950" b="1" dirty="0">
                <a:solidFill>
                  <a:srgbClr val="C2410C"/>
                </a:solidFill>
                <a:latin typeface="Noto Sans KR" pitchFamily="34" charset="0"/>
                <a:ea typeface="Noto Sans KR" pitchFamily="34" charset="-122"/>
                <a:cs typeface="Noto Sans KR" pitchFamily="34" charset="-120"/>
              </a:rPr>
              <a:t>⑤ 관심 소비자 (퍼블릭)</a:t>
            </a:r>
            <a:endParaRPr lang="en-US" sz="950" dirty="0"/>
          </a:p>
          <a:p>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2030 하이킹 · 러닝 크루, 고프코어 커뮤니티</a:t>
            </a:r>
            <a:endParaRPr lang="en-US" sz="950" dirty="0"/>
          </a:p>
        </p:txBody>
      </p:sp>
      <p:sp>
        <p:nvSpPr>
          <p:cNvPr id="29" name="라벨 거래 연결 관계"/>
          <p:cNvSpPr txBox="1"/>
          <p:nvPr/>
        </p:nvSpPr>
        <p:spPr>
          <a:xfrm>
            <a:off x="612648" y="406908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거래 연결 관계</a:t>
            </a:r>
            <a:endParaRPr lang="en-US" sz="1500" dirty="0"/>
          </a:p>
        </p:txBody>
      </p:sp>
      <p:sp>
        <p:nvSpPr>
          <p:cNvPr id="30" name="연결 안내"/>
          <p:cNvSpPr txBox="1"/>
          <p:nvPr/>
        </p:nvSpPr>
        <p:spPr>
          <a:xfrm>
            <a:off x="612648" y="4389120"/>
            <a:ext cx="2606040" cy="457200"/>
          </a:xfrm>
          <a:prstGeom prst="rect">
            <a:avLst/>
          </a:prstGeom>
          <a:noFill/>
          <a:ln/>
        </p:spPr>
        <p:txBody>
          <a:bodyPr wrap="square" lIns="0" tIns="0" rIns="0" bIns="0" rtlCol="0" anchor="t"/>
          <a:lstStyle/>
          <a:p>
            <a:pPr indent="0" marL="0">
              <a:buNone/>
            </a:pPr>
            <a:r>
              <a:rPr lang="en-US" sz="950" dirty="0">
                <a:solidFill>
                  <a:srgbClr val="64748B"/>
                </a:solidFill>
                <a:latin typeface="Noto Sans KR" pitchFamily="34" charset="0"/>
                <a:ea typeface="Noto Sans KR" pitchFamily="34" charset="-122"/>
                <a:cs typeface="Noto Sans KR" pitchFamily="34" charset="-120"/>
              </a:rPr>
              <a:t>참가업체 유형 → 제공 품목 → 바이어 유형 → 구매 이유</a:t>
            </a:r>
            <a:endParaRPr lang="en-US" sz="950" dirty="0"/>
          </a:p>
        </p:txBody>
      </p:sp>
      <p:graphicFrame>
        <p:nvGraphicFramePr>
          <p:cNvPr id="6" name="거래 연결표"/>
          <p:cNvGraphicFramePr>
            <a:graphicFrameLocks noGrp="1"/>
          </p:cNvGraphicFramePr>
          <p:nvPr>
            <p:extLst>
              <p:ext uri="{D42A27DB-BD31-4B8C-83A1-F6EECF244321}">
                <p14:modId xmlns:p14="http://schemas.microsoft.com/office/powerpoint/2010/main" val="1579011935"/>
              </p:ext>
            </p:extLst>
          </p:nvPr>
        </p:nvGraphicFramePr>
        <p:xfrm>
          <a:off x="3383280" y="4041648"/>
          <a:ext cx="8183880" cy="914400"/>
        </p:xfrm>
        <a:graphic>
          <a:graphicData uri="http://schemas.openxmlformats.org/drawingml/2006/table">
            <a:tbl>
              <a:tblPr/>
              <a:tblGrid>
                <a:gridCol w="1234440"/>
                <a:gridCol w="1874520"/>
                <a:gridCol w="1691640"/>
                <a:gridCol w="3383280"/>
              </a:tblGrid>
              <a:tr h="256032">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참가업체</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제공 품목</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바이어</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구매(참여) 이유</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384048">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A 해외 프리미엄</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신제품 기능 시연, 브랜드 스토리</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267D86"/>
                          </a:solidFill>
                          <a:latin typeface="Noto Sans KR" pitchFamily="34" charset="0"/>
                          <a:ea typeface="Noto Sans KR" pitchFamily="34" charset="-122"/>
                          <a:cs typeface="Noto Sans KR" pitchFamily="34" charset="-120"/>
                        </a:rPr>
                        <a:t>⑤ 관심 소비자, ② 백화점</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고가 제품의 가치를 깊게 들어줄 고객 접점 (인터뷰: 현장판매·투자 유치보다 브랜드 홍보)</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84048">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B K-고프코어</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2028 S/S 시즌 컬렉션 수주</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267D86"/>
                          </a:solidFill>
                          <a:latin typeface="Noto Sans KR" pitchFamily="34" charset="0"/>
                          <a:ea typeface="Noto Sans KR" pitchFamily="34" charset="-122"/>
                          <a:cs typeface="Noto Sans KR" pitchFamily="34" charset="-120"/>
                        </a:rPr>
                        <a:t>① 플랫폼, ③ 편집숍</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트렌드 감도와 가격 경쟁력을 갖춘 K-브랜드 소싱 (무신사 도쿄 쇼룸 주문 3배)</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84048">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C 국내 대형사</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고프코어 라인, 해외 유통권</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267D86"/>
                          </a:solidFill>
                          <a:latin typeface="Noto Sans KR" pitchFamily="34" charset="0"/>
                          <a:ea typeface="Noto Sans KR" pitchFamily="34" charset="-122"/>
                          <a:cs typeface="Noto Sans KR" pitchFamily="34" charset="-120"/>
                        </a:rPr>
                        <a:t>④ 해외 총판, ② 백화점</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검증된 한국 브랜드의 아시아 유통 확대 (코오롱스포츠-이토추·센트럴 계약)</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84048">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D 기능성 소재</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기능성 원단, 성분 브랜딩</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267D86"/>
                          </a:solidFill>
                          <a:latin typeface="Noto Sans KR" pitchFamily="34" charset="0"/>
                          <a:ea typeface="Noto Sans KR" pitchFamily="34" charset="-122"/>
                          <a:cs typeface="Noto Sans KR" pitchFamily="34" charset="-120"/>
                        </a:rPr>
                        <a:t>A·B·C 브랜드 기획·소싱팀</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차기 시즌 소재 선정, 소비자에게 보여줄 기능 근거 확보</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84048">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E 성장 서비스</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풀필먼트·해외 배송, 홍보 대행</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267D86"/>
                          </a:solidFill>
                          <a:latin typeface="Noto Sans KR" pitchFamily="34" charset="0"/>
                          <a:ea typeface="Noto Sans KR" pitchFamily="34" charset="-122"/>
                          <a:cs typeface="Noto Sans KR" pitchFamily="34" charset="-120"/>
                        </a:rPr>
                        <a:t>A·B 참가 브랜드 (특히 신진)</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해외 주문·재고·홍보를 직접 감당하기 어려워 외주로 비용 절감·마진 개선 (무신사도 해외 주문 풀필먼트 준비)</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6/6</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주요 이해관계자 · 역할</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누구와 협력하며, 각 주체는 무엇을 얻는가?</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출처: 산업통상부 「전시산업 발전 로드맵 2030」(2026.10.14) · 서울 관광·MICE기업 지원센터 공고(2026, 서울시 MICE산업 지원 전시회 분야) · 쿠키뉴스(2019.4.17, 한국아웃도어스포츠산업협회 2014년 설립) · 스마트투데이(2025, 프리뷰 인 서울 / 2025.10, 코오롱스포츠·산림청·한국등산트레킹지원센터 동서트레일 협약) · 데일리안(FITI 시험설비) · 산에이(2025, GO OUT KOREA 월 2만 부·인스타그램 7.4만) · 별첨 「전화 검증 기록」</a:t>
            </a:r>
            <a:endParaRPr lang="en-US" sz="850" dirty="0"/>
          </a:p>
        </p:txBody>
      </p:sp>
      <p:sp>
        <p:nvSpPr>
          <p:cNvPr id="7" name="라벨 주요 이해관계자"/>
          <p:cNvSpPr txBox="1"/>
          <p:nvPr/>
        </p:nvSpPr>
        <p:spPr>
          <a:xfrm>
            <a:off x="612648" y="1901952"/>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주요 이해관계자</a:t>
            </a:r>
            <a:endParaRPr lang="en-US" sz="1500" dirty="0"/>
          </a:p>
        </p:txBody>
      </p:sp>
      <p:sp>
        <p:nvSpPr>
          <p:cNvPr id="8" name="이해관계자 분류 1"/>
          <p:cNvSpPr/>
          <p:nvPr/>
        </p:nvSpPr>
        <p:spPr>
          <a:xfrm>
            <a:off x="3383280" y="1856232"/>
            <a:ext cx="2240280" cy="457200"/>
          </a:xfrm>
          <a:prstGeom prst="roundRect">
            <a:avLst>
              <a:gd name="adj" fmla="val 12000"/>
            </a:avLst>
          </a:prstGeom>
          <a:solidFill>
            <a:srgbClr val="EAF4F5"/>
          </a:solidFill>
          <a:ln/>
        </p:spPr>
      </p:sp>
      <p:sp>
        <p:nvSpPr>
          <p:cNvPr id="9" name="이해관계자 분류 문구 1"/>
          <p:cNvSpPr txBox="1"/>
          <p:nvPr/>
        </p:nvSpPr>
        <p:spPr>
          <a:xfrm>
            <a:off x="3438144" y="1874520"/>
            <a:ext cx="2130552" cy="42062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정부·공공</a:t>
            </a:r>
            <a:endParaRPr lang="en-US" sz="850" dirty="0"/>
          </a:p>
          <a:p>
            <a:pPr indent="0" marL="0">
              <a:buNone/>
            </a:pPr>
            <a:r>
              <a:rPr lang="en-US" sz="850" b="1" dirty="0">
                <a:solidFill>
                  <a:srgbClr val="182F48"/>
                </a:solidFill>
                <a:latin typeface="Noto Sans KR" pitchFamily="34" charset="0"/>
                <a:ea typeface="Noto Sans KR" pitchFamily="34" charset="-122"/>
                <a:cs typeface="Noto Sans KR" pitchFamily="34" charset="-120"/>
              </a:rPr>
              <a:t>산업통상부 · KOTRA · 서울관광재단 · 산림청</a:t>
            </a:r>
            <a:endParaRPr lang="en-US" sz="850" dirty="0"/>
          </a:p>
        </p:txBody>
      </p:sp>
      <p:sp>
        <p:nvSpPr>
          <p:cNvPr id="10" name="이해관계자 분류 2"/>
          <p:cNvSpPr/>
          <p:nvPr/>
        </p:nvSpPr>
        <p:spPr>
          <a:xfrm>
            <a:off x="5715000" y="1856232"/>
            <a:ext cx="2148840" cy="457200"/>
          </a:xfrm>
          <a:prstGeom prst="roundRect">
            <a:avLst>
              <a:gd name="adj" fmla="val 12000"/>
            </a:avLst>
          </a:prstGeom>
          <a:solidFill>
            <a:srgbClr val="EAF4F5"/>
          </a:solidFill>
          <a:ln/>
        </p:spPr>
      </p:sp>
      <p:sp>
        <p:nvSpPr>
          <p:cNvPr id="11" name="이해관계자 분류 문구 2"/>
          <p:cNvSpPr txBox="1"/>
          <p:nvPr/>
        </p:nvSpPr>
        <p:spPr>
          <a:xfrm>
            <a:off x="5769864" y="1874520"/>
            <a:ext cx="2039112" cy="42062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협회</a:t>
            </a:r>
            <a:endParaRPr lang="en-US" sz="850" dirty="0"/>
          </a:p>
          <a:p>
            <a:pPr indent="0" marL="0">
              <a:buNone/>
            </a:pPr>
            <a:r>
              <a:rPr lang="en-US" sz="850" b="1" dirty="0">
                <a:solidFill>
                  <a:srgbClr val="182F48"/>
                </a:solidFill>
                <a:latin typeface="Noto Sans KR" pitchFamily="34" charset="0"/>
                <a:ea typeface="Noto Sans KR" pitchFamily="34" charset="-122"/>
                <a:cs typeface="Noto Sans KR" pitchFamily="34" charset="-120"/>
              </a:rPr>
              <a:t>한국아웃도어스포츠산업협회 · 한국섬유산업연합회</a:t>
            </a:r>
            <a:endParaRPr lang="en-US" sz="850" dirty="0"/>
          </a:p>
        </p:txBody>
      </p:sp>
      <p:sp>
        <p:nvSpPr>
          <p:cNvPr id="12" name="이해관계자 분류 3"/>
          <p:cNvSpPr/>
          <p:nvPr/>
        </p:nvSpPr>
        <p:spPr>
          <a:xfrm>
            <a:off x="7955280" y="1856232"/>
            <a:ext cx="1097280" cy="457200"/>
          </a:xfrm>
          <a:prstGeom prst="roundRect">
            <a:avLst>
              <a:gd name="adj" fmla="val 12000"/>
            </a:avLst>
          </a:prstGeom>
          <a:solidFill>
            <a:srgbClr val="EAF4F5"/>
          </a:solidFill>
          <a:ln/>
        </p:spPr>
      </p:sp>
      <p:sp>
        <p:nvSpPr>
          <p:cNvPr id="13" name="이해관계자 분류 문구 3"/>
          <p:cNvSpPr txBox="1"/>
          <p:nvPr/>
        </p:nvSpPr>
        <p:spPr>
          <a:xfrm>
            <a:off x="8010144" y="1874520"/>
            <a:ext cx="987552" cy="42062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연구·시험</a:t>
            </a:r>
            <a:endParaRPr lang="en-US" sz="850" dirty="0"/>
          </a:p>
          <a:p>
            <a:pPr indent="0" marL="0">
              <a:buNone/>
            </a:pPr>
            <a:r>
              <a:rPr lang="en-US" sz="850" b="1" dirty="0">
                <a:solidFill>
                  <a:srgbClr val="182F48"/>
                </a:solidFill>
                <a:latin typeface="Noto Sans KR" pitchFamily="34" charset="0"/>
                <a:ea typeface="Noto Sans KR" pitchFamily="34" charset="-122"/>
                <a:cs typeface="Noto Sans KR" pitchFamily="34" charset="-120"/>
              </a:rPr>
              <a:t>FITI시험연구원</a:t>
            </a:r>
            <a:endParaRPr lang="en-US" sz="850" dirty="0"/>
          </a:p>
        </p:txBody>
      </p:sp>
      <p:sp>
        <p:nvSpPr>
          <p:cNvPr id="14" name="이해관계자 분류 4"/>
          <p:cNvSpPr/>
          <p:nvPr/>
        </p:nvSpPr>
        <p:spPr>
          <a:xfrm>
            <a:off x="9144000" y="1856232"/>
            <a:ext cx="1371600" cy="457200"/>
          </a:xfrm>
          <a:prstGeom prst="roundRect">
            <a:avLst>
              <a:gd name="adj" fmla="val 12000"/>
            </a:avLst>
          </a:prstGeom>
          <a:solidFill>
            <a:srgbClr val="EAF4F5"/>
          </a:solidFill>
          <a:ln/>
        </p:spPr>
      </p:sp>
      <p:sp>
        <p:nvSpPr>
          <p:cNvPr id="15" name="이해관계자 분류 문구 4"/>
          <p:cNvSpPr txBox="1"/>
          <p:nvPr/>
        </p:nvSpPr>
        <p:spPr>
          <a:xfrm>
            <a:off x="9198864" y="1874520"/>
            <a:ext cx="1261872" cy="42062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미디어</a:t>
            </a:r>
            <a:endParaRPr lang="en-US" sz="850" dirty="0"/>
          </a:p>
          <a:p>
            <a:pPr indent="0" marL="0">
              <a:buNone/>
            </a:pPr>
            <a:r>
              <a:rPr lang="en-US" sz="850" b="1" dirty="0">
                <a:solidFill>
                  <a:srgbClr val="182F48"/>
                </a:solidFill>
                <a:latin typeface="Noto Sans KR" pitchFamily="34" charset="0"/>
                <a:ea typeface="Noto Sans KR" pitchFamily="34" charset="-122"/>
                <a:cs typeface="Noto Sans KR" pitchFamily="34" charset="-120"/>
              </a:rPr>
              <a:t>GO OUT KOREA · 패션비즈</a:t>
            </a:r>
            <a:endParaRPr lang="en-US" sz="850" dirty="0"/>
          </a:p>
        </p:txBody>
      </p:sp>
      <p:sp>
        <p:nvSpPr>
          <p:cNvPr id="16" name="이해관계자 분류 5"/>
          <p:cNvSpPr/>
          <p:nvPr/>
        </p:nvSpPr>
        <p:spPr>
          <a:xfrm>
            <a:off x="10607040" y="1856232"/>
            <a:ext cx="960120" cy="457200"/>
          </a:xfrm>
          <a:prstGeom prst="roundRect">
            <a:avLst>
              <a:gd name="adj" fmla="val 12000"/>
            </a:avLst>
          </a:prstGeom>
          <a:solidFill>
            <a:srgbClr val="EAF4F5"/>
          </a:solidFill>
          <a:ln/>
        </p:spPr>
      </p:sp>
      <p:sp>
        <p:nvSpPr>
          <p:cNvPr id="17" name="이해관계자 분류 문구 5"/>
          <p:cNvSpPr txBox="1"/>
          <p:nvPr/>
        </p:nvSpPr>
        <p:spPr>
          <a:xfrm>
            <a:off x="10661904" y="1874520"/>
            <a:ext cx="850392" cy="42062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베뉴·플랫폼</a:t>
            </a:r>
            <a:endParaRPr lang="en-US" sz="850" dirty="0"/>
          </a:p>
          <a:p>
            <a:pPr indent="0" marL="0">
              <a:buNone/>
            </a:pPr>
            <a:r>
              <a:rPr lang="en-US" sz="850" b="1" dirty="0">
                <a:solidFill>
                  <a:srgbClr val="182F48"/>
                </a:solidFill>
                <a:latin typeface="Noto Sans KR" pitchFamily="34" charset="0"/>
                <a:ea typeface="Noto Sans KR" pitchFamily="34" charset="-122"/>
                <a:cs typeface="Noto Sans KR" pitchFamily="34" charset="-120"/>
              </a:rPr>
              <a:t>코엑스 · 무신사</a:t>
            </a:r>
            <a:endParaRPr lang="en-US" sz="850" dirty="0"/>
          </a:p>
        </p:txBody>
      </p:sp>
      <p:sp>
        <p:nvSpPr>
          <p:cNvPr id="18" name="라벨 역할과 참여 이유"/>
          <p:cNvSpPr txBox="1"/>
          <p:nvPr/>
        </p:nvSpPr>
        <p:spPr>
          <a:xfrm>
            <a:off x="612648" y="2468880"/>
            <a:ext cx="2606040" cy="36576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역할과 참여 이유</a:t>
            </a:r>
            <a:endParaRPr lang="en-US" sz="1500" dirty="0"/>
          </a:p>
        </p:txBody>
      </p:sp>
      <p:sp>
        <p:nvSpPr>
          <p:cNvPr id="19" name="역할 안내"/>
          <p:cNvSpPr txBox="1"/>
          <p:nvPr/>
        </p:nvSpPr>
        <p:spPr>
          <a:xfrm>
            <a:off x="612648" y="2788920"/>
            <a:ext cx="2606040" cy="457200"/>
          </a:xfrm>
          <a:prstGeom prst="rect">
            <a:avLst/>
          </a:prstGeom>
          <a:noFill/>
          <a:ln/>
        </p:spPr>
        <p:txBody>
          <a:bodyPr wrap="square" lIns="0" tIns="0" rIns="0" bIns="0" rtlCol="0" anchor="t"/>
          <a:lstStyle/>
          <a:p>
            <a:pPr indent="0" marL="0">
              <a:buNone/>
            </a:pPr>
            <a:r>
              <a:rPr lang="en-US" sz="950" dirty="0">
                <a:solidFill>
                  <a:srgbClr val="64748B"/>
                </a:solidFill>
                <a:latin typeface="Noto Sans KR" pitchFamily="34" charset="0"/>
                <a:ea typeface="Noto Sans KR" pitchFamily="34" charset="-122"/>
                <a:cs typeface="Noto Sans KR" pitchFamily="34" charset="-120"/>
              </a:rPr>
              <a:t>[기관명] / [기대 역할·기여] / [참여로 얻는 이익]</a:t>
            </a:r>
            <a:endParaRPr lang="en-US" sz="950" dirty="0"/>
          </a:p>
        </p:txBody>
      </p:sp>
      <p:graphicFrame>
        <p:nvGraphicFramePr>
          <p:cNvPr id="7" name="이해관계자 역할표"/>
          <p:cNvGraphicFramePr>
            <a:graphicFrameLocks noGrp="1"/>
          </p:cNvGraphicFramePr>
          <p:nvPr>
            <p:extLst>
              <p:ext uri="{D42A27DB-BD31-4B8C-83A1-F6EECF244321}">
                <p14:modId xmlns:p14="http://schemas.microsoft.com/office/powerpoint/2010/main" val="1579011935"/>
              </p:ext>
            </p:extLst>
          </p:nvPr>
        </p:nvGraphicFramePr>
        <p:xfrm>
          <a:off x="3383280" y="2432304"/>
          <a:ext cx="8183880" cy="914400"/>
        </p:xfrm>
        <a:graphic>
          <a:graphicData uri="http://schemas.openxmlformats.org/drawingml/2006/table">
            <a:tbl>
              <a:tblPr/>
              <a:tblGrid>
                <a:gridCol w="2240280"/>
                <a:gridCol w="3108960"/>
                <a:gridCol w="2834640"/>
              </a:tblGrid>
              <a:tr h="274320">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기관명</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기대 역할 · 기여</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참여로 얻는 이익</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산업통상부</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후원 명칭, 전시회 지원사업 연계</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로드맵 2030 '산업·문화 융합형 전시 20%' 성과, 섬유패션 수출</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KOTRA</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해외 바이어 발굴·초청, 수출상담회 공동 운영</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수출 상담·계약 실적(기관 KPI)</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서울관광재단</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서울시 MICE 산업 지원(전시회 분야), 해외 홍보 채널</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외국인 MICE 방문객·서울 소비 증대</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한국아웃도어스포츠산업협회</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회원사 공동관 모집, 업계 의견 수렴</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회원사 판로 확대, 협회 위상 강화</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한국섬유산업연합회</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프리뷰 인 서울 연계, 소재 랩 구성</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기능성 소재의 브랜드 수요 발굴</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FITI시험연구원</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Test Lab 시험 자문(인공강우·써멀마네킨), 어워드 기능 심사</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시험·인증 고객 확보, 기관 신뢰도 홍보</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산림청 (한국등산·트레킹지원센터)</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숲길·안전 산행 캠페인관 (선례: 코오롱스포츠와 동서트레일 협약)</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2030 등산 인구 대상 숲길 정책 홍보</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GO OUT KOREA · 패션비즈</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미디어 파트너, 인플루언서·모델 섭외, 어워드 공동 주관</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콘텐츠·광고 수익, 업계 영향력 강화</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코엑스 / 무신사</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전시장·옥외 미디어 / 신진 브랜드 발굴 스폰서</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대관 수익·신규 전시 / 입점 브랜드·고객 데이터</a:t>
                      </a:r>
                      <a:endParaRPr lang="en-US" sz="8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21" name="라벨 별첨 제출: 전화 검증 기록"/>
          <p:cNvSpPr txBox="1"/>
          <p:nvPr/>
        </p:nvSpPr>
        <p:spPr>
          <a:xfrm>
            <a:off x="612648" y="5349240"/>
            <a:ext cx="2606040" cy="548640"/>
          </a:xfrm>
          <a:prstGeom prst="rect">
            <a:avLst/>
          </a:prstGeom>
          <a:noFill/>
          <a:ln/>
        </p:spPr>
        <p:txBody>
          <a:bodyPr wrap="square" lIns="0" tIns="0" rIns="0" bIns="0" rtlCol="0" anchor="t"/>
          <a:lstStyle/>
          <a:p>
            <a:pPr indent="0" marL="0">
              <a:buNone/>
            </a:pPr>
            <a:r>
              <a:rPr lang="en-US" sz="1500" b="1" dirty="0">
                <a:solidFill>
                  <a:srgbClr val="182F48"/>
                </a:solidFill>
                <a:latin typeface="Noto Sans KR" pitchFamily="34" charset="0"/>
                <a:ea typeface="Noto Sans KR" pitchFamily="34" charset="-122"/>
                <a:cs typeface="Noto Sans KR" pitchFamily="34" charset="-120"/>
              </a:rPr>
              <a:t>별첨 제출: 전화 검증 기록</a:t>
            </a:r>
            <a:endParaRPr lang="en-US" sz="1500" dirty="0"/>
          </a:p>
        </p:txBody>
      </p:sp>
      <p:sp>
        <p:nvSpPr>
          <p:cNvPr id="22" name="검증 참가업체 배경"/>
          <p:cNvSpPr/>
          <p:nvPr/>
        </p:nvSpPr>
        <p:spPr>
          <a:xfrm>
            <a:off x="3383280" y="5330952"/>
            <a:ext cx="4037076" cy="914400"/>
          </a:xfrm>
          <a:prstGeom prst="roundRect">
            <a:avLst>
              <a:gd name="adj" fmla="val 6000"/>
            </a:avLst>
          </a:prstGeom>
          <a:solidFill>
            <a:srgbClr val="EAF4F5"/>
          </a:solidFill>
          <a:ln/>
        </p:spPr>
      </p:sp>
      <p:sp>
        <p:nvSpPr>
          <p:cNvPr id="23" name="검증 참가업체"/>
          <p:cNvSpPr txBox="1"/>
          <p:nvPr/>
        </p:nvSpPr>
        <p:spPr>
          <a:xfrm>
            <a:off x="3493008" y="5358384"/>
            <a:ext cx="3817620" cy="859536"/>
          </a:xfrm>
          <a:prstGeom prst="rect">
            <a:avLst/>
          </a:prstGeom>
          <a:noFill/>
          <a:ln/>
        </p:spPr>
        <p:txBody>
          <a:bodyPr wrap="square" lIns="0" tIns="0" rIns="0" bIns="0" rtlCol="0" anchor="t"/>
          <a:lstStyle/>
          <a:p>
            <a:pPr indent="0" marL="0">
              <a:spcAft>
                <a:spcPts val="200"/>
              </a:spcAft>
              <a:buNone/>
            </a:pPr>
            <a:r>
              <a:rPr lang="en-US" sz="1000" b="1" dirty="0">
                <a:solidFill>
                  <a:srgbClr val="267D86"/>
                </a:solidFill>
                <a:latin typeface="Noto Sans KR" pitchFamily="34" charset="0"/>
                <a:ea typeface="Noto Sans KR" pitchFamily="34" charset="-122"/>
                <a:cs typeface="Noto Sans KR" pitchFamily="34" charset="-120"/>
              </a:rPr>
              <a:t>참가업체 측 · 완료</a:t>
            </a:r>
            <a:endParaRPr lang="en-US" sz="1000" dirty="0"/>
          </a:p>
          <a:p>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아웃도어 브랜드 유통·판매 담당자(마무트 종로점·제로그램 등 운영), 2026.10.17, 약 5분</a:t>
            </a:r>
            <a:endParaRPr lang="en-US" sz="1000" dirty="0"/>
          </a:p>
          <a:p>
            <a:pPr indent="0" marL="0">
              <a:spcAft>
                <a:spcPts val="200"/>
              </a:spcAft>
              <a:buNone/>
            </a:pPr>
            <a:r>
              <a:rPr lang="en-US" sz="900" dirty="0">
                <a:solidFill>
                  <a:srgbClr val="334155"/>
                </a:solidFill>
                <a:latin typeface="Noto Sans KR" pitchFamily="34" charset="0"/>
                <a:ea typeface="Noto Sans KR" pitchFamily="34" charset="-122"/>
                <a:cs typeface="Noto Sans KR" pitchFamily="34" charset="-120"/>
              </a:rPr>
              <a:t>→ 기획 수정: Test Lab(샤워부스·얼음 바닥) 도입, '고객 반응' KPI, 인플루언서·모델 콘텐츠 지원</a:t>
            </a:r>
            <a:endParaRPr lang="en-US" sz="1000" dirty="0"/>
          </a:p>
        </p:txBody>
      </p:sp>
      <p:sp>
        <p:nvSpPr>
          <p:cNvPr id="24" name="검증 바이어 배경"/>
          <p:cNvSpPr/>
          <p:nvPr/>
        </p:nvSpPr>
        <p:spPr>
          <a:xfrm>
            <a:off x="7530084" y="5330952"/>
            <a:ext cx="4037076" cy="914400"/>
          </a:xfrm>
          <a:prstGeom prst="roundRect">
            <a:avLst>
              <a:gd name="adj" fmla="val 6000"/>
            </a:avLst>
          </a:prstGeom>
          <a:solidFill>
            <a:srgbClr val="F1F5F9"/>
          </a:solidFill>
          <a:ln/>
        </p:spPr>
      </p:sp>
      <p:sp>
        <p:nvSpPr>
          <p:cNvPr id="25" name="검증 바이어"/>
          <p:cNvSpPr txBox="1"/>
          <p:nvPr/>
        </p:nvSpPr>
        <p:spPr>
          <a:xfrm>
            <a:off x="7639812" y="5358384"/>
            <a:ext cx="3817620" cy="859536"/>
          </a:xfrm>
          <a:prstGeom prst="rect">
            <a:avLst/>
          </a:prstGeom>
          <a:noFill/>
          <a:ln/>
        </p:spPr>
        <p:txBody>
          <a:bodyPr wrap="square" lIns="0" tIns="0" rIns="0" bIns="0" rtlCol="0" anchor="t"/>
          <a:lstStyle/>
          <a:p>
            <a:pPr indent="0" marL="0">
              <a:spcAft>
                <a:spcPts val="200"/>
              </a:spcAft>
              <a:buNone/>
            </a:pPr>
            <a:r>
              <a:rPr lang="en-US" sz="1000" b="1" dirty="0">
                <a:solidFill>
                  <a:srgbClr val="C2410C"/>
                </a:solidFill>
                <a:latin typeface="Noto Sans KR" pitchFamily="34" charset="0"/>
                <a:ea typeface="Noto Sans KR" pitchFamily="34" charset="-122"/>
                <a:cs typeface="Noto Sans KR" pitchFamily="34" charset="-120"/>
              </a:rPr>
              <a:t>바이어 측 · 진행 예정</a:t>
            </a:r>
            <a:endParaRPr lang="en-US" sz="1000" dirty="0"/>
          </a:p>
          <a:p>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온라인 플랫폼 MD · 편집숍 · 백화점 아웃도어 바이어 대상</a:t>
            </a:r>
            <a:endParaRPr lang="en-US" sz="1000" dirty="0"/>
          </a:p>
          <a:p>
            <a:pPr indent="0" marL="0">
              <a:spcAft>
                <a:spcPts val="200"/>
              </a:spcAft>
              <a:buNone/>
            </a:pPr>
            <a:r>
              <a:rPr lang="en-US" sz="900" dirty="0">
                <a:solidFill>
                  <a:srgbClr val="334155"/>
                </a:solidFill>
                <a:latin typeface="Noto Sans KR" pitchFamily="34" charset="0"/>
                <a:ea typeface="Noto Sans KR" pitchFamily="34" charset="-122"/>
                <a:cs typeface="Noto Sans KR" pitchFamily="34" charset="-120"/>
              </a:rPr>
              <a:t>최소 1곳 이상 통화 필수 · 질문지·시도 기록표는 별첨 2 (연결 실패도 시도 내역으로 기록)</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별첨 1/2</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별첨 · 전화 검증 기록 (참가업체 측)</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아웃도어 브랜드 유통·판매 담당자에게 수요를 직접 확인하고 기획을 수정했다</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 인터뷰 원문: 녹취록(2026.10.17, 약 5분 12초, 녹음 동의). 큰따옴표 안은 녹취 원문 그대로, 나머지는 요약. 답변은 수업 발표용으로만 활용 후 폐기하기로 안내함. 전화번호는 제출본에만 직접 기입.</a:t>
            </a:r>
            <a:endParaRPr lang="en-US" sz="850" dirty="0"/>
          </a:p>
        </p:txBody>
      </p:sp>
      <p:sp>
        <p:nvSpPr>
          <p:cNvPr id="7" name="접촉 정보 1"/>
          <p:cNvSpPr/>
          <p:nvPr/>
        </p:nvSpPr>
        <p:spPr>
          <a:xfrm>
            <a:off x="612648" y="1874520"/>
            <a:ext cx="4023360" cy="502920"/>
          </a:xfrm>
          <a:prstGeom prst="roundRect">
            <a:avLst>
              <a:gd name="adj" fmla="val 10909"/>
            </a:avLst>
          </a:prstGeom>
          <a:solidFill>
            <a:srgbClr val="EAF4F5"/>
          </a:solidFill>
          <a:ln/>
        </p:spPr>
      </p:sp>
      <p:sp>
        <p:nvSpPr>
          <p:cNvPr id="8" name="접촉 정보 문구 1"/>
          <p:cNvSpPr txBox="1"/>
          <p:nvPr/>
        </p:nvSpPr>
        <p:spPr>
          <a:xfrm>
            <a:off x="704088" y="1892808"/>
            <a:ext cx="3840480" cy="46634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접촉 대상</a:t>
            </a:r>
            <a:endParaRPr lang="en-US" sz="850" dirty="0"/>
          </a:p>
          <a:p>
            <a:pPr indent="0" marL="0">
              <a:buNone/>
            </a:pPr>
            <a:r>
              <a:rPr lang="en-US" sz="900" b="1" dirty="0">
                <a:solidFill>
                  <a:srgbClr val="182F48"/>
                </a:solidFill>
                <a:latin typeface="Noto Sans KR" pitchFamily="34" charset="0"/>
                <a:ea typeface="Noto Sans KR" pitchFamily="34" charset="-122"/>
                <a:cs typeface="Noto Sans KR" pitchFamily="34" charset="-120"/>
              </a:rPr>
              <a:t>손호영 님 · 아웃도어 브랜드 유통·판매 담당 (마이기어 운영 / 제로그램·아울렛·마무트 종로점 운영)</a:t>
            </a:r>
            <a:endParaRPr lang="en-US" sz="850" dirty="0"/>
          </a:p>
        </p:txBody>
      </p:sp>
      <p:sp>
        <p:nvSpPr>
          <p:cNvPr id="9" name="접촉 정보 2"/>
          <p:cNvSpPr/>
          <p:nvPr/>
        </p:nvSpPr>
        <p:spPr>
          <a:xfrm>
            <a:off x="4727448" y="1874520"/>
            <a:ext cx="2926080" cy="502920"/>
          </a:xfrm>
          <a:prstGeom prst="roundRect">
            <a:avLst>
              <a:gd name="adj" fmla="val 10909"/>
            </a:avLst>
          </a:prstGeom>
          <a:solidFill>
            <a:srgbClr val="EAF4F5"/>
          </a:solidFill>
          <a:ln/>
        </p:spPr>
      </p:sp>
      <p:sp>
        <p:nvSpPr>
          <p:cNvPr id="10" name="접촉 정보 문구 2"/>
          <p:cNvSpPr txBox="1"/>
          <p:nvPr/>
        </p:nvSpPr>
        <p:spPr>
          <a:xfrm>
            <a:off x="4818888" y="1892808"/>
            <a:ext cx="2743200" cy="46634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일시 · 방식</a:t>
            </a:r>
            <a:endParaRPr lang="en-US" sz="850" dirty="0"/>
          </a:p>
          <a:p>
            <a:pPr indent="0" marL="0">
              <a:buNone/>
            </a:pPr>
            <a:r>
              <a:rPr lang="en-US" sz="900" b="1" dirty="0">
                <a:solidFill>
                  <a:srgbClr val="182F48"/>
                </a:solidFill>
                <a:latin typeface="Noto Sans KR" pitchFamily="34" charset="0"/>
                <a:ea typeface="Noto Sans KR" pitchFamily="34" charset="-122"/>
                <a:cs typeface="Noto Sans KR" pitchFamily="34" charset="-120"/>
              </a:rPr>
              <a:t>2026. 10. 17(토) · 대면 인터뷰(녹음 동의) · 약 5분 12초</a:t>
            </a:r>
            <a:endParaRPr lang="en-US" sz="850" dirty="0"/>
          </a:p>
        </p:txBody>
      </p:sp>
      <p:sp>
        <p:nvSpPr>
          <p:cNvPr id="11" name="접촉 정보 3"/>
          <p:cNvSpPr/>
          <p:nvPr/>
        </p:nvSpPr>
        <p:spPr>
          <a:xfrm>
            <a:off x="7744968" y="1874520"/>
            <a:ext cx="1737360" cy="502920"/>
          </a:xfrm>
          <a:prstGeom prst="roundRect">
            <a:avLst>
              <a:gd name="adj" fmla="val 10909"/>
            </a:avLst>
          </a:prstGeom>
          <a:solidFill>
            <a:srgbClr val="EAF4F5"/>
          </a:solidFill>
          <a:ln/>
        </p:spPr>
      </p:sp>
      <p:sp>
        <p:nvSpPr>
          <p:cNvPr id="12" name="접촉 정보 문구 3"/>
          <p:cNvSpPr txBox="1"/>
          <p:nvPr/>
        </p:nvSpPr>
        <p:spPr>
          <a:xfrm>
            <a:off x="7836408" y="1892808"/>
            <a:ext cx="1554480" cy="46634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전화번호</a:t>
            </a:r>
            <a:endParaRPr lang="en-US" sz="850" dirty="0"/>
          </a:p>
          <a:p>
            <a:pPr indent="0" marL="0">
              <a:buNone/>
            </a:pPr>
            <a:r>
              <a:rPr lang="en-US" sz="900" b="1" dirty="0">
                <a:solidFill>
                  <a:srgbClr val="182F48"/>
                </a:solidFill>
                <a:latin typeface="Noto Sans KR" pitchFamily="34" charset="0"/>
                <a:ea typeface="Noto Sans KR" pitchFamily="34" charset="-122"/>
                <a:cs typeface="Noto Sans KR" pitchFamily="34" charset="-120"/>
              </a:rPr>
              <a:t>( 제출본에 직접 기입 )</a:t>
            </a:r>
            <a:endParaRPr lang="en-US" sz="850" dirty="0"/>
          </a:p>
        </p:txBody>
      </p:sp>
      <p:sp>
        <p:nvSpPr>
          <p:cNvPr id="13" name="접촉 정보 4"/>
          <p:cNvSpPr/>
          <p:nvPr/>
        </p:nvSpPr>
        <p:spPr>
          <a:xfrm>
            <a:off x="9573768" y="1874520"/>
            <a:ext cx="1993392" cy="502920"/>
          </a:xfrm>
          <a:prstGeom prst="roundRect">
            <a:avLst>
              <a:gd name="adj" fmla="val 10909"/>
            </a:avLst>
          </a:prstGeom>
          <a:solidFill>
            <a:srgbClr val="182F48"/>
          </a:solidFill>
          <a:ln/>
        </p:spPr>
      </p:sp>
      <p:sp>
        <p:nvSpPr>
          <p:cNvPr id="14" name="접촉 정보 문구 4"/>
          <p:cNvSpPr txBox="1"/>
          <p:nvPr/>
        </p:nvSpPr>
        <p:spPr>
          <a:xfrm>
            <a:off x="9665208" y="1892808"/>
            <a:ext cx="1810512" cy="466344"/>
          </a:xfrm>
          <a:prstGeom prst="rect">
            <a:avLst/>
          </a:prstGeom>
          <a:noFill/>
          <a:ln/>
        </p:spPr>
        <p:txBody>
          <a:bodyPr wrap="square" lIns="0" tIns="0" rIns="0" bIns="0" rtlCol="0" anchor="ctr"/>
          <a:lstStyle/>
          <a:p>
            <a:pPr indent="0" marL="0">
              <a:buNone/>
            </a:pPr>
            <a:r>
              <a:rPr lang="en-US" sz="850" b="1" dirty="0">
                <a:solidFill>
                  <a:srgbClr val="9FE0E6"/>
                </a:solidFill>
                <a:latin typeface="Noto Sans KR" pitchFamily="34" charset="0"/>
                <a:ea typeface="Noto Sans KR" pitchFamily="34" charset="-122"/>
                <a:cs typeface="Noto Sans KR" pitchFamily="34" charset="-120"/>
              </a:rPr>
              <a:t>결과</a:t>
            </a:r>
            <a:endParaRPr lang="en-US" sz="850" dirty="0"/>
          </a:p>
          <a:p>
            <a:pPr indent="0" marL="0">
              <a:buNone/>
            </a:pPr>
            <a:r>
              <a:rPr lang="en-US" sz="900" b="1" dirty="0">
                <a:solidFill>
                  <a:srgbClr val="FFFFFF"/>
                </a:solidFill>
                <a:latin typeface="Noto Sans KR" pitchFamily="34" charset="0"/>
                <a:ea typeface="Noto Sans KR" pitchFamily="34" charset="-122"/>
                <a:cs typeface="Noto Sans KR" pitchFamily="34" charset="-120"/>
              </a:rPr>
              <a:t>연결 성공 · 가정 4개 중 3개 기각 → 기획 수정 4건</a:t>
            </a:r>
            <a:endParaRPr lang="en-US" sz="850" dirty="0"/>
          </a:p>
        </p:txBody>
      </p:sp>
      <p:sp>
        <p:nvSpPr>
          <p:cNvPr id="15" name="사전 가정 제목"/>
          <p:cNvSpPr txBox="1"/>
          <p:nvPr/>
        </p:nvSpPr>
        <p:spPr>
          <a:xfrm>
            <a:off x="612648" y="2514600"/>
            <a:ext cx="3474720" cy="274320"/>
          </a:xfrm>
          <a:prstGeom prst="rect">
            <a:avLst/>
          </a:prstGeom>
          <a:noFill/>
          <a:ln/>
        </p:spPr>
        <p:txBody>
          <a:bodyPr wrap="square" lIns="0" tIns="0" rIns="0" bIns="0" rtlCol="0" anchor="t"/>
          <a:lstStyle/>
          <a:p>
            <a:pPr indent="0" marL="0">
              <a:buNone/>
            </a:pPr>
            <a:r>
              <a:rPr lang="en-US" sz="1200" b="1" dirty="0">
                <a:solidFill>
                  <a:srgbClr val="182F48"/>
                </a:solidFill>
                <a:latin typeface="Noto Sans KR" pitchFamily="34" charset="0"/>
                <a:ea typeface="Noto Sans KR" pitchFamily="34" charset="-122"/>
                <a:cs typeface="Noto Sans KR" pitchFamily="34" charset="-120"/>
              </a:rPr>
              <a:t>사전 가정 → 검증 결과</a:t>
            </a:r>
            <a:endParaRPr lang="en-US" sz="1200" dirty="0"/>
          </a:p>
        </p:txBody>
      </p:sp>
      <p:sp>
        <p:nvSpPr>
          <p:cNvPr id="16" name="가정 H1 배경"/>
          <p:cNvSpPr/>
          <p:nvPr/>
        </p:nvSpPr>
        <p:spPr>
          <a:xfrm>
            <a:off x="612648" y="2834640"/>
            <a:ext cx="3474720" cy="786384"/>
          </a:xfrm>
          <a:prstGeom prst="roundRect">
            <a:avLst>
              <a:gd name="adj" fmla="val 6977"/>
            </a:avLst>
          </a:prstGeom>
          <a:solidFill>
            <a:srgbClr val="F1F5F9"/>
          </a:solidFill>
          <a:ln/>
        </p:spPr>
      </p:sp>
      <p:sp>
        <p:nvSpPr>
          <p:cNvPr id="17" name="가정 H1"/>
          <p:cNvSpPr txBox="1"/>
          <p:nvPr/>
        </p:nvSpPr>
        <p:spPr>
          <a:xfrm>
            <a:off x="704088" y="2871216"/>
            <a:ext cx="3291840" cy="731520"/>
          </a:xfrm>
          <a:prstGeom prst="rect">
            <a:avLst/>
          </a:prstGeom>
          <a:noFill/>
          <a:ln/>
        </p:spPr>
        <p:txBody>
          <a:bodyPr wrap="square" lIns="0" tIns="0" rIns="0" bIns="0" rtlCol="0" anchor="t"/>
          <a:lstStyle/>
          <a:p>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H1  브랜드는 바이어 미팅·현장판매를 가장 중시할 것</a:t>
            </a:r>
            <a:endParaRPr lang="en-US" sz="900" dirty="0"/>
          </a:p>
          <a:p>
            <a:pPr indent="0" marL="0">
              <a:spcAft>
                <a:spcPts val="200"/>
              </a:spcAft>
              <a:buNone/>
            </a:pPr>
            <a:r>
              <a:rPr lang="en-US" sz="900" b="1" dirty="0">
                <a:solidFill>
                  <a:srgbClr val="C2410C"/>
                </a:solidFill>
                <a:latin typeface="Noto Sans KR" pitchFamily="34" charset="0"/>
                <a:ea typeface="Noto Sans KR" pitchFamily="34" charset="-122"/>
                <a:cs typeface="Noto Sans KR" pitchFamily="34" charset="-120"/>
              </a:rPr>
              <a:t>기각  </a:t>
            </a:r>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현장판매·고객 확보·투자 유치는 의미가 적고, 브랜드 홍보와 관심 고객이 중요</a:t>
            </a:r>
            <a:endParaRPr lang="en-US" sz="900" dirty="0"/>
          </a:p>
        </p:txBody>
      </p:sp>
      <p:sp>
        <p:nvSpPr>
          <p:cNvPr id="18" name="가정 H2 배경"/>
          <p:cNvSpPr/>
          <p:nvPr/>
        </p:nvSpPr>
        <p:spPr>
          <a:xfrm>
            <a:off x="612648" y="3694176"/>
            <a:ext cx="3474720" cy="786384"/>
          </a:xfrm>
          <a:prstGeom prst="roundRect">
            <a:avLst>
              <a:gd name="adj" fmla="val 6977"/>
            </a:avLst>
          </a:prstGeom>
          <a:solidFill>
            <a:srgbClr val="F1F5F9"/>
          </a:solidFill>
          <a:ln/>
        </p:spPr>
      </p:sp>
      <p:sp>
        <p:nvSpPr>
          <p:cNvPr id="19" name="가정 H2"/>
          <p:cNvSpPr txBox="1"/>
          <p:nvPr/>
        </p:nvSpPr>
        <p:spPr>
          <a:xfrm>
            <a:off x="704088" y="3730752"/>
            <a:ext cx="3291840" cy="731520"/>
          </a:xfrm>
          <a:prstGeom prst="rect">
            <a:avLst/>
          </a:prstGeom>
          <a:noFill/>
          <a:ln/>
        </p:spPr>
        <p:txBody>
          <a:bodyPr wrap="square" lIns="0" tIns="0" rIns="0" bIns="0" rtlCol="0" anchor="t"/>
          <a:lstStyle/>
          <a:p>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H2  부스비가 가장 큰 참가 장벽일 것</a:t>
            </a:r>
            <a:endParaRPr lang="en-US" sz="900" dirty="0"/>
          </a:p>
          <a:p>
            <a:pPr indent="0" marL="0">
              <a:spcAft>
                <a:spcPts val="200"/>
              </a:spcAft>
              <a:buNone/>
            </a:pPr>
            <a:r>
              <a:rPr lang="en-US" sz="900" b="1" dirty="0">
                <a:solidFill>
                  <a:srgbClr val="267D86"/>
                </a:solidFill>
                <a:latin typeface="Noto Sans KR" pitchFamily="34" charset="0"/>
                <a:ea typeface="Noto Sans KR" pitchFamily="34" charset="-122"/>
                <a:cs typeface="Noto Sans KR" pitchFamily="34" charset="-120"/>
              </a:rPr>
              <a:t>부분  </a:t>
            </a:r>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부스비는 2만~5만 달러로 늘 책정해 옴. 장벽은 비용 대비 효과·공간·인플루언서 일정</a:t>
            </a:r>
            <a:endParaRPr lang="en-US" sz="900" dirty="0"/>
          </a:p>
        </p:txBody>
      </p:sp>
      <p:sp>
        <p:nvSpPr>
          <p:cNvPr id="20" name="가정 H3 배경"/>
          <p:cNvSpPr/>
          <p:nvPr/>
        </p:nvSpPr>
        <p:spPr>
          <a:xfrm>
            <a:off x="612648" y="4553712"/>
            <a:ext cx="3474720" cy="786384"/>
          </a:xfrm>
          <a:prstGeom prst="roundRect">
            <a:avLst>
              <a:gd name="adj" fmla="val 6977"/>
            </a:avLst>
          </a:prstGeom>
          <a:solidFill>
            <a:srgbClr val="F1F5F9"/>
          </a:solidFill>
          <a:ln/>
        </p:spPr>
      </p:sp>
      <p:sp>
        <p:nvSpPr>
          <p:cNvPr id="21" name="가정 H3"/>
          <p:cNvSpPr txBox="1"/>
          <p:nvPr/>
        </p:nvSpPr>
        <p:spPr>
          <a:xfrm>
            <a:off x="704088" y="4590288"/>
            <a:ext cx="3291840" cy="731520"/>
          </a:xfrm>
          <a:prstGeom prst="rect">
            <a:avLst/>
          </a:prstGeom>
          <a:noFill/>
          <a:ln/>
        </p:spPr>
        <p:txBody>
          <a:bodyPr wrap="square" lIns="0" tIns="0" rIns="0" bIns="0" rtlCol="0" anchor="t"/>
          <a:lstStyle/>
          <a:p>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H3  기존 코엑스·킨텍스 아웃도어 박람회로 충분할 것</a:t>
            </a:r>
            <a:endParaRPr lang="en-US" sz="900" dirty="0"/>
          </a:p>
          <a:p>
            <a:pPr indent="0" marL="0">
              <a:spcAft>
                <a:spcPts val="200"/>
              </a:spcAft>
              <a:buNone/>
            </a:pPr>
            <a:r>
              <a:rPr lang="en-US" sz="900" b="1" dirty="0">
                <a:solidFill>
                  <a:srgbClr val="C2410C"/>
                </a:solidFill>
                <a:latin typeface="Noto Sans KR" pitchFamily="34" charset="0"/>
                <a:ea typeface="Noto Sans KR" pitchFamily="34" charset="-122"/>
                <a:cs typeface="Noto Sans KR" pitchFamily="34" charset="-120"/>
              </a:rPr>
              <a:t>기각  </a:t>
            </a:r>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"고객의 니즈가 다르기 때문에 저희는 참여를 안 하고 있습니다"</a:t>
            </a:r>
            <a:endParaRPr lang="en-US" sz="900" dirty="0"/>
          </a:p>
        </p:txBody>
      </p:sp>
      <p:sp>
        <p:nvSpPr>
          <p:cNvPr id="22" name="가정 H4 배경"/>
          <p:cNvSpPr/>
          <p:nvPr/>
        </p:nvSpPr>
        <p:spPr>
          <a:xfrm>
            <a:off x="612648" y="5413248"/>
            <a:ext cx="3474720" cy="786384"/>
          </a:xfrm>
          <a:prstGeom prst="roundRect">
            <a:avLst>
              <a:gd name="adj" fmla="val 6977"/>
            </a:avLst>
          </a:prstGeom>
          <a:solidFill>
            <a:srgbClr val="F1F5F9"/>
          </a:solidFill>
          <a:ln/>
        </p:spPr>
      </p:sp>
      <p:sp>
        <p:nvSpPr>
          <p:cNvPr id="23" name="가정 H4"/>
          <p:cNvSpPr txBox="1"/>
          <p:nvPr/>
        </p:nvSpPr>
        <p:spPr>
          <a:xfrm>
            <a:off x="704088" y="5449824"/>
            <a:ext cx="3291840" cy="731520"/>
          </a:xfrm>
          <a:prstGeom prst="rect">
            <a:avLst/>
          </a:prstGeom>
          <a:noFill/>
          <a:ln/>
        </p:spPr>
        <p:txBody>
          <a:bodyPr wrap="square" lIns="0" tIns="0" rIns="0" bIns="0" rtlCol="0" anchor="t"/>
          <a:lstStyle/>
          <a:p>
            <a:pPr indent="0" marL="0">
              <a:spcAft>
                <a:spcPts val="200"/>
              </a:spcAft>
              <a:buNone/>
            </a:pPr>
            <a:r>
              <a:rPr lang="en-US" sz="900" b="1" dirty="0">
                <a:solidFill>
                  <a:srgbClr val="182F48"/>
                </a:solidFill>
                <a:latin typeface="Noto Sans KR" pitchFamily="34" charset="0"/>
                <a:ea typeface="Noto Sans KR" pitchFamily="34" charset="-122"/>
                <a:cs typeface="Noto Sans KR" pitchFamily="34" charset="-120"/>
              </a:rPr>
              <a:t>H4  일반 소비자(B2C)는 주요 고객이 아닐 것</a:t>
            </a:r>
            <a:endParaRPr lang="en-US" sz="900" dirty="0"/>
          </a:p>
          <a:p>
            <a:pPr indent="0" marL="0">
              <a:spcAft>
                <a:spcPts val="200"/>
              </a:spcAft>
              <a:buNone/>
            </a:pPr>
            <a:r>
              <a:rPr lang="en-US" sz="900" b="1" dirty="0">
                <a:solidFill>
                  <a:srgbClr val="C2410C"/>
                </a:solidFill>
                <a:latin typeface="Noto Sans KR" pitchFamily="34" charset="0"/>
                <a:ea typeface="Noto Sans KR" pitchFamily="34" charset="-122"/>
                <a:cs typeface="Noto Sans KR" pitchFamily="34" charset="-120"/>
              </a:rPr>
              <a:t>기각  </a:t>
            </a:r>
            <a:pPr indent="0" marL="0">
              <a:spcAft>
                <a:spcPts val="200"/>
              </a:spcAft>
              <a:buNone/>
            </a:pPr>
            <a:r>
              <a:rPr lang="en-US" sz="850" dirty="0">
                <a:solidFill>
                  <a:srgbClr val="334155"/>
                </a:solidFill>
                <a:latin typeface="Noto Sans KR" pitchFamily="34" charset="0"/>
                <a:ea typeface="Noto Sans KR" pitchFamily="34" charset="-122"/>
                <a:cs typeface="Noto Sans KR" pitchFamily="34" charset="-120"/>
              </a:rPr>
              <a:t>B2C 매출 비중 약 30%, 일반 고객을 매우 중요하게 생각</a:t>
            </a:r>
            <a:endParaRPr lang="en-US" sz="900" dirty="0"/>
          </a:p>
        </p:txBody>
      </p:sp>
      <p:sp>
        <p:nvSpPr>
          <p:cNvPr id="24" name="질문 답변 제목"/>
          <p:cNvSpPr txBox="1"/>
          <p:nvPr/>
        </p:nvSpPr>
        <p:spPr>
          <a:xfrm>
            <a:off x="4224528" y="2514600"/>
            <a:ext cx="4023360" cy="274320"/>
          </a:xfrm>
          <a:prstGeom prst="rect">
            <a:avLst/>
          </a:prstGeom>
          <a:noFill/>
          <a:ln/>
        </p:spPr>
        <p:txBody>
          <a:bodyPr wrap="square" lIns="0" tIns="0" rIns="0" bIns="0" rtlCol="0" anchor="t"/>
          <a:lstStyle/>
          <a:p>
            <a:pPr indent="0" marL="0">
              <a:buNone/>
            </a:pPr>
            <a:r>
              <a:rPr lang="en-US" sz="1200" b="1" dirty="0">
                <a:solidFill>
                  <a:srgbClr val="182F48"/>
                </a:solidFill>
                <a:latin typeface="Noto Sans KR" pitchFamily="34" charset="0"/>
                <a:ea typeface="Noto Sans KR" pitchFamily="34" charset="-122"/>
                <a:cs typeface="Noto Sans KR" pitchFamily="34" charset="-120"/>
              </a:rPr>
              <a:t>질문 · 답변 요지</a:t>
            </a:r>
            <a:endParaRPr lang="en-US" sz="1200" dirty="0"/>
          </a:p>
        </p:txBody>
      </p:sp>
      <p:graphicFrame>
        <p:nvGraphicFramePr>
          <p:cNvPr id="8" name="질문 답변표"/>
          <p:cNvGraphicFramePr>
            <a:graphicFrameLocks noGrp="1"/>
          </p:cNvGraphicFramePr>
          <p:nvPr>
            <p:extLst>
              <p:ext uri="{D42A27DB-BD31-4B8C-83A1-F6EECF244321}">
                <p14:modId xmlns:p14="http://schemas.microsoft.com/office/powerpoint/2010/main" val="1579011935"/>
              </p:ext>
            </p:extLst>
          </p:nvPr>
        </p:nvGraphicFramePr>
        <p:xfrm>
          <a:off x="4224528" y="2834640"/>
          <a:ext cx="4069080" cy="914400"/>
        </p:xfrm>
        <a:graphic>
          <a:graphicData uri="http://schemas.openxmlformats.org/drawingml/2006/table">
            <a:tbl>
              <a:tblPr/>
              <a:tblGrid>
                <a:gridCol w="1051560"/>
                <a:gridCol w="3017520"/>
              </a:tblGrid>
              <a:tr h="34290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Q1~2 고객층</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일반 소비자와 기업(B2B) 모두에 판매, B2C 매출 약 30%</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4290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Q3 참여 조건</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트레킹·백패킹 상품을 아는 고객이 얼마나 오는지, 관심도가 어느 정도인지</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4290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Q4 부스비</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국내 부스 10년 이상, 해외(유럽·미국) 약 2년에 1회, 부스비 2만~5만 달러</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4290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Q5 현장 시연</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고어텍스 방수를 보여줄 샤워부스, 냉기 차단을 보여줄 얼음 바닥(매트)</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4290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Q6 참여 장애</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인플루언서·모델 일정 조율, 공간 크기, 비용 대비 효과 부족</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4290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Q7 성공 기준</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고객의 반응</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42900">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Q8 기대 효과</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dirty="0">
                          <a:solidFill>
                            <a:srgbClr val="334155"/>
                          </a:solidFill>
                          <a:latin typeface="Noto Sans KR" pitchFamily="34" charset="0"/>
                          <a:ea typeface="Noto Sans KR" pitchFamily="34" charset="-122"/>
                          <a:cs typeface="Noto Sans KR" pitchFamily="34" charset="-120"/>
                        </a:rPr>
                        <a:t>투자·바이어·현장판매·고객 확보는 의미 적음, 브랜드 홍보가 목적</a:t>
                      </a:r>
                      <a:endParaRPr lang="en-US" sz="85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26" name="핵심 발언 배경"/>
          <p:cNvSpPr/>
          <p:nvPr/>
        </p:nvSpPr>
        <p:spPr>
          <a:xfrm>
            <a:off x="4224528" y="5349240"/>
            <a:ext cx="4069080" cy="914400"/>
          </a:xfrm>
          <a:prstGeom prst="roundRect">
            <a:avLst>
              <a:gd name="adj" fmla="val 6000"/>
            </a:avLst>
          </a:prstGeom>
          <a:solidFill>
            <a:srgbClr val="182F48"/>
          </a:solidFill>
          <a:ln/>
        </p:spPr>
      </p:sp>
      <p:sp>
        <p:nvSpPr>
          <p:cNvPr id="27" name="핵심 발언"/>
          <p:cNvSpPr txBox="1"/>
          <p:nvPr/>
        </p:nvSpPr>
        <p:spPr>
          <a:xfrm>
            <a:off x="4315968" y="5376672"/>
            <a:ext cx="3886200" cy="859536"/>
          </a:xfrm>
          <a:prstGeom prst="rect">
            <a:avLst/>
          </a:prstGeom>
          <a:noFill/>
          <a:ln/>
        </p:spPr>
        <p:txBody>
          <a:bodyPr wrap="square" lIns="0" tIns="0" rIns="0" bIns="0" rtlCol="0" anchor="ctr"/>
          <a:lstStyle/>
          <a:p>
            <a:pPr indent="0" marL="0">
              <a:spcAft>
                <a:spcPts val="200"/>
              </a:spcAft>
              <a:buNone/>
            </a:pPr>
            <a:r>
              <a:rPr lang="en-US" sz="900" b="1" dirty="0">
                <a:solidFill>
                  <a:srgbClr val="9FE0E6"/>
                </a:solidFill>
                <a:latin typeface="Noto Sans KR" pitchFamily="34" charset="0"/>
                <a:ea typeface="Noto Sans KR" pitchFamily="34" charset="-122"/>
                <a:cs typeface="Noto Sans KR" pitchFamily="34" charset="-120"/>
              </a:rPr>
              <a:t>핵심 발언 (녹취 원문)</a:t>
            </a:r>
            <a:endParaRPr lang="en-US" sz="900" dirty="0"/>
          </a:p>
          <a:p>
            <a:pPr indent="0" marL="0">
              <a:spcAft>
                <a:spcPts val="200"/>
              </a:spcAft>
              <a:buNone/>
            </a:pPr>
            <a:r>
              <a:rPr lang="en-US" sz="850" b="1" dirty="0">
                <a:solidFill>
                  <a:srgbClr val="FFFFFF"/>
                </a:solidFill>
                <a:latin typeface="Noto Sans KR" pitchFamily="34" charset="0"/>
                <a:ea typeface="Noto Sans KR" pitchFamily="34" charset="-122"/>
                <a:cs typeface="Noto Sans KR" pitchFamily="34" charset="-120"/>
              </a:rPr>
              <a:t>"고객의 반응이겠죠." (성공 기준)</a:t>
            </a:r>
            <a:endParaRPr lang="en-US" sz="900" dirty="0"/>
          </a:p>
          <a:p>
            <a:pPr indent="0" marL="0">
              <a:spcAft>
                <a:spcPts val="200"/>
              </a:spcAft>
              <a:buNone/>
            </a:pPr>
            <a:r>
              <a:rPr lang="en-US" sz="850" dirty="0">
                <a:solidFill>
                  <a:srgbClr val="FFFFFF"/>
                </a:solidFill>
                <a:latin typeface="Noto Sans KR" pitchFamily="34" charset="0"/>
                <a:ea typeface="Noto Sans KR" pitchFamily="34" charset="-122"/>
                <a:cs typeface="Noto Sans KR" pitchFamily="34" charset="-120"/>
              </a:rPr>
              <a:t>"이 장비에 대한 좋은 점을 설명하는 것, 그걸 관심 깊게 들어주는 고객들이 필요하지, 현장에서 판매를 하거나 이런 거는 의미가 없고요."</a:t>
            </a:r>
            <a:endParaRPr lang="en-US" sz="900" dirty="0"/>
          </a:p>
        </p:txBody>
      </p:sp>
      <p:sp>
        <p:nvSpPr>
          <p:cNvPr id="28" name="기획 수정 제목"/>
          <p:cNvSpPr txBox="1"/>
          <p:nvPr/>
        </p:nvSpPr>
        <p:spPr>
          <a:xfrm>
            <a:off x="8430768" y="2514600"/>
            <a:ext cx="3136392" cy="274320"/>
          </a:xfrm>
          <a:prstGeom prst="rect">
            <a:avLst/>
          </a:prstGeom>
          <a:noFill/>
          <a:ln/>
        </p:spPr>
        <p:txBody>
          <a:bodyPr wrap="square" lIns="0" tIns="0" rIns="0" bIns="0" rtlCol="0" anchor="t"/>
          <a:lstStyle/>
          <a:p>
            <a:pPr indent="0" marL="0">
              <a:buNone/>
            </a:pPr>
            <a:r>
              <a:rPr lang="en-US" sz="1200" b="1" dirty="0">
                <a:solidFill>
                  <a:srgbClr val="182F48"/>
                </a:solidFill>
                <a:latin typeface="Noto Sans KR" pitchFamily="34" charset="0"/>
                <a:ea typeface="Noto Sans KR" pitchFamily="34" charset="-122"/>
                <a:cs typeface="Noto Sans KR" pitchFamily="34" charset="-120"/>
              </a:rPr>
              <a:t>기획 수정 (반영 위치)</a:t>
            </a:r>
            <a:endParaRPr lang="en-US" sz="1200" dirty="0"/>
          </a:p>
        </p:txBody>
      </p:sp>
      <p:sp>
        <p:nvSpPr>
          <p:cNvPr id="29" name="기획 수정 배경"/>
          <p:cNvSpPr/>
          <p:nvPr/>
        </p:nvSpPr>
        <p:spPr>
          <a:xfrm>
            <a:off x="8430768" y="2834640"/>
            <a:ext cx="3136392" cy="1737360"/>
          </a:xfrm>
          <a:prstGeom prst="roundRect">
            <a:avLst>
              <a:gd name="adj" fmla="val 3158"/>
            </a:avLst>
          </a:prstGeom>
          <a:solidFill>
            <a:srgbClr val="EAF4F5"/>
          </a:solidFill>
          <a:ln/>
        </p:spPr>
      </p:sp>
      <p:sp>
        <p:nvSpPr>
          <p:cNvPr id="30" name="기획 수정"/>
          <p:cNvSpPr txBox="1"/>
          <p:nvPr/>
        </p:nvSpPr>
        <p:spPr>
          <a:xfrm>
            <a:off x="8503920" y="2880360"/>
            <a:ext cx="2999232" cy="1645920"/>
          </a:xfrm>
          <a:prstGeom prst="rect">
            <a:avLst/>
          </a:prstGeom>
          <a:noFill/>
          <a:ln/>
        </p:spPr>
        <p:txBody>
          <a:bodyPr wrap="square" lIns="0" tIns="0" rIns="0" bIns="0" rtlCol="0" anchor="t"/>
          <a:lstStyle/>
          <a:p>
            <a:pPr marL="177800" indent="-177800">
              <a:spcAft>
                <a:spcPts val="300"/>
              </a:spcAft>
              <a:buSzPct val="100000"/>
              <a:buFont typeface="+mj-lt"/>
              <a:buAutoNum type="arabicPeriod" startAt="1"/>
            </a:pPr>
            <a:r>
              <a:rPr lang="en-US" sz="850" dirty="0">
                <a:solidFill>
                  <a:srgbClr val="182F48"/>
                </a:solidFill>
                <a:latin typeface="Noto Sans KR" pitchFamily="34" charset="0"/>
                <a:ea typeface="Noto Sans KR" pitchFamily="34" charset="-122"/>
                <a:cs typeface="Noto Sans KR" pitchFamily="34" charset="-120"/>
              </a:rPr>
              <a:t>공동 Test Lab(샤워부스·얼음 바닥)을 주최 측이 설치 → 브랜드별 시연 공간 부담 감소 (1·3장)</a:t>
            </a:r>
            <a:endParaRPr lang="en-US" sz="850" dirty="0"/>
          </a:p>
          <a:p>
            <a:pPr marL="177800" indent="-177800">
              <a:spcAft>
                <a:spcPts val="300"/>
              </a:spcAft>
              <a:buSzPct val="100000"/>
              <a:buFont typeface="+mj-lt"/>
              <a:buAutoNum type="arabicPeriod" startAt="1"/>
            </a:pPr>
            <a:r>
              <a:rPr lang="en-US" sz="850" dirty="0">
                <a:solidFill>
                  <a:srgbClr val="182F48"/>
                </a:solidFill>
                <a:latin typeface="Noto Sans KR" pitchFamily="34" charset="0"/>
                <a:ea typeface="Noto Sans KR" pitchFamily="34" charset="-122"/>
                <a:cs typeface="Noto Sans KR" pitchFamily="34" charset="-120"/>
              </a:rPr>
              <a:t>관람객 '수'보다 '관심도': 관심사 사전등록·체험률·고객 반응 만족도를 KPI로 (3장)</a:t>
            </a:r>
            <a:endParaRPr lang="en-US" sz="850" dirty="0"/>
          </a:p>
          <a:p>
            <a:pPr marL="177800" indent="-177800">
              <a:spcAft>
                <a:spcPts val="300"/>
              </a:spcAft>
              <a:buSzPct val="100000"/>
              <a:buFont typeface="+mj-lt"/>
              <a:buAutoNum type="arabicPeriod" startAt="1"/>
            </a:pPr>
            <a:r>
              <a:rPr lang="en-US" sz="850" dirty="0">
                <a:solidFill>
                  <a:srgbClr val="182F48"/>
                </a:solidFill>
                <a:latin typeface="Noto Sans KR" pitchFamily="34" charset="0"/>
                <a:ea typeface="Noto Sans KR" pitchFamily="34" charset="-122"/>
                <a:cs typeface="Noto Sans KR" pitchFamily="34" charset="-120"/>
              </a:rPr>
              <a:t>참가업체 목적별 분리: 프리미엄 수입 브랜드는 관심 고객 연결, 신진 브랜드는 바이어 수주 (5장)</a:t>
            </a:r>
            <a:endParaRPr lang="en-US" sz="850" dirty="0"/>
          </a:p>
          <a:p>
            <a:pPr marL="177800" indent="-177800">
              <a:spcAft>
                <a:spcPts val="300"/>
              </a:spcAft>
              <a:buSzPct val="100000"/>
              <a:buFont typeface="+mj-lt"/>
              <a:buAutoNum type="arabicPeriod" startAt="1"/>
            </a:pPr>
            <a:r>
              <a:rPr lang="en-US" sz="850" dirty="0">
                <a:solidFill>
                  <a:srgbClr val="182F48"/>
                </a:solidFill>
                <a:latin typeface="Noto Sans KR" pitchFamily="34" charset="0"/>
                <a:ea typeface="Noto Sans KR" pitchFamily="34" charset="-122"/>
                <a:cs typeface="Noto Sans KR" pitchFamily="34" charset="-120"/>
              </a:rPr>
              <a:t>인플루언서·모델 섭외를 미디어 파트너가 지원 (6장)</a:t>
            </a:r>
            <a:endParaRPr lang="en-US" sz="850" dirty="0"/>
          </a:p>
        </p:txBody>
      </p:sp>
      <p:sp>
        <p:nvSpPr>
          <p:cNvPr id="31" name="추가 확인 제목"/>
          <p:cNvSpPr txBox="1"/>
          <p:nvPr/>
        </p:nvSpPr>
        <p:spPr>
          <a:xfrm>
            <a:off x="8430768" y="4709160"/>
            <a:ext cx="3136392" cy="256032"/>
          </a:xfrm>
          <a:prstGeom prst="rect">
            <a:avLst/>
          </a:prstGeom>
          <a:noFill/>
          <a:ln/>
        </p:spPr>
        <p:txBody>
          <a:bodyPr wrap="square" lIns="0" tIns="0" rIns="0" bIns="0" rtlCol="0" anchor="t"/>
          <a:lstStyle/>
          <a:p>
            <a:pPr indent="0" marL="0">
              <a:buNone/>
            </a:pPr>
            <a:r>
              <a:rPr lang="en-US" sz="1100" b="1" dirty="0">
                <a:solidFill>
                  <a:srgbClr val="182F48"/>
                </a:solidFill>
                <a:latin typeface="Noto Sans KR" pitchFamily="34" charset="0"/>
                <a:ea typeface="Noto Sans KR" pitchFamily="34" charset="-122"/>
                <a:cs typeface="Noto Sans KR" pitchFamily="34" charset="-120"/>
              </a:rPr>
              <a:t>통화 후 추가로 확인할 사항</a:t>
            </a:r>
            <a:endParaRPr lang="en-US" sz="1100" dirty="0"/>
          </a:p>
        </p:txBody>
      </p:sp>
      <p:sp>
        <p:nvSpPr>
          <p:cNvPr id="32" name="추가 확인"/>
          <p:cNvSpPr txBox="1"/>
          <p:nvPr/>
        </p:nvSpPr>
        <p:spPr>
          <a:xfrm>
            <a:off x="8430768" y="4983480"/>
            <a:ext cx="3136392" cy="1097280"/>
          </a:xfrm>
          <a:prstGeom prst="rect">
            <a:avLst/>
          </a:prstGeom>
          <a:noFill/>
          <a:ln/>
        </p:spPr>
        <p:txBody>
          <a:bodyPr wrap="square" lIns="0" tIns="0" rIns="0" bIns="0" rtlCol="0" anchor="t"/>
          <a:lstStyle/>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국내 전시 부스비 수용 범위(원화)·부스 규모</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트레이드 데이 / 퍼블릭 랩 데이 중 희망일</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제로그램 등 취급 브랜드 공동 참가 가능 여부</a:t>
            </a:r>
            <a:endParaRPr lang="en-US" sz="850" dirty="0"/>
          </a:p>
          <a:p>
            <a:pPr marL="127000" indent="-127000">
              <a:spcAft>
                <a:spcPts val="200"/>
              </a:spcAft>
              <a:buSzPct val="100000"/>
              <a:buChar char="•"/>
            </a:pPr>
            <a:r>
              <a:rPr lang="en-US" sz="850" dirty="0">
                <a:solidFill>
                  <a:srgbClr val="334155"/>
                </a:solidFill>
                <a:latin typeface="Noto Sans KR" pitchFamily="34" charset="0"/>
                <a:ea typeface="Noto Sans KR" pitchFamily="34" charset="-122"/>
                <a:cs typeface="Noto Sans KR" pitchFamily="34" charset="-120"/>
              </a:rPr>
              <a:t>9월 말~10월 초 일정의 F/W 입고 시점 적합성</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과제 표기"/>
          <p:cNvSpPr txBox="1"/>
          <p:nvPr/>
        </p:nvSpPr>
        <p:spPr>
          <a:xfrm>
            <a:off x="612648" y="283464"/>
            <a:ext cx="5486400" cy="265176"/>
          </a:xfrm>
          <a:prstGeom prst="rect">
            <a:avLst/>
          </a:prstGeom>
          <a:noFill/>
          <a:ln/>
        </p:spPr>
        <p:txBody>
          <a:bodyPr wrap="square" lIns="0" tIns="0" rIns="0" bIns="0" rtlCol="0" anchor="ctr"/>
          <a:lstStyle/>
          <a:p>
            <a:pPr indent="0" marL="0">
              <a:buNone/>
            </a:pPr>
            <a:r>
              <a:rPr lang="en-US" sz="1200" dirty="0">
                <a:solidFill>
                  <a:srgbClr val="64748B"/>
                </a:solidFill>
                <a:latin typeface="Noto Sans KR" pitchFamily="34" charset="0"/>
                <a:ea typeface="Noto Sans KR" pitchFamily="34" charset="-122"/>
                <a:cs typeface="Noto Sans KR" pitchFamily="34" charset="-120"/>
              </a:rPr>
              <a:t>전시산업론 중간고사 개인 과제   별첨 2/2</a:t>
            </a:r>
            <a:endParaRPr lang="en-US" sz="1200" dirty="0"/>
          </a:p>
        </p:txBody>
      </p:sp>
      <p:sp>
        <p:nvSpPr>
          <p:cNvPr id="3" name="Text 1"/>
          <p:cNvSpPr/>
          <p:nvPr>
            <p:ph idx="101" type="title" hasCustomPrompt="1"/>
          </p:nvPr>
        </p:nvSpPr>
        <p:spPr>
          <a:xfrm>
            <a:off x="612648" y="777240"/>
            <a:ext cx="10954512" cy="566928"/>
          </a:xfrm>
          <a:prstGeom prst="rect">
            <a:avLst/>
          </a:prstGeom>
          <a:noFill/>
          <a:ln/>
        </p:spPr>
        <p:txBody>
          <a:bodyPr wrap="square" lIns="0" tIns="0" rIns="0" bIns="0" rtlCol="0" anchor="ctr"/>
          <a:lstStyle/>
          <a:p>
            <a:pPr algn="l" indent="0" marL="0">
              <a:buNone/>
            </a:pPr>
            <a:r>
              <a:rPr lang="en-US" sz="3300" b="1" dirty="0">
                <a:solidFill>
                  <a:srgbClr val="182F48"/>
                </a:solidFill>
                <a:latin typeface="Noto Sans KR" pitchFamily="34" charset="0"/>
                <a:ea typeface="Noto Sans KR" pitchFamily="34" charset="-122"/>
                <a:cs typeface="Noto Sans KR" pitchFamily="34" charset="-120"/>
              </a:rPr>
              <a:t>별첨 · 전화 검증 기록 (바이어 측)</a:t>
            </a:r>
            <a:endParaRPr lang="en-US" sz="3300" dirty="0"/>
          </a:p>
        </p:txBody>
      </p:sp>
      <p:sp>
        <p:nvSpPr>
          <p:cNvPr id="4" name="Text 1"/>
          <p:cNvSpPr/>
          <p:nvPr>
            <p:ph idx="102" type="body" hasCustomPrompt="1"/>
          </p:nvPr>
        </p:nvSpPr>
        <p:spPr>
          <a:xfrm>
            <a:off x="612648" y="1371600"/>
            <a:ext cx="10954512" cy="384048"/>
          </a:xfrm>
          <a:prstGeom prst="rect">
            <a:avLst/>
          </a:prstGeom>
          <a:noFill/>
          <a:ln/>
        </p:spPr>
        <p:txBody>
          <a:bodyPr wrap="square" lIns="0" tIns="0" rIns="0" bIns="0" rtlCol="0" anchor="ctr"/>
          <a:lstStyle/>
          <a:p>
            <a:pPr algn="l" indent="0" marL="0">
              <a:buNone/>
            </a:pPr>
            <a:r>
              <a:rPr lang="en-US" sz="1800" dirty="0">
                <a:solidFill>
                  <a:srgbClr val="267D86"/>
                </a:solidFill>
                <a:latin typeface="Noto Sans KR" pitchFamily="34" charset="0"/>
                <a:ea typeface="Noto Sans KR" pitchFamily="34" charset="-122"/>
                <a:cs typeface="Noto Sans KR" pitchFamily="34" charset="-120"/>
              </a:rPr>
              <a:t>바이어 측 사전 가정과 통화 질문지, 시도 기록표 — 통화 후 결과 칸을 채운다</a:t>
            </a:r>
            <a:endParaRPr lang="en-US" sz="1800" dirty="0"/>
          </a:p>
        </p:txBody>
      </p:sp>
      <p:sp>
        <p:nvSpPr>
          <p:cNvPr id="5" name="출처"/>
          <p:cNvSpPr txBox="1"/>
          <p:nvPr/>
        </p:nvSpPr>
        <p:spPr>
          <a:xfrm>
            <a:off x="612648" y="6336792"/>
            <a:ext cx="10954512" cy="411480"/>
          </a:xfrm>
          <a:prstGeom prst="rect">
            <a:avLst/>
          </a:prstGeom>
          <a:noFill/>
          <a:ln/>
        </p:spPr>
        <p:txBody>
          <a:bodyPr wrap="square" lIns="0" tIns="0" rIns="0" bIns="0" rtlCol="0" anchor="t"/>
          <a:lstStyle/>
          <a:p>
            <a:pPr indent="0" marL="0">
              <a:buNone/>
            </a:pPr>
            <a:r>
              <a:rPr lang="en-US" sz="850" dirty="0">
                <a:solidFill>
                  <a:srgbClr val="64748B"/>
                </a:solidFill>
                <a:latin typeface="Noto Sans KR" pitchFamily="34" charset="0"/>
                <a:ea typeface="Noto Sans KR" pitchFamily="34" charset="-122"/>
                <a:cs typeface="Noto Sans KR" pitchFamily="34" charset="-120"/>
              </a:rPr>
              <a:t>※ 결과 표기: ● 연결 성공 / ○ 부재·재시도 / ✕ 거절·연결 실패. 연결에 실패한 시도도 지우지 않고 시도 내역으로 남긴다. 해외 바이어는 이메일·DM 시도도 함께 기록.</a:t>
            </a:r>
            <a:endParaRPr lang="en-US" sz="850" dirty="0"/>
          </a:p>
        </p:txBody>
      </p:sp>
      <p:sp>
        <p:nvSpPr>
          <p:cNvPr id="7" name="바이어 가정 제목"/>
          <p:cNvSpPr txBox="1"/>
          <p:nvPr/>
        </p:nvSpPr>
        <p:spPr>
          <a:xfrm>
            <a:off x="612648" y="1874520"/>
            <a:ext cx="3931920" cy="274320"/>
          </a:xfrm>
          <a:prstGeom prst="rect">
            <a:avLst/>
          </a:prstGeom>
          <a:noFill/>
          <a:ln/>
        </p:spPr>
        <p:txBody>
          <a:bodyPr wrap="square" lIns="0" tIns="0" rIns="0" bIns="0" rtlCol="0" anchor="t"/>
          <a:lstStyle/>
          <a:p>
            <a:pPr indent="0" marL="0">
              <a:buNone/>
            </a:pPr>
            <a:r>
              <a:rPr lang="en-US" sz="1200" b="1" dirty="0">
                <a:solidFill>
                  <a:srgbClr val="182F48"/>
                </a:solidFill>
                <a:latin typeface="Noto Sans KR" pitchFamily="34" charset="0"/>
                <a:ea typeface="Noto Sans KR" pitchFamily="34" charset="-122"/>
                <a:cs typeface="Noto Sans KR" pitchFamily="34" charset="-120"/>
              </a:rPr>
              <a:t>사전 가정 (바이어 측)</a:t>
            </a:r>
            <a:endParaRPr lang="en-US" sz="1200" dirty="0"/>
          </a:p>
        </p:txBody>
      </p:sp>
      <p:sp>
        <p:nvSpPr>
          <p:cNvPr id="8" name="바이어 가정 배경"/>
          <p:cNvSpPr/>
          <p:nvPr/>
        </p:nvSpPr>
        <p:spPr>
          <a:xfrm>
            <a:off x="612648" y="2176272"/>
            <a:ext cx="3931920" cy="1097280"/>
          </a:xfrm>
          <a:prstGeom prst="roundRect">
            <a:avLst>
              <a:gd name="adj" fmla="val 5000"/>
            </a:avLst>
          </a:prstGeom>
          <a:solidFill>
            <a:srgbClr val="EAF4F5"/>
          </a:solidFill>
          <a:ln/>
        </p:spPr>
      </p:sp>
      <p:sp>
        <p:nvSpPr>
          <p:cNvPr id="9" name="바이어 가정"/>
          <p:cNvSpPr txBox="1"/>
          <p:nvPr/>
        </p:nvSpPr>
        <p:spPr>
          <a:xfrm>
            <a:off x="704088" y="2221992"/>
            <a:ext cx="3749040" cy="1005840"/>
          </a:xfrm>
          <a:prstGeom prst="rect">
            <a:avLst/>
          </a:prstGeom>
          <a:noFill/>
          <a:ln/>
        </p:spPr>
        <p:txBody>
          <a:bodyPr wrap="square" lIns="0" tIns="0" rIns="0" bIns="0" rtlCol="0" anchor="t"/>
          <a:lstStyle/>
          <a:p>
            <a:pPr indent="0" marL="0">
              <a:spcAft>
                <a:spcPts val="400"/>
              </a:spcAft>
              <a:buNone/>
            </a:pPr>
            <a:r>
              <a:rPr lang="en-US" sz="900" b="1" dirty="0">
                <a:solidFill>
                  <a:srgbClr val="182F48"/>
                </a:solidFill>
                <a:latin typeface="Noto Sans KR" pitchFamily="34" charset="0"/>
                <a:ea typeface="Noto Sans KR" pitchFamily="34" charset="-122"/>
                <a:cs typeface="Noto Sans KR" pitchFamily="34" charset="-120"/>
              </a:rPr>
              <a:t>B1  국내 플랫폼 MD는 신진 고프코어 브랜드를 한 번에 볼 소싱 창구가 부족하다</a:t>
            </a:r>
            <a:endParaRPr lang="en-US" sz="900" dirty="0"/>
          </a:p>
          <a:p>
            <a:pPr indent="0" marL="0">
              <a:spcAft>
                <a:spcPts val="400"/>
              </a:spcAft>
              <a:buNone/>
            </a:pPr>
            <a:r>
              <a:rPr lang="en-US" sz="900" b="1" dirty="0">
                <a:solidFill>
                  <a:srgbClr val="182F48"/>
                </a:solidFill>
                <a:latin typeface="Noto Sans KR" pitchFamily="34" charset="0"/>
                <a:ea typeface="Noto Sans KR" pitchFamily="34" charset="-122"/>
                <a:cs typeface="Noto Sans KR" pitchFamily="34" charset="-120"/>
              </a:rPr>
              <a:t>B2  해외 편집숍은 한국에서 여러 브랜드를 한 번에 보고 1:1 미팅이 잡히면 출장 온다</a:t>
            </a:r>
            <a:endParaRPr lang="en-US" sz="900" dirty="0"/>
          </a:p>
          <a:p>
            <a:pPr indent="0" marL="0">
              <a:spcAft>
                <a:spcPts val="400"/>
              </a:spcAft>
              <a:buNone/>
            </a:pPr>
            <a:r>
              <a:rPr lang="en-US" sz="900" b="1" dirty="0">
                <a:solidFill>
                  <a:srgbClr val="182F48"/>
                </a:solidFill>
                <a:latin typeface="Noto Sans KR" pitchFamily="34" charset="0"/>
                <a:ea typeface="Noto Sans KR" pitchFamily="34" charset="-122"/>
                <a:cs typeface="Noto Sans KR" pitchFamily="34" charset="-120"/>
              </a:rPr>
              <a:t>B3  바이어는 방수·보온 같은 기능 검증 데이터를 구매 판단에 쓴다</a:t>
            </a:r>
            <a:endParaRPr lang="en-US" sz="900" dirty="0"/>
          </a:p>
        </p:txBody>
      </p:sp>
      <p:sp>
        <p:nvSpPr>
          <p:cNvPr id="10" name="질문지 제목"/>
          <p:cNvSpPr txBox="1"/>
          <p:nvPr/>
        </p:nvSpPr>
        <p:spPr>
          <a:xfrm>
            <a:off x="612648" y="3383280"/>
            <a:ext cx="3931920" cy="274320"/>
          </a:xfrm>
          <a:prstGeom prst="rect">
            <a:avLst/>
          </a:prstGeom>
          <a:noFill/>
          <a:ln/>
        </p:spPr>
        <p:txBody>
          <a:bodyPr wrap="square" lIns="0" tIns="0" rIns="0" bIns="0" rtlCol="0" anchor="t"/>
          <a:lstStyle/>
          <a:p>
            <a:pPr indent="0" marL="0">
              <a:buNone/>
            </a:pPr>
            <a:r>
              <a:rPr lang="en-US" sz="1200" b="1" dirty="0">
                <a:solidFill>
                  <a:srgbClr val="182F48"/>
                </a:solidFill>
                <a:latin typeface="Noto Sans KR" pitchFamily="34" charset="0"/>
                <a:ea typeface="Noto Sans KR" pitchFamily="34" charset="-122"/>
                <a:cs typeface="Noto Sans KR" pitchFamily="34" charset="-120"/>
              </a:rPr>
              <a:t>통화 질문지</a:t>
            </a:r>
            <a:endParaRPr lang="en-US" sz="1200" dirty="0"/>
          </a:p>
        </p:txBody>
      </p:sp>
      <p:sp>
        <p:nvSpPr>
          <p:cNvPr id="11" name="질문지"/>
          <p:cNvSpPr txBox="1"/>
          <p:nvPr/>
        </p:nvSpPr>
        <p:spPr>
          <a:xfrm>
            <a:off x="612648" y="3675888"/>
            <a:ext cx="3931920" cy="1783080"/>
          </a:xfrm>
          <a:prstGeom prst="rect">
            <a:avLst/>
          </a:prstGeom>
          <a:noFill/>
          <a:ln/>
        </p:spPr>
        <p:txBody>
          <a:bodyPr wrap="square" lIns="0" tIns="0" rIns="0" bIns="0" rtlCol="0" anchor="t"/>
          <a:lstStyle/>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신규 아웃도어·고프코어 브랜드는 주로 어떤 경로로 발굴하나요?</a:t>
            </a:r>
            <a:endParaRPr lang="en-US" sz="900" dirty="0"/>
          </a:p>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차기 시즌 바이잉은 1년에 몇 번, 언제 하나요? (9월 말~10월 초 적합성)</a:t>
            </a:r>
            <a:endParaRPr lang="en-US" sz="900" dirty="0"/>
          </a:p>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고프코어 브랜드 120개가 모이고 1:1 사전 매칭을 해 준다면 참관할 의향이 있나요?</a:t>
            </a:r>
            <a:endParaRPr lang="en-US" sz="900" dirty="0"/>
          </a:p>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구매 판단에서 기능(방수·보온) 검증 데이터는 얼마나 중요한가요?</a:t>
            </a:r>
            <a:endParaRPr lang="en-US" sz="900" dirty="0"/>
          </a:p>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현장에서 꼭 보고 싶은 카테고리·브랜드는? (의류·신발·가방)</a:t>
            </a:r>
            <a:endParaRPr lang="en-US" sz="900" dirty="0"/>
          </a:p>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참관을 막는 요인은 무엇인가요? (일정·출장비·브랜드 수준)</a:t>
            </a:r>
            <a:endParaRPr lang="en-US" sz="900" dirty="0"/>
          </a:p>
          <a:p>
            <a:pPr marL="177800" indent="-177800">
              <a:spcAft>
                <a:spcPts val="300"/>
              </a:spcAft>
              <a:buSzPct val="100000"/>
              <a:buFont typeface="+mj-lt"/>
              <a:buAutoNum type="arabicPeriod" startAt="1"/>
            </a:pPr>
            <a:r>
              <a:rPr lang="en-US" sz="900" dirty="0">
                <a:solidFill>
                  <a:srgbClr val="334155"/>
                </a:solidFill>
                <a:latin typeface="Noto Sans KR" pitchFamily="34" charset="0"/>
                <a:ea typeface="Noto Sans KR" pitchFamily="34" charset="-122"/>
                <a:cs typeface="Noto Sans KR" pitchFamily="34" charset="-120"/>
              </a:rPr>
              <a:t>(해외) 숙박·통역 지원이 출장 결정에 영향을 주나요?</a:t>
            </a:r>
            <a:endParaRPr lang="en-US" sz="900" dirty="0"/>
          </a:p>
        </p:txBody>
      </p:sp>
      <p:sp>
        <p:nvSpPr>
          <p:cNvPr id="12" name="오프닝 배경"/>
          <p:cNvSpPr/>
          <p:nvPr/>
        </p:nvSpPr>
        <p:spPr>
          <a:xfrm>
            <a:off x="612648" y="5504688"/>
            <a:ext cx="3931920" cy="749808"/>
          </a:xfrm>
          <a:prstGeom prst="roundRect">
            <a:avLst>
              <a:gd name="adj" fmla="val 7317"/>
            </a:avLst>
          </a:prstGeom>
          <a:solidFill>
            <a:srgbClr val="F1F5F9"/>
          </a:solidFill>
          <a:ln/>
        </p:spPr>
      </p:sp>
      <p:sp>
        <p:nvSpPr>
          <p:cNvPr id="13" name="오프닝 스크립트"/>
          <p:cNvSpPr txBox="1"/>
          <p:nvPr/>
        </p:nvSpPr>
        <p:spPr>
          <a:xfrm>
            <a:off x="704088" y="5532120"/>
            <a:ext cx="3749040" cy="694944"/>
          </a:xfrm>
          <a:prstGeom prst="rect">
            <a:avLst/>
          </a:prstGeom>
          <a:noFill/>
          <a:ln/>
        </p:spPr>
        <p:txBody>
          <a:bodyPr wrap="square" lIns="0" tIns="0" rIns="0" bIns="0" rtlCol="0" anchor="ctr"/>
          <a:lstStyle/>
          <a:p>
            <a:pPr indent="0" marL="0">
              <a:buNone/>
            </a:pPr>
            <a:r>
              <a:rPr lang="en-US" sz="850" b="1" dirty="0">
                <a:solidFill>
                  <a:srgbClr val="267D86"/>
                </a:solidFill>
                <a:latin typeface="Noto Sans KR" pitchFamily="34" charset="0"/>
                <a:ea typeface="Noto Sans KR" pitchFamily="34" charset="-122"/>
                <a:cs typeface="Noto Sans KR" pitchFamily="34" charset="-120"/>
              </a:rPr>
              <a:t>오프닝  </a:t>
            </a:r>
            <a:pPr indent="0" marL="0">
              <a:buNone/>
            </a:pPr>
            <a:r>
              <a:rPr lang="en-US" sz="850" dirty="0">
                <a:solidFill>
                  <a:srgbClr val="334155"/>
                </a:solidFill>
                <a:latin typeface="Noto Sans KR" pitchFamily="34" charset="0"/>
                <a:ea typeface="Noto Sans KR" pitchFamily="34" charset="-122"/>
                <a:cs typeface="Noto Sans KR" pitchFamily="34" charset="-120"/>
              </a:rPr>
              <a:t>"안녕하세요, 한림대학교 MICE 전공 학생 ○○○입니다. 수업 과제로 '고프코어 패션 페어 서울'을 기획하고 있어 바이어 관점의 의견을 3분만 여쭙고 싶습니다. 답변은 수업 발표용으로만 쓰고 폐기합니다. 녹음해도 될까요?"</a:t>
            </a:r>
            <a:endParaRPr lang="en-US" sz="850" dirty="0"/>
          </a:p>
        </p:txBody>
      </p:sp>
      <p:sp>
        <p:nvSpPr>
          <p:cNvPr id="14" name="시도 기록 제목"/>
          <p:cNvSpPr txBox="1"/>
          <p:nvPr/>
        </p:nvSpPr>
        <p:spPr>
          <a:xfrm>
            <a:off x="4681728" y="1874520"/>
            <a:ext cx="6858000" cy="274320"/>
          </a:xfrm>
          <a:prstGeom prst="rect">
            <a:avLst/>
          </a:prstGeom>
          <a:noFill/>
          <a:ln/>
        </p:spPr>
        <p:txBody>
          <a:bodyPr wrap="square" lIns="0" tIns="0" rIns="0" bIns="0" rtlCol="0" anchor="t"/>
          <a:lstStyle/>
          <a:p>
            <a:pPr indent="0" marL="0">
              <a:buNone/>
            </a:pPr>
            <a:r>
              <a:rPr lang="en-US" sz="1200" b="1" dirty="0">
                <a:solidFill>
                  <a:srgbClr val="182F48"/>
                </a:solidFill>
                <a:latin typeface="Noto Sans KR" pitchFamily="34" charset="0"/>
                <a:ea typeface="Noto Sans KR" pitchFamily="34" charset="-122"/>
                <a:cs typeface="Noto Sans KR" pitchFamily="34" charset="-120"/>
              </a:rPr>
              <a:t>통화 대상 · 시도 기록표</a:t>
            </a:r>
            <a:endParaRPr lang="en-US" sz="1200" dirty="0"/>
          </a:p>
        </p:txBody>
      </p:sp>
      <p:graphicFrame>
        <p:nvGraphicFramePr>
          <p:cNvPr id="9" name="시도 기록표"/>
          <p:cNvGraphicFramePr>
            <a:graphicFrameLocks noGrp="1"/>
          </p:cNvGraphicFramePr>
          <p:nvPr>
            <p:extLst>
              <p:ext uri="{D42A27DB-BD31-4B8C-83A1-F6EECF244321}">
                <p14:modId xmlns:p14="http://schemas.microsoft.com/office/powerpoint/2010/main" val="1579011935"/>
              </p:ext>
            </p:extLst>
          </p:nvPr>
        </p:nvGraphicFramePr>
        <p:xfrm>
          <a:off x="4681728" y="2176272"/>
          <a:ext cx="6885432" cy="914400"/>
        </p:xfrm>
        <a:graphic>
          <a:graphicData uri="http://schemas.openxmlformats.org/drawingml/2006/table">
            <a:tbl>
              <a:tblPr/>
              <a:tblGrid>
                <a:gridCol w="365760"/>
                <a:gridCol w="2148840"/>
                <a:gridCol w="1051560"/>
                <a:gridCol w="914400"/>
                <a:gridCol w="548640"/>
                <a:gridCol w="1856232"/>
              </a:tblGrid>
              <a:tr h="274320">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No</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대상 (기관 · 직무)</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전화번호</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시도 일시</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결과</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indent="0" marL="0">
                        <a:buNone/>
                      </a:pPr>
                      <a:r>
                        <a:rPr lang="en-US" sz="850" b="1" dirty="0">
                          <a:solidFill>
                            <a:srgbClr val="FFFFFF"/>
                          </a:solidFill>
                          <a:latin typeface="Noto Sans KR" pitchFamily="34" charset="0"/>
                          <a:ea typeface="Noto Sans KR" pitchFamily="34" charset="-122"/>
                          <a:cs typeface="Noto Sans KR" pitchFamily="34" charset="-120"/>
                        </a:rPr>
                        <a:t>주요 답변 · 기획 수정</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1</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무신사 · 스포츠/아웃도어 카테고리 MD</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2</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29CM · 아웃도어 MD</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3</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웍스아웃 · 바이어 (국내 편집숍)</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4</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현대백화점 · 아웃도어 바이어</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5</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850" b="1" dirty="0">
                          <a:solidFill>
                            <a:srgbClr val="182F48"/>
                          </a:solidFill>
                          <a:latin typeface="Noto Sans KR" pitchFamily="34" charset="0"/>
                          <a:ea typeface="Noto Sans KR" pitchFamily="34" charset="-122"/>
                          <a:cs typeface="Noto Sans KR" pitchFamily="34" charset="-120"/>
                        </a:rPr>
                        <a:t>1LDK(일본 편집숍) · 바이어 (이메일·DM)</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6</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7</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02336">
                <a:tc>
                  <a:txBody>
                    <a:bodyPr/>
                    <a:lstStyle/>
                    <a:p>
                      <a:pPr algn="ctr" indent="0" marL="0">
                        <a:buNone/>
                      </a:pPr>
                      <a:r>
                        <a:rPr lang="en-US" sz="850" dirty="0">
                          <a:solidFill>
                            <a:srgbClr val="64748B"/>
                          </a:solidFill>
                          <a:latin typeface="Noto Sans KR" pitchFamily="34" charset="0"/>
                          <a:ea typeface="Noto Sans KR" pitchFamily="34" charset="-122"/>
                          <a:cs typeface="Noto Sans KR" pitchFamily="34" charset="-120"/>
                        </a:rPr>
                        <a:t>8</a:t>
                      </a: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endParaRPr lang="en-US" sz="850" dirty="0">
                        <a:latin typeface="Noto Sans KR" charset="0"/>
                        <a:ea typeface="Noto Sans KR" charset="0"/>
                        <a:cs typeface="Noto Sans KR" charset="0"/>
                      </a:endParaRPr>
                    </a:p>
                  </a:txBody>
                  <a:tcPr marL="50800" marR="508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16" name="기록 후 할 일"/>
          <p:cNvSpPr txBox="1"/>
          <p:nvPr/>
        </p:nvSpPr>
        <p:spPr>
          <a:xfrm>
            <a:off x="4681728" y="5815584"/>
            <a:ext cx="6885432" cy="310896"/>
          </a:xfrm>
          <a:prstGeom prst="rect">
            <a:avLst/>
          </a:prstGeom>
          <a:noFill/>
          <a:ln/>
        </p:spPr>
        <p:txBody>
          <a:bodyPr wrap="square" lIns="0" tIns="0" rIns="0" bIns="0" rtlCol="0" anchor="ctr"/>
          <a:lstStyle/>
          <a:p>
            <a:pPr indent="0" marL="0">
              <a:buNone/>
            </a:pPr>
            <a:r>
              <a:rPr lang="en-US" sz="900" b="1" dirty="0">
                <a:solidFill>
                  <a:srgbClr val="267D86"/>
                </a:solidFill>
                <a:latin typeface="Noto Sans KR" pitchFamily="34" charset="0"/>
                <a:ea typeface="Noto Sans KR" pitchFamily="34" charset="-122"/>
                <a:cs typeface="Noto Sans KR" pitchFamily="34" charset="-120"/>
              </a:rPr>
              <a:t>통화가 끝나면 6장 '별첨 제출' 칸의 바이어 측 상태를 '완료'로 바꾸고, 바뀐 가정(B1~B3)을 기획에 반영한다.</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고프코어 패션 페어 서울 2027</dc:title>
  <dc:subject>PptxGenJS Presentation</dc:subject>
  <dc:creator>전시산업론 중간고사</dc:creator>
  <cp:lastModifiedBy>전시산업론 중간고사</cp:lastModifiedBy>
  <cp:revision>1</cp:revision>
  <dcterms:created xsi:type="dcterms:W3CDTF">2026-10-23T07:06:12Z</dcterms:created>
  <dcterms:modified xsi:type="dcterms:W3CDTF">2026-10-23T07:06:12Z</dcterms:modified>
</cp:coreProperties>
</file>
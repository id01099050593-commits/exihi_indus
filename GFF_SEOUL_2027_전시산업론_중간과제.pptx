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[전시회] 고프코어 패션 페어 서울 2027입니다. 고프코어는 산행용 기능성 아웃도어를 도시의 일상복으로 입는 패션입니다. 2027년 9월 30일부터 10월 3일까지 코엑스(가안)에서, 앞 2일은 바이어 거래의 트레이드 데이, 뒤 2일은 소비자 체험의 퍼블릭 랩 데이로 엽니다.
[현상] 국내 아웃도어 시장은 약 7조 원에서 약 4조 원으로 줄었지만, 아크테릭스는 2024년 41% 성장해 2년 새 2배가 됐습니다. 수요가 등산복에서 고프코어 패션으로 옮겨간 것입니다.
[문제] 그런데 2024년 상위 12개 브랜드 중 성장한 3곳은 모두 해외 브랜드의 라이선스나 직진출입니다. 국내 오리지널 4곳은 모두 줄었고, 노스페이스 로열티는 151억에서 337억으로 늘었습니다.
[역설] 정작 그 제품은 한국 기업이 만듭니다. 영원무역은 룰루레몬·노스페이스·아크테릭스·파타고니아 등 40여 개 글로벌 브랜드를 생산합니다. 만드는 쪽과 사는 쪽 사이에 한국 브랜드가 비어 있는 것이 핵심 문제입니다.
[원인] 첫째, 국내 제조가 글로벌 대량 물량 중심이라 신진 브랜드는 최소주문량과 심실링 공정에 막히고, PFAS 규제로 소재 전환까지 떠안았습니다. 둘째, 국내 유통 수수료가 무신사 27.8%, 백화점 최고 38%로 높습니다. 셋째, 수출 이력이 없으면 해외 바이어를 만날 길이 없습니다.
[실마리] 코오롱스포츠는 국내 영업이익이 30억 원이었지만, 중국에서 안타와 손잡고 5년 만에 26배 성장해 매출 1조 원을 넘겼습니다. 맞는 파트너를 만나면 K-아웃도어는 큽니다. 소재·제조·브랜드·바이어를 한 자리에서 잇는 장이 없다는 것이 이 전시회가 필요한 이유입니다.
[기존 전시회와의 차이] SPOEX는 장비, 캠핑 페어는 현장판매, 서울패션위크 트레이드쇼는 디자이너 의류, 프리뷰 인 서울은 원단 중심입니다. ISPO는 유럽에서 축소 중입니다. 우리는 밸류체인 전체를 한 동선에 모으는 고프코어 단일 카테고리 전시입니다.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[미션] 앞 장에서 본 문제를 가진 이해관계자는 셋입니다. 소재·제조사는 글로벌 대량 물량에 묶여 국내 브랜드와 접점이 없고, K-고프코어 브랜드는 소량 생산처와 해외 바이어 없이 고비용 국내 유통에 갇혀 있습니다. 국내외 바이어는 한국 고프코어 브랜드를 한 번에 볼 장이 없습니다. 그래서 미션은 이 넷을 한 자리에서 거래로 이어, 성장의 과실이 해외 IP가 아닌 한국 브랜드에 남게 하는 것입니다.
[비전] 2030년, 한국을 고프코어의 생산 기지에서 브랜드 발신지로 바꾸는 것입니다. 이 전시회가 지속되면 K소재·K제조·K브랜드 공급망이 실제로 거래되는 시장이 생기고, 아시아 바이어가 다음 시즌 고프코어를 서울에서 사 가며, 소재·제조사의 매출원이 국내 브랜드와의 파트너십으로 넓어집니다.
[연결] 세 병목 각각에 전시 장치가 하나씩 대응합니다. 소재·제조 단절에는 소재관·제조관, 고비용 국내 유통에는 트레이드 데이 국내 세션, 해외 접점 부재에는 해외 세션, 그리고 기능 가치 전달에는 퍼블릭 랩 데이입니다. 이 연결이 해마다 반복되면 코오롱스포츠와 안타 같은 파트너십이 여러 브랜드에서 나오는 것이 비전입니다.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목표는 모두 제1회 폐막일인 2027년 10월 3일까지로 기한을 두었습니다. 숫자마다 비교 근거만이 아니라, 우리 행사가 그 숫자를 달성할 수 있는 이유를 따로 적었습니다.
[목표 1 참가 규모] 150개사는 브랜드 90, 소재·부자재 30, 제조 30으로 나눕니다. 서울패션위크 트레이드쇼 130개 브랜드, 유럽 OutDoor 재출범 250개사와 비교하면 보수적입니다. 우리만의 근거는 세 가지입니다. 서울 도심 봉제업체 1.8만 곳의 최대 애로가 일감 수주라 제조관 수요가 크고, 정부 'All in Korea' 사업이 280개사의 전시 참가를 지원하며, 소재·제조사가 K-브랜드 고객을 한 번에 만나는 전시가 국내에 없습니다. 무신사 인큐베이팅 참여 브랜드의 72%가 론칭 3년 미만일 만큼 신진 브랜드 공급도 많습니다. 소재 30곳은 프리뷰 인 서울 약 500개사의 6%, 관람객 2만 명은 SPOEX 4.7만 명의 절반 이하라 무리한 숫자가 아닙니다. 3회차에는 300개사로 키웁니다.
[목표 2 거래 성과] 해외 바이어 수요는 이미 움직이고 있습니다. 무신사 도쿄 쇼룸에는 일본 바이어 200명 이상이 왔고, 2026년 8월 무신사 스탠다드의 첫 서울 수주회에는 조조타운·티몰과 동남아 4개국 바이어가 왔습니다. 상담 1,200건은 브랜드 90곳 × 10건과 소재·제조 60곳 × 5건입니다. 이는 바이어 400명이 1인당 3건씩 상담하는 양으로, 이틀 행사에서 무리 없는 수준입니다. 상담액은 서울패션위크 실적(브랜드당 5.2만 달러)을 그대로 적용해 약 770만 달러가 나오므로 목표를 800만 달러로 잡았습니다. 수요는 무신사 도쿄 쇼룸에서 검증됐고, 유럽 아웃도어 B2B가 줄어드는 사이 아시아 수요는 커지고 있습니다.
[목표 3 밸류체인 연결] 소재·제조 60곳이 사전 매칭 5건씩을 소화하면 300건입니다. 그중 1/3이 샘플 의뢰로 이어진다고 가정해 100건을 목표로 했고, 이 비율은 1회 실측 후 고칩니다. PFAS 기준이 2027년과 2028년에 잇따라 강화되기 때문에 소재 전환 상담 수요가 확실하고, PFAS-free 상담 50건은 소재관 30곳이 2건 안팎씩 받는 규모입니다.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지도는 왼쪽에서 오른쪽으로 제품이 흐르고, 아래 주황 화살표로 돈이 거꾸로 흐릅니다. ① 원사·원료에서 시작해 ② 기능성 원단, ③ 충전재·부자재, ④ 생산, ⑤ 브랜드, ⑥ 유통, ⑦ 소비자·순환으로 이어집니다. 맨 아래 줄은 각 단계를 받치는 시험·인증, 물류, 미디어, 정책 기능입니다.
이 지도에서 문제가 보입니다. ④ 생산에서는 영원무역이 아크테릭스·노스페이스 같은 글로벌 브랜드를 만들고, ⑤ 브랜드에서는 해외 IP 라이선스 브랜드가 로열티를 해외로 보냅니다. 주황 원 ①②③은 기획 배경에서 말한 세 병목의 위치입니다.
[범위] 점선 안의 ②~⑥을 정식 참가 범위로, ⑦을 퍼블릭 랩 데이로 다룹니다. 세 병목이 모두 ②~⑥ 사이의 연결 지점에 있기 때문입니다. ① 원사·원료는 K-브랜드와 직접 거래하지 않고 프리뷰 인 서울이 이미 다루므로 제외합니다. 시험·인증과 물류는 브랜드의 수출에 꼭 필요한 서비스라 서비스관으로 함께 참가합니다.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[참가업체] 참가업체는 밸류체인 ②~⑥과 지원 서비스를 여섯 그룹으로 나눴고, 이 여섯 그룹이 그대로 전시관 구성이 됩니다. E1 기능성 소재와 E2 생산·봉제는 소재관·제조관, E3 K-고프코어 신진과 E4 국내 아웃도어 대형사는 브랜드관, E5 해외 프리미엄 브랜드는 퍼블릭 랩 데이의 앵커, E6은 시험·물류·해외 판매를 돕는 서비스관입니다.
[바이어] 바이어는 일곱 유형입니다. 국내 플랫폼 MD, 백화점, 국내 편집숍, 해외 편집숍, 해외 유통 파트너, 관심 소비자, 그리고 B6 브랜드 소싱·운영팀입니다. B6은 참가 브랜드 자신입니다. 브랜드는 브랜드관에서는 파는 쪽이지만 소재관·제조관에서는 사는 쪽이 되고, 이 이중 역할 덕분에 한 전시장 안에서 밸류체인 ②부터 ⑥까지의 거래가 동시에 일어납니다.
[연결] 구매 이유 앞의 번호는 1장의 세 병목입니다. ①은 소재·제조와 브랜드의 단절, ②는 고비용 국내 유통, ③은 해외 접점 부재입니다. 해외 프리미엄 브랜드는 인터뷰에서 확인한 대로 바이어보다 관심 고객을 원하므로, 트레이드 데이가 아닌 퍼블릭 랩 데이의 관심 소비자와 연결했습니다.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[이해관계자] 이해관계자는 공공기관, 협회·단체, 연구·시험기관, 미디어, 베뉴·플랫폼의 다섯 분류, 열두 곳입니다. 교수님 말씀대로 각 기관이 이 배에 타야 하는 이유, 즉 얻는 이익을 그 기관의 실제 사업 목표와 연결해 적었습니다. 역할 칸의 ①②③은 그 기관이 1장의 어느 병목을 푸는 데 힘을 보태는지를 표시한 것입니다.
예를 들어 산업통상부는 230억 원 규모 'All in Korea' 사업의 목표인 소재-제조-브랜드 협력 성과를 우리 현장에서 얻고, KOTRA는 해외 바이어 초청으로 수출 상담 실적을, 서울시는 도심 봉제업체의 일감을 얻습니다. 협회는 회원사를 공동관으로 모으는 가장 강한 모집 파트너이고, FITI시험연구원은 Test Lab에 신뢰를, GO OUT KOREA와 패션비즈는 업계 홍보와 인플루언서 섭외를 맡습니다.
[별첨] 참가업체 측은 마무트 종로점·제로그램 등을 운영하는 유통 담당자를 직접 만나 인터뷰했고, 질문 여덟 개의 답변을 녹취 그대로 별첨 1에 옮겼습니다. 바이어 측은 홀라인과 웍스아웃에 전화했지만 매장 직원과 고객센터 단계에서 막혀 실무 바이어와는 통화하지 못했습니다. 그 시도 내역과 이유, 준비했던 가정과 질문을 별첨 2에 정리했습니다.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참가업체 측은 아웃도어 브랜드 유통·판매를 맡고 있는 손호영 님을 직접 만나 인터뷰했습니다. 마이기어를 운영하고, 제로그램·아울렛·마무트 종로점도 운영하는 분입니다.
질문 여덟 개와 답변을 녹음된 말 그대로 옮겼습니다. 이 장에는 앞의 질문들이, 다음 장에는 나머지 질문과 인터뷰 전후로 바뀐 생각이 이어집니다.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인터뷰 전에 세운 가정 네 가지 중 세 가지가 틀렸고(H1·H3·H4), 부스비 가정은 일부만 맞았습니다(H2). 브랜드가 바이어 미팅과 현장 판매를 가장 원할 거라고 생각했지만, 비싼 장비일수록 판매보다 장점을 깊게 들어줄 고객이 필요하다는 답이었습니다.
그 결과를 근거가 된 질문과 함께 기획 수정 네 가지로 반영했습니다. 공동 Test Lab, 관심도 중심의 성과 지표, 참가업체의 목적별 연결, 미디어 파트너의 인플루언서 섭외 지원입니다.
인터뷰를 다시 검토해 보니 더 물었어야 할 것도 있었습니다. K-브랜드의 소량 생산처 확보 문제, 수입 브랜드 대비 마진 차이, 희망 참가일, 원화 기준 부스비와 시즌 적합성입니다.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바이어 측은 아웃도어 편집숍 홀라인과 편집숍 웍스아웃에 매장 번호와 고객센터 번호로 연락했습니다. 홀라인은 매장 직원이 받았지만 바잉 담당이 아니어서 준비한 질문에 답할 수 있는 사람이 없었고, 웍스아웃 압구정점은 판매 시간 전이라 연결되지 않았습니다.
두 곳 모두 고객센터는 공식 안내상 주문·배송 문의 창구라 바잉 담당자와 연결되는 경로가 아니었습니다. 바이어의 직통 번호는 공개돼 있지 않고, 매장은 판매를, 브랜드 선정은 본사가 맡는 구조이기 때문입니다.
통화를 위해 사전 가정 세 가지, 1분 분량의 행사 설명 대본, 질문 10개, 예상 질문과 답, 통화 기록표까지 준비했지만, 두 곳 모두 매장과 고객센터 단계에서 막혀 준비한 질문을 묻지 못했습니다.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GFF">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412480" y="274320"/>
            <a:ext cx="3163824" cy="237744"/>
          </a:xfrm>
          <a:prstGeom prst="rect">
            <a:avLst/>
          </a:prstGeom>
          <a:noFill/>
          <a:ln/>
        </p:spPr>
        <p:txBody>
          <a:bodyPr wrap="square" lIns="0" tIns="0" rIns="0" bIns="0" rtlCol="0" anchor="ctr"/>
          <a:lstStyle/>
          <a:p>
            <a:pPr algn="r" indent="0" marL="0">
              <a:buNone/>
            </a:pPr>
            <a:r>
              <a:rPr lang="en-US" sz="1100" dirty="0">
                <a:solidFill>
                  <a:srgbClr val="64748B"/>
                </a:solidFill>
                <a:latin typeface="Noto Sans KR" pitchFamily="34" charset="0"/>
                <a:ea typeface="Noto Sans KR" pitchFamily="34" charset="-122"/>
                <a:cs typeface="Noto Sans KR" pitchFamily="34" charset="-120"/>
              </a:rPr>
              <a:t>정신영 / 20222631</a:t>
            </a:r>
            <a:endParaRPr lang="en-US" sz="1100" dirty="0"/>
          </a:p>
        </p:txBody>
      </p:sp>
      <p:sp>
        <p:nvSpPr>
          <p:cNvPr id="3" name="Text 1"/>
          <p:cNvSpPr/>
          <p:nvPr>
            <p:ph idx="101" type="title" hasCustomPrompt="1"/>
          </p:nvPr>
        </p:nvSpPr>
        <p:spPr>
          <a:xfrm>
            <a:off x="612648" y="548640"/>
            <a:ext cx="10963656" cy="512064"/>
          </a:xfrm>
          <a:prstGeom prst="rect">
            <a:avLst/>
          </a:prstGeom>
          <a:noFill/>
          <a:ln/>
        </p:spPr>
        <p:txBody>
          <a:bodyPr wrap="square" rtlCol="0"/>
          <a:lstStyle>
            <a:lvl1pPr algn="l" indent="0" marL="0">
              <a:buNone/>
              <a:defRPr lang="en-US" sz="3000" b="1" dirty="0">
                <a:solidFill>
                  <a:srgbClr val="182F48"/>
                </a:solidFill>
                <a:latin typeface="Noto Sans KR" pitchFamily="34" charset="0"/>
                <a:ea typeface="Noto Sans KR" pitchFamily="34" charset="-122"/>
                <a:cs typeface="Noto Sans KR" pitchFamily="34" charset="-120"/>
              </a:defRPr>
            </a:lvl1pPr>
          </a:lstStyle>
          <a:p>
            <a:pPr algn="l" indent="0" marL="0">
              <a:buNone/>
            </a:pPr>
            <a:endParaRPr lang="en-US" sz="3000" dirty="0"/>
          </a:p>
        </p:txBody>
      </p:sp>
      <p:sp>
        <p:nvSpPr>
          <p:cNvPr id="4" name="Text 1"/>
          <p:cNvSpPr/>
          <p:nvPr>
            <p:ph idx="102" type="body" hasCustomPrompt="1"/>
          </p:nvPr>
        </p:nvSpPr>
        <p:spPr>
          <a:xfrm>
            <a:off x="612648" y="1060704"/>
            <a:ext cx="10963656" cy="310896"/>
          </a:xfrm>
          <a:prstGeom prst="rect">
            <a:avLst/>
          </a:prstGeom>
          <a:noFill/>
          <a:ln/>
        </p:spPr>
        <p:txBody>
          <a:bodyPr wrap="square" rtlCol="0"/>
          <a:lstStyle>
            <a:lvl1pPr algn="l" indent="0" marL="0">
              <a:buNone/>
              <a:defRPr lang="en-US" sz="1500" dirty="0">
                <a:solidFill>
                  <a:srgbClr val="267D86"/>
                </a:solidFill>
                <a:latin typeface="Noto Sans KR" pitchFamily="34" charset="0"/>
                <a:ea typeface="Noto Sans KR" pitchFamily="34" charset="-122"/>
                <a:cs typeface="Noto Sans KR" pitchFamily="34" charset="-120"/>
              </a:defRPr>
            </a:lvl1pPr>
          </a:lstStyle>
          <a:p>
            <a:pPr algn="l" indent="0" marL="0">
              <a:buNone/>
            </a:pPr>
            <a:endParaRPr lang="en-US" sz="15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과제 표기"/>
          <p:cNvSpPr txBox="1"/>
          <p:nvPr/>
        </p:nvSpPr>
        <p:spPr>
          <a:xfrm>
            <a:off x="612648" y="274320"/>
            <a:ext cx="5486400" cy="237744"/>
          </a:xfrm>
          <a:prstGeom prst="rect">
            <a:avLst/>
          </a:prstGeom>
          <a:noFill/>
          <a:ln/>
        </p:spPr>
        <p:txBody>
          <a:bodyPr wrap="square" lIns="0" tIns="0" rIns="0" bIns="0" rtlCol="0" anchor="t"/>
          <a:lstStyle/>
          <a:p>
            <a:pPr algn="l" indent="0" marL="0">
              <a:lnSpc>
                <a:spcPct val="92000"/>
              </a:lnSpc>
              <a:buNone/>
            </a:pPr>
            <a:r>
              <a:rPr lang="en-US" sz="1100" dirty="0">
                <a:solidFill>
                  <a:srgbClr val="64748B"/>
                </a:solidFill>
                <a:latin typeface="Noto Sans KR" pitchFamily="34" charset="0"/>
                <a:ea typeface="Noto Sans KR" pitchFamily="34" charset="-122"/>
                <a:cs typeface="Noto Sans KR" pitchFamily="34" charset="-120"/>
              </a:rPr>
              <a:t>전시산업론 중간고사 개인 과제   1/6</a:t>
            </a:r>
            <a:endParaRPr lang="en-US" sz="1100" dirty="0"/>
          </a:p>
        </p:txBody>
      </p:sp>
      <p:sp>
        <p:nvSpPr>
          <p:cNvPr id="3" name="Text 1"/>
          <p:cNvSpPr/>
          <p:nvPr>
            <p:ph idx="101" type="title" hasCustomPrompt="1"/>
          </p:nvPr>
        </p:nvSpPr>
        <p:spPr>
          <a:xfrm>
            <a:off x="612648" y="548640"/>
            <a:ext cx="10963656" cy="512064"/>
          </a:xfrm>
          <a:prstGeom prst="rect">
            <a:avLst/>
          </a:prstGeom>
          <a:noFill/>
          <a:ln/>
        </p:spPr>
        <p:txBody>
          <a:bodyPr wrap="square" lIns="0" tIns="0" rIns="0" bIns="0" rtlCol="0" anchor="ctr"/>
          <a:lstStyle/>
          <a:p>
            <a:pPr algn="l" indent="0" marL="0">
              <a:buNone/>
            </a:pPr>
            <a:r>
              <a:rPr lang="en-US" sz="3000" b="1" dirty="0">
                <a:solidFill>
                  <a:srgbClr val="182F48"/>
                </a:solidFill>
                <a:latin typeface="Noto Sans KR" pitchFamily="34" charset="0"/>
                <a:ea typeface="Noto Sans KR" pitchFamily="34" charset="-122"/>
                <a:cs typeface="Noto Sans KR" pitchFamily="34" charset="-120"/>
              </a:rPr>
              <a:t>전시회 제목 · 기획 배경</a:t>
            </a:r>
            <a:endParaRPr lang="en-US" sz="3000" dirty="0"/>
          </a:p>
        </p:txBody>
      </p:sp>
      <p:sp>
        <p:nvSpPr>
          <p:cNvPr id="4" name="Text 1"/>
          <p:cNvSpPr/>
          <p:nvPr>
            <p:ph idx="102" type="body" hasCustomPrompt="1"/>
          </p:nvPr>
        </p:nvSpPr>
        <p:spPr>
          <a:xfrm>
            <a:off x="612648" y="1060704"/>
            <a:ext cx="10963656" cy="310896"/>
          </a:xfrm>
          <a:prstGeom prst="rect">
            <a:avLst/>
          </a:prstGeom>
          <a:noFill/>
          <a:ln/>
        </p:spPr>
        <p:txBody>
          <a:bodyPr wrap="square" lIns="0" tIns="0" rIns="0" bIns="0" rtlCol="0" anchor="ctr"/>
          <a:lstStyle/>
          <a:p>
            <a:pPr algn="l" indent="0" marL="0">
              <a:buNone/>
            </a:pPr>
            <a:r>
              <a:rPr lang="en-US" sz="1500" dirty="0">
                <a:solidFill>
                  <a:srgbClr val="267D86"/>
                </a:solidFill>
                <a:latin typeface="Noto Sans KR" pitchFamily="34" charset="0"/>
                <a:ea typeface="Noto Sans KR" pitchFamily="34" charset="-122"/>
                <a:cs typeface="Noto Sans KR" pitchFamily="34" charset="-120"/>
              </a:rPr>
              <a:t>무슨 전시회이며, 왜 지금 필요한가?</a:t>
            </a:r>
            <a:endParaRPr lang="en-US" sz="1500" dirty="0"/>
          </a:p>
        </p:txBody>
      </p:sp>
      <p:sp>
        <p:nvSpPr>
          <p:cNvPr id="5" name="출처"/>
          <p:cNvSpPr txBox="1"/>
          <p:nvPr/>
        </p:nvSpPr>
        <p:spPr>
          <a:xfrm>
            <a:off x="612648" y="6355080"/>
            <a:ext cx="10963656" cy="457200"/>
          </a:xfrm>
          <a:prstGeom prst="rect">
            <a:avLst/>
          </a:prstGeom>
          <a:noFill/>
          <a:ln/>
        </p:spPr>
        <p:txBody>
          <a:bodyPr wrap="square" lIns="0" tIns="0" rIns="0" bIns="0" rtlCol="0" anchor="t"/>
          <a:lstStyle/>
          <a:p>
            <a:pPr algn="l" indent="0" marL="0">
              <a:lnSpc>
                <a:spcPct val="90000"/>
              </a:lnSpc>
              <a:buNone/>
            </a:pPr>
            <a:r>
              <a:rPr lang="en-US" sz="700" dirty="0">
                <a:solidFill>
                  <a:srgbClr val="64748B"/>
                </a:solidFill>
                <a:latin typeface="Noto Sans KR" pitchFamily="34" charset="0"/>
                <a:ea typeface="Noto Sans KR" pitchFamily="34" charset="-122"/>
                <a:cs typeface="Noto Sans KR" pitchFamily="34" charset="-120"/>
              </a:rPr>
              <a:t>출처: 뉴데일리(2025.4.11) · 어패럴뉴스(2025) · TENANT news(2025) · 데일리안(2026) · 엠브레인 트렌드모니터(2026) · 아시아경제(2024.7.2) · 삼성증권·한국투자증권(2025) · 코오롱 공식 블로그</a:t>
            </a:r>
            <a:endParaRPr lang="en-US" sz="700" dirty="0"/>
          </a:p>
          <a:p>
            <a:pPr algn="l" indent="0" marL="0">
              <a:lnSpc>
                <a:spcPct val="90000"/>
              </a:lnSpc>
              <a:buNone/>
            </a:pPr>
            <a:r>
              <a:rPr lang="en-US" sz="700" dirty="0">
                <a:solidFill>
                  <a:srgbClr val="64748B"/>
                </a:solidFill>
                <a:latin typeface="Noto Sans KR" pitchFamily="34" charset="0"/>
                <a:ea typeface="Noto Sans KR" pitchFamily="34" charset="-122"/>
                <a:cs typeface="Noto Sans KR" pitchFamily="34" charset="-120"/>
              </a:rPr>
              <a:t>중소기업중앙회(2024.7.3, 2025.12.9) · SBS Biz(2025) · 패션비즈 · KOTRA·Morgan Lewis(PFAS) · 아시아경제(2026.7.29) · 뉴스퀘스트(2025) · 무신사 뉴스룸(2024.7.17) · Houyhnhnm·END.(케일)</a:t>
            </a:r>
            <a:endParaRPr lang="en-US" sz="700" dirty="0"/>
          </a:p>
          <a:p>
            <a:pPr algn="l" indent="0" marL="0">
              <a:lnSpc>
                <a:spcPct val="90000"/>
              </a:lnSpc>
              <a:buNone/>
            </a:pPr>
            <a:r>
              <a:rPr lang="en-US" sz="700" dirty="0">
                <a:solidFill>
                  <a:srgbClr val="64748B"/>
                </a:solidFill>
                <a:latin typeface="Noto Sans KR" pitchFamily="34" charset="0"/>
                <a:ea typeface="Noto Sans KR" pitchFamily="34" charset="-122"/>
                <a:cs typeface="Noto Sans KR" pitchFamily="34" charset="-120"/>
              </a:rPr>
              <a:t>산업통상부(2026.2.3) · 한국경제(2026.5.28) · 쿠키뉴스(2026.3.6) · 서울시(2025.2.27) · 스마트투데이(2025) · FashionUnited(2025.11) · Wikipedia·The Cut(고프코어 어원) · 참가업체 측 인터뷰(2026.10.17)</a:t>
            </a:r>
            <a:endParaRPr lang="en-US" sz="700" dirty="0"/>
          </a:p>
        </p:txBody>
      </p:sp>
      <p:sp>
        <p:nvSpPr>
          <p:cNvPr id="7" name="라벨"/>
          <p:cNvSpPr txBox="1"/>
          <p:nvPr/>
        </p:nvSpPr>
        <p:spPr>
          <a:xfrm>
            <a:off x="612648" y="1554480"/>
            <a:ext cx="1417320" cy="237744"/>
          </a:xfrm>
          <a:prstGeom prst="rect">
            <a:avLst/>
          </a:prstGeom>
          <a:noFill/>
          <a:ln/>
        </p:spPr>
        <p:txBody>
          <a:bodyPr wrap="square" lIns="0" tIns="0" rIns="0" bIns="0" rtlCol="0" anchor="t"/>
          <a:lstStyle/>
          <a:p>
            <a:pPr algn="l" indent="0" marL="0">
              <a:lnSpc>
                <a:spcPct val="100000"/>
              </a:lnSpc>
              <a:buNone/>
            </a:pPr>
            <a:r>
              <a:rPr lang="en-US" sz="1200" b="1" dirty="0">
                <a:solidFill>
                  <a:srgbClr val="182F48"/>
                </a:solidFill>
                <a:latin typeface="Noto Sans KR" pitchFamily="34" charset="0"/>
                <a:ea typeface="Noto Sans KR" pitchFamily="34" charset="-122"/>
                <a:cs typeface="Noto Sans KR" pitchFamily="34" charset="-120"/>
              </a:rPr>
              <a:t>전시회명 · 작성자</a:t>
            </a:r>
            <a:endParaRPr lang="en-US" sz="1200" dirty="0"/>
          </a:p>
        </p:txBody>
      </p:sp>
      <p:sp>
        <p:nvSpPr>
          <p:cNvPr id="8" name="전시회명"/>
          <p:cNvSpPr txBox="1"/>
          <p:nvPr/>
        </p:nvSpPr>
        <p:spPr>
          <a:xfrm>
            <a:off x="2121408" y="1463040"/>
            <a:ext cx="9454896" cy="402336"/>
          </a:xfrm>
          <a:prstGeom prst="rect">
            <a:avLst/>
          </a:prstGeom>
          <a:noFill/>
          <a:ln/>
        </p:spPr>
        <p:txBody>
          <a:bodyPr wrap="square" lIns="0" tIns="0" rIns="0" bIns="0" rtlCol="0" anchor="ctr"/>
          <a:lstStyle/>
          <a:p>
            <a:pPr algn="l" indent="0" marL="0">
              <a:lnSpc>
                <a:spcPct val="100000"/>
              </a:lnSpc>
              <a:buNone/>
            </a:pPr>
            <a:r>
              <a:rPr lang="en-US" sz="2000" b="1" dirty="0">
                <a:solidFill>
                  <a:srgbClr val="182F48"/>
                </a:solidFill>
                <a:latin typeface="Noto Sans KR" pitchFamily="34" charset="0"/>
                <a:ea typeface="Noto Sans KR" pitchFamily="34" charset="-122"/>
                <a:cs typeface="Noto Sans KR" pitchFamily="34" charset="-120"/>
              </a:rPr>
              <a:t>고프코어 패션 페어 서울 2027</a:t>
            </a:r>
            <a:pPr algn="l" indent="0" marL="0">
              <a:lnSpc>
                <a:spcPct val="100000"/>
              </a:lnSpc>
              <a:buNone/>
            </a:pPr>
            <a:r>
              <a:rPr lang="en-US" sz="1100" b="1" dirty="0">
                <a:solidFill>
                  <a:srgbClr val="267D86"/>
                </a:solidFill>
                <a:latin typeface="Noto Sans KR" pitchFamily="34" charset="0"/>
                <a:ea typeface="Noto Sans KR" pitchFamily="34" charset="-122"/>
                <a:cs typeface="Noto Sans KR" pitchFamily="34" charset="-120"/>
              </a:rPr>
              <a:t>    GORPCORE FASHION FAIR SEOUL</a:t>
            </a:r>
            <a:endParaRPr lang="en-US" sz="2000" dirty="0"/>
          </a:p>
        </p:txBody>
      </p:sp>
      <p:sp>
        <p:nvSpPr>
          <p:cNvPr id="9" name="개요"/>
          <p:cNvSpPr txBox="1"/>
          <p:nvPr/>
        </p:nvSpPr>
        <p:spPr>
          <a:xfrm>
            <a:off x="2121408" y="1865376"/>
            <a:ext cx="6949440" cy="219456"/>
          </a:xfrm>
          <a:prstGeom prst="rect">
            <a:avLst/>
          </a:prstGeom>
          <a:noFill/>
          <a:ln/>
        </p:spPr>
        <p:txBody>
          <a:bodyPr wrap="square" lIns="0" tIns="0" rIns="0" bIns="0" rtlCol="0" anchor="ctr"/>
          <a:lstStyle/>
          <a:p>
            <a:pPr algn="l" indent="0" marL="0">
              <a:lnSpc>
                <a:spcPct val="92000"/>
              </a:lnSpc>
              <a:buNone/>
            </a:pPr>
            <a:r>
              <a:rPr lang="en-US" sz="950" dirty="0">
                <a:solidFill>
                  <a:srgbClr val="334155"/>
                </a:solidFill>
                <a:latin typeface="Noto Sans KR" pitchFamily="34" charset="0"/>
                <a:ea typeface="Noto Sans KR" pitchFamily="34" charset="-122"/>
                <a:cs typeface="Noto Sans KR" pitchFamily="34" charset="-120"/>
              </a:rPr>
              <a:t>2027. 9. 30(목) ~ 10. 3(일) · 코엑스(가안) · 트레이드 데이(B2B) 2일 + 퍼블릭 랩 데이(B2C) 2일</a:t>
            </a:r>
            <a:endParaRPr lang="en-US" sz="950" dirty="0"/>
          </a:p>
        </p:txBody>
      </p:sp>
      <p:sp>
        <p:nvSpPr>
          <p:cNvPr id="10" name="작성자"/>
          <p:cNvSpPr txBox="1"/>
          <p:nvPr/>
        </p:nvSpPr>
        <p:spPr>
          <a:xfrm>
            <a:off x="9070848" y="1865376"/>
            <a:ext cx="2505456" cy="219456"/>
          </a:xfrm>
          <a:prstGeom prst="rect">
            <a:avLst/>
          </a:prstGeom>
          <a:noFill/>
          <a:ln/>
        </p:spPr>
        <p:txBody>
          <a:bodyPr wrap="square" lIns="0" tIns="0" rIns="0" bIns="0" rtlCol="0" anchor="ctr"/>
          <a:lstStyle/>
          <a:p>
            <a:pPr algn="r" indent="0" marL="0">
              <a:lnSpc>
                <a:spcPct val="92000"/>
              </a:lnSpc>
              <a:buNone/>
            </a:pPr>
            <a:r>
              <a:rPr lang="en-US" sz="950" b="1" dirty="0">
                <a:solidFill>
                  <a:srgbClr val="182F48"/>
                </a:solidFill>
                <a:latin typeface="Noto Sans KR" pitchFamily="34" charset="0"/>
                <a:ea typeface="Noto Sans KR" pitchFamily="34" charset="-122"/>
                <a:cs typeface="Noto Sans KR" pitchFamily="34" charset="-120"/>
              </a:rPr>
              <a:t>작성자: 정신영 / 20222631</a:t>
            </a:r>
            <a:endParaRPr lang="en-US" sz="950" dirty="0"/>
          </a:p>
        </p:txBody>
      </p:sp>
      <p:sp>
        <p:nvSpPr>
          <p:cNvPr id="11" name="고프코어 정의 배경"/>
          <p:cNvSpPr/>
          <p:nvPr/>
        </p:nvSpPr>
        <p:spPr>
          <a:xfrm>
            <a:off x="2121408" y="2112264"/>
            <a:ext cx="9454896" cy="384048"/>
          </a:xfrm>
          <a:prstGeom prst="roundRect">
            <a:avLst>
              <a:gd name="adj" fmla="val 11905"/>
            </a:avLst>
          </a:prstGeom>
          <a:solidFill>
            <a:srgbClr val="E6F2F3"/>
          </a:solidFill>
          <a:ln/>
        </p:spPr>
      </p:sp>
      <p:sp>
        <p:nvSpPr>
          <p:cNvPr id="12" name="고프코어 정의 제목"/>
          <p:cNvSpPr txBox="1"/>
          <p:nvPr/>
        </p:nvSpPr>
        <p:spPr>
          <a:xfrm>
            <a:off x="2231136" y="2112264"/>
            <a:ext cx="868680" cy="384048"/>
          </a:xfrm>
          <a:prstGeom prst="rect">
            <a:avLst/>
          </a:prstGeom>
          <a:noFill/>
          <a:ln/>
        </p:spPr>
        <p:txBody>
          <a:bodyPr wrap="square" lIns="0" tIns="0" rIns="0" bIns="0" rtlCol="0" anchor="ctr"/>
          <a:lstStyle/>
          <a:p>
            <a:pPr algn="l" indent="0" marL="0">
              <a:lnSpc>
                <a:spcPct val="92000"/>
              </a:lnSpc>
              <a:buNone/>
            </a:pPr>
            <a:r>
              <a:rPr lang="en-US" sz="900" b="1" dirty="0">
                <a:solidFill>
                  <a:srgbClr val="267D86"/>
                </a:solidFill>
                <a:latin typeface="Noto Sans KR" pitchFamily="34" charset="0"/>
                <a:ea typeface="Noto Sans KR" pitchFamily="34" charset="-122"/>
                <a:cs typeface="Noto Sans KR" pitchFamily="34" charset="-120"/>
              </a:rPr>
              <a:t>고프코어란?</a:t>
            </a:r>
            <a:endParaRPr lang="en-US" sz="900" dirty="0"/>
          </a:p>
        </p:txBody>
      </p:sp>
      <p:sp>
        <p:nvSpPr>
          <p:cNvPr id="13" name="고프코어 정의"/>
          <p:cNvSpPr txBox="1"/>
          <p:nvPr/>
        </p:nvSpPr>
        <p:spPr>
          <a:xfrm>
            <a:off x="3127248" y="2139696"/>
            <a:ext cx="8339328" cy="329184"/>
          </a:xfrm>
          <a:prstGeom prst="rect">
            <a:avLst/>
          </a:prstGeom>
          <a:noFill/>
          <a:ln/>
        </p:spPr>
        <p:txBody>
          <a:bodyPr wrap="square" lIns="0" tIns="0" rIns="0" bIns="0" rtlCol="0" anchor="ctr"/>
          <a:lstStyle/>
          <a:p>
            <a:pPr algn="l" indent="0" marL="0">
              <a:lnSpc>
                <a:spcPct val="92000"/>
              </a:lnSpc>
              <a:buNone/>
            </a:pPr>
            <a:r>
              <a:rPr lang="en-US" sz="800" dirty="0">
                <a:solidFill>
                  <a:srgbClr val="334155"/>
                </a:solidFill>
                <a:latin typeface="Noto Sans KR" pitchFamily="34" charset="0"/>
                <a:ea typeface="Noto Sans KR" pitchFamily="34" charset="-122"/>
                <a:cs typeface="Noto Sans KR" pitchFamily="34" charset="-120"/>
              </a:rPr>
              <a:t>등산 간식 'GORP'와 놈코어(normcore)의 '-core'를 합친 말로, 산행용 기능성 아웃도어를 도시의 일상복으로 입는 패션이다.</a:t>
            </a:r>
            <a:endParaRPr lang="en-US" sz="800" dirty="0"/>
          </a:p>
          <a:p>
            <a:pPr algn="l" indent="0" marL="0">
              <a:lnSpc>
                <a:spcPct val="92000"/>
              </a:lnSpc>
              <a:buNone/>
            </a:pPr>
            <a:r>
              <a:rPr lang="en-US" sz="800" dirty="0">
                <a:solidFill>
                  <a:srgbClr val="334155"/>
                </a:solidFill>
                <a:latin typeface="Noto Sans KR" pitchFamily="34" charset="0"/>
                <a:ea typeface="Noto Sans KR" pitchFamily="34" charset="-122"/>
                <a:cs typeface="Noto Sans KR" pitchFamily="34" charset="-120"/>
              </a:rPr>
              <a:t>2017년 미국 패션 매체 The Cut이 처음 쓴 말로, 2020년 말 틱톡을 거쳐 대중화됐고 아크테릭스·살로몬이 상징적인 브랜드다.</a:t>
            </a:r>
            <a:endParaRPr lang="en-US" sz="800" dirty="0"/>
          </a:p>
        </p:txBody>
      </p:sp>
      <p:sp>
        <p:nvSpPr>
          <p:cNvPr id="14" name="라벨"/>
          <p:cNvSpPr txBox="1"/>
          <p:nvPr/>
        </p:nvSpPr>
        <p:spPr>
          <a:xfrm>
            <a:off x="612648" y="2578608"/>
            <a:ext cx="1417320" cy="237744"/>
          </a:xfrm>
          <a:prstGeom prst="rect">
            <a:avLst/>
          </a:prstGeom>
          <a:noFill/>
          <a:ln/>
        </p:spPr>
        <p:txBody>
          <a:bodyPr wrap="square" lIns="0" tIns="0" rIns="0" bIns="0" rtlCol="0" anchor="t"/>
          <a:lstStyle/>
          <a:p>
            <a:pPr algn="l" indent="0" marL="0">
              <a:lnSpc>
                <a:spcPct val="100000"/>
              </a:lnSpc>
              <a:buNone/>
            </a:pPr>
            <a:r>
              <a:rPr lang="en-US" sz="1200" b="1" dirty="0">
                <a:solidFill>
                  <a:srgbClr val="182F48"/>
                </a:solidFill>
                <a:latin typeface="Noto Sans KR" pitchFamily="34" charset="0"/>
                <a:ea typeface="Noto Sans KR" pitchFamily="34" charset="-122"/>
                <a:cs typeface="Noto Sans KR" pitchFamily="34" charset="-120"/>
              </a:rPr>
              <a:t>기획 배경</a:t>
            </a:r>
            <a:endParaRPr lang="en-US" sz="1200" dirty="0"/>
          </a:p>
        </p:txBody>
      </p:sp>
      <p:sp>
        <p:nvSpPr>
          <p:cNvPr id="15" name="라벨 안내"/>
          <p:cNvSpPr txBox="1"/>
          <p:nvPr/>
        </p:nvSpPr>
        <p:spPr>
          <a:xfrm>
            <a:off x="612648" y="2843784"/>
            <a:ext cx="1417320" cy="548640"/>
          </a:xfrm>
          <a:prstGeom prst="rect">
            <a:avLst/>
          </a:prstGeom>
          <a:noFill/>
          <a:ln/>
        </p:spPr>
        <p:txBody>
          <a:bodyPr wrap="square" lIns="0" tIns="0" rIns="0" bIns="0" rtlCol="0" anchor="t"/>
          <a:lstStyle/>
          <a:p>
            <a:pPr algn="l" indent="0" marL="0">
              <a:lnSpc>
                <a:spcPct val="92000"/>
              </a:lnSpc>
              <a:buNone/>
            </a:pPr>
            <a:r>
              <a:rPr lang="en-US" sz="800" dirty="0">
                <a:solidFill>
                  <a:srgbClr val="64748B"/>
                </a:solidFill>
                <a:latin typeface="Noto Sans KR" pitchFamily="34" charset="0"/>
                <a:ea typeface="Noto Sans KR" pitchFamily="34" charset="-122"/>
                <a:cs typeface="Noto Sans KR" pitchFamily="34" charset="-120"/>
              </a:rPr>
              <a:t>현상 → 문제 → 원인</a:t>
            </a:r>
            <a:endParaRPr lang="en-US" sz="800" dirty="0"/>
          </a:p>
          <a:p>
            <a:pPr algn="l" indent="0" marL="0">
              <a:lnSpc>
                <a:spcPct val="92000"/>
              </a:lnSpc>
              <a:buNone/>
            </a:pPr>
            <a:r>
              <a:rPr lang="en-US" sz="800" dirty="0">
                <a:solidFill>
                  <a:srgbClr val="64748B"/>
                </a:solidFill>
                <a:latin typeface="Noto Sans KR" pitchFamily="34" charset="0"/>
                <a:ea typeface="Noto Sans KR" pitchFamily="34" charset="-122"/>
                <a:cs typeface="Noto Sans KR" pitchFamily="34" charset="-120"/>
              </a:rPr>
              <a:t>→ 실마리 → 기회</a:t>
            </a:r>
            <a:endParaRPr lang="en-US" sz="800" dirty="0"/>
          </a:p>
        </p:txBody>
      </p:sp>
      <p:sp>
        <p:nvSpPr>
          <p:cNvPr id="16" name="배경 단계 현상"/>
          <p:cNvSpPr txBox="1"/>
          <p:nvPr/>
        </p:nvSpPr>
        <p:spPr>
          <a:xfrm>
            <a:off x="2121408" y="2560320"/>
            <a:ext cx="731520" cy="407228"/>
          </a:xfrm>
          <a:prstGeom prst="roundRect">
            <a:avLst>
              <a:gd name="adj" fmla="val 11227"/>
            </a:avLst>
          </a:prstGeom>
          <a:solidFill>
            <a:srgbClr val="94A3B8"/>
          </a:solidFill>
          <a:ln/>
        </p:spPr>
        <p:txBody>
          <a:bodyPr wrap="square" lIns="0" tIns="0" rIns="0" bIns="0" rtlCol="0" anchor="ctr"/>
          <a:lstStyle/>
          <a:p>
            <a:pPr algn="ctr" indent="0" marL="0">
              <a:lnSpc>
                <a:spcPct val="100000"/>
              </a:lnSpc>
              <a:buNone/>
            </a:pPr>
            <a:r>
              <a:rPr lang="en-US" sz="900" b="1" dirty="0">
                <a:solidFill>
                  <a:srgbClr val="FFFFFF"/>
                </a:solidFill>
                <a:latin typeface="Noto Sans KR" pitchFamily="34" charset="0"/>
                <a:ea typeface="Noto Sans KR" pitchFamily="34" charset="-122"/>
                <a:cs typeface="Noto Sans KR" pitchFamily="34" charset="-120"/>
              </a:rPr>
              <a:t>현상</a:t>
            </a:r>
            <a:endParaRPr lang="en-US" sz="900" dirty="0"/>
          </a:p>
        </p:txBody>
      </p:sp>
      <p:sp>
        <p:nvSpPr>
          <p:cNvPr id="17" name="배경 근거 현상"/>
          <p:cNvSpPr txBox="1"/>
          <p:nvPr/>
        </p:nvSpPr>
        <p:spPr>
          <a:xfrm>
            <a:off x="2962656" y="2569464"/>
            <a:ext cx="8613648" cy="407228"/>
          </a:xfrm>
          <a:prstGeom prst="rect">
            <a:avLst/>
          </a:prstGeom>
          <a:noFill/>
          <a:ln/>
        </p:spPr>
        <p:txBody>
          <a:bodyPr wrap="square" lIns="0" tIns="0" rIns="0" bIns="0" rtlCol="0" anchor="t"/>
          <a:lstStyle/>
          <a:p>
            <a:pPr algn="l" indent="0" marL="0">
              <a:lnSpc>
                <a:spcPct val="90000"/>
              </a:lnSpc>
              <a:buNone/>
            </a:pPr>
            <a:r>
              <a:rPr lang="en-US" sz="850" b="1" dirty="0">
                <a:solidFill>
                  <a:srgbClr val="182F48"/>
                </a:solidFill>
                <a:latin typeface="Noto Sans KR" pitchFamily="34" charset="0"/>
                <a:ea typeface="Noto Sans KR" pitchFamily="34" charset="-122"/>
                <a:cs typeface="Noto Sans KR" pitchFamily="34" charset="-120"/>
              </a:rPr>
              <a:t>아웃도어 수요는 '등산복'에서 '고프코어 패션'으로 옮겨갔다.</a:t>
            </a:r>
            <a:endParaRPr lang="en-US" sz="850" dirty="0"/>
          </a:p>
          <a:p>
            <a:pPr algn="l" indent="0" marL="0">
              <a:lnSpc>
                <a:spcPct val="90000"/>
              </a:lnSpc>
              <a:buNone/>
            </a:pPr>
            <a:r>
              <a:rPr lang="en-US" sz="750" dirty="0">
                <a:solidFill>
                  <a:srgbClr val="334155"/>
                </a:solidFill>
                <a:latin typeface="Noto Sans KR" pitchFamily="34" charset="0"/>
                <a:ea typeface="Noto Sans KR" pitchFamily="34" charset="-122"/>
                <a:cs typeface="Noto Sans KR" pitchFamily="34" charset="-120"/>
              </a:rPr>
              <a:t>국내 아웃도어 시장은 </a:t>
            </a:r>
            <a:pPr algn="l" indent="0" marL="0">
              <a:lnSpc>
                <a:spcPct val="90000"/>
              </a:lnSpc>
              <a:buNone/>
            </a:pPr>
            <a:r>
              <a:rPr lang="en-US" sz="750" b="1" dirty="0">
                <a:solidFill>
                  <a:srgbClr val="334155"/>
                </a:solidFill>
                <a:latin typeface="Noto Sans KR" pitchFamily="34" charset="0"/>
                <a:ea typeface="Noto Sans KR" pitchFamily="34" charset="-122"/>
                <a:cs typeface="Noto Sans KR" pitchFamily="34" charset="-120"/>
              </a:rPr>
              <a:t>약 7조(2014) → 약 4조(2024)</a:t>
            </a:r>
            <a:pPr algn="l" indent="0" marL="0">
              <a:lnSpc>
                <a:spcPct val="90000"/>
              </a:lnSpc>
              <a:buNone/>
            </a:pPr>
            <a:r>
              <a:rPr lang="en-US" sz="750" dirty="0">
                <a:solidFill>
                  <a:srgbClr val="334155"/>
                </a:solidFill>
                <a:latin typeface="Noto Sans KR" pitchFamily="34" charset="0"/>
                <a:ea typeface="Noto Sans KR" pitchFamily="34" charset="-122"/>
                <a:cs typeface="Noto Sans KR" pitchFamily="34" charset="-120"/>
              </a:rPr>
              <a:t>로 줄었지만, 아크테릭스는 2024년 </a:t>
            </a:r>
            <a:pPr algn="l" indent="0" marL="0">
              <a:lnSpc>
                <a:spcPct val="90000"/>
              </a:lnSpc>
              <a:buNone/>
            </a:pPr>
            <a:r>
              <a:rPr lang="en-US" sz="750" b="1" dirty="0">
                <a:solidFill>
                  <a:srgbClr val="334155"/>
                </a:solidFill>
                <a:latin typeface="Noto Sans KR" pitchFamily="34" charset="0"/>
                <a:ea typeface="Noto Sans KR" pitchFamily="34" charset="-122"/>
                <a:cs typeface="Noto Sans KR" pitchFamily="34" charset="-120"/>
              </a:rPr>
              <a:t>41%</a:t>
            </a:r>
            <a:pPr algn="l" indent="0" marL="0">
              <a:lnSpc>
                <a:spcPct val="90000"/>
              </a:lnSpc>
              <a:buNone/>
            </a:pPr>
            <a:r>
              <a:rPr lang="en-US" sz="750" dirty="0">
                <a:solidFill>
                  <a:srgbClr val="334155"/>
                </a:solidFill>
                <a:latin typeface="Noto Sans KR" pitchFamily="34" charset="0"/>
                <a:ea typeface="Noto Sans KR" pitchFamily="34" charset="-122"/>
                <a:cs typeface="Noto Sans KR" pitchFamily="34" charset="-120"/>
              </a:rPr>
              <a:t> 성장해 2년 새 2배가 됐다.</a:t>
            </a:r>
            <a:endParaRPr lang="en-US" sz="850" dirty="0"/>
          </a:p>
          <a:p>
            <a:pPr algn="l" indent="0" marL="0">
              <a:lnSpc>
                <a:spcPct val="90000"/>
              </a:lnSpc>
              <a:buNone/>
            </a:pPr>
            <a:r>
              <a:rPr lang="en-US" sz="750" dirty="0">
                <a:solidFill>
                  <a:srgbClr val="334155"/>
                </a:solidFill>
                <a:latin typeface="Noto Sans KR" pitchFamily="34" charset="0"/>
                <a:ea typeface="Noto Sans KR" pitchFamily="34" charset="-122"/>
                <a:cs typeface="Noto Sans KR" pitchFamily="34" charset="-120"/>
              </a:rPr>
              <a:t>무신사의 프리미엄 아웃도어 아우터 거래액은 2026년 가을 </a:t>
            </a:r>
            <a:pPr algn="l" indent="0" marL="0">
              <a:lnSpc>
                <a:spcPct val="90000"/>
              </a:lnSpc>
              <a:buNone/>
            </a:pPr>
            <a:r>
              <a:rPr lang="en-US" sz="750" b="1" dirty="0">
                <a:solidFill>
                  <a:srgbClr val="334155"/>
                </a:solidFill>
                <a:latin typeface="Noto Sans KR" pitchFamily="34" charset="0"/>
                <a:ea typeface="Noto Sans KR" pitchFamily="34" charset="-122"/>
                <a:cs typeface="Noto Sans KR" pitchFamily="34" charset="-120"/>
              </a:rPr>
              <a:t>2배</a:t>
            </a:r>
            <a:pPr algn="l" indent="0" marL="0">
              <a:lnSpc>
                <a:spcPct val="90000"/>
              </a:lnSpc>
              <a:buNone/>
            </a:pPr>
            <a:r>
              <a:rPr lang="en-US" sz="750" dirty="0">
                <a:solidFill>
                  <a:srgbClr val="334155"/>
                </a:solidFill>
                <a:latin typeface="Noto Sans KR" pitchFamily="34" charset="0"/>
                <a:ea typeface="Noto Sans KR" pitchFamily="34" charset="-122"/>
                <a:cs typeface="Noto Sans KR" pitchFamily="34" charset="-120"/>
              </a:rPr>
              <a:t>를 넘었고, 20·30대의 등산 경험률도 오르고 있다(전체 66.9%).</a:t>
            </a:r>
            <a:endParaRPr lang="en-US" sz="850" dirty="0"/>
          </a:p>
        </p:txBody>
      </p:sp>
      <p:sp>
        <p:nvSpPr>
          <p:cNvPr id="18" name="배경 단계 문제"/>
          <p:cNvSpPr txBox="1"/>
          <p:nvPr/>
        </p:nvSpPr>
        <p:spPr>
          <a:xfrm>
            <a:off x="2121408" y="3004124"/>
            <a:ext cx="731520" cy="407228"/>
          </a:xfrm>
          <a:prstGeom prst="roundRect">
            <a:avLst>
              <a:gd name="adj" fmla="val 11227"/>
            </a:avLst>
          </a:prstGeom>
          <a:solidFill>
            <a:srgbClr val="C2410C"/>
          </a:solidFill>
          <a:ln/>
        </p:spPr>
        <p:txBody>
          <a:bodyPr wrap="square" lIns="0" tIns="0" rIns="0" bIns="0" rtlCol="0" anchor="ctr"/>
          <a:lstStyle/>
          <a:p>
            <a:pPr algn="ctr" indent="0" marL="0">
              <a:lnSpc>
                <a:spcPct val="100000"/>
              </a:lnSpc>
              <a:buNone/>
            </a:pPr>
            <a:r>
              <a:rPr lang="en-US" sz="900" b="1" dirty="0">
                <a:solidFill>
                  <a:srgbClr val="FFFFFF"/>
                </a:solidFill>
                <a:latin typeface="Noto Sans KR" pitchFamily="34" charset="0"/>
                <a:ea typeface="Noto Sans KR" pitchFamily="34" charset="-122"/>
                <a:cs typeface="Noto Sans KR" pitchFamily="34" charset="-120"/>
              </a:rPr>
              <a:t>문제</a:t>
            </a:r>
            <a:endParaRPr lang="en-US" sz="900" dirty="0"/>
          </a:p>
        </p:txBody>
      </p:sp>
      <p:sp>
        <p:nvSpPr>
          <p:cNvPr id="19" name="배경 근거 문제"/>
          <p:cNvSpPr txBox="1"/>
          <p:nvPr/>
        </p:nvSpPr>
        <p:spPr>
          <a:xfrm>
            <a:off x="2962656" y="3013268"/>
            <a:ext cx="8613648" cy="407228"/>
          </a:xfrm>
          <a:prstGeom prst="rect">
            <a:avLst/>
          </a:prstGeom>
          <a:noFill/>
          <a:ln/>
        </p:spPr>
        <p:txBody>
          <a:bodyPr wrap="square" lIns="0" tIns="0" rIns="0" bIns="0" rtlCol="0" anchor="t"/>
          <a:lstStyle/>
          <a:p>
            <a:pPr algn="l" indent="0" marL="0">
              <a:lnSpc>
                <a:spcPct val="90000"/>
              </a:lnSpc>
              <a:buNone/>
            </a:pPr>
            <a:r>
              <a:rPr lang="en-US" sz="850" b="1" dirty="0">
                <a:solidFill>
                  <a:srgbClr val="182F48"/>
                </a:solidFill>
                <a:latin typeface="Noto Sans KR" pitchFamily="34" charset="0"/>
                <a:ea typeface="Noto Sans KR" pitchFamily="34" charset="-122"/>
                <a:cs typeface="Noto Sans KR" pitchFamily="34" charset="-120"/>
              </a:rPr>
              <a:t>그런데 그 성장의 과실은 해외 브랜드 IP가 가져간다.</a:t>
            </a:r>
            <a:endParaRPr lang="en-US" sz="850" dirty="0"/>
          </a:p>
          <a:p>
            <a:pPr algn="l" indent="0" marL="0">
              <a:lnSpc>
                <a:spcPct val="90000"/>
              </a:lnSpc>
              <a:buNone/>
            </a:pPr>
            <a:r>
              <a:rPr lang="en-US" sz="750" dirty="0">
                <a:solidFill>
                  <a:srgbClr val="334155"/>
                </a:solidFill>
                <a:latin typeface="Noto Sans KR" pitchFamily="34" charset="0"/>
                <a:ea typeface="Noto Sans KR" pitchFamily="34" charset="-122"/>
                <a:cs typeface="Noto Sans KR" pitchFamily="34" charset="-120"/>
              </a:rPr>
              <a:t>2024년 상위 12개 브랜드 중 성장한 </a:t>
            </a:r>
            <a:pPr algn="l" indent="0" marL="0">
              <a:lnSpc>
                <a:spcPct val="90000"/>
              </a:lnSpc>
              <a:buNone/>
            </a:pPr>
            <a:r>
              <a:rPr lang="en-US" sz="750" b="1" dirty="0">
                <a:solidFill>
                  <a:srgbClr val="334155"/>
                </a:solidFill>
                <a:latin typeface="Noto Sans KR" pitchFamily="34" charset="0"/>
                <a:ea typeface="Noto Sans KR" pitchFamily="34" charset="-122"/>
                <a:cs typeface="Noto Sans KR" pitchFamily="34" charset="-120"/>
              </a:rPr>
              <a:t>3곳(노스페이스·스노우피크어패럴·아크테릭스)은 모두 해외 브랜드</a:t>
            </a:r>
            <a:pPr algn="l" indent="0" marL="0">
              <a:lnSpc>
                <a:spcPct val="90000"/>
              </a:lnSpc>
              <a:buNone/>
            </a:pPr>
            <a:r>
              <a:rPr lang="en-US" sz="750" dirty="0">
                <a:solidFill>
                  <a:srgbClr val="334155"/>
                </a:solidFill>
                <a:latin typeface="Noto Sans KR" pitchFamily="34" charset="0"/>
                <a:ea typeface="Noto Sans KR" pitchFamily="34" charset="-122"/>
                <a:cs typeface="Noto Sans KR" pitchFamily="34" charset="-120"/>
              </a:rPr>
              <a:t>의 라이선스·직진출이다.</a:t>
            </a:r>
            <a:endParaRPr lang="en-US" sz="850" dirty="0"/>
          </a:p>
          <a:p>
            <a:pPr algn="l" indent="0" marL="0">
              <a:lnSpc>
                <a:spcPct val="90000"/>
              </a:lnSpc>
              <a:buNone/>
            </a:pPr>
            <a:r>
              <a:rPr lang="en-US" sz="750" dirty="0">
                <a:solidFill>
                  <a:srgbClr val="334155"/>
                </a:solidFill>
                <a:latin typeface="Noto Sans KR" pitchFamily="34" charset="0"/>
                <a:ea typeface="Noto Sans KR" pitchFamily="34" charset="-122"/>
                <a:cs typeface="Noto Sans KR" pitchFamily="34" charset="-120"/>
              </a:rPr>
              <a:t>국내 오리지널 4곳(K2·코오롱스포츠·네파·블랙야크)은 모두 역성장했고, 노스페이스 로열티는 </a:t>
            </a:r>
            <a:pPr algn="l" indent="0" marL="0">
              <a:lnSpc>
                <a:spcPct val="90000"/>
              </a:lnSpc>
              <a:buNone/>
            </a:pPr>
            <a:r>
              <a:rPr lang="en-US" sz="750" b="1" dirty="0">
                <a:solidFill>
                  <a:srgbClr val="334155"/>
                </a:solidFill>
                <a:latin typeface="Noto Sans KR" pitchFamily="34" charset="0"/>
                <a:ea typeface="Noto Sans KR" pitchFamily="34" charset="-122"/>
                <a:cs typeface="Noto Sans KR" pitchFamily="34" charset="-120"/>
              </a:rPr>
              <a:t>151억(2020) → 337억(2023)</a:t>
            </a:r>
            <a:pPr algn="l" indent="0" marL="0">
              <a:lnSpc>
                <a:spcPct val="90000"/>
              </a:lnSpc>
              <a:buNone/>
            </a:pPr>
            <a:r>
              <a:rPr lang="en-US" sz="750" dirty="0">
                <a:solidFill>
                  <a:srgbClr val="334155"/>
                </a:solidFill>
                <a:latin typeface="Noto Sans KR" pitchFamily="34" charset="0"/>
                <a:ea typeface="Noto Sans KR" pitchFamily="34" charset="-122"/>
                <a:cs typeface="Noto Sans KR" pitchFamily="34" charset="-120"/>
              </a:rPr>
              <a:t>으로 늘었다.</a:t>
            </a:r>
            <a:endParaRPr lang="en-US" sz="850" dirty="0"/>
          </a:p>
        </p:txBody>
      </p:sp>
      <p:sp>
        <p:nvSpPr>
          <p:cNvPr id="20" name="배경 단계 역설"/>
          <p:cNvSpPr txBox="1"/>
          <p:nvPr/>
        </p:nvSpPr>
        <p:spPr>
          <a:xfrm>
            <a:off x="2121408" y="3447928"/>
            <a:ext cx="731520" cy="407228"/>
          </a:xfrm>
          <a:prstGeom prst="roundRect">
            <a:avLst>
              <a:gd name="adj" fmla="val 11227"/>
            </a:avLst>
          </a:prstGeom>
          <a:solidFill>
            <a:srgbClr val="C2410C"/>
          </a:solidFill>
          <a:ln/>
        </p:spPr>
        <p:txBody>
          <a:bodyPr wrap="square" lIns="0" tIns="0" rIns="0" bIns="0" rtlCol="0" anchor="ctr"/>
          <a:lstStyle/>
          <a:p>
            <a:pPr algn="ctr" indent="0" marL="0">
              <a:lnSpc>
                <a:spcPct val="100000"/>
              </a:lnSpc>
              <a:buNone/>
            </a:pPr>
            <a:r>
              <a:rPr lang="en-US" sz="900" b="1" dirty="0">
                <a:solidFill>
                  <a:srgbClr val="FFFFFF"/>
                </a:solidFill>
                <a:latin typeface="Noto Sans KR" pitchFamily="34" charset="0"/>
                <a:ea typeface="Noto Sans KR" pitchFamily="34" charset="-122"/>
                <a:cs typeface="Noto Sans KR" pitchFamily="34" charset="-120"/>
              </a:rPr>
              <a:t>역설</a:t>
            </a:r>
            <a:endParaRPr lang="en-US" sz="900" dirty="0"/>
          </a:p>
        </p:txBody>
      </p:sp>
      <p:sp>
        <p:nvSpPr>
          <p:cNvPr id="21" name="배경 근거 역설"/>
          <p:cNvSpPr txBox="1"/>
          <p:nvPr/>
        </p:nvSpPr>
        <p:spPr>
          <a:xfrm>
            <a:off x="2962656" y="3457072"/>
            <a:ext cx="8613648" cy="407228"/>
          </a:xfrm>
          <a:prstGeom prst="rect">
            <a:avLst/>
          </a:prstGeom>
          <a:noFill/>
          <a:ln/>
        </p:spPr>
        <p:txBody>
          <a:bodyPr wrap="square" lIns="0" tIns="0" rIns="0" bIns="0" rtlCol="0" anchor="t"/>
          <a:lstStyle/>
          <a:p>
            <a:pPr algn="l" indent="0" marL="0">
              <a:lnSpc>
                <a:spcPct val="90000"/>
              </a:lnSpc>
              <a:buNone/>
            </a:pPr>
            <a:r>
              <a:rPr lang="en-US" sz="850" b="1" dirty="0">
                <a:solidFill>
                  <a:srgbClr val="182F48"/>
                </a:solidFill>
                <a:latin typeface="Noto Sans KR" pitchFamily="34" charset="0"/>
                <a:ea typeface="Noto Sans KR" pitchFamily="34" charset="-122"/>
                <a:cs typeface="Noto Sans KR" pitchFamily="34" charset="-120"/>
              </a:rPr>
              <a:t>정작 그 제품을 만드는 것은 한국 기업이다.</a:t>
            </a:r>
            <a:endParaRPr lang="en-US" sz="850" dirty="0"/>
          </a:p>
          <a:p>
            <a:pPr algn="l" indent="0" marL="0">
              <a:lnSpc>
                <a:spcPct val="90000"/>
              </a:lnSpc>
              <a:buNone/>
            </a:pPr>
            <a:r>
              <a:rPr lang="en-US" sz="750" dirty="0">
                <a:solidFill>
                  <a:srgbClr val="334155"/>
                </a:solidFill>
                <a:latin typeface="Noto Sans KR" pitchFamily="34" charset="0"/>
                <a:ea typeface="Noto Sans KR" pitchFamily="34" charset="-122"/>
                <a:cs typeface="Noto Sans KR" pitchFamily="34" charset="-120"/>
              </a:rPr>
              <a:t>영원무역은 룰루레몬·노스페이스·아크테릭스·파타고니아 등 </a:t>
            </a:r>
            <a:pPr algn="l" indent="0" marL="0">
              <a:lnSpc>
                <a:spcPct val="90000"/>
              </a:lnSpc>
              <a:buNone/>
            </a:pPr>
            <a:r>
              <a:rPr lang="en-US" sz="750" b="1" dirty="0">
                <a:solidFill>
                  <a:srgbClr val="334155"/>
                </a:solidFill>
                <a:latin typeface="Noto Sans KR" pitchFamily="34" charset="0"/>
                <a:ea typeface="Noto Sans KR" pitchFamily="34" charset="-122"/>
                <a:cs typeface="Noto Sans KR" pitchFamily="34" charset="-120"/>
              </a:rPr>
              <a:t>40여 개 글로벌 브랜드</a:t>
            </a:r>
            <a:pPr algn="l" indent="0" marL="0">
              <a:lnSpc>
                <a:spcPct val="90000"/>
              </a:lnSpc>
              <a:buNone/>
            </a:pPr>
            <a:r>
              <a:rPr lang="en-US" sz="750" dirty="0">
                <a:solidFill>
                  <a:srgbClr val="334155"/>
                </a:solidFill>
                <a:latin typeface="Noto Sans KR" pitchFamily="34" charset="0"/>
                <a:ea typeface="Noto Sans KR" pitchFamily="34" charset="-122"/>
                <a:cs typeface="Noto Sans KR" pitchFamily="34" charset="-120"/>
              </a:rPr>
              <a:t>를 생산하고, 코오롱의 투습방수 원단은 노스페이스·컬럼비아에 수출된다.</a:t>
            </a:r>
            <a:endParaRPr lang="en-US" sz="850" dirty="0"/>
          </a:p>
          <a:p>
            <a:pPr algn="l" indent="0" marL="0">
              <a:lnSpc>
                <a:spcPct val="90000"/>
              </a:lnSpc>
              <a:buNone/>
            </a:pPr>
            <a:r>
              <a:rPr lang="en-US" sz="750" dirty="0">
                <a:solidFill>
                  <a:srgbClr val="334155"/>
                </a:solidFill>
                <a:latin typeface="Noto Sans KR" pitchFamily="34" charset="0"/>
                <a:ea typeface="Noto Sans KR" pitchFamily="34" charset="-122"/>
                <a:cs typeface="Noto Sans KR" pitchFamily="34" charset="-120"/>
              </a:rPr>
              <a:t>만드는 쪽(제조·소재)과 사는 쪽(국내 소비) 사이에 </a:t>
            </a:r>
            <a:pPr algn="l" indent="0" marL="0">
              <a:lnSpc>
                <a:spcPct val="90000"/>
              </a:lnSpc>
              <a:buNone/>
            </a:pPr>
            <a:r>
              <a:rPr lang="en-US" sz="750" b="1" dirty="0">
                <a:solidFill>
                  <a:srgbClr val="334155"/>
                </a:solidFill>
                <a:latin typeface="Noto Sans KR" pitchFamily="34" charset="0"/>
                <a:ea typeface="Noto Sans KR" pitchFamily="34" charset="-122"/>
                <a:cs typeface="Noto Sans KR" pitchFamily="34" charset="-120"/>
              </a:rPr>
              <a:t>한국 브랜드가 비어 있는 구조</a:t>
            </a:r>
            <a:pPr algn="l" indent="0" marL="0">
              <a:lnSpc>
                <a:spcPct val="90000"/>
              </a:lnSpc>
              <a:buNone/>
            </a:pPr>
            <a:r>
              <a:rPr lang="en-US" sz="750" dirty="0">
                <a:solidFill>
                  <a:srgbClr val="334155"/>
                </a:solidFill>
                <a:latin typeface="Noto Sans KR" pitchFamily="34" charset="0"/>
                <a:ea typeface="Noto Sans KR" pitchFamily="34" charset="-122"/>
                <a:cs typeface="Noto Sans KR" pitchFamily="34" charset="-120"/>
              </a:rPr>
              <a:t>다.</a:t>
            </a:r>
            <a:endParaRPr lang="en-US" sz="850" dirty="0"/>
          </a:p>
        </p:txBody>
      </p:sp>
      <p:sp>
        <p:nvSpPr>
          <p:cNvPr id="22" name="배경 단계 원인"/>
          <p:cNvSpPr txBox="1"/>
          <p:nvPr/>
        </p:nvSpPr>
        <p:spPr>
          <a:xfrm>
            <a:off x="2121408" y="3891732"/>
            <a:ext cx="731520" cy="531358"/>
          </a:xfrm>
          <a:prstGeom prst="roundRect">
            <a:avLst>
              <a:gd name="adj" fmla="val 8604"/>
            </a:avLst>
          </a:prstGeom>
          <a:solidFill>
            <a:srgbClr val="182F48"/>
          </a:solidFill>
          <a:ln/>
        </p:spPr>
        <p:txBody>
          <a:bodyPr wrap="square" lIns="0" tIns="0" rIns="0" bIns="0" rtlCol="0" anchor="ctr"/>
          <a:lstStyle/>
          <a:p>
            <a:pPr algn="ctr" indent="0" marL="0">
              <a:lnSpc>
                <a:spcPct val="100000"/>
              </a:lnSpc>
              <a:buNone/>
            </a:pPr>
            <a:r>
              <a:rPr lang="en-US" sz="900" b="1" dirty="0">
                <a:solidFill>
                  <a:srgbClr val="FFFFFF"/>
                </a:solidFill>
                <a:latin typeface="Noto Sans KR" pitchFamily="34" charset="0"/>
                <a:ea typeface="Noto Sans KR" pitchFamily="34" charset="-122"/>
                <a:cs typeface="Noto Sans KR" pitchFamily="34" charset="-120"/>
              </a:rPr>
              <a:t>원인</a:t>
            </a:r>
            <a:endParaRPr lang="en-US" sz="900" dirty="0"/>
          </a:p>
        </p:txBody>
      </p:sp>
      <p:sp>
        <p:nvSpPr>
          <p:cNvPr id="23" name="배경 근거 원인"/>
          <p:cNvSpPr txBox="1"/>
          <p:nvPr/>
        </p:nvSpPr>
        <p:spPr>
          <a:xfrm>
            <a:off x="2962656" y="3900876"/>
            <a:ext cx="8613648" cy="531358"/>
          </a:xfrm>
          <a:prstGeom prst="rect">
            <a:avLst/>
          </a:prstGeom>
          <a:noFill/>
          <a:ln/>
        </p:spPr>
        <p:txBody>
          <a:bodyPr wrap="square" lIns="0" tIns="0" rIns="0" bIns="0" rtlCol="0" anchor="t"/>
          <a:lstStyle/>
          <a:p>
            <a:pPr algn="l" indent="0" marL="0">
              <a:lnSpc>
                <a:spcPct val="90000"/>
              </a:lnSpc>
              <a:buNone/>
            </a:pPr>
            <a:r>
              <a:rPr lang="en-US" sz="850" b="1" dirty="0">
                <a:solidFill>
                  <a:srgbClr val="182F48"/>
                </a:solidFill>
                <a:latin typeface="Noto Sans KR" pitchFamily="34" charset="0"/>
                <a:ea typeface="Noto Sans KR" pitchFamily="34" charset="-122"/>
                <a:cs typeface="Noto Sans KR" pitchFamily="34" charset="-120"/>
              </a:rPr>
              <a:t>K-브랜드가 그 빈자리를 채우지 못하는 병목은 세 곳이다.</a:t>
            </a:r>
            <a:endParaRPr lang="en-US" sz="850" dirty="0"/>
          </a:p>
          <a:p>
            <a:pPr algn="l" indent="0" marL="0">
              <a:lnSpc>
                <a:spcPct val="90000"/>
              </a:lnSpc>
              <a:buNone/>
            </a:pPr>
            <a:r>
              <a:rPr lang="en-US" sz="750" b="1" dirty="0">
                <a:solidFill>
                  <a:srgbClr val="C2410C"/>
                </a:solidFill>
                <a:latin typeface="Noto Sans KR" pitchFamily="34" charset="0"/>
                <a:ea typeface="Noto Sans KR" pitchFamily="34" charset="-122"/>
                <a:cs typeface="Noto Sans KR" pitchFamily="34" charset="-120"/>
              </a:rPr>
              <a:t>① 소재·제조 ↔ 브랜드 단절  </a:t>
            </a:r>
            <a:pPr algn="l" indent="0" marL="0">
              <a:lnSpc>
                <a:spcPct val="90000"/>
              </a:lnSpc>
              <a:buNone/>
            </a:pPr>
            <a:r>
              <a:rPr lang="en-US" sz="750" dirty="0">
                <a:solidFill>
                  <a:srgbClr val="334155"/>
                </a:solidFill>
                <a:latin typeface="Noto Sans KR" pitchFamily="34" charset="0"/>
                <a:ea typeface="Noto Sans KR" pitchFamily="34" charset="-122"/>
                <a:cs typeface="Noto Sans KR" pitchFamily="34" charset="-120"/>
              </a:rPr>
              <a:t>국내 제조는 글로벌 대량 물량 중심이라 신진 브랜드는 원단 최소주문량·심실링 공정에 막히고, PFAS 규제로 소재 전환까지 떠안았다.</a:t>
            </a:r>
            <a:endParaRPr lang="en-US" sz="850" dirty="0"/>
          </a:p>
          <a:p>
            <a:pPr algn="l" indent="0" marL="0">
              <a:lnSpc>
                <a:spcPct val="90000"/>
              </a:lnSpc>
              <a:buNone/>
            </a:pPr>
            <a:r>
              <a:rPr lang="en-US" sz="750" b="1" dirty="0">
                <a:solidFill>
                  <a:srgbClr val="C2410C"/>
                </a:solidFill>
                <a:latin typeface="Noto Sans KR" pitchFamily="34" charset="0"/>
                <a:ea typeface="Noto Sans KR" pitchFamily="34" charset="-122"/>
                <a:cs typeface="Noto Sans KR" pitchFamily="34" charset="-120"/>
              </a:rPr>
              <a:t>② 고비용 국내 유통  </a:t>
            </a:r>
            <a:pPr algn="l" indent="0" marL="0">
              <a:lnSpc>
                <a:spcPct val="90000"/>
              </a:lnSpc>
              <a:buNone/>
            </a:pPr>
            <a:r>
              <a:rPr lang="en-US" sz="750" dirty="0">
                <a:solidFill>
                  <a:srgbClr val="334155"/>
                </a:solidFill>
                <a:latin typeface="Noto Sans KR" pitchFamily="34" charset="0"/>
                <a:ea typeface="Noto Sans KR" pitchFamily="34" charset="-122"/>
                <a:cs typeface="Noto Sans KR" pitchFamily="34" charset="-120"/>
              </a:rPr>
              <a:t>무신사 평균 수수료는 27.8%(쿠팡 12.3%), 백화점은 평균 23.7%(최고 38%)이고, 백화점 거래의 59.9%는 재고 위험을 브랜드가 지는 특약매입이다.</a:t>
            </a:r>
            <a:endParaRPr lang="en-US" sz="850" dirty="0"/>
          </a:p>
          <a:p>
            <a:pPr algn="l" indent="0" marL="0">
              <a:lnSpc>
                <a:spcPct val="90000"/>
              </a:lnSpc>
              <a:buNone/>
            </a:pPr>
            <a:r>
              <a:rPr lang="en-US" sz="750" b="1" dirty="0">
                <a:solidFill>
                  <a:srgbClr val="C2410C"/>
                </a:solidFill>
                <a:latin typeface="Noto Sans KR" pitchFamily="34" charset="0"/>
                <a:ea typeface="Noto Sans KR" pitchFamily="34" charset="-122"/>
                <a:cs typeface="Noto Sans KR" pitchFamily="34" charset="-120"/>
              </a:rPr>
              <a:t>③ 해외 접점 부재  </a:t>
            </a:r>
            <a:pPr algn="l" indent="0" marL="0">
              <a:lnSpc>
                <a:spcPct val="90000"/>
              </a:lnSpc>
              <a:buNone/>
            </a:pPr>
            <a:r>
              <a:rPr lang="en-US" sz="750" dirty="0">
                <a:solidFill>
                  <a:srgbClr val="334155"/>
                </a:solidFill>
                <a:latin typeface="Noto Sans KR" pitchFamily="34" charset="0"/>
                <a:ea typeface="Noto Sans KR" pitchFamily="34" charset="-122"/>
                <a:cs typeface="Noto Sans KR" pitchFamily="34" charset="-120"/>
              </a:rPr>
              <a:t>수출 이력이 없으면 바이어를 만나기 어렵고, 기존 장치는 플랫폼 전속(무신사 도쿄 쇼룸·스탠다드 수주회)이거나 디자이너 의류 중심(서울패션위크)이다.</a:t>
            </a:r>
            <a:endParaRPr lang="en-US" sz="850" dirty="0"/>
          </a:p>
        </p:txBody>
      </p:sp>
      <p:sp>
        <p:nvSpPr>
          <p:cNvPr id="24" name="배경 단계 실마리"/>
          <p:cNvSpPr txBox="1"/>
          <p:nvPr/>
        </p:nvSpPr>
        <p:spPr>
          <a:xfrm>
            <a:off x="2121408" y="4459666"/>
            <a:ext cx="731520" cy="407228"/>
          </a:xfrm>
          <a:prstGeom prst="roundRect">
            <a:avLst>
              <a:gd name="adj" fmla="val 11227"/>
            </a:avLst>
          </a:prstGeom>
          <a:solidFill>
            <a:srgbClr val="267D86"/>
          </a:solidFill>
          <a:ln/>
        </p:spPr>
        <p:txBody>
          <a:bodyPr wrap="square" lIns="0" tIns="0" rIns="0" bIns="0" rtlCol="0" anchor="ctr"/>
          <a:lstStyle/>
          <a:p>
            <a:pPr algn="ctr" indent="0" marL="0">
              <a:lnSpc>
                <a:spcPct val="100000"/>
              </a:lnSpc>
              <a:buNone/>
            </a:pPr>
            <a:r>
              <a:rPr lang="en-US" sz="900" b="1" dirty="0">
                <a:solidFill>
                  <a:srgbClr val="FFFFFF"/>
                </a:solidFill>
                <a:latin typeface="Noto Sans KR" pitchFamily="34" charset="0"/>
                <a:ea typeface="Noto Sans KR" pitchFamily="34" charset="-122"/>
                <a:cs typeface="Noto Sans KR" pitchFamily="34" charset="-120"/>
              </a:rPr>
              <a:t>실마리</a:t>
            </a:r>
            <a:endParaRPr lang="en-US" sz="900" dirty="0"/>
          </a:p>
        </p:txBody>
      </p:sp>
      <p:sp>
        <p:nvSpPr>
          <p:cNvPr id="25" name="배경 근거 실마리"/>
          <p:cNvSpPr txBox="1"/>
          <p:nvPr/>
        </p:nvSpPr>
        <p:spPr>
          <a:xfrm>
            <a:off x="2962656" y="4468810"/>
            <a:ext cx="8613648" cy="407228"/>
          </a:xfrm>
          <a:prstGeom prst="rect">
            <a:avLst/>
          </a:prstGeom>
          <a:noFill/>
          <a:ln/>
        </p:spPr>
        <p:txBody>
          <a:bodyPr wrap="square" lIns="0" tIns="0" rIns="0" bIns="0" rtlCol="0" anchor="t"/>
          <a:lstStyle/>
          <a:p>
            <a:pPr algn="l" indent="0" marL="0">
              <a:lnSpc>
                <a:spcPct val="90000"/>
              </a:lnSpc>
              <a:buNone/>
            </a:pPr>
            <a:r>
              <a:rPr lang="en-US" sz="850" b="1" dirty="0">
                <a:solidFill>
                  <a:srgbClr val="182F48"/>
                </a:solidFill>
                <a:latin typeface="Noto Sans KR" pitchFamily="34" charset="0"/>
                <a:ea typeface="Noto Sans KR" pitchFamily="34" charset="-122"/>
                <a:cs typeface="Noto Sans KR" pitchFamily="34" charset="-120"/>
              </a:rPr>
              <a:t>맞는 파트너와 연결되면 K-아웃도어는 큰다.</a:t>
            </a:r>
            <a:endParaRPr lang="en-US" sz="850" dirty="0"/>
          </a:p>
          <a:p>
            <a:pPr algn="l" indent="0" marL="0">
              <a:lnSpc>
                <a:spcPct val="90000"/>
              </a:lnSpc>
              <a:buNone/>
            </a:pPr>
            <a:r>
              <a:rPr lang="en-US" sz="750" dirty="0">
                <a:solidFill>
                  <a:srgbClr val="334155"/>
                </a:solidFill>
                <a:latin typeface="Noto Sans KR" pitchFamily="34" charset="0"/>
                <a:ea typeface="Noto Sans KR" pitchFamily="34" charset="-122"/>
                <a:cs typeface="Noto Sans KR" pitchFamily="34" charset="-120"/>
              </a:rPr>
              <a:t>코오롱스포츠는 국내 영업이익이 30억에 그쳤지만, 중국에서 안타와 기획·유통을 나눠 </a:t>
            </a:r>
            <a:pPr algn="l" indent="0" marL="0">
              <a:lnSpc>
                <a:spcPct val="90000"/>
              </a:lnSpc>
              <a:buNone/>
            </a:pPr>
            <a:r>
              <a:rPr lang="en-US" sz="750" b="1" dirty="0">
                <a:solidFill>
                  <a:srgbClr val="334155"/>
                </a:solidFill>
                <a:latin typeface="Noto Sans KR" pitchFamily="34" charset="0"/>
                <a:ea typeface="Noto Sans KR" pitchFamily="34" charset="-122"/>
                <a:cs typeface="Noto Sans KR" pitchFamily="34" charset="-120"/>
              </a:rPr>
              <a:t>5년 만에 26배</a:t>
            </a:r>
            <a:pPr algn="l" indent="0" marL="0">
              <a:lnSpc>
                <a:spcPct val="90000"/>
              </a:lnSpc>
              <a:buNone/>
            </a:pPr>
            <a:r>
              <a:rPr lang="en-US" sz="750" dirty="0">
                <a:solidFill>
                  <a:srgbClr val="334155"/>
                </a:solidFill>
                <a:latin typeface="Noto Sans KR" pitchFamily="34" charset="0"/>
                <a:ea typeface="Noto Sans KR" pitchFamily="34" charset="-122"/>
                <a:cs typeface="Noto Sans KR" pitchFamily="34" charset="-120"/>
              </a:rPr>
              <a:t> 성장하며 매출 1조를 넘겼다(영업이익 1,202억).</a:t>
            </a:r>
            <a:endParaRPr lang="en-US" sz="850" dirty="0"/>
          </a:p>
          <a:p>
            <a:pPr algn="l" indent="0" marL="0">
              <a:lnSpc>
                <a:spcPct val="90000"/>
              </a:lnSpc>
              <a:buNone/>
            </a:pPr>
            <a:r>
              <a:rPr lang="en-US" sz="750" dirty="0">
                <a:solidFill>
                  <a:srgbClr val="334155"/>
                </a:solidFill>
                <a:latin typeface="Noto Sans KR" pitchFamily="34" charset="0"/>
                <a:ea typeface="Noto Sans KR" pitchFamily="34" charset="-122"/>
                <a:cs typeface="Noto Sans KR" pitchFamily="34" charset="-120"/>
              </a:rPr>
              <a:t>무신사 도쿄 쇼룸에는 일본 편집숍 바이어 </a:t>
            </a:r>
            <a:pPr algn="l" indent="0" marL="0">
              <a:lnSpc>
                <a:spcPct val="90000"/>
              </a:lnSpc>
              <a:buNone/>
            </a:pPr>
            <a:r>
              <a:rPr lang="en-US" sz="750" b="1" dirty="0">
                <a:solidFill>
                  <a:srgbClr val="334155"/>
                </a:solidFill>
                <a:latin typeface="Noto Sans KR" pitchFamily="34" charset="0"/>
                <a:ea typeface="Noto Sans KR" pitchFamily="34" charset="-122"/>
                <a:cs typeface="Noto Sans KR" pitchFamily="34" charset="-120"/>
              </a:rPr>
              <a:t>200명 이상</a:t>
            </a:r>
            <a:pPr algn="l" indent="0" marL="0">
              <a:lnSpc>
                <a:spcPct val="90000"/>
              </a:lnSpc>
              <a:buNone/>
            </a:pPr>
            <a:r>
              <a:rPr lang="en-US" sz="750" dirty="0">
                <a:solidFill>
                  <a:srgbClr val="334155"/>
                </a:solidFill>
                <a:latin typeface="Noto Sans KR" pitchFamily="34" charset="0"/>
                <a:ea typeface="Noto Sans KR" pitchFamily="34" charset="-122"/>
                <a:cs typeface="Noto Sans KR" pitchFamily="34" charset="-120"/>
              </a:rPr>
              <a:t>이 와서 주문이 3배 늘었고, 서울 브랜드 케일은 영국 END.와 일본 1LDK에서 팔린다.</a:t>
            </a:r>
            <a:endParaRPr lang="en-US" sz="850" dirty="0"/>
          </a:p>
        </p:txBody>
      </p:sp>
      <p:sp>
        <p:nvSpPr>
          <p:cNvPr id="26" name="기회"/>
          <p:cNvSpPr txBox="1"/>
          <p:nvPr/>
        </p:nvSpPr>
        <p:spPr>
          <a:xfrm>
            <a:off x="2121408" y="4903470"/>
            <a:ext cx="9454896" cy="256032"/>
          </a:xfrm>
          <a:prstGeom prst="roundRect">
            <a:avLst>
              <a:gd name="adj" fmla="val 17857"/>
            </a:avLst>
          </a:prstGeom>
          <a:solidFill>
            <a:srgbClr val="182F48"/>
          </a:solidFill>
          <a:ln/>
        </p:spPr>
        <p:txBody>
          <a:bodyPr wrap="square" lIns="109728" tIns="0" rIns="109728" bIns="0" rtlCol="0" anchor="ctr"/>
          <a:lstStyle/>
          <a:p>
            <a:pPr algn="l" indent="0" marL="0">
              <a:lnSpc>
                <a:spcPct val="100000"/>
              </a:lnSpc>
              <a:buNone/>
            </a:pPr>
            <a:r>
              <a:rPr lang="en-US" sz="850" b="1" dirty="0">
                <a:solidFill>
                  <a:srgbClr val="9FE0E6"/>
                </a:solidFill>
                <a:latin typeface="Noto Sans KR" pitchFamily="34" charset="0"/>
                <a:ea typeface="Noto Sans KR" pitchFamily="34" charset="-122"/>
                <a:cs typeface="Noto Sans KR" pitchFamily="34" charset="-120"/>
              </a:rPr>
              <a:t>기회  </a:t>
            </a:r>
            <a:pPr algn="l" indent="0" marL="0">
              <a:lnSpc>
                <a:spcPct val="100000"/>
              </a:lnSpc>
              <a:buNone/>
            </a:pPr>
            <a:r>
              <a:rPr lang="en-US" sz="850" b="1" dirty="0">
                <a:solidFill>
                  <a:srgbClr val="FFFFFF"/>
                </a:solidFill>
                <a:latin typeface="Noto Sans KR" pitchFamily="34" charset="0"/>
                <a:ea typeface="Noto Sans KR" pitchFamily="34" charset="-122"/>
                <a:cs typeface="Noto Sans KR" pitchFamily="34" charset="-120"/>
              </a:rPr>
              <a:t>소재·제조·K-브랜드·국내외 바이어를 한 자리에서 잇는 고프코어 거래의 장은 아직 없다(정부 'All in Korea' 230억 사업도 2026년 시작 단계).</a:t>
            </a:r>
            <a:endParaRPr lang="en-US" sz="850" dirty="0"/>
          </a:p>
        </p:txBody>
      </p:sp>
      <p:sp>
        <p:nvSpPr>
          <p:cNvPr id="27" name="라벨"/>
          <p:cNvSpPr txBox="1"/>
          <p:nvPr/>
        </p:nvSpPr>
        <p:spPr>
          <a:xfrm>
            <a:off x="612648" y="5232654"/>
            <a:ext cx="1417320" cy="475488"/>
          </a:xfrm>
          <a:prstGeom prst="rect">
            <a:avLst/>
          </a:prstGeom>
          <a:noFill/>
          <a:ln/>
        </p:spPr>
        <p:txBody>
          <a:bodyPr wrap="square" lIns="0" tIns="0" rIns="0" bIns="0" rtlCol="0" anchor="t"/>
          <a:lstStyle/>
          <a:p>
            <a:pPr algn="l" indent="0" marL="0">
              <a:lnSpc>
                <a:spcPct val="100000"/>
              </a:lnSpc>
              <a:buNone/>
            </a:pPr>
            <a:r>
              <a:rPr lang="en-US" sz="1200" b="1" dirty="0">
                <a:solidFill>
                  <a:srgbClr val="182F48"/>
                </a:solidFill>
                <a:latin typeface="Noto Sans KR" pitchFamily="34" charset="0"/>
                <a:ea typeface="Noto Sans KR" pitchFamily="34" charset="-122"/>
                <a:cs typeface="Noto Sans KR" pitchFamily="34" charset="-120"/>
              </a:rPr>
              <a:t>기존 전시회와의</a:t>
            </a:r>
            <a:endParaRPr lang="en-US" sz="1200" dirty="0"/>
          </a:p>
          <a:p>
            <a:pPr algn="l" indent="0" marL="0">
              <a:lnSpc>
                <a:spcPct val="100000"/>
              </a:lnSpc>
              <a:buNone/>
            </a:pPr>
            <a:r>
              <a:rPr lang="en-US" sz="1200" b="1" dirty="0">
                <a:solidFill>
                  <a:srgbClr val="182F48"/>
                </a:solidFill>
                <a:latin typeface="Noto Sans KR" pitchFamily="34" charset="0"/>
                <a:ea typeface="Noto Sans KR" pitchFamily="34" charset="-122"/>
                <a:cs typeface="Noto Sans KR" pitchFamily="34" charset="-120"/>
              </a:rPr>
              <a:t>차이</a:t>
            </a:r>
            <a:endParaRPr lang="en-US" sz="1200" dirty="0"/>
          </a:p>
        </p:txBody>
      </p:sp>
      <p:graphicFrame>
        <p:nvGraphicFramePr>
          <p:cNvPr id="2" name="기존 전시회 비교표"/>
          <p:cNvGraphicFramePr>
            <a:graphicFrameLocks noGrp="1"/>
          </p:cNvGraphicFramePr>
          <p:nvPr>
            <p:extLst>
              <p:ext uri="{D42A27DB-BD31-4B8C-83A1-F6EECF244321}">
                <p14:modId xmlns:p14="http://schemas.microsoft.com/office/powerpoint/2010/main" val="1579011935"/>
              </p:ext>
            </p:extLst>
          </p:nvPr>
        </p:nvGraphicFramePr>
        <p:xfrm>
          <a:off x="2121408" y="5214366"/>
          <a:ext cx="6464808" cy="914400"/>
        </p:xfrm>
        <a:graphic>
          <a:graphicData uri="http://schemas.openxmlformats.org/drawingml/2006/table">
            <a:tbl>
              <a:tblPr/>
              <a:tblGrid>
                <a:gridCol w="1481328"/>
                <a:gridCol w="1874520"/>
                <a:gridCol w="1188720"/>
                <a:gridCol w="1920240"/>
              </a:tblGrid>
              <a:tr h="170576">
                <a:tc>
                  <a:txBody>
                    <a:bodyPr/>
                    <a:lstStyle/>
                    <a:p>
                      <a:pPr algn="l" indent="0" marL="0">
                        <a:buNone/>
                      </a:pPr>
                      <a:r>
                        <a:rPr lang="en-US" sz="750" b="1" dirty="0">
                          <a:solidFill>
                            <a:srgbClr val="FFFFFF"/>
                          </a:solidFill>
                          <a:latin typeface="Noto Sans KR" pitchFamily="34" charset="0"/>
                          <a:ea typeface="Noto Sans KR" pitchFamily="34" charset="-122"/>
                          <a:cs typeface="Noto Sans KR" pitchFamily="34" charset="-120"/>
                        </a:rPr>
                        <a:t>기존 전시회</a:t>
                      </a:r>
                      <a:endParaRPr lang="en-US" sz="750" dirty="0">
                        <a:latin typeface="Noto Sans KR" charset="0"/>
                        <a:ea typeface="Noto Sans KR" charset="0"/>
                        <a:cs typeface="Noto Sans KR" charset="0"/>
                      </a:endParaRPr>
                    </a:p>
                  </a:txBody>
                  <a:tcPr marL="50800" marR="508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82F48"/>
                    </a:solidFill>
                  </a:tcPr>
                </a:tc>
                <a:tc>
                  <a:txBody>
                    <a:bodyPr/>
                    <a:lstStyle/>
                    <a:p>
                      <a:pPr algn="l" indent="0" marL="0">
                        <a:buNone/>
                      </a:pPr>
                      <a:r>
                        <a:rPr lang="en-US" sz="750" b="1" dirty="0">
                          <a:solidFill>
                            <a:srgbClr val="FFFFFF"/>
                          </a:solidFill>
                          <a:latin typeface="Noto Sans KR" pitchFamily="34" charset="0"/>
                          <a:ea typeface="Noto Sans KR" pitchFamily="34" charset="-122"/>
                          <a:cs typeface="Noto Sans KR" pitchFamily="34" charset="-120"/>
                        </a:rPr>
                        <a:t>개최 · 규모</a:t>
                      </a:r>
                      <a:endParaRPr lang="en-US" sz="750" dirty="0">
                        <a:latin typeface="Noto Sans KR" charset="0"/>
                        <a:ea typeface="Noto Sans KR" charset="0"/>
                        <a:cs typeface="Noto Sans KR" charset="0"/>
                      </a:endParaRPr>
                    </a:p>
                  </a:txBody>
                  <a:tcPr marL="50800" marR="508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82F48"/>
                    </a:solidFill>
                  </a:tcPr>
                </a:tc>
                <a:tc>
                  <a:txBody>
                    <a:bodyPr/>
                    <a:lstStyle/>
                    <a:p>
                      <a:pPr algn="l" indent="0" marL="0">
                        <a:buNone/>
                      </a:pPr>
                      <a:r>
                        <a:rPr lang="en-US" sz="750" b="1" dirty="0">
                          <a:solidFill>
                            <a:srgbClr val="FFFFFF"/>
                          </a:solidFill>
                          <a:latin typeface="Noto Sans KR" pitchFamily="34" charset="0"/>
                          <a:ea typeface="Noto Sans KR" pitchFamily="34" charset="-122"/>
                          <a:cs typeface="Noto Sans KR" pitchFamily="34" charset="-120"/>
                        </a:rPr>
                        <a:t>다루는 범위</a:t>
                      </a:r>
                      <a:endParaRPr lang="en-US" sz="750" dirty="0">
                        <a:latin typeface="Noto Sans KR" charset="0"/>
                        <a:ea typeface="Noto Sans KR" charset="0"/>
                        <a:cs typeface="Noto Sans KR" charset="0"/>
                      </a:endParaRPr>
                    </a:p>
                  </a:txBody>
                  <a:tcPr marL="50800" marR="508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82F48"/>
                    </a:solidFill>
                  </a:tcPr>
                </a:tc>
                <a:tc>
                  <a:txBody>
                    <a:bodyPr/>
                    <a:lstStyle/>
                    <a:p>
                      <a:pPr algn="l" indent="0" marL="0">
                        <a:buNone/>
                      </a:pPr>
                      <a:r>
                        <a:rPr lang="en-US" sz="750" b="1" dirty="0">
                          <a:solidFill>
                            <a:srgbClr val="FFFFFF"/>
                          </a:solidFill>
                          <a:latin typeface="Noto Sans KR" pitchFamily="34" charset="0"/>
                          <a:ea typeface="Noto Sans KR" pitchFamily="34" charset="-122"/>
                          <a:cs typeface="Noto Sans KR" pitchFamily="34" charset="-120"/>
                        </a:rPr>
                        <a:t>고프코어 K-브랜드에게 부족한 점</a:t>
                      </a:r>
                      <a:endParaRPr lang="en-US" sz="750" dirty="0">
                        <a:latin typeface="Noto Sans KR" charset="0"/>
                        <a:ea typeface="Noto Sans KR" charset="0"/>
                        <a:cs typeface="Noto Sans KR" charset="0"/>
                      </a:endParaRPr>
                    </a:p>
                  </a:txBody>
                  <a:tcPr marL="50800" marR="508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82F48"/>
                    </a:solidFill>
                  </a:tcPr>
                </a:tc>
              </a:tr>
              <a:tr h="170576">
                <a:tc>
                  <a:txBody>
                    <a:bodyPr/>
                    <a:lstStyle/>
                    <a:p>
                      <a:pPr algn="l" indent="0" marL="0">
                        <a:buNone/>
                      </a:pPr>
                      <a:r>
                        <a:rPr lang="en-US" sz="750" b="1" dirty="0">
                          <a:solidFill>
                            <a:srgbClr val="182F48"/>
                          </a:solidFill>
                          <a:latin typeface="Noto Sans KR" pitchFamily="34" charset="0"/>
                          <a:ea typeface="Noto Sans KR" pitchFamily="34" charset="-122"/>
                          <a:cs typeface="Noto Sans KR" pitchFamily="34" charset="-120"/>
                        </a:rPr>
                        <a:t>SPOEX</a:t>
                      </a:r>
                      <a:endParaRPr lang="en-US" sz="750" dirty="0">
                        <a:latin typeface="Noto Sans KR" charset="0"/>
                        <a:ea typeface="Noto Sans KR" charset="0"/>
                        <a:cs typeface="Noto Sans KR" charset="0"/>
                      </a:endParaRPr>
                    </a:p>
                  </a:txBody>
                  <a:tcPr marL="50800" marR="508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750" dirty="0">
                          <a:solidFill>
                            <a:srgbClr val="334155"/>
                          </a:solidFill>
                          <a:latin typeface="Noto Sans KR" pitchFamily="34" charset="0"/>
                          <a:ea typeface="Noto Sans KR" pitchFamily="34" charset="-122"/>
                          <a:cs typeface="Noto Sans KR" pitchFamily="34" charset="-120"/>
                        </a:rPr>
                        <a:t>코엑스 · 300개사 · 4.7만 명(2026.3)</a:t>
                      </a:r>
                      <a:endParaRPr lang="en-US" sz="750" dirty="0">
                        <a:latin typeface="Noto Sans KR" charset="0"/>
                        <a:ea typeface="Noto Sans KR" charset="0"/>
                        <a:cs typeface="Noto Sans KR" charset="0"/>
                      </a:endParaRPr>
                    </a:p>
                  </a:txBody>
                  <a:tcPr marL="50800" marR="508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750" dirty="0">
                          <a:solidFill>
                            <a:srgbClr val="334155"/>
                          </a:solidFill>
                          <a:latin typeface="Noto Sans KR" pitchFamily="34" charset="0"/>
                          <a:ea typeface="Noto Sans KR" pitchFamily="34" charset="-122"/>
                          <a:cs typeface="Noto Sans KR" pitchFamily="34" charset="-120"/>
                        </a:rPr>
                        <a:t>스포츠·레저 용품 전반</a:t>
                      </a:r>
                      <a:endParaRPr lang="en-US" sz="750" dirty="0">
                        <a:latin typeface="Noto Sans KR" charset="0"/>
                        <a:ea typeface="Noto Sans KR" charset="0"/>
                        <a:cs typeface="Noto Sans KR" charset="0"/>
                      </a:endParaRPr>
                    </a:p>
                  </a:txBody>
                  <a:tcPr marL="50800" marR="508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750" dirty="0">
                          <a:solidFill>
                            <a:srgbClr val="334155"/>
                          </a:solidFill>
                          <a:latin typeface="Noto Sans KR" pitchFamily="34" charset="0"/>
                          <a:ea typeface="Noto Sans KR" pitchFamily="34" charset="-122"/>
                          <a:cs typeface="Noto Sans KR" pitchFamily="34" charset="-120"/>
                        </a:rPr>
                        <a:t>장비 중심, 패션 바이어·소재 연결 없음</a:t>
                      </a:r>
                      <a:endParaRPr lang="en-US" sz="750" dirty="0">
                        <a:latin typeface="Noto Sans KR" charset="0"/>
                        <a:ea typeface="Noto Sans KR" charset="0"/>
                        <a:cs typeface="Noto Sans KR" charset="0"/>
                      </a:endParaRPr>
                    </a:p>
                  </a:txBody>
                  <a:tcPr marL="50800" marR="508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170576">
                <a:tc>
                  <a:txBody>
                    <a:bodyPr/>
                    <a:lstStyle/>
                    <a:p>
                      <a:pPr algn="l" indent="0" marL="0">
                        <a:buNone/>
                      </a:pPr>
                      <a:r>
                        <a:rPr lang="en-US" sz="750" b="1" dirty="0">
                          <a:solidFill>
                            <a:srgbClr val="182F48"/>
                          </a:solidFill>
                          <a:latin typeface="Noto Sans KR" pitchFamily="34" charset="0"/>
                          <a:ea typeface="Noto Sans KR" pitchFamily="34" charset="-122"/>
                          <a:cs typeface="Noto Sans KR" pitchFamily="34" charset="-120"/>
                        </a:rPr>
                        <a:t>캠핑앤피크닉페어 · 고카프</a:t>
                      </a:r>
                      <a:endParaRPr lang="en-US" sz="750" dirty="0">
                        <a:latin typeface="Noto Sans KR" charset="0"/>
                        <a:ea typeface="Noto Sans KR" charset="0"/>
                        <a:cs typeface="Noto Sans KR" charset="0"/>
                      </a:endParaRPr>
                    </a:p>
                  </a:txBody>
                  <a:tcPr marL="50800" marR="508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750" dirty="0">
                          <a:solidFill>
                            <a:srgbClr val="334155"/>
                          </a:solidFill>
                          <a:latin typeface="Noto Sans KR" pitchFamily="34" charset="0"/>
                          <a:ea typeface="Noto Sans KR" pitchFamily="34" charset="-122"/>
                          <a:cs typeface="Noto Sans KR" pitchFamily="34" charset="-120"/>
                        </a:rPr>
                        <a:t>킨텍스 · 116개사(2026.3)</a:t>
                      </a:r>
                      <a:endParaRPr lang="en-US" sz="750" dirty="0">
                        <a:latin typeface="Noto Sans KR" charset="0"/>
                        <a:ea typeface="Noto Sans KR" charset="0"/>
                        <a:cs typeface="Noto Sans KR" charset="0"/>
                      </a:endParaRPr>
                    </a:p>
                  </a:txBody>
                  <a:tcPr marL="50800" marR="508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750" dirty="0">
                          <a:solidFill>
                            <a:srgbClr val="334155"/>
                          </a:solidFill>
                          <a:latin typeface="Noto Sans KR" pitchFamily="34" charset="0"/>
                          <a:ea typeface="Noto Sans KR" pitchFamily="34" charset="-122"/>
                          <a:cs typeface="Noto Sans KR" pitchFamily="34" charset="-120"/>
                        </a:rPr>
                        <a:t>캠핑 장비 현장판매</a:t>
                      </a:r>
                      <a:endParaRPr lang="en-US" sz="750" dirty="0">
                        <a:latin typeface="Noto Sans KR" charset="0"/>
                        <a:ea typeface="Noto Sans KR" charset="0"/>
                        <a:cs typeface="Noto Sans KR" charset="0"/>
                      </a:endParaRPr>
                    </a:p>
                  </a:txBody>
                  <a:tcPr marL="50800" marR="508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750" dirty="0">
                          <a:solidFill>
                            <a:srgbClr val="334155"/>
                          </a:solidFill>
                          <a:latin typeface="Noto Sans KR" pitchFamily="34" charset="0"/>
                          <a:ea typeface="Noto Sans KR" pitchFamily="34" charset="-122"/>
                          <a:cs typeface="Noto Sans KR" pitchFamily="34" charset="-120"/>
                        </a:rPr>
                        <a:t>B2C 판매장, 인터뷰 브랜드도 불참</a:t>
                      </a:r>
                      <a:endParaRPr lang="en-US" sz="750" dirty="0">
                        <a:latin typeface="Noto Sans KR" charset="0"/>
                        <a:ea typeface="Noto Sans KR" charset="0"/>
                        <a:cs typeface="Noto Sans KR" charset="0"/>
                      </a:endParaRPr>
                    </a:p>
                  </a:txBody>
                  <a:tcPr marL="50800" marR="508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170576">
                <a:tc>
                  <a:txBody>
                    <a:bodyPr/>
                    <a:lstStyle/>
                    <a:p>
                      <a:pPr algn="l" indent="0" marL="0">
                        <a:buNone/>
                      </a:pPr>
                      <a:r>
                        <a:rPr lang="en-US" sz="750" b="1" dirty="0">
                          <a:solidFill>
                            <a:srgbClr val="182F48"/>
                          </a:solidFill>
                          <a:latin typeface="Noto Sans KR" pitchFamily="34" charset="0"/>
                          <a:ea typeface="Noto Sans KR" pitchFamily="34" charset="-122"/>
                          <a:cs typeface="Noto Sans KR" pitchFamily="34" charset="-120"/>
                        </a:rPr>
                        <a:t>서울패션위크 트레이드쇼</a:t>
                      </a:r>
                      <a:endParaRPr lang="en-US" sz="750" dirty="0">
                        <a:latin typeface="Noto Sans KR" charset="0"/>
                        <a:ea typeface="Noto Sans KR" charset="0"/>
                        <a:cs typeface="Noto Sans KR" charset="0"/>
                      </a:endParaRPr>
                    </a:p>
                  </a:txBody>
                  <a:tcPr marL="50800" marR="508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750" dirty="0">
                          <a:solidFill>
                            <a:srgbClr val="334155"/>
                          </a:solidFill>
                          <a:latin typeface="Noto Sans KR" pitchFamily="34" charset="0"/>
                          <a:ea typeface="Noto Sans KR" pitchFamily="34" charset="-122"/>
                          <a:cs typeface="Noto Sans KR" pitchFamily="34" charset="-120"/>
                        </a:rPr>
                        <a:t>DDP · 130개 브랜드 · 바이어 300명</a:t>
                      </a:r>
                      <a:endParaRPr lang="en-US" sz="750" dirty="0">
                        <a:latin typeface="Noto Sans KR" charset="0"/>
                        <a:ea typeface="Noto Sans KR" charset="0"/>
                        <a:cs typeface="Noto Sans KR" charset="0"/>
                      </a:endParaRPr>
                    </a:p>
                  </a:txBody>
                  <a:tcPr marL="50800" marR="508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750" dirty="0">
                          <a:solidFill>
                            <a:srgbClr val="334155"/>
                          </a:solidFill>
                          <a:latin typeface="Noto Sans KR" pitchFamily="34" charset="0"/>
                          <a:ea typeface="Noto Sans KR" pitchFamily="34" charset="-122"/>
                          <a:cs typeface="Noto Sans KR" pitchFamily="34" charset="-120"/>
                        </a:rPr>
                        <a:t>디자이너 의류 수주</a:t>
                      </a:r>
                      <a:endParaRPr lang="en-US" sz="750" dirty="0">
                        <a:latin typeface="Noto Sans KR" charset="0"/>
                        <a:ea typeface="Noto Sans KR" charset="0"/>
                        <a:cs typeface="Noto Sans KR" charset="0"/>
                      </a:endParaRPr>
                    </a:p>
                  </a:txBody>
                  <a:tcPr marL="50800" marR="508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750" dirty="0">
                          <a:solidFill>
                            <a:srgbClr val="334155"/>
                          </a:solidFill>
                          <a:latin typeface="Noto Sans KR" pitchFamily="34" charset="0"/>
                          <a:ea typeface="Noto Sans KR" pitchFamily="34" charset="-122"/>
                          <a:cs typeface="Noto Sans KR" pitchFamily="34" charset="-120"/>
                        </a:rPr>
                        <a:t>기능 소재·제조 연결, 기능 검증 없음</a:t>
                      </a:r>
                      <a:endParaRPr lang="en-US" sz="750" dirty="0">
                        <a:latin typeface="Noto Sans KR" charset="0"/>
                        <a:ea typeface="Noto Sans KR" charset="0"/>
                        <a:cs typeface="Noto Sans KR" charset="0"/>
                      </a:endParaRPr>
                    </a:p>
                  </a:txBody>
                  <a:tcPr marL="50800" marR="508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170576">
                <a:tc>
                  <a:txBody>
                    <a:bodyPr/>
                    <a:lstStyle/>
                    <a:p>
                      <a:pPr algn="l" indent="0" marL="0">
                        <a:buNone/>
                      </a:pPr>
                      <a:r>
                        <a:rPr lang="en-US" sz="750" b="1" dirty="0">
                          <a:solidFill>
                            <a:srgbClr val="182F48"/>
                          </a:solidFill>
                          <a:latin typeface="Noto Sans KR" pitchFamily="34" charset="0"/>
                          <a:ea typeface="Noto Sans KR" pitchFamily="34" charset="-122"/>
                          <a:cs typeface="Noto Sans KR" pitchFamily="34" charset="-120"/>
                        </a:rPr>
                        <a:t>프리뷰 인 서울</a:t>
                      </a:r>
                      <a:endParaRPr lang="en-US" sz="750" dirty="0">
                        <a:latin typeface="Noto Sans KR" charset="0"/>
                        <a:ea typeface="Noto Sans KR" charset="0"/>
                        <a:cs typeface="Noto Sans KR" charset="0"/>
                      </a:endParaRPr>
                    </a:p>
                  </a:txBody>
                  <a:tcPr marL="50800" marR="508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750" dirty="0">
                          <a:solidFill>
                            <a:srgbClr val="334155"/>
                          </a:solidFill>
                          <a:latin typeface="Noto Sans KR" pitchFamily="34" charset="0"/>
                          <a:ea typeface="Noto Sans KR" pitchFamily="34" charset="-122"/>
                          <a:cs typeface="Noto Sans KR" pitchFamily="34" charset="-120"/>
                        </a:rPr>
                        <a:t>코엑스 · 약 500개사(2025)</a:t>
                      </a:r>
                      <a:endParaRPr lang="en-US" sz="750" dirty="0">
                        <a:latin typeface="Noto Sans KR" charset="0"/>
                        <a:ea typeface="Noto Sans KR" charset="0"/>
                        <a:cs typeface="Noto Sans KR" charset="0"/>
                      </a:endParaRPr>
                    </a:p>
                  </a:txBody>
                  <a:tcPr marL="50800" marR="508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750" dirty="0">
                          <a:solidFill>
                            <a:srgbClr val="334155"/>
                          </a:solidFill>
                          <a:latin typeface="Noto Sans KR" pitchFamily="34" charset="0"/>
                          <a:ea typeface="Noto Sans KR" pitchFamily="34" charset="-122"/>
                          <a:cs typeface="Noto Sans KR" pitchFamily="34" charset="-120"/>
                        </a:rPr>
                        <a:t>원사·원단 B2B</a:t>
                      </a:r>
                      <a:endParaRPr lang="en-US" sz="750" dirty="0">
                        <a:latin typeface="Noto Sans KR" charset="0"/>
                        <a:ea typeface="Noto Sans KR" charset="0"/>
                        <a:cs typeface="Noto Sans KR" charset="0"/>
                      </a:endParaRPr>
                    </a:p>
                  </a:txBody>
                  <a:tcPr marL="50800" marR="508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750" dirty="0">
                          <a:solidFill>
                            <a:srgbClr val="334155"/>
                          </a:solidFill>
                          <a:latin typeface="Noto Sans KR" pitchFamily="34" charset="0"/>
                          <a:ea typeface="Noto Sans KR" pitchFamily="34" charset="-122"/>
                          <a:cs typeface="Noto Sans KR" pitchFamily="34" charset="-120"/>
                        </a:rPr>
                        <a:t>완제품 브랜드와 유통 바이어가 없음</a:t>
                      </a:r>
                      <a:endParaRPr lang="en-US" sz="750" dirty="0">
                        <a:latin typeface="Noto Sans KR" charset="0"/>
                        <a:ea typeface="Noto Sans KR" charset="0"/>
                        <a:cs typeface="Noto Sans KR" charset="0"/>
                      </a:endParaRPr>
                    </a:p>
                  </a:txBody>
                  <a:tcPr marL="50800" marR="508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170576">
                <a:tc>
                  <a:txBody>
                    <a:bodyPr/>
                    <a:lstStyle/>
                    <a:p>
                      <a:pPr algn="l" indent="0" marL="0">
                        <a:buNone/>
                      </a:pPr>
                      <a:r>
                        <a:rPr lang="en-US" sz="750" b="1" dirty="0">
                          <a:solidFill>
                            <a:srgbClr val="182F48"/>
                          </a:solidFill>
                          <a:latin typeface="Noto Sans KR" pitchFamily="34" charset="0"/>
                          <a:ea typeface="Noto Sans KR" pitchFamily="34" charset="-122"/>
                          <a:cs typeface="Noto Sans KR" pitchFamily="34" charset="-120"/>
                        </a:rPr>
                        <a:t>ISPO</a:t>
                      </a:r>
                      <a:endParaRPr lang="en-US" sz="750" dirty="0">
                        <a:latin typeface="Noto Sans KR" charset="0"/>
                        <a:ea typeface="Noto Sans KR" charset="0"/>
                        <a:cs typeface="Noto Sans KR" charset="0"/>
                      </a:endParaRPr>
                    </a:p>
                  </a:txBody>
                  <a:tcPr marL="50800" marR="508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750" dirty="0">
                          <a:solidFill>
                            <a:srgbClr val="334155"/>
                          </a:solidFill>
                          <a:latin typeface="Noto Sans KR" pitchFamily="34" charset="0"/>
                          <a:ea typeface="Noto Sans KR" pitchFamily="34" charset="-122"/>
                          <a:cs typeface="Noto Sans KR" pitchFamily="34" charset="-120"/>
                        </a:rPr>
                        <a:t>뮌헨 → 2026 암스테르담</a:t>
                      </a:r>
                      <a:endParaRPr lang="en-US" sz="750" dirty="0">
                        <a:latin typeface="Noto Sans KR" charset="0"/>
                        <a:ea typeface="Noto Sans KR" charset="0"/>
                        <a:cs typeface="Noto Sans KR" charset="0"/>
                      </a:endParaRPr>
                    </a:p>
                  </a:txBody>
                  <a:tcPr marL="50800" marR="508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750" dirty="0">
                          <a:solidFill>
                            <a:srgbClr val="334155"/>
                          </a:solidFill>
                          <a:latin typeface="Noto Sans KR" pitchFamily="34" charset="0"/>
                          <a:ea typeface="Noto Sans KR" pitchFamily="34" charset="-122"/>
                          <a:cs typeface="Noto Sans KR" pitchFamily="34" charset="-120"/>
                        </a:rPr>
                        <a:t>스포츠·아웃도어 B2B</a:t>
                      </a:r>
                      <a:endParaRPr lang="en-US" sz="750" dirty="0">
                        <a:latin typeface="Noto Sans KR" charset="0"/>
                        <a:ea typeface="Noto Sans KR" charset="0"/>
                        <a:cs typeface="Noto Sans KR" charset="0"/>
                      </a:endParaRPr>
                    </a:p>
                  </a:txBody>
                  <a:tcPr marL="50800" marR="508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750" dirty="0">
                          <a:solidFill>
                            <a:srgbClr val="334155"/>
                          </a:solidFill>
                          <a:latin typeface="Noto Sans KR" pitchFamily="34" charset="0"/>
                          <a:ea typeface="Noto Sans KR" pitchFamily="34" charset="-122"/>
                          <a:cs typeface="Noto Sans KR" pitchFamily="34" charset="-120"/>
                        </a:rPr>
                        <a:t>유럽 중심, 출품 3,307→1,937개사</a:t>
                      </a:r>
                      <a:endParaRPr lang="en-US" sz="750" dirty="0">
                        <a:latin typeface="Noto Sans KR" charset="0"/>
                        <a:ea typeface="Noto Sans KR" charset="0"/>
                        <a:cs typeface="Noto Sans KR" charset="0"/>
                      </a:endParaRPr>
                    </a:p>
                  </a:txBody>
                  <a:tcPr marL="50800" marR="508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bl>
          </a:graphicData>
        </a:graphic>
      </p:graphicFrame>
      <p:sp>
        <p:nvSpPr>
          <p:cNvPr id="29" name="차별점"/>
          <p:cNvSpPr txBox="1"/>
          <p:nvPr/>
        </p:nvSpPr>
        <p:spPr>
          <a:xfrm>
            <a:off x="8695944" y="5214366"/>
            <a:ext cx="2880360" cy="1023457"/>
          </a:xfrm>
          <a:prstGeom prst="roundRect">
            <a:avLst>
              <a:gd name="adj" fmla="val 4467"/>
            </a:avLst>
          </a:prstGeom>
          <a:solidFill>
            <a:srgbClr val="182F48"/>
          </a:solidFill>
          <a:ln/>
        </p:spPr>
        <p:txBody>
          <a:bodyPr wrap="square" lIns="109728" tIns="0" rIns="109728" bIns="0" rtlCol="0" anchor="ctr"/>
          <a:lstStyle/>
          <a:p>
            <a:pPr algn="l" indent="0" marL="0">
              <a:lnSpc>
                <a:spcPct val="92000"/>
              </a:lnSpc>
              <a:spcAft>
                <a:spcPts val="200"/>
              </a:spcAft>
              <a:buNone/>
            </a:pPr>
            <a:r>
              <a:rPr lang="en-US" sz="850" b="1" dirty="0">
                <a:solidFill>
                  <a:srgbClr val="9FE0E6"/>
                </a:solidFill>
                <a:latin typeface="Noto Sans KR" pitchFamily="34" charset="0"/>
                <a:ea typeface="Noto Sans KR" pitchFamily="34" charset="-122"/>
                <a:cs typeface="Noto Sans KR" pitchFamily="34" charset="-120"/>
              </a:rPr>
              <a:t>GFF SEOUL은 밸류체인을 한 동선에 모은다</a:t>
            </a:r>
            <a:endParaRPr lang="en-US" sz="850" dirty="0"/>
          </a:p>
          <a:p>
            <a:pPr algn="l" indent="0" marL="0">
              <a:lnSpc>
                <a:spcPct val="92000"/>
              </a:lnSpc>
              <a:spcAft>
                <a:spcPts val="200"/>
              </a:spcAft>
              <a:buNone/>
            </a:pPr>
            <a:r>
              <a:rPr lang="en-US" sz="800" dirty="0">
                <a:solidFill>
                  <a:srgbClr val="FFFFFF"/>
                </a:solidFill>
                <a:latin typeface="Noto Sans KR" pitchFamily="34" charset="0"/>
                <a:ea typeface="Noto Sans KR" pitchFamily="34" charset="-122"/>
                <a:cs typeface="Noto Sans KR" pitchFamily="34" charset="-120"/>
              </a:rPr>
              <a:t>① 소재관·제조관: 소량 생산처·PFAS-free 소재 매칭</a:t>
            </a:r>
            <a:endParaRPr lang="en-US" sz="850" dirty="0"/>
          </a:p>
          <a:p>
            <a:pPr algn="l" indent="0" marL="0">
              <a:lnSpc>
                <a:spcPct val="92000"/>
              </a:lnSpc>
              <a:spcAft>
                <a:spcPts val="200"/>
              </a:spcAft>
              <a:buNone/>
            </a:pPr>
            <a:r>
              <a:rPr lang="en-US" sz="800" dirty="0">
                <a:solidFill>
                  <a:srgbClr val="FFFFFF"/>
                </a:solidFill>
                <a:latin typeface="Noto Sans KR" pitchFamily="34" charset="0"/>
                <a:ea typeface="Noto Sans KR" pitchFamily="34" charset="-122"/>
                <a:cs typeface="Noto Sans KR" pitchFamily="34" charset="-120"/>
              </a:rPr>
              <a:t>② 트레이드 데이: 국내외 인증 바이어 1:1 매칭</a:t>
            </a:r>
            <a:endParaRPr lang="en-US" sz="850" dirty="0"/>
          </a:p>
          <a:p>
            <a:pPr algn="l" indent="0" marL="0">
              <a:lnSpc>
                <a:spcPct val="92000"/>
              </a:lnSpc>
              <a:spcAft>
                <a:spcPts val="200"/>
              </a:spcAft>
              <a:buNone/>
            </a:pPr>
            <a:r>
              <a:rPr lang="en-US" sz="800" dirty="0">
                <a:solidFill>
                  <a:srgbClr val="FFFFFF"/>
                </a:solidFill>
                <a:latin typeface="Noto Sans KR" pitchFamily="34" charset="0"/>
                <a:ea typeface="Noto Sans KR" pitchFamily="34" charset="-122"/>
                <a:cs typeface="Noto Sans KR" pitchFamily="34" charset="-120"/>
              </a:rPr>
              <a:t>③ 퍼블릭 랩 데이: 방수·보온 기능을 체험으로 증명</a:t>
            </a:r>
            <a:endParaRPr lang="en-US" sz="850" dirty="0"/>
          </a:p>
          <a:p>
            <a:pPr algn="l" indent="0" marL="0">
              <a:lnSpc>
                <a:spcPct val="92000"/>
              </a:lnSpc>
              <a:spcAft>
                <a:spcPts val="200"/>
              </a:spcAft>
              <a:buNone/>
            </a:pPr>
            <a:r>
              <a:rPr lang="en-US" sz="800" dirty="0">
                <a:solidFill>
                  <a:srgbClr val="FFFFFF"/>
                </a:solidFill>
                <a:latin typeface="Noto Sans KR" pitchFamily="34" charset="0"/>
                <a:ea typeface="Noto Sans KR" pitchFamily="34" charset="-122"/>
                <a:cs typeface="Noto Sans KR" pitchFamily="34" charset="-120"/>
              </a:rPr>
              <a:t>④ 고프코어 단일 카테고리로 바이어 적중률을 높인다</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과제 표기"/>
          <p:cNvSpPr txBox="1"/>
          <p:nvPr/>
        </p:nvSpPr>
        <p:spPr>
          <a:xfrm>
            <a:off x="612648" y="274320"/>
            <a:ext cx="5486400" cy="237744"/>
          </a:xfrm>
          <a:prstGeom prst="rect">
            <a:avLst/>
          </a:prstGeom>
          <a:noFill/>
          <a:ln/>
        </p:spPr>
        <p:txBody>
          <a:bodyPr wrap="square" lIns="0" tIns="0" rIns="0" bIns="0" rtlCol="0" anchor="t"/>
          <a:lstStyle/>
          <a:p>
            <a:pPr algn="l" indent="0" marL="0">
              <a:lnSpc>
                <a:spcPct val="92000"/>
              </a:lnSpc>
              <a:buNone/>
            </a:pPr>
            <a:r>
              <a:rPr lang="en-US" sz="1100" dirty="0">
                <a:solidFill>
                  <a:srgbClr val="64748B"/>
                </a:solidFill>
                <a:latin typeface="Noto Sans KR" pitchFamily="34" charset="0"/>
                <a:ea typeface="Noto Sans KR" pitchFamily="34" charset="-122"/>
                <a:cs typeface="Noto Sans KR" pitchFamily="34" charset="-120"/>
              </a:rPr>
              <a:t>전시산업론 중간고사 개인 과제   2/6</a:t>
            </a:r>
            <a:endParaRPr lang="en-US" sz="1100" dirty="0"/>
          </a:p>
        </p:txBody>
      </p:sp>
      <p:sp>
        <p:nvSpPr>
          <p:cNvPr id="3" name="Text 1"/>
          <p:cNvSpPr/>
          <p:nvPr>
            <p:ph idx="101" type="title" hasCustomPrompt="1"/>
          </p:nvPr>
        </p:nvSpPr>
        <p:spPr>
          <a:xfrm>
            <a:off x="612648" y="548640"/>
            <a:ext cx="10963656" cy="512064"/>
          </a:xfrm>
          <a:prstGeom prst="rect">
            <a:avLst/>
          </a:prstGeom>
          <a:noFill/>
          <a:ln/>
        </p:spPr>
        <p:txBody>
          <a:bodyPr wrap="square" lIns="0" tIns="0" rIns="0" bIns="0" rtlCol="0" anchor="ctr"/>
          <a:lstStyle/>
          <a:p>
            <a:pPr algn="l" indent="0" marL="0">
              <a:buNone/>
            </a:pPr>
            <a:r>
              <a:rPr lang="en-US" sz="3000" b="1" dirty="0">
                <a:solidFill>
                  <a:srgbClr val="182F48"/>
                </a:solidFill>
                <a:latin typeface="Noto Sans KR" pitchFamily="34" charset="0"/>
                <a:ea typeface="Noto Sans KR" pitchFamily="34" charset="-122"/>
                <a:cs typeface="Noto Sans KR" pitchFamily="34" charset="-120"/>
              </a:rPr>
              <a:t>미션 · 비전 (Mission Statement)</a:t>
            </a:r>
            <a:endParaRPr lang="en-US" sz="3000" dirty="0"/>
          </a:p>
        </p:txBody>
      </p:sp>
      <p:sp>
        <p:nvSpPr>
          <p:cNvPr id="4" name="Text 1"/>
          <p:cNvSpPr/>
          <p:nvPr>
            <p:ph idx="102" type="body" hasCustomPrompt="1"/>
          </p:nvPr>
        </p:nvSpPr>
        <p:spPr>
          <a:xfrm>
            <a:off x="612648" y="1060704"/>
            <a:ext cx="10963656" cy="310896"/>
          </a:xfrm>
          <a:prstGeom prst="rect">
            <a:avLst/>
          </a:prstGeom>
          <a:noFill/>
          <a:ln/>
        </p:spPr>
        <p:txBody>
          <a:bodyPr wrap="square" lIns="0" tIns="0" rIns="0" bIns="0" rtlCol="0" anchor="ctr"/>
          <a:lstStyle/>
          <a:p>
            <a:pPr algn="l" indent="0" marL="0">
              <a:buNone/>
            </a:pPr>
            <a:r>
              <a:rPr lang="en-US" sz="1500" dirty="0">
                <a:solidFill>
                  <a:srgbClr val="267D86"/>
                </a:solidFill>
                <a:latin typeface="Noto Sans KR" pitchFamily="34" charset="0"/>
                <a:ea typeface="Noto Sans KR" pitchFamily="34" charset="-122"/>
                <a:cs typeface="Noto Sans KR" pitchFamily="34" charset="-120"/>
              </a:rPr>
              <a:t>전시회의 존재 이유와 장기적인 방향</a:t>
            </a:r>
            <a:endParaRPr lang="en-US" sz="1500" dirty="0"/>
          </a:p>
        </p:txBody>
      </p:sp>
      <p:sp>
        <p:nvSpPr>
          <p:cNvPr id="5" name="출처"/>
          <p:cNvSpPr txBox="1"/>
          <p:nvPr/>
        </p:nvSpPr>
        <p:spPr>
          <a:xfrm>
            <a:off x="612648" y="6355080"/>
            <a:ext cx="10963656" cy="457200"/>
          </a:xfrm>
          <a:prstGeom prst="rect">
            <a:avLst/>
          </a:prstGeom>
          <a:noFill/>
          <a:ln/>
        </p:spPr>
        <p:txBody>
          <a:bodyPr wrap="square" lIns="0" tIns="0" rIns="0" bIns="0" rtlCol="0" anchor="t"/>
          <a:lstStyle/>
          <a:p>
            <a:pPr algn="l" indent="0" marL="0">
              <a:lnSpc>
                <a:spcPct val="90000"/>
              </a:lnSpc>
              <a:buNone/>
            </a:pPr>
            <a:r>
              <a:rPr lang="en-US" sz="700" dirty="0">
                <a:solidFill>
                  <a:srgbClr val="64748B"/>
                </a:solidFill>
                <a:latin typeface="Noto Sans KR" pitchFamily="34" charset="0"/>
                <a:ea typeface="Noto Sans KR" pitchFamily="34" charset="-122"/>
                <a:cs typeface="Noto Sans KR" pitchFamily="34" charset="-120"/>
              </a:rPr>
              <a:t>출처: 산업통상부 「전시산업 발전 로드맵 2030」(2026.10.14) · 산업통상부 섬유패션 'All in Korea' 사업(2026.2.3) · 한국패션협회 K-프리미엄 패션 생태계 사업(2026~2028)</a:t>
            </a:r>
            <a:endParaRPr lang="en-US" sz="700" dirty="0"/>
          </a:p>
          <a:p>
            <a:pPr algn="l" indent="0" marL="0">
              <a:lnSpc>
                <a:spcPct val="90000"/>
              </a:lnSpc>
              <a:buNone/>
            </a:pPr>
            <a:r>
              <a:rPr lang="en-US" sz="700" dirty="0">
                <a:solidFill>
                  <a:srgbClr val="64748B"/>
                </a:solidFill>
                <a:latin typeface="Noto Sans KR" pitchFamily="34" charset="0"/>
                <a:ea typeface="Noto Sans KR" pitchFamily="34" charset="-122"/>
                <a:cs typeface="Noto Sans KR" pitchFamily="34" charset="-120"/>
              </a:rPr>
              <a:t>아시아경제(2026.7.29, 코오롱스포츠 차이나) · 무신사 뉴스룸(2024.7.17) · 중소기업중앙회(2024.7.3, 2025.12.9) · 패션비즈(K패션 수출 장벽) · 참가업체 측 인터뷰(2026.10.17)</a:t>
            </a:r>
            <a:endParaRPr lang="en-US" sz="700" dirty="0"/>
          </a:p>
        </p:txBody>
      </p:sp>
      <p:sp>
        <p:nvSpPr>
          <p:cNvPr id="7" name="라벨"/>
          <p:cNvSpPr txBox="1"/>
          <p:nvPr/>
        </p:nvSpPr>
        <p:spPr>
          <a:xfrm>
            <a:off x="612648" y="1554480"/>
            <a:ext cx="1417320" cy="237744"/>
          </a:xfrm>
          <a:prstGeom prst="rect">
            <a:avLst/>
          </a:prstGeom>
          <a:noFill/>
          <a:ln/>
        </p:spPr>
        <p:txBody>
          <a:bodyPr wrap="square" lIns="0" tIns="0" rIns="0" bIns="0" rtlCol="0" anchor="t"/>
          <a:lstStyle/>
          <a:p>
            <a:pPr algn="l" indent="0" marL="0">
              <a:lnSpc>
                <a:spcPct val="100000"/>
              </a:lnSpc>
              <a:buNone/>
            </a:pPr>
            <a:r>
              <a:rPr lang="en-US" sz="1200" b="1" dirty="0">
                <a:solidFill>
                  <a:srgbClr val="182F48"/>
                </a:solidFill>
                <a:latin typeface="Noto Sans KR" pitchFamily="34" charset="0"/>
                <a:ea typeface="Noto Sans KR" pitchFamily="34" charset="-122"/>
                <a:cs typeface="Noto Sans KR" pitchFamily="34" charset="-120"/>
              </a:rPr>
              <a:t>미션  Mission</a:t>
            </a:r>
            <a:endParaRPr lang="en-US" sz="1200" dirty="0"/>
          </a:p>
        </p:txBody>
      </p:sp>
      <p:sp>
        <p:nvSpPr>
          <p:cNvPr id="8" name="라벨 안내"/>
          <p:cNvSpPr txBox="1"/>
          <p:nvPr/>
        </p:nvSpPr>
        <p:spPr>
          <a:xfrm>
            <a:off x="612648" y="1819656"/>
            <a:ext cx="1417320" cy="548640"/>
          </a:xfrm>
          <a:prstGeom prst="rect">
            <a:avLst/>
          </a:prstGeom>
          <a:noFill/>
          <a:ln/>
        </p:spPr>
        <p:txBody>
          <a:bodyPr wrap="square" lIns="0" tIns="0" rIns="0" bIns="0" rtlCol="0" anchor="t"/>
          <a:lstStyle/>
          <a:p>
            <a:pPr algn="l" indent="0" marL="0">
              <a:lnSpc>
                <a:spcPct val="92000"/>
              </a:lnSpc>
              <a:buNone/>
            </a:pPr>
            <a:r>
              <a:rPr lang="en-US" sz="800" dirty="0">
                <a:solidFill>
                  <a:srgbClr val="64748B"/>
                </a:solidFill>
                <a:latin typeface="Noto Sans KR" pitchFamily="34" charset="0"/>
                <a:ea typeface="Noto Sans KR" pitchFamily="34" charset="-122"/>
                <a:cs typeface="Noto Sans KR" pitchFamily="34" charset="-120"/>
              </a:rPr>
              <a:t>누구의 어떤 문제를 해결하나요?</a:t>
            </a:r>
            <a:endParaRPr lang="en-US" sz="800" dirty="0"/>
          </a:p>
        </p:txBody>
      </p:sp>
      <p:sp>
        <p:nvSpPr>
          <p:cNvPr id="9" name="미션 배경"/>
          <p:cNvSpPr/>
          <p:nvPr/>
        </p:nvSpPr>
        <p:spPr>
          <a:xfrm>
            <a:off x="2121408" y="1481328"/>
            <a:ext cx="9454896" cy="1261872"/>
          </a:xfrm>
          <a:prstGeom prst="roundRect">
            <a:avLst>
              <a:gd name="adj" fmla="val 3623"/>
            </a:avLst>
          </a:prstGeom>
          <a:solidFill>
            <a:srgbClr val="E6F2F3"/>
          </a:solidFill>
          <a:ln/>
        </p:spPr>
      </p:sp>
      <p:sp>
        <p:nvSpPr>
          <p:cNvPr id="10" name="미션"/>
          <p:cNvSpPr txBox="1"/>
          <p:nvPr/>
        </p:nvSpPr>
        <p:spPr>
          <a:xfrm>
            <a:off x="2304288" y="1554480"/>
            <a:ext cx="9089136" cy="585216"/>
          </a:xfrm>
          <a:prstGeom prst="rect">
            <a:avLst/>
          </a:prstGeom>
          <a:noFill/>
          <a:ln/>
        </p:spPr>
        <p:txBody>
          <a:bodyPr wrap="square" lIns="0" tIns="0" rIns="0" bIns="0" rtlCol="0" anchor="t"/>
          <a:lstStyle/>
          <a:p>
            <a:pPr algn="l" indent="0" marL="0">
              <a:lnSpc>
                <a:spcPct val="100000"/>
              </a:lnSpc>
              <a:buNone/>
            </a:pPr>
            <a:r>
              <a:rPr lang="en-US" sz="1400" b="1" dirty="0">
                <a:solidFill>
                  <a:srgbClr val="182F48"/>
                </a:solidFill>
                <a:latin typeface="Noto Sans KR" pitchFamily="34" charset="0"/>
                <a:ea typeface="Noto Sans KR" pitchFamily="34" charset="-122"/>
                <a:cs typeface="Noto Sans KR" pitchFamily="34" charset="-120"/>
              </a:rPr>
              <a:t>소재·제조·브랜드·바이어를 한 자리에서 거래로 이어,</a:t>
            </a:r>
            <a:endParaRPr lang="en-US" sz="1400" dirty="0"/>
          </a:p>
          <a:p>
            <a:pPr algn="l" indent="0" marL="0">
              <a:lnSpc>
                <a:spcPct val="100000"/>
              </a:lnSpc>
              <a:buNone/>
            </a:pPr>
            <a:r>
              <a:rPr lang="en-US" sz="1400" b="1" dirty="0">
                <a:solidFill>
                  <a:srgbClr val="182F48"/>
                </a:solidFill>
                <a:latin typeface="Noto Sans KR" pitchFamily="34" charset="0"/>
                <a:ea typeface="Noto Sans KR" pitchFamily="34" charset="-122"/>
                <a:cs typeface="Noto Sans KR" pitchFamily="34" charset="-120"/>
              </a:rPr>
              <a:t>고프코어 성장의 과실이 해외 IP가 아닌 한국 브랜드에 남게 한다.</a:t>
            </a:r>
            <a:endParaRPr lang="en-US" sz="1400" dirty="0"/>
          </a:p>
        </p:txBody>
      </p:sp>
      <p:sp>
        <p:nvSpPr>
          <p:cNvPr id="11" name="미션 대상 1"/>
          <p:cNvSpPr txBox="1"/>
          <p:nvPr/>
        </p:nvSpPr>
        <p:spPr>
          <a:xfrm>
            <a:off x="2304288" y="2212848"/>
            <a:ext cx="2968752" cy="457200"/>
          </a:xfrm>
          <a:prstGeom prst="roundRect">
            <a:avLst>
              <a:gd name="adj" fmla="val 10000"/>
            </a:avLst>
          </a:prstGeom>
          <a:solidFill>
            <a:srgbClr val="FFFFFF"/>
          </a:solidFill>
          <a:ln/>
        </p:spPr>
        <p:txBody>
          <a:bodyPr wrap="square" lIns="91440" tIns="0" rIns="91440" bIns="0" rtlCol="0" anchor="ctr"/>
          <a:lstStyle/>
          <a:p>
            <a:pPr algn="l" indent="0" marL="0">
              <a:lnSpc>
                <a:spcPct val="92000"/>
              </a:lnSpc>
              <a:buNone/>
            </a:pPr>
            <a:r>
              <a:rPr lang="en-US" sz="850" b="1" dirty="0">
                <a:solidFill>
                  <a:srgbClr val="267D86"/>
                </a:solidFill>
                <a:latin typeface="Noto Sans KR" pitchFamily="34" charset="0"/>
                <a:ea typeface="Noto Sans KR" pitchFamily="34" charset="-122"/>
                <a:cs typeface="Noto Sans KR" pitchFamily="34" charset="-120"/>
              </a:rPr>
              <a:t>소재·제조사</a:t>
            </a:r>
            <a:endParaRPr lang="en-US" sz="850" dirty="0"/>
          </a:p>
          <a:p>
            <a:pPr algn="l" indent="0" marL="0">
              <a:lnSpc>
                <a:spcPct val="92000"/>
              </a:lnSpc>
              <a:buNone/>
            </a:pPr>
            <a:r>
              <a:rPr lang="en-US" sz="800" dirty="0">
                <a:solidFill>
                  <a:srgbClr val="334155"/>
                </a:solidFill>
                <a:latin typeface="Noto Sans KR" pitchFamily="34" charset="0"/>
                <a:ea typeface="Noto Sans KR" pitchFamily="34" charset="-122"/>
                <a:cs typeface="Noto Sans KR" pitchFamily="34" charset="-120"/>
              </a:rPr>
              <a:t>글로벌 대량 물량에 묶여 국내 브랜드와 접점이 없다</a:t>
            </a:r>
            <a:endParaRPr lang="en-US" sz="850" dirty="0"/>
          </a:p>
        </p:txBody>
      </p:sp>
      <p:sp>
        <p:nvSpPr>
          <p:cNvPr id="12" name="미션 대상 2"/>
          <p:cNvSpPr txBox="1"/>
          <p:nvPr/>
        </p:nvSpPr>
        <p:spPr>
          <a:xfrm>
            <a:off x="5364480" y="2212848"/>
            <a:ext cx="2968752" cy="457200"/>
          </a:xfrm>
          <a:prstGeom prst="roundRect">
            <a:avLst>
              <a:gd name="adj" fmla="val 10000"/>
            </a:avLst>
          </a:prstGeom>
          <a:solidFill>
            <a:srgbClr val="FFFFFF"/>
          </a:solidFill>
          <a:ln/>
        </p:spPr>
        <p:txBody>
          <a:bodyPr wrap="square" lIns="91440" tIns="0" rIns="91440" bIns="0" rtlCol="0" anchor="ctr"/>
          <a:lstStyle/>
          <a:p>
            <a:pPr algn="l" indent="0" marL="0">
              <a:lnSpc>
                <a:spcPct val="92000"/>
              </a:lnSpc>
              <a:buNone/>
            </a:pPr>
            <a:r>
              <a:rPr lang="en-US" sz="850" b="1" dirty="0">
                <a:solidFill>
                  <a:srgbClr val="267D86"/>
                </a:solidFill>
                <a:latin typeface="Noto Sans KR" pitchFamily="34" charset="0"/>
                <a:ea typeface="Noto Sans KR" pitchFamily="34" charset="-122"/>
                <a:cs typeface="Noto Sans KR" pitchFamily="34" charset="-120"/>
              </a:rPr>
              <a:t>K-고프코어 브랜드</a:t>
            </a:r>
            <a:endParaRPr lang="en-US" sz="850" dirty="0"/>
          </a:p>
          <a:p>
            <a:pPr algn="l" indent="0" marL="0">
              <a:lnSpc>
                <a:spcPct val="92000"/>
              </a:lnSpc>
              <a:buNone/>
            </a:pPr>
            <a:r>
              <a:rPr lang="en-US" sz="800" dirty="0">
                <a:solidFill>
                  <a:srgbClr val="334155"/>
                </a:solidFill>
                <a:latin typeface="Noto Sans KR" pitchFamily="34" charset="0"/>
                <a:ea typeface="Noto Sans KR" pitchFamily="34" charset="-122"/>
                <a:cs typeface="Noto Sans KR" pitchFamily="34" charset="-120"/>
              </a:rPr>
              <a:t>소량 생산처·해외 바이어 없이 고비용 유통에 갇혀 있다</a:t>
            </a:r>
            <a:endParaRPr lang="en-US" sz="850" dirty="0"/>
          </a:p>
        </p:txBody>
      </p:sp>
      <p:sp>
        <p:nvSpPr>
          <p:cNvPr id="13" name="미션 대상 3"/>
          <p:cNvSpPr txBox="1"/>
          <p:nvPr/>
        </p:nvSpPr>
        <p:spPr>
          <a:xfrm>
            <a:off x="8424672" y="2212848"/>
            <a:ext cx="2968752" cy="457200"/>
          </a:xfrm>
          <a:prstGeom prst="roundRect">
            <a:avLst>
              <a:gd name="adj" fmla="val 10000"/>
            </a:avLst>
          </a:prstGeom>
          <a:solidFill>
            <a:srgbClr val="FFFFFF"/>
          </a:solidFill>
          <a:ln/>
        </p:spPr>
        <p:txBody>
          <a:bodyPr wrap="square" lIns="91440" tIns="0" rIns="91440" bIns="0" rtlCol="0" anchor="ctr"/>
          <a:lstStyle/>
          <a:p>
            <a:pPr algn="l" indent="0" marL="0">
              <a:lnSpc>
                <a:spcPct val="92000"/>
              </a:lnSpc>
              <a:buNone/>
            </a:pPr>
            <a:r>
              <a:rPr lang="en-US" sz="850" b="1" dirty="0">
                <a:solidFill>
                  <a:srgbClr val="267D86"/>
                </a:solidFill>
                <a:latin typeface="Noto Sans KR" pitchFamily="34" charset="0"/>
                <a:ea typeface="Noto Sans KR" pitchFamily="34" charset="-122"/>
                <a:cs typeface="Noto Sans KR" pitchFamily="34" charset="-120"/>
              </a:rPr>
              <a:t>국내외 바이어</a:t>
            </a:r>
            <a:endParaRPr lang="en-US" sz="850" dirty="0"/>
          </a:p>
          <a:p>
            <a:pPr algn="l" indent="0" marL="0">
              <a:lnSpc>
                <a:spcPct val="92000"/>
              </a:lnSpc>
              <a:buNone/>
            </a:pPr>
            <a:r>
              <a:rPr lang="en-US" sz="800" dirty="0">
                <a:solidFill>
                  <a:srgbClr val="334155"/>
                </a:solidFill>
                <a:latin typeface="Noto Sans KR" pitchFamily="34" charset="0"/>
                <a:ea typeface="Noto Sans KR" pitchFamily="34" charset="-122"/>
                <a:cs typeface="Noto Sans KR" pitchFamily="34" charset="-120"/>
              </a:rPr>
              <a:t>한국 고프코어 브랜드를 한 번에 비교·발굴할 장이 없다</a:t>
            </a:r>
            <a:endParaRPr lang="en-US" sz="850" dirty="0"/>
          </a:p>
        </p:txBody>
      </p:sp>
      <p:sp>
        <p:nvSpPr>
          <p:cNvPr id="14" name="라벨"/>
          <p:cNvSpPr txBox="1"/>
          <p:nvPr/>
        </p:nvSpPr>
        <p:spPr>
          <a:xfrm>
            <a:off x="612648" y="2871216"/>
            <a:ext cx="1417320" cy="237744"/>
          </a:xfrm>
          <a:prstGeom prst="rect">
            <a:avLst/>
          </a:prstGeom>
          <a:noFill/>
          <a:ln/>
        </p:spPr>
        <p:txBody>
          <a:bodyPr wrap="square" lIns="0" tIns="0" rIns="0" bIns="0" rtlCol="0" anchor="t"/>
          <a:lstStyle/>
          <a:p>
            <a:pPr algn="l" indent="0" marL="0">
              <a:lnSpc>
                <a:spcPct val="100000"/>
              </a:lnSpc>
              <a:buNone/>
            </a:pPr>
            <a:r>
              <a:rPr lang="en-US" sz="1200" b="1" dirty="0">
                <a:solidFill>
                  <a:srgbClr val="182F48"/>
                </a:solidFill>
                <a:latin typeface="Noto Sans KR" pitchFamily="34" charset="0"/>
                <a:ea typeface="Noto Sans KR" pitchFamily="34" charset="-122"/>
                <a:cs typeface="Noto Sans KR" pitchFamily="34" charset="-120"/>
              </a:rPr>
              <a:t>비전  Vision</a:t>
            </a:r>
            <a:endParaRPr lang="en-US" sz="1200" dirty="0"/>
          </a:p>
        </p:txBody>
      </p:sp>
      <p:sp>
        <p:nvSpPr>
          <p:cNvPr id="15" name="라벨 안내"/>
          <p:cNvSpPr txBox="1"/>
          <p:nvPr/>
        </p:nvSpPr>
        <p:spPr>
          <a:xfrm>
            <a:off x="612648" y="3136392"/>
            <a:ext cx="1417320" cy="548640"/>
          </a:xfrm>
          <a:prstGeom prst="rect">
            <a:avLst/>
          </a:prstGeom>
          <a:noFill/>
          <a:ln/>
        </p:spPr>
        <p:txBody>
          <a:bodyPr wrap="square" lIns="0" tIns="0" rIns="0" bIns="0" rtlCol="0" anchor="t"/>
          <a:lstStyle/>
          <a:p>
            <a:pPr algn="l" indent="0" marL="0">
              <a:lnSpc>
                <a:spcPct val="92000"/>
              </a:lnSpc>
              <a:buNone/>
            </a:pPr>
            <a:r>
              <a:rPr lang="en-US" sz="800" dirty="0">
                <a:solidFill>
                  <a:srgbClr val="64748B"/>
                </a:solidFill>
                <a:latin typeface="Noto Sans KR" pitchFamily="34" charset="0"/>
                <a:ea typeface="Noto Sans KR" pitchFamily="34" charset="-122"/>
                <a:cs typeface="Noto Sans KR" pitchFamily="34" charset="-120"/>
              </a:rPr>
              <a:t>지속되면 산업에 어떤 변화를?</a:t>
            </a:r>
            <a:endParaRPr lang="en-US" sz="800" dirty="0"/>
          </a:p>
        </p:txBody>
      </p:sp>
      <p:sp>
        <p:nvSpPr>
          <p:cNvPr id="16" name="비전 배경"/>
          <p:cNvSpPr/>
          <p:nvPr/>
        </p:nvSpPr>
        <p:spPr>
          <a:xfrm>
            <a:off x="2121408" y="2816352"/>
            <a:ext cx="9454896" cy="1243584"/>
          </a:xfrm>
          <a:prstGeom prst="roundRect">
            <a:avLst>
              <a:gd name="adj" fmla="val 3676"/>
            </a:avLst>
          </a:prstGeom>
          <a:solidFill>
            <a:srgbClr val="182F48"/>
          </a:solidFill>
          <a:ln/>
        </p:spPr>
      </p:sp>
      <p:sp>
        <p:nvSpPr>
          <p:cNvPr id="17" name="비전"/>
          <p:cNvSpPr txBox="1"/>
          <p:nvPr/>
        </p:nvSpPr>
        <p:spPr>
          <a:xfrm>
            <a:off x="2304288" y="2871216"/>
            <a:ext cx="9089136" cy="310896"/>
          </a:xfrm>
          <a:prstGeom prst="rect">
            <a:avLst/>
          </a:prstGeom>
          <a:noFill/>
          <a:ln/>
        </p:spPr>
        <p:txBody>
          <a:bodyPr wrap="square" lIns="0" tIns="0" rIns="0" bIns="0" rtlCol="0" anchor="t"/>
          <a:lstStyle/>
          <a:p>
            <a:pPr algn="l" indent="0" marL="0">
              <a:lnSpc>
                <a:spcPct val="100000"/>
              </a:lnSpc>
              <a:buNone/>
            </a:pPr>
            <a:r>
              <a:rPr lang="en-US" sz="1400" b="1" dirty="0">
                <a:solidFill>
                  <a:srgbClr val="FFFFFF"/>
                </a:solidFill>
                <a:latin typeface="Noto Sans KR" pitchFamily="34" charset="0"/>
                <a:ea typeface="Noto Sans KR" pitchFamily="34" charset="-122"/>
                <a:cs typeface="Noto Sans KR" pitchFamily="34" charset="-120"/>
              </a:rPr>
              <a:t>2030년, 한국을 고프코어의 '생산 기지'에서 '브랜드 발신지'로 바꾼다.</a:t>
            </a:r>
            <a:endParaRPr lang="en-US" sz="1400" dirty="0"/>
          </a:p>
        </p:txBody>
      </p:sp>
      <p:sp>
        <p:nvSpPr>
          <p:cNvPr id="18" name="비전 변화"/>
          <p:cNvSpPr txBox="1"/>
          <p:nvPr/>
        </p:nvSpPr>
        <p:spPr>
          <a:xfrm>
            <a:off x="2304288" y="3236976"/>
            <a:ext cx="9089136" cy="768096"/>
          </a:xfrm>
          <a:prstGeom prst="rect">
            <a:avLst/>
          </a:prstGeom>
          <a:noFill/>
          <a:ln/>
        </p:spPr>
        <p:txBody>
          <a:bodyPr wrap="square" lIns="0" tIns="0" rIns="0" bIns="0" rtlCol="0" anchor="t"/>
          <a:lstStyle/>
          <a:p>
            <a:pPr algn="l" indent="0" marL="0">
              <a:lnSpc>
                <a:spcPct val="92000"/>
              </a:lnSpc>
              <a:spcAft>
                <a:spcPts val="300"/>
              </a:spcAft>
              <a:buNone/>
            </a:pPr>
            <a:r>
              <a:rPr lang="en-US" sz="850" b="1" dirty="0">
                <a:solidFill>
                  <a:srgbClr val="9FE0E6"/>
                </a:solidFill>
                <a:latin typeface="Noto Sans KR" pitchFamily="34" charset="0"/>
                <a:ea typeface="Noto Sans KR" pitchFamily="34" charset="-122"/>
                <a:cs typeface="Noto Sans KR" pitchFamily="34" charset="-120"/>
              </a:rPr>
              <a:t>행사  </a:t>
            </a:r>
            <a:pPr algn="l" indent="0" marL="0">
              <a:lnSpc>
                <a:spcPct val="92000"/>
              </a:lnSpc>
              <a:spcAft>
                <a:spcPts val="300"/>
              </a:spcAft>
              <a:buNone/>
            </a:pPr>
            <a:r>
              <a:rPr lang="en-US" sz="850" dirty="0">
                <a:solidFill>
                  <a:srgbClr val="FFFFFF"/>
                </a:solidFill>
                <a:latin typeface="Noto Sans KR" pitchFamily="34" charset="0"/>
                <a:ea typeface="Noto Sans KR" pitchFamily="34" charset="-122"/>
                <a:cs typeface="Noto Sans KR" pitchFamily="34" charset="-120"/>
              </a:rPr>
              <a:t>3회차(2029)에 참가 300개사로 커지고, 아시아 바이어가 시즌마다 찾는 고프코어 소싱 허브가 된다.</a:t>
            </a:r>
            <a:endParaRPr lang="en-US" sz="850" dirty="0"/>
          </a:p>
          <a:p>
            <a:pPr algn="l" indent="0" marL="0">
              <a:lnSpc>
                <a:spcPct val="92000"/>
              </a:lnSpc>
              <a:spcAft>
                <a:spcPts val="300"/>
              </a:spcAft>
              <a:buNone/>
            </a:pPr>
            <a:r>
              <a:rPr lang="en-US" sz="850" b="1" dirty="0">
                <a:solidFill>
                  <a:srgbClr val="9FE0E6"/>
                </a:solidFill>
                <a:latin typeface="Noto Sans KR" pitchFamily="34" charset="0"/>
                <a:ea typeface="Noto Sans KR" pitchFamily="34" charset="-122"/>
                <a:cs typeface="Noto Sans KR" pitchFamily="34" charset="-120"/>
              </a:rPr>
              <a:t>시장  </a:t>
            </a:r>
            <a:pPr algn="l" indent="0" marL="0">
              <a:lnSpc>
                <a:spcPct val="92000"/>
              </a:lnSpc>
              <a:spcAft>
                <a:spcPts val="300"/>
              </a:spcAft>
              <a:buNone/>
            </a:pPr>
            <a:r>
              <a:rPr lang="en-US" sz="850" dirty="0">
                <a:solidFill>
                  <a:srgbClr val="FFFFFF"/>
                </a:solidFill>
                <a:latin typeface="Noto Sans KR" pitchFamily="34" charset="0"/>
                <a:ea typeface="Noto Sans KR" pitchFamily="34" charset="-122"/>
                <a:cs typeface="Noto Sans KR" pitchFamily="34" charset="-120"/>
              </a:rPr>
              <a:t>이 전시회가 지속되면 'All in Korea'(K소재·K제조·K브랜드) 공급망이 실제로 거래되는 시장이 생긴다.</a:t>
            </a:r>
            <a:endParaRPr lang="en-US" sz="850" dirty="0"/>
          </a:p>
          <a:p>
            <a:pPr algn="l" indent="0" marL="0">
              <a:lnSpc>
                <a:spcPct val="92000"/>
              </a:lnSpc>
              <a:spcAft>
                <a:spcPts val="300"/>
              </a:spcAft>
              <a:buNone/>
            </a:pPr>
            <a:r>
              <a:rPr lang="en-US" sz="850" b="1" dirty="0">
                <a:solidFill>
                  <a:srgbClr val="9FE0E6"/>
                </a:solidFill>
                <a:latin typeface="Noto Sans KR" pitchFamily="34" charset="0"/>
                <a:ea typeface="Noto Sans KR" pitchFamily="34" charset="-122"/>
                <a:cs typeface="Noto Sans KR" pitchFamily="34" charset="-120"/>
              </a:rPr>
              <a:t>수출  </a:t>
            </a:r>
            <a:pPr algn="l" indent="0" marL="0">
              <a:lnSpc>
                <a:spcPct val="92000"/>
              </a:lnSpc>
              <a:spcAft>
                <a:spcPts val="300"/>
              </a:spcAft>
              <a:buNone/>
            </a:pPr>
            <a:r>
              <a:rPr lang="en-US" sz="850" dirty="0">
                <a:solidFill>
                  <a:srgbClr val="FFFFFF"/>
                </a:solidFill>
                <a:latin typeface="Noto Sans KR" pitchFamily="34" charset="0"/>
                <a:ea typeface="Noto Sans KR" pitchFamily="34" charset="-122"/>
                <a:cs typeface="Noto Sans KR" pitchFamily="34" charset="-120"/>
              </a:rPr>
              <a:t>아시아 바이어가 다음 시즌 고프코어를 서울에서 사 가고, K-고프코어가 하나의 수출 카테고리로 자리 잡는다.</a:t>
            </a:r>
            <a:endParaRPr lang="en-US" sz="850" dirty="0"/>
          </a:p>
          <a:p>
            <a:pPr algn="l" indent="0" marL="0">
              <a:lnSpc>
                <a:spcPct val="92000"/>
              </a:lnSpc>
              <a:spcAft>
                <a:spcPts val="300"/>
              </a:spcAft>
              <a:buNone/>
            </a:pPr>
            <a:r>
              <a:rPr lang="en-US" sz="850" b="1" dirty="0">
                <a:solidFill>
                  <a:srgbClr val="9FE0E6"/>
                </a:solidFill>
                <a:latin typeface="Noto Sans KR" pitchFamily="34" charset="0"/>
                <a:ea typeface="Noto Sans KR" pitchFamily="34" charset="-122"/>
                <a:cs typeface="Noto Sans KR" pitchFamily="34" charset="-120"/>
              </a:rPr>
              <a:t>공급망  </a:t>
            </a:r>
            <a:pPr algn="l" indent="0" marL="0">
              <a:lnSpc>
                <a:spcPct val="92000"/>
              </a:lnSpc>
              <a:spcAft>
                <a:spcPts val="300"/>
              </a:spcAft>
              <a:buNone/>
            </a:pPr>
            <a:r>
              <a:rPr lang="en-US" sz="850" dirty="0">
                <a:solidFill>
                  <a:srgbClr val="FFFFFF"/>
                </a:solidFill>
                <a:latin typeface="Noto Sans KR" pitchFamily="34" charset="0"/>
                <a:ea typeface="Noto Sans KR" pitchFamily="34" charset="-122"/>
                <a:cs typeface="Noto Sans KR" pitchFamily="34" charset="-120"/>
              </a:rPr>
              <a:t>국내 소재·제조사의 매출원이 해외 하청에서 국내 브랜드와의 파트너십으로 넓어진다.</a:t>
            </a:r>
            <a:endParaRPr lang="en-US" sz="850" dirty="0"/>
          </a:p>
        </p:txBody>
      </p:sp>
      <p:sp>
        <p:nvSpPr>
          <p:cNvPr id="19" name="라벨"/>
          <p:cNvSpPr txBox="1"/>
          <p:nvPr/>
        </p:nvSpPr>
        <p:spPr>
          <a:xfrm>
            <a:off x="612648" y="4169664"/>
            <a:ext cx="1417320" cy="475488"/>
          </a:xfrm>
          <a:prstGeom prst="rect">
            <a:avLst/>
          </a:prstGeom>
          <a:noFill/>
          <a:ln/>
        </p:spPr>
        <p:txBody>
          <a:bodyPr wrap="square" lIns="0" tIns="0" rIns="0" bIns="0" rtlCol="0" anchor="t"/>
          <a:lstStyle/>
          <a:p>
            <a:pPr algn="l" indent="0" marL="0">
              <a:lnSpc>
                <a:spcPct val="100000"/>
              </a:lnSpc>
              <a:buNone/>
            </a:pPr>
            <a:r>
              <a:rPr lang="en-US" sz="1200" b="1" dirty="0">
                <a:solidFill>
                  <a:srgbClr val="182F48"/>
                </a:solidFill>
                <a:latin typeface="Noto Sans KR" pitchFamily="34" charset="0"/>
                <a:ea typeface="Noto Sans KR" pitchFamily="34" charset="-122"/>
                <a:cs typeface="Noto Sans KR" pitchFamily="34" charset="-120"/>
              </a:rPr>
              <a:t>기획 배경과의</a:t>
            </a:r>
            <a:endParaRPr lang="en-US" sz="1200" dirty="0"/>
          </a:p>
          <a:p>
            <a:pPr algn="l" indent="0" marL="0">
              <a:lnSpc>
                <a:spcPct val="100000"/>
              </a:lnSpc>
              <a:buNone/>
            </a:pPr>
            <a:r>
              <a:rPr lang="en-US" sz="1200" b="1" dirty="0">
                <a:solidFill>
                  <a:srgbClr val="182F48"/>
                </a:solidFill>
                <a:latin typeface="Noto Sans KR" pitchFamily="34" charset="0"/>
                <a:ea typeface="Noto Sans KR" pitchFamily="34" charset="-122"/>
                <a:cs typeface="Noto Sans KR" pitchFamily="34" charset="-120"/>
              </a:rPr>
              <a:t>연결</a:t>
            </a:r>
            <a:endParaRPr lang="en-US" sz="1200" dirty="0"/>
          </a:p>
        </p:txBody>
      </p:sp>
      <p:sp>
        <p:nvSpPr>
          <p:cNvPr id="20" name="라벨 안내"/>
          <p:cNvSpPr txBox="1"/>
          <p:nvPr/>
        </p:nvSpPr>
        <p:spPr>
          <a:xfrm>
            <a:off x="612648" y="4681728"/>
            <a:ext cx="1417320" cy="548640"/>
          </a:xfrm>
          <a:prstGeom prst="rect">
            <a:avLst/>
          </a:prstGeom>
          <a:noFill/>
          <a:ln/>
        </p:spPr>
        <p:txBody>
          <a:bodyPr wrap="square" lIns="0" tIns="0" rIns="0" bIns="0" rtlCol="0" anchor="t"/>
          <a:lstStyle/>
          <a:p>
            <a:pPr algn="l" indent="0" marL="0">
              <a:lnSpc>
                <a:spcPct val="92000"/>
              </a:lnSpc>
              <a:buNone/>
            </a:pPr>
            <a:r>
              <a:rPr lang="en-US" sz="800" dirty="0">
                <a:solidFill>
                  <a:srgbClr val="64748B"/>
                </a:solidFill>
                <a:latin typeface="Noto Sans KR" pitchFamily="34" charset="0"/>
                <a:ea typeface="Noto Sans KR" pitchFamily="34" charset="-122"/>
                <a:cs typeface="Noto Sans KR" pitchFamily="34" charset="-120"/>
              </a:rPr>
              <a:t>앞 장의 문제와</a:t>
            </a:r>
            <a:endParaRPr lang="en-US" sz="800" dirty="0"/>
          </a:p>
          <a:p>
            <a:pPr algn="l" indent="0" marL="0">
              <a:lnSpc>
                <a:spcPct val="92000"/>
              </a:lnSpc>
              <a:buNone/>
            </a:pPr>
            <a:r>
              <a:rPr lang="en-US" sz="800" dirty="0">
                <a:solidFill>
                  <a:srgbClr val="64748B"/>
                </a:solidFill>
                <a:latin typeface="Noto Sans KR" pitchFamily="34" charset="0"/>
                <a:ea typeface="Noto Sans KR" pitchFamily="34" charset="-122"/>
                <a:cs typeface="Noto Sans KR" pitchFamily="34" charset="-120"/>
              </a:rPr>
              <a:t>어떻게 이어지나요?</a:t>
            </a:r>
            <a:endParaRPr lang="en-US" sz="800" dirty="0"/>
          </a:p>
        </p:txBody>
      </p:sp>
      <p:sp>
        <p:nvSpPr>
          <p:cNvPr id="21" name="연결 서술"/>
          <p:cNvSpPr txBox="1"/>
          <p:nvPr/>
        </p:nvSpPr>
        <p:spPr>
          <a:xfrm>
            <a:off x="2121408" y="4133088"/>
            <a:ext cx="9454896" cy="457200"/>
          </a:xfrm>
          <a:prstGeom prst="rect">
            <a:avLst/>
          </a:prstGeom>
          <a:noFill/>
          <a:ln/>
        </p:spPr>
        <p:txBody>
          <a:bodyPr wrap="square" lIns="0" tIns="0" rIns="0" bIns="0" rtlCol="0" anchor="t"/>
          <a:lstStyle/>
          <a:p>
            <a:pPr algn="l" indent="0" marL="0">
              <a:lnSpc>
                <a:spcPct val="92000"/>
              </a:lnSpc>
              <a:buNone/>
            </a:pPr>
            <a:r>
              <a:rPr lang="en-US" sz="850" b="1" dirty="0">
                <a:solidFill>
                  <a:srgbClr val="182F48"/>
                </a:solidFill>
                <a:latin typeface="Noto Sans KR" pitchFamily="34" charset="0"/>
                <a:ea typeface="Noto Sans KR" pitchFamily="34" charset="-122"/>
                <a:cs typeface="Noto Sans KR" pitchFamily="34" charset="-120"/>
              </a:rPr>
              <a:t>1장의 문제는 고프코어 수요가 커질수록, 그 과실이 세 병목 때문에 한국 브랜드가 아닌 해외 IP로 새는 구조라는 것이다.</a:t>
            </a:r>
            <a:endParaRPr lang="en-US" sz="850" dirty="0"/>
          </a:p>
          <a:p>
            <a:pPr algn="l" indent="0" marL="0">
              <a:lnSpc>
                <a:spcPct val="92000"/>
              </a:lnSpc>
              <a:buNone/>
            </a:pPr>
            <a:r>
              <a:rPr lang="en-US" sz="850" b="1" dirty="0">
                <a:solidFill>
                  <a:srgbClr val="182F48"/>
                </a:solidFill>
                <a:latin typeface="Noto Sans KR" pitchFamily="34" charset="0"/>
                <a:ea typeface="Noto Sans KR" pitchFamily="34" charset="-122"/>
                <a:cs typeface="Noto Sans KR" pitchFamily="34" charset="-120"/>
              </a:rPr>
              <a:t>미션은 세 병목이 만나는 소재·제조, 국내 유통, 해외 바이어를 한 장소·한 시기에 모아 거래로 바꾸는 것이다.</a:t>
            </a:r>
            <a:endParaRPr lang="en-US" sz="850" dirty="0"/>
          </a:p>
          <a:p>
            <a:pPr algn="l" indent="0" marL="0">
              <a:lnSpc>
                <a:spcPct val="92000"/>
              </a:lnSpc>
              <a:buNone/>
            </a:pPr>
            <a:r>
              <a:rPr lang="en-US" sz="850" b="1" dirty="0">
                <a:solidFill>
                  <a:srgbClr val="182F48"/>
                </a:solidFill>
                <a:latin typeface="Noto Sans KR" pitchFamily="34" charset="0"/>
                <a:ea typeface="Noto Sans KR" pitchFamily="34" charset="-122"/>
                <a:cs typeface="Noto Sans KR" pitchFamily="34" charset="-120"/>
              </a:rPr>
              <a:t>이 연결이 해마다 반복되면 '코오롱스포츠-안타' 같은 파트너십이 여러 K-브랜드에서 나오고, 한국은 생산 기지에서 브랜드 발신지가 된다(비전).</a:t>
            </a:r>
            <a:endParaRPr lang="en-US" sz="850" dirty="0"/>
          </a:p>
        </p:txBody>
      </p:sp>
      <p:graphicFrame>
        <p:nvGraphicFramePr>
          <p:cNvPr id="3" name="연결표"/>
          <p:cNvGraphicFramePr>
            <a:graphicFrameLocks noGrp="1"/>
          </p:cNvGraphicFramePr>
          <p:nvPr>
            <p:extLst>
              <p:ext uri="{D42A27DB-BD31-4B8C-83A1-F6EECF244321}">
                <p14:modId xmlns:p14="http://schemas.microsoft.com/office/powerpoint/2010/main" val="1579011935"/>
              </p:ext>
            </p:extLst>
          </p:nvPr>
        </p:nvGraphicFramePr>
        <p:xfrm>
          <a:off x="2121408" y="4663440"/>
          <a:ext cx="9454896" cy="914400"/>
        </p:xfrm>
        <a:graphic>
          <a:graphicData uri="http://schemas.openxmlformats.org/drawingml/2006/table">
            <a:tbl>
              <a:tblPr/>
              <a:tblGrid>
                <a:gridCol w="2971800"/>
                <a:gridCol w="3017520"/>
                <a:gridCol w="3465576"/>
              </a:tblGrid>
              <a:tr h="182880">
                <a:tc>
                  <a:txBody>
                    <a:bodyPr/>
                    <a:lstStyle/>
                    <a:p>
                      <a:pPr algn="l" indent="0" marL="0">
                        <a:buNone/>
                      </a:pPr>
                      <a:r>
                        <a:rPr lang="en-US" sz="750" b="1" dirty="0">
                          <a:solidFill>
                            <a:srgbClr val="FFFFFF"/>
                          </a:solidFill>
                          <a:latin typeface="Noto Sans KR" pitchFamily="34" charset="0"/>
                          <a:ea typeface="Noto Sans KR" pitchFamily="34" charset="-122"/>
                          <a:cs typeface="Noto Sans KR" pitchFamily="34" charset="-120"/>
                        </a:rPr>
                        <a:t>앞 장의 문제 (병목)</a:t>
                      </a:r>
                      <a:endParaRPr lang="en-US" sz="750" dirty="0">
                        <a:latin typeface="Noto Sans KR" charset="0"/>
                        <a:ea typeface="Noto Sans KR" charset="0"/>
                        <a:cs typeface="Noto Sans KR" charset="0"/>
                      </a:endParaRPr>
                    </a:p>
                  </a:txBody>
                  <a:tcPr marL="63500" marR="635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82F48"/>
                    </a:solidFill>
                  </a:tcPr>
                </a:tc>
                <a:tc>
                  <a:txBody>
                    <a:bodyPr/>
                    <a:lstStyle/>
                    <a:p>
                      <a:pPr algn="l" indent="0" marL="0">
                        <a:buNone/>
                      </a:pPr>
                      <a:r>
                        <a:rPr lang="en-US" sz="750" b="1" dirty="0">
                          <a:solidFill>
                            <a:srgbClr val="FFFFFF"/>
                          </a:solidFill>
                          <a:latin typeface="Noto Sans KR" pitchFamily="34" charset="0"/>
                          <a:ea typeface="Noto Sans KR" pitchFamily="34" charset="-122"/>
                          <a:cs typeface="Noto Sans KR" pitchFamily="34" charset="-120"/>
                        </a:rPr>
                        <a:t>미션이 푸는 방식 (전시 장치)</a:t>
                      </a:r>
                      <a:endParaRPr lang="en-US" sz="750" dirty="0">
                        <a:latin typeface="Noto Sans KR" charset="0"/>
                        <a:ea typeface="Noto Sans KR" charset="0"/>
                        <a:cs typeface="Noto Sans KR" charset="0"/>
                      </a:endParaRPr>
                    </a:p>
                  </a:txBody>
                  <a:tcPr marL="63500" marR="635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82F48"/>
                    </a:solidFill>
                  </a:tcPr>
                </a:tc>
                <a:tc>
                  <a:txBody>
                    <a:bodyPr/>
                    <a:lstStyle/>
                    <a:p>
                      <a:pPr algn="l" indent="0" marL="0">
                        <a:buNone/>
                      </a:pPr>
                      <a:r>
                        <a:rPr lang="en-US" sz="750" b="1" dirty="0">
                          <a:solidFill>
                            <a:srgbClr val="FFFFFF"/>
                          </a:solidFill>
                          <a:latin typeface="Noto Sans KR" pitchFamily="34" charset="0"/>
                          <a:ea typeface="Noto Sans KR" pitchFamily="34" charset="-122"/>
                          <a:cs typeface="Noto Sans KR" pitchFamily="34" charset="-120"/>
                        </a:rPr>
                        <a:t>비전으로 이어지는 변화</a:t>
                      </a:r>
                      <a:endParaRPr lang="en-US" sz="750" dirty="0">
                        <a:latin typeface="Noto Sans KR" charset="0"/>
                        <a:ea typeface="Noto Sans KR" charset="0"/>
                        <a:cs typeface="Noto Sans KR" charset="0"/>
                      </a:endParaRPr>
                    </a:p>
                  </a:txBody>
                  <a:tcPr marL="63500" marR="635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82F48"/>
                    </a:solidFill>
                  </a:tcPr>
                </a:tc>
              </a:tr>
              <a:tr h="297464">
                <a:tc>
                  <a:txBody>
                    <a:bodyPr/>
                    <a:lstStyle/>
                    <a:p>
                      <a:pPr algn="l" indent="0" marL="0">
                        <a:buNone/>
                      </a:pPr>
                      <a:r>
                        <a:rPr lang="en-US" sz="750" b="1" dirty="0">
                          <a:solidFill>
                            <a:srgbClr val="182F48"/>
                          </a:solidFill>
                          <a:latin typeface="Noto Sans KR" pitchFamily="34" charset="0"/>
                          <a:ea typeface="Noto Sans KR" pitchFamily="34" charset="-122"/>
                          <a:cs typeface="Noto Sans KR" pitchFamily="34" charset="-120"/>
                        </a:rPr>
                        <a:t>① 소재·제조 ↔ 브랜드 단절</a:t>
                      </a:r>
                      <a:endParaRPr lang="en-US" sz="750" dirty="0">
                        <a:latin typeface="Noto Sans KR" charset="0"/>
                        <a:ea typeface="Noto Sans KR" charset="0"/>
                        <a:cs typeface="Noto Sans KR" charset="0"/>
                      </a:endParaRPr>
                    </a:p>
                    <a:p>
                      <a:pPr algn="l" indent="0" marL="0">
                        <a:buNone/>
                      </a:pPr>
                      <a:r>
                        <a:rPr lang="en-US" sz="750" dirty="0">
                          <a:solidFill>
                            <a:srgbClr val="334155"/>
                          </a:solidFill>
                          <a:latin typeface="Noto Sans KR" pitchFamily="34" charset="0"/>
                          <a:ea typeface="Noto Sans KR" pitchFamily="34" charset="-122"/>
                          <a:cs typeface="Noto Sans KR" pitchFamily="34" charset="-120"/>
                        </a:rPr>
                        <a:t>원단 최소주문량 · 심실링 공정 · PFAS 전환</a:t>
                      </a:r>
                      <a:endParaRPr lang="en-US" sz="750" dirty="0">
                        <a:latin typeface="Noto Sans KR" charset="0"/>
                        <a:ea typeface="Noto Sans KR" charset="0"/>
                        <a:cs typeface="Noto Sans KR" charset="0"/>
                      </a:endParaRPr>
                    </a:p>
                  </a:txBody>
                  <a:tcPr marL="63500" marR="635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750" b="1" dirty="0">
                          <a:solidFill>
                            <a:srgbClr val="182F48"/>
                          </a:solidFill>
                          <a:latin typeface="Noto Sans KR" pitchFamily="34" charset="0"/>
                          <a:ea typeface="Noto Sans KR" pitchFamily="34" charset="-122"/>
                          <a:cs typeface="Noto Sans KR" pitchFamily="34" charset="-120"/>
                        </a:rPr>
                        <a:t>소재관 · 제조관 사전 매칭</a:t>
                      </a:r>
                      <a:endParaRPr lang="en-US" sz="750" dirty="0">
                        <a:latin typeface="Noto Sans KR" charset="0"/>
                        <a:ea typeface="Noto Sans KR" charset="0"/>
                        <a:cs typeface="Noto Sans KR" charset="0"/>
                      </a:endParaRPr>
                    </a:p>
                    <a:p>
                      <a:pPr algn="l" indent="0" marL="0">
                        <a:buNone/>
                      </a:pPr>
                      <a:r>
                        <a:rPr lang="en-US" sz="750" dirty="0">
                          <a:solidFill>
                            <a:srgbClr val="334155"/>
                          </a:solidFill>
                          <a:latin typeface="Noto Sans KR" pitchFamily="34" charset="0"/>
                          <a:ea typeface="Noto Sans KR" pitchFamily="34" charset="-122"/>
                          <a:cs typeface="Noto Sans KR" pitchFamily="34" charset="-120"/>
                        </a:rPr>
                        <a:t>소량 생산처와 PFAS-free 소재를 한 번에</a:t>
                      </a:r>
                      <a:endParaRPr lang="en-US" sz="750" dirty="0">
                        <a:latin typeface="Noto Sans KR" charset="0"/>
                        <a:ea typeface="Noto Sans KR" charset="0"/>
                        <a:cs typeface="Noto Sans KR" charset="0"/>
                      </a:endParaRPr>
                    </a:p>
                  </a:txBody>
                  <a:tcPr marL="63500" marR="635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750" b="1" dirty="0">
                          <a:solidFill>
                            <a:srgbClr val="182F48"/>
                          </a:solidFill>
                          <a:latin typeface="Noto Sans KR" pitchFamily="34" charset="0"/>
                          <a:ea typeface="Noto Sans KR" pitchFamily="34" charset="-122"/>
                          <a:cs typeface="Noto Sans KR" pitchFamily="34" charset="-120"/>
                        </a:rPr>
                        <a:t>국내 공급망과 K-브랜드의 파트너십 상시화</a:t>
                      </a:r>
                      <a:endParaRPr lang="en-US" sz="750" dirty="0">
                        <a:latin typeface="Noto Sans KR" charset="0"/>
                        <a:ea typeface="Noto Sans KR" charset="0"/>
                        <a:cs typeface="Noto Sans KR" charset="0"/>
                      </a:endParaRPr>
                    </a:p>
                    <a:p>
                      <a:pPr algn="l" indent="0" marL="0">
                        <a:buNone/>
                      </a:pPr>
                      <a:r>
                        <a:rPr lang="en-US" sz="750" dirty="0">
                          <a:solidFill>
                            <a:srgbClr val="334155"/>
                          </a:solidFill>
                          <a:latin typeface="Noto Sans KR" pitchFamily="34" charset="0"/>
                          <a:ea typeface="Noto Sans KR" pitchFamily="34" charset="-122"/>
                          <a:cs typeface="Noto Sans KR" pitchFamily="34" charset="-120"/>
                        </a:rPr>
                        <a:t>소재·제조사 매출원이 국내 브랜드로 확장</a:t>
                      </a:r>
                      <a:endParaRPr lang="en-US" sz="750" dirty="0">
                        <a:latin typeface="Noto Sans KR" charset="0"/>
                        <a:ea typeface="Noto Sans KR" charset="0"/>
                        <a:cs typeface="Noto Sans KR" charset="0"/>
                      </a:endParaRPr>
                    </a:p>
                  </a:txBody>
                  <a:tcPr marL="63500" marR="635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297464">
                <a:tc>
                  <a:txBody>
                    <a:bodyPr/>
                    <a:lstStyle/>
                    <a:p>
                      <a:pPr algn="l" indent="0" marL="0">
                        <a:buNone/>
                      </a:pPr>
                      <a:r>
                        <a:rPr lang="en-US" sz="750" b="1" dirty="0">
                          <a:solidFill>
                            <a:srgbClr val="182F48"/>
                          </a:solidFill>
                          <a:latin typeface="Noto Sans KR" pitchFamily="34" charset="0"/>
                          <a:ea typeface="Noto Sans KR" pitchFamily="34" charset="-122"/>
                          <a:cs typeface="Noto Sans KR" pitchFamily="34" charset="-120"/>
                        </a:rPr>
                        <a:t>② 고비용 국내 유통</a:t>
                      </a:r>
                      <a:endParaRPr lang="en-US" sz="750" dirty="0">
                        <a:latin typeface="Noto Sans KR" charset="0"/>
                        <a:ea typeface="Noto Sans KR" charset="0"/>
                        <a:cs typeface="Noto Sans KR" charset="0"/>
                      </a:endParaRPr>
                    </a:p>
                    <a:p>
                      <a:pPr algn="l" indent="0" marL="0">
                        <a:buNone/>
                      </a:pPr>
                      <a:r>
                        <a:rPr lang="en-US" sz="750" dirty="0">
                          <a:solidFill>
                            <a:srgbClr val="334155"/>
                          </a:solidFill>
                          <a:latin typeface="Noto Sans KR" pitchFamily="34" charset="0"/>
                          <a:ea typeface="Noto Sans KR" pitchFamily="34" charset="-122"/>
                          <a:cs typeface="Noto Sans KR" pitchFamily="34" charset="-120"/>
                        </a:rPr>
                        <a:t>무신사 수수료 27.8% · 백화점 특약매입 59.9%</a:t>
                      </a:r>
                      <a:endParaRPr lang="en-US" sz="750" dirty="0">
                        <a:latin typeface="Noto Sans KR" charset="0"/>
                        <a:ea typeface="Noto Sans KR" charset="0"/>
                        <a:cs typeface="Noto Sans KR" charset="0"/>
                      </a:endParaRPr>
                    </a:p>
                  </a:txBody>
                  <a:tcPr marL="63500" marR="635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750" b="1" dirty="0">
                          <a:solidFill>
                            <a:srgbClr val="182F48"/>
                          </a:solidFill>
                          <a:latin typeface="Noto Sans KR" pitchFamily="34" charset="0"/>
                          <a:ea typeface="Noto Sans KR" pitchFamily="34" charset="-122"/>
                          <a:cs typeface="Noto Sans KR" pitchFamily="34" charset="-120"/>
                        </a:rPr>
                        <a:t>트레이드 데이 · 국내 세션</a:t>
                      </a:r>
                      <a:endParaRPr lang="en-US" sz="750" dirty="0">
                        <a:latin typeface="Noto Sans KR" charset="0"/>
                        <a:ea typeface="Noto Sans KR" charset="0"/>
                        <a:cs typeface="Noto Sans KR" charset="0"/>
                      </a:endParaRPr>
                    </a:p>
                    <a:p>
                      <a:pPr algn="l" indent="0" marL="0">
                        <a:buNone/>
                      </a:pPr>
                      <a:r>
                        <a:rPr lang="en-US" sz="750" dirty="0">
                          <a:solidFill>
                            <a:srgbClr val="334155"/>
                          </a:solidFill>
                          <a:latin typeface="Noto Sans KR" pitchFamily="34" charset="0"/>
                          <a:ea typeface="Noto Sans KR" pitchFamily="34" charset="-122"/>
                          <a:cs typeface="Noto Sans KR" pitchFamily="34" charset="-120"/>
                        </a:rPr>
                        <a:t>플랫폼 · 백화점 · 편집숍 바이어와 직거래</a:t>
                      </a:r>
                      <a:endParaRPr lang="en-US" sz="750" dirty="0">
                        <a:latin typeface="Noto Sans KR" charset="0"/>
                        <a:ea typeface="Noto Sans KR" charset="0"/>
                        <a:cs typeface="Noto Sans KR" charset="0"/>
                      </a:endParaRPr>
                    </a:p>
                  </a:txBody>
                  <a:tcPr marL="63500" marR="635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750" b="1" dirty="0">
                          <a:solidFill>
                            <a:srgbClr val="182F48"/>
                          </a:solidFill>
                          <a:latin typeface="Noto Sans KR" pitchFamily="34" charset="0"/>
                          <a:ea typeface="Noto Sans KR" pitchFamily="34" charset="-122"/>
                          <a:cs typeface="Noto Sans KR" pitchFamily="34" charset="-120"/>
                        </a:rPr>
                        <a:t>수수료 의존에서 홀세일 판로로 다변화</a:t>
                      </a:r>
                      <a:endParaRPr lang="en-US" sz="750" dirty="0">
                        <a:latin typeface="Noto Sans KR" charset="0"/>
                        <a:ea typeface="Noto Sans KR" charset="0"/>
                        <a:cs typeface="Noto Sans KR" charset="0"/>
                      </a:endParaRPr>
                    </a:p>
                    <a:p>
                      <a:pPr algn="l" indent="0" marL="0">
                        <a:buNone/>
                      </a:pPr>
                      <a:r>
                        <a:rPr lang="en-US" sz="750" dirty="0">
                          <a:solidFill>
                            <a:srgbClr val="334155"/>
                          </a:solidFill>
                          <a:latin typeface="Noto Sans KR" pitchFamily="34" charset="0"/>
                          <a:ea typeface="Noto Sans KR" pitchFamily="34" charset="-122"/>
                          <a:cs typeface="Noto Sans KR" pitchFamily="34" charset="-120"/>
                        </a:rPr>
                        <a:t>브랜드가 가격 결정권을 되찾는다</a:t>
                      </a:r>
                      <a:endParaRPr lang="en-US" sz="750" dirty="0">
                        <a:latin typeface="Noto Sans KR" charset="0"/>
                        <a:ea typeface="Noto Sans KR" charset="0"/>
                        <a:cs typeface="Noto Sans KR" charset="0"/>
                      </a:endParaRPr>
                    </a:p>
                  </a:txBody>
                  <a:tcPr marL="63500" marR="635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297464">
                <a:tc>
                  <a:txBody>
                    <a:bodyPr/>
                    <a:lstStyle/>
                    <a:p>
                      <a:pPr algn="l" indent="0" marL="0">
                        <a:buNone/>
                      </a:pPr>
                      <a:r>
                        <a:rPr lang="en-US" sz="750" b="1" dirty="0">
                          <a:solidFill>
                            <a:srgbClr val="182F48"/>
                          </a:solidFill>
                          <a:latin typeface="Noto Sans KR" pitchFamily="34" charset="0"/>
                          <a:ea typeface="Noto Sans KR" pitchFamily="34" charset="-122"/>
                          <a:cs typeface="Noto Sans KR" pitchFamily="34" charset="-120"/>
                        </a:rPr>
                        <a:t>③ 해외 접점 부재</a:t>
                      </a:r>
                      <a:endParaRPr lang="en-US" sz="750" dirty="0">
                        <a:latin typeface="Noto Sans KR" charset="0"/>
                        <a:ea typeface="Noto Sans KR" charset="0"/>
                        <a:cs typeface="Noto Sans KR" charset="0"/>
                      </a:endParaRPr>
                    </a:p>
                    <a:p>
                      <a:pPr algn="l" indent="0" marL="0">
                        <a:buNone/>
                      </a:pPr>
                      <a:r>
                        <a:rPr lang="en-US" sz="750" dirty="0">
                          <a:solidFill>
                            <a:srgbClr val="334155"/>
                          </a:solidFill>
                          <a:latin typeface="Noto Sans KR" pitchFamily="34" charset="0"/>
                          <a:ea typeface="Noto Sans KR" pitchFamily="34" charset="-122"/>
                          <a:cs typeface="Noto Sans KR" pitchFamily="34" charset="-120"/>
                        </a:rPr>
                        <a:t>수출 이력이 없으면 바이어 접근이 어렵다</a:t>
                      </a:r>
                      <a:endParaRPr lang="en-US" sz="750" dirty="0">
                        <a:latin typeface="Noto Sans KR" charset="0"/>
                        <a:ea typeface="Noto Sans KR" charset="0"/>
                        <a:cs typeface="Noto Sans KR" charset="0"/>
                      </a:endParaRPr>
                    </a:p>
                  </a:txBody>
                  <a:tcPr marL="63500" marR="635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750" b="1" dirty="0">
                          <a:solidFill>
                            <a:srgbClr val="182F48"/>
                          </a:solidFill>
                          <a:latin typeface="Noto Sans KR" pitchFamily="34" charset="0"/>
                          <a:ea typeface="Noto Sans KR" pitchFamily="34" charset="-122"/>
                          <a:cs typeface="Noto Sans KR" pitchFamily="34" charset="-120"/>
                        </a:rPr>
                        <a:t>트레이드 데이 · 해외 세션</a:t>
                      </a:r>
                      <a:endParaRPr lang="en-US" sz="750" dirty="0">
                        <a:latin typeface="Noto Sans KR" charset="0"/>
                        <a:ea typeface="Noto Sans KR" charset="0"/>
                        <a:cs typeface="Noto Sans KR" charset="0"/>
                      </a:endParaRPr>
                    </a:p>
                    <a:p>
                      <a:pPr algn="l" indent="0" marL="0">
                        <a:buNone/>
                      </a:pPr>
                      <a:r>
                        <a:rPr lang="en-US" sz="750" dirty="0">
                          <a:solidFill>
                            <a:srgbClr val="334155"/>
                          </a:solidFill>
                          <a:latin typeface="Noto Sans KR" pitchFamily="34" charset="0"/>
                          <a:ea typeface="Noto Sans KR" pitchFamily="34" charset="-122"/>
                          <a:cs typeface="Noto Sans KR" pitchFamily="34" charset="-120"/>
                        </a:rPr>
                        <a:t>KOTRA 초청 바이어와 1:1 사전 매칭</a:t>
                      </a:r>
                      <a:endParaRPr lang="en-US" sz="750" dirty="0">
                        <a:latin typeface="Noto Sans KR" charset="0"/>
                        <a:ea typeface="Noto Sans KR" charset="0"/>
                        <a:cs typeface="Noto Sans KR" charset="0"/>
                      </a:endParaRPr>
                    </a:p>
                  </a:txBody>
                  <a:tcPr marL="63500" marR="635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750" b="1" dirty="0">
                          <a:solidFill>
                            <a:srgbClr val="182F48"/>
                          </a:solidFill>
                          <a:latin typeface="Noto Sans KR" pitchFamily="34" charset="0"/>
                          <a:ea typeface="Noto Sans KR" pitchFamily="34" charset="-122"/>
                          <a:cs typeface="Noto Sans KR" pitchFamily="34" charset="-120"/>
                        </a:rPr>
                        <a:t>'제2의 코오롱-안타'가 여러 브랜드에서</a:t>
                      </a:r>
                      <a:endParaRPr lang="en-US" sz="750" dirty="0">
                        <a:latin typeface="Noto Sans KR" charset="0"/>
                        <a:ea typeface="Noto Sans KR" charset="0"/>
                        <a:cs typeface="Noto Sans KR" charset="0"/>
                      </a:endParaRPr>
                    </a:p>
                    <a:p>
                      <a:pPr algn="l" indent="0" marL="0">
                        <a:buNone/>
                      </a:pPr>
                      <a:r>
                        <a:rPr lang="en-US" sz="750" dirty="0">
                          <a:solidFill>
                            <a:srgbClr val="334155"/>
                          </a:solidFill>
                          <a:latin typeface="Noto Sans KR" pitchFamily="34" charset="0"/>
                          <a:ea typeface="Noto Sans KR" pitchFamily="34" charset="-122"/>
                          <a:cs typeface="Noto Sans KR" pitchFamily="34" charset="-120"/>
                        </a:rPr>
                        <a:t>K-고프코어가 아시아 수출 카테고리로</a:t>
                      </a:r>
                      <a:endParaRPr lang="en-US" sz="750" dirty="0">
                        <a:latin typeface="Noto Sans KR" charset="0"/>
                        <a:ea typeface="Noto Sans KR" charset="0"/>
                        <a:cs typeface="Noto Sans KR" charset="0"/>
                      </a:endParaRPr>
                    </a:p>
                  </a:txBody>
                  <a:tcPr marL="63500" marR="635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297464">
                <a:tc>
                  <a:txBody>
                    <a:bodyPr/>
                    <a:lstStyle/>
                    <a:p>
                      <a:pPr algn="l" indent="0" marL="0">
                        <a:buNone/>
                      </a:pPr>
                      <a:r>
                        <a:rPr lang="en-US" sz="750" b="1" dirty="0">
                          <a:solidFill>
                            <a:srgbClr val="182F48"/>
                          </a:solidFill>
                          <a:latin typeface="Noto Sans KR" pitchFamily="34" charset="0"/>
                          <a:ea typeface="Noto Sans KR" pitchFamily="34" charset="-122"/>
                          <a:cs typeface="Noto Sans KR" pitchFamily="34" charset="-120"/>
                        </a:rPr>
                        <a:t>＋ 기능 가치 전달</a:t>
                      </a:r>
                      <a:endParaRPr lang="en-US" sz="750" dirty="0">
                        <a:latin typeface="Noto Sans KR" charset="0"/>
                        <a:ea typeface="Noto Sans KR" charset="0"/>
                        <a:cs typeface="Noto Sans KR" charset="0"/>
                      </a:endParaRPr>
                    </a:p>
                    <a:p>
                      <a:pPr algn="l" indent="0" marL="0">
                        <a:buNone/>
                      </a:pPr>
                      <a:r>
                        <a:rPr lang="en-US" sz="750" dirty="0">
                          <a:solidFill>
                            <a:srgbClr val="334155"/>
                          </a:solidFill>
                          <a:latin typeface="Noto Sans KR" pitchFamily="34" charset="0"/>
                          <a:ea typeface="Noto Sans KR" pitchFamily="34" charset="-122"/>
                          <a:cs typeface="Noto Sans KR" pitchFamily="34" charset="-120"/>
                        </a:rPr>
                        <a:t>고가 기능을 깊게 들어줄 고객 접점 부족</a:t>
                      </a:r>
                      <a:endParaRPr lang="en-US" sz="750" dirty="0">
                        <a:latin typeface="Noto Sans KR" charset="0"/>
                        <a:ea typeface="Noto Sans KR" charset="0"/>
                        <a:cs typeface="Noto Sans KR" charset="0"/>
                      </a:endParaRPr>
                    </a:p>
                  </a:txBody>
                  <a:tcPr marL="63500" marR="635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750" b="1" dirty="0">
                          <a:solidFill>
                            <a:srgbClr val="182F48"/>
                          </a:solidFill>
                          <a:latin typeface="Noto Sans KR" pitchFamily="34" charset="0"/>
                          <a:ea typeface="Noto Sans KR" pitchFamily="34" charset="-122"/>
                          <a:cs typeface="Noto Sans KR" pitchFamily="34" charset="-120"/>
                        </a:rPr>
                        <a:t>퍼블릭 랩 데이</a:t>
                      </a:r>
                      <a:endParaRPr lang="en-US" sz="750" dirty="0">
                        <a:latin typeface="Noto Sans KR" charset="0"/>
                        <a:ea typeface="Noto Sans KR" charset="0"/>
                        <a:cs typeface="Noto Sans KR" charset="0"/>
                      </a:endParaRPr>
                    </a:p>
                    <a:p>
                      <a:pPr algn="l" indent="0" marL="0">
                        <a:buNone/>
                      </a:pPr>
                      <a:r>
                        <a:rPr lang="en-US" sz="750" dirty="0">
                          <a:solidFill>
                            <a:srgbClr val="334155"/>
                          </a:solidFill>
                          <a:latin typeface="Noto Sans KR" pitchFamily="34" charset="0"/>
                          <a:ea typeface="Noto Sans KR" pitchFamily="34" charset="-122"/>
                          <a:cs typeface="Noto Sans KR" pitchFamily="34" charset="-120"/>
                        </a:rPr>
                        <a:t>방수 샤워부스 · 얼음 바닥 Test Lab</a:t>
                      </a:r>
                      <a:endParaRPr lang="en-US" sz="750" dirty="0">
                        <a:latin typeface="Noto Sans KR" charset="0"/>
                        <a:ea typeface="Noto Sans KR" charset="0"/>
                        <a:cs typeface="Noto Sans KR" charset="0"/>
                      </a:endParaRPr>
                    </a:p>
                  </a:txBody>
                  <a:tcPr marL="63500" marR="635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750" b="1" dirty="0">
                          <a:solidFill>
                            <a:srgbClr val="182F48"/>
                          </a:solidFill>
                          <a:latin typeface="Noto Sans KR" pitchFamily="34" charset="0"/>
                          <a:ea typeface="Noto Sans KR" pitchFamily="34" charset="-122"/>
                          <a:cs typeface="Noto Sans KR" pitchFamily="34" charset="-120"/>
                        </a:rPr>
                        <a:t>기능의 가치가 가격으로 인정받는 시장</a:t>
                      </a:r>
                      <a:endParaRPr lang="en-US" sz="750" dirty="0">
                        <a:latin typeface="Noto Sans KR" charset="0"/>
                        <a:ea typeface="Noto Sans KR" charset="0"/>
                        <a:cs typeface="Noto Sans KR" charset="0"/>
                      </a:endParaRPr>
                    </a:p>
                    <a:p>
                      <a:pPr algn="l" indent="0" marL="0">
                        <a:buNone/>
                      </a:pPr>
                      <a:r>
                        <a:rPr lang="en-US" sz="750" dirty="0">
                          <a:solidFill>
                            <a:srgbClr val="334155"/>
                          </a:solidFill>
                          <a:latin typeface="Noto Sans KR" pitchFamily="34" charset="0"/>
                          <a:ea typeface="Noto Sans KR" pitchFamily="34" charset="-122"/>
                          <a:cs typeface="Noto Sans KR" pitchFamily="34" charset="-120"/>
                        </a:rPr>
                        <a:t>소비자 신뢰가 브랜드 자산으로 쌓인다</a:t>
                      </a:r>
                      <a:endParaRPr lang="en-US" sz="750" dirty="0">
                        <a:latin typeface="Noto Sans KR" charset="0"/>
                        <a:ea typeface="Noto Sans KR" charset="0"/>
                        <a:cs typeface="Noto Sans KR" charset="0"/>
                      </a:endParaRPr>
                    </a:p>
                  </a:txBody>
                  <a:tcPr marL="63500" marR="635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과제 표기"/>
          <p:cNvSpPr txBox="1"/>
          <p:nvPr/>
        </p:nvSpPr>
        <p:spPr>
          <a:xfrm>
            <a:off x="612648" y="274320"/>
            <a:ext cx="5486400" cy="237744"/>
          </a:xfrm>
          <a:prstGeom prst="rect">
            <a:avLst/>
          </a:prstGeom>
          <a:noFill/>
          <a:ln/>
        </p:spPr>
        <p:txBody>
          <a:bodyPr wrap="square" lIns="0" tIns="0" rIns="0" bIns="0" rtlCol="0" anchor="t"/>
          <a:lstStyle/>
          <a:p>
            <a:pPr algn="l" indent="0" marL="0">
              <a:lnSpc>
                <a:spcPct val="92000"/>
              </a:lnSpc>
              <a:buNone/>
            </a:pPr>
            <a:r>
              <a:rPr lang="en-US" sz="1100" dirty="0">
                <a:solidFill>
                  <a:srgbClr val="64748B"/>
                </a:solidFill>
                <a:latin typeface="Noto Sans KR" pitchFamily="34" charset="0"/>
                <a:ea typeface="Noto Sans KR" pitchFamily="34" charset="-122"/>
                <a:cs typeface="Noto Sans KR" pitchFamily="34" charset="-120"/>
              </a:rPr>
              <a:t>전시산업론 중간고사 개인 과제   3/6</a:t>
            </a:r>
            <a:endParaRPr lang="en-US" sz="1100" dirty="0"/>
          </a:p>
        </p:txBody>
      </p:sp>
      <p:sp>
        <p:nvSpPr>
          <p:cNvPr id="3" name="Text 1"/>
          <p:cNvSpPr/>
          <p:nvPr>
            <p:ph idx="101" type="title" hasCustomPrompt="1"/>
          </p:nvPr>
        </p:nvSpPr>
        <p:spPr>
          <a:xfrm>
            <a:off x="612648" y="548640"/>
            <a:ext cx="10963656" cy="512064"/>
          </a:xfrm>
          <a:prstGeom prst="rect">
            <a:avLst/>
          </a:prstGeom>
          <a:noFill/>
          <a:ln/>
        </p:spPr>
        <p:txBody>
          <a:bodyPr wrap="square" lIns="0" tIns="0" rIns="0" bIns="0" rtlCol="0" anchor="ctr"/>
          <a:lstStyle/>
          <a:p>
            <a:pPr algn="l" indent="0" marL="0">
              <a:buNone/>
            </a:pPr>
            <a:r>
              <a:rPr lang="en-US" sz="3000" b="1" dirty="0">
                <a:solidFill>
                  <a:srgbClr val="182F48"/>
                </a:solidFill>
                <a:latin typeface="Noto Sans KR" pitchFamily="34" charset="0"/>
                <a:ea typeface="Noto Sans KR" pitchFamily="34" charset="-122"/>
                <a:cs typeface="Noto Sans KR" pitchFamily="34" charset="-120"/>
              </a:rPr>
              <a:t>개최 목표 (Objective)</a:t>
            </a:r>
            <a:endParaRPr lang="en-US" sz="3000" dirty="0"/>
          </a:p>
        </p:txBody>
      </p:sp>
      <p:sp>
        <p:nvSpPr>
          <p:cNvPr id="4" name="Text 1"/>
          <p:cNvSpPr/>
          <p:nvPr>
            <p:ph idx="102" type="body" hasCustomPrompt="1"/>
          </p:nvPr>
        </p:nvSpPr>
        <p:spPr>
          <a:xfrm>
            <a:off x="612648" y="1060704"/>
            <a:ext cx="10963656" cy="310896"/>
          </a:xfrm>
          <a:prstGeom prst="rect">
            <a:avLst/>
          </a:prstGeom>
          <a:noFill/>
          <a:ln/>
        </p:spPr>
        <p:txBody>
          <a:bodyPr wrap="square" lIns="0" tIns="0" rIns="0" bIns="0" rtlCol="0" anchor="ctr"/>
          <a:lstStyle/>
          <a:p>
            <a:pPr algn="l" indent="0" marL="0">
              <a:buNone/>
            </a:pPr>
            <a:r>
              <a:rPr lang="en-US" sz="1500" dirty="0">
                <a:solidFill>
                  <a:srgbClr val="267D86"/>
                </a:solidFill>
                <a:latin typeface="Noto Sans KR" pitchFamily="34" charset="0"/>
                <a:ea typeface="Noto Sans KR" pitchFamily="34" charset="-122"/>
                <a:cs typeface="Noto Sans KR" pitchFamily="34" charset="-120"/>
              </a:rPr>
              <a:t>제1회(2027) 달성 목표 3가지 — 비교 근거에 '우리 행사라서 가능한 이유'를 더해 세웠다</a:t>
            </a:r>
            <a:endParaRPr lang="en-US" sz="1500" dirty="0"/>
          </a:p>
        </p:txBody>
      </p:sp>
      <p:sp>
        <p:nvSpPr>
          <p:cNvPr id="5" name="출처"/>
          <p:cNvSpPr txBox="1"/>
          <p:nvPr/>
        </p:nvSpPr>
        <p:spPr>
          <a:xfrm>
            <a:off x="612648" y="6355080"/>
            <a:ext cx="10963656" cy="457200"/>
          </a:xfrm>
          <a:prstGeom prst="rect">
            <a:avLst/>
          </a:prstGeom>
          <a:noFill/>
          <a:ln/>
        </p:spPr>
        <p:txBody>
          <a:bodyPr wrap="square" lIns="0" tIns="0" rIns="0" bIns="0" rtlCol="0" anchor="t"/>
          <a:lstStyle/>
          <a:p>
            <a:pPr algn="l" indent="0" marL="0">
              <a:lnSpc>
                <a:spcPct val="90000"/>
              </a:lnSpc>
              <a:buNone/>
            </a:pPr>
            <a:r>
              <a:rPr lang="en-US" sz="700" dirty="0">
                <a:solidFill>
                  <a:srgbClr val="64748B"/>
                </a:solidFill>
                <a:latin typeface="Noto Sans KR" pitchFamily="34" charset="0"/>
                <a:ea typeface="Noto Sans KR" pitchFamily="34" charset="-122"/>
                <a:cs typeface="Noto Sans KR" pitchFamily="34" charset="-120"/>
              </a:rPr>
              <a:t>출처: 서울특별시(2025.2.27, 서울패션위크 트레이드쇼 130개 브랜드·바이어 300명·수주상담 671만 달러) · 쿠키뉴스(2026.3.6) · FashionUnited(2026.5, 유럽 OutDoor 재출범 250개사) · 스마트투데이(2026.8, 무신사 스탠다드 글로벌 수주회)</a:t>
            </a:r>
            <a:endParaRPr lang="en-US" sz="700" dirty="0"/>
          </a:p>
          <a:p>
            <a:pPr algn="l" indent="0" marL="0">
              <a:lnSpc>
                <a:spcPct val="90000"/>
              </a:lnSpc>
              <a:buNone/>
            </a:pPr>
            <a:r>
              <a:rPr lang="en-US" sz="700" dirty="0">
                <a:solidFill>
                  <a:srgbClr val="64748B"/>
                </a:solidFill>
                <a:latin typeface="Noto Sans KR" pitchFamily="34" charset="0"/>
                <a:ea typeface="Noto Sans KR" pitchFamily="34" charset="-122"/>
                <a:cs typeface="Noto Sans KR" pitchFamily="34" charset="-120"/>
              </a:rPr>
              <a:t>연세춘추(산업부 2021 봉제업체 실태조사, 서울 도심 1만 8,364곳) · 서울신문(2023.12, 서울시의회 봉제산업 연구) · 스마트투데이(2025, 프리뷰 인 서울) · 한국패션협회 'All in Korea' 사업(2026~2028, 280개사)</a:t>
            </a:r>
            <a:endParaRPr lang="en-US" sz="700" dirty="0"/>
          </a:p>
          <a:p>
            <a:pPr algn="l" indent="0" marL="0">
              <a:lnSpc>
                <a:spcPct val="90000"/>
              </a:lnSpc>
              <a:buNone/>
            </a:pPr>
            <a:r>
              <a:rPr lang="en-US" sz="700" dirty="0">
                <a:solidFill>
                  <a:srgbClr val="64748B"/>
                </a:solidFill>
                <a:latin typeface="Noto Sans KR" pitchFamily="34" charset="0"/>
                <a:ea typeface="Noto Sans KR" pitchFamily="34" charset="-122"/>
                <a:cs typeface="Noto Sans KR" pitchFamily="34" charset="-120"/>
              </a:rPr>
              <a:t>무신사 뉴스룸(2024.7.17) · 한국경제(2025.1.17, 무신사 인큐베이팅) · FashionUnited(2025.11, ISPO) · 상하이시(2025.7, ISPO 상하이) · Morgan Lewis·Certivo(PFAS 2027·2028) · 경북매일(2026.7, 대구 봉제 맵 20개사)</a:t>
            </a:r>
            <a:endParaRPr lang="en-US" sz="700" dirty="0"/>
          </a:p>
        </p:txBody>
      </p:sp>
      <p:sp>
        <p:nvSpPr>
          <p:cNvPr id="7" name="열 제목 달성할 내용"/>
          <p:cNvSpPr txBox="1"/>
          <p:nvPr/>
        </p:nvSpPr>
        <p:spPr>
          <a:xfrm>
            <a:off x="2121408" y="1481328"/>
            <a:ext cx="2103120" cy="219456"/>
          </a:xfrm>
          <a:prstGeom prst="rect">
            <a:avLst/>
          </a:prstGeom>
          <a:noFill/>
          <a:ln/>
        </p:spPr>
        <p:txBody>
          <a:bodyPr wrap="square" lIns="0" tIns="0" rIns="0" bIns="0" rtlCol="0" anchor="ctr"/>
          <a:lstStyle/>
          <a:p>
            <a:pPr algn="l" indent="0" marL="0">
              <a:lnSpc>
                <a:spcPct val="92000"/>
              </a:lnSpc>
              <a:buNone/>
            </a:pPr>
            <a:r>
              <a:rPr lang="en-US" sz="950" b="1" dirty="0">
                <a:solidFill>
                  <a:srgbClr val="267D86"/>
                </a:solidFill>
                <a:latin typeface="Noto Sans KR" pitchFamily="34" charset="0"/>
                <a:ea typeface="Noto Sans KR" pitchFamily="34" charset="-122"/>
                <a:cs typeface="Noto Sans KR" pitchFamily="34" charset="-120"/>
              </a:rPr>
              <a:t>달성할 내용</a:t>
            </a:r>
            <a:endParaRPr lang="en-US" sz="950" dirty="0"/>
          </a:p>
        </p:txBody>
      </p:sp>
      <p:sp>
        <p:nvSpPr>
          <p:cNvPr id="8" name="열 제목 확인할 지표 · 방법"/>
          <p:cNvSpPr txBox="1"/>
          <p:nvPr/>
        </p:nvSpPr>
        <p:spPr>
          <a:xfrm>
            <a:off x="4315968" y="1481328"/>
            <a:ext cx="2212848" cy="219456"/>
          </a:xfrm>
          <a:prstGeom prst="rect">
            <a:avLst/>
          </a:prstGeom>
          <a:noFill/>
          <a:ln/>
        </p:spPr>
        <p:txBody>
          <a:bodyPr wrap="square" lIns="0" tIns="0" rIns="0" bIns="0" rtlCol="0" anchor="ctr"/>
          <a:lstStyle/>
          <a:p>
            <a:pPr algn="l" indent="0" marL="0">
              <a:lnSpc>
                <a:spcPct val="92000"/>
              </a:lnSpc>
              <a:buNone/>
            </a:pPr>
            <a:r>
              <a:rPr lang="en-US" sz="950" b="1" dirty="0">
                <a:solidFill>
                  <a:srgbClr val="267D86"/>
                </a:solidFill>
                <a:latin typeface="Noto Sans KR" pitchFamily="34" charset="0"/>
                <a:ea typeface="Noto Sans KR" pitchFamily="34" charset="-122"/>
                <a:cs typeface="Noto Sans KR" pitchFamily="34" charset="-120"/>
              </a:rPr>
              <a:t>확인할 지표 · 방법</a:t>
            </a:r>
            <a:endParaRPr lang="en-US" sz="950" dirty="0"/>
          </a:p>
        </p:txBody>
      </p:sp>
      <p:sp>
        <p:nvSpPr>
          <p:cNvPr id="9" name="열 제목 설정 근거 — 비교 근거 + 우리 행사라서 가능한 이유"/>
          <p:cNvSpPr txBox="1"/>
          <p:nvPr/>
        </p:nvSpPr>
        <p:spPr>
          <a:xfrm>
            <a:off x="6620256" y="1481328"/>
            <a:ext cx="4956048" cy="219456"/>
          </a:xfrm>
          <a:prstGeom prst="rect">
            <a:avLst/>
          </a:prstGeom>
          <a:noFill/>
          <a:ln/>
        </p:spPr>
        <p:txBody>
          <a:bodyPr wrap="square" lIns="0" tIns="0" rIns="0" bIns="0" rtlCol="0" anchor="ctr"/>
          <a:lstStyle/>
          <a:p>
            <a:pPr algn="l" indent="0" marL="0">
              <a:lnSpc>
                <a:spcPct val="92000"/>
              </a:lnSpc>
              <a:buNone/>
            </a:pPr>
            <a:r>
              <a:rPr lang="en-US" sz="950" b="1" dirty="0">
                <a:solidFill>
                  <a:srgbClr val="267D86"/>
                </a:solidFill>
                <a:latin typeface="Noto Sans KR" pitchFamily="34" charset="0"/>
                <a:ea typeface="Noto Sans KR" pitchFamily="34" charset="-122"/>
                <a:cs typeface="Noto Sans KR" pitchFamily="34" charset="-120"/>
              </a:rPr>
              <a:t>설정 근거 — 비교 근거 + 우리 행사라서 가능한 이유</a:t>
            </a:r>
            <a:endParaRPr lang="en-US" sz="950" dirty="0"/>
          </a:p>
        </p:txBody>
      </p:sp>
      <p:sp>
        <p:nvSpPr>
          <p:cNvPr id="10" name="열 제목 구분선"/>
          <p:cNvSpPr/>
          <p:nvPr/>
        </p:nvSpPr>
        <p:spPr>
          <a:xfrm>
            <a:off x="2121408" y="1719072"/>
            <a:ext cx="9454896" cy="0"/>
          </a:xfrm>
          <a:prstGeom prst="line">
            <a:avLst/>
          </a:prstGeom>
          <a:noFill/>
          <a:ln w="9525">
            <a:solidFill>
              <a:srgbClr val="CBD5E1"/>
            </a:solidFill>
            <a:prstDash val="solid"/>
          </a:ln>
        </p:spPr>
      </p:sp>
      <p:sp>
        <p:nvSpPr>
          <p:cNvPr id="11" name="라벨"/>
          <p:cNvSpPr txBox="1"/>
          <p:nvPr/>
        </p:nvSpPr>
        <p:spPr>
          <a:xfrm>
            <a:off x="612648" y="1810512"/>
            <a:ext cx="1417320" cy="237744"/>
          </a:xfrm>
          <a:prstGeom prst="rect">
            <a:avLst/>
          </a:prstGeom>
          <a:noFill/>
          <a:ln/>
        </p:spPr>
        <p:txBody>
          <a:bodyPr wrap="square" lIns="0" tIns="0" rIns="0" bIns="0" rtlCol="0" anchor="t"/>
          <a:lstStyle/>
          <a:p>
            <a:pPr algn="l" indent="0" marL="0">
              <a:lnSpc>
                <a:spcPct val="100000"/>
              </a:lnSpc>
              <a:buNone/>
            </a:pPr>
            <a:r>
              <a:rPr lang="en-US" sz="1200" b="1" dirty="0">
                <a:solidFill>
                  <a:srgbClr val="182F48"/>
                </a:solidFill>
                <a:latin typeface="Noto Sans KR" pitchFamily="34" charset="0"/>
                <a:ea typeface="Noto Sans KR" pitchFamily="34" charset="-122"/>
                <a:cs typeface="Noto Sans KR" pitchFamily="34" charset="-120"/>
              </a:rPr>
              <a:t>목표 1</a:t>
            </a:r>
            <a:endParaRPr lang="en-US" sz="1200" dirty="0"/>
          </a:p>
        </p:txBody>
      </p:sp>
      <p:sp>
        <p:nvSpPr>
          <p:cNvPr id="12" name="목표 분류 1"/>
          <p:cNvSpPr txBox="1"/>
          <p:nvPr/>
        </p:nvSpPr>
        <p:spPr>
          <a:xfrm>
            <a:off x="612648" y="2066544"/>
            <a:ext cx="1417320" cy="237744"/>
          </a:xfrm>
          <a:prstGeom prst="rect">
            <a:avLst/>
          </a:prstGeom>
          <a:noFill/>
          <a:ln/>
        </p:spPr>
        <p:txBody>
          <a:bodyPr wrap="square" lIns="0" tIns="0" rIns="0" bIns="0" rtlCol="0" anchor="t"/>
          <a:lstStyle/>
          <a:p>
            <a:pPr algn="l" indent="0" marL="0">
              <a:lnSpc>
                <a:spcPct val="92000"/>
              </a:lnSpc>
              <a:buNone/>
            </a:pPr>
            <a:r>
              <a:rPr lang="en-US" sz="1000" b="1" dirty="0">
                <a:solidFill>
                  <a:srgbClr val="267D86"/>
                </a:solidFill>
                <a:latin typeface="Noto Sans KR" pitchFamily="34" charset="0"/>
                <a:ea typeface="Noto Sans KR" pitchFamily="34" charset="-122"/>
                <a:cs typeface="Noto Sans KR" pitchFamily="34" charset="-120"/>
              </a:rPr>
              <a:t>참가 규모 · 구성</a:t>
            </a:r>
            <a:endParaRPr lang="en-US" sz="1000" dirty="0"/>
          </a:p>
        </p:txBody>
      </p:sp>
      <p:sp>
        <p:nvSpPr>
          <p:cNvPr id="13" name="목표 1 내용"/>
          <p:cNvSpPr txBox="1"/>
          <p:nvPr/>
        </p:nvSpPr>
        <p:spPr>
          <a:xfrm>
            <a:off x="2121408" y="1792224"/>
            <a:ext cx="2103120" cy="1463040"/>
          </a:xfrm>
          <a:prstGeom prst="roundRect">
            <a:avLst>
              <a:gd name="adj" fmla="val 3125"/>
            </a:avLst>
          </a:prstGeom>
          <a:solidFill>
            <a:srgbClr val="E6F2F3"/>
          </a:solidFill>
          <a:ln/>
        </p:spPr>
        <p:txBody>
          <a:bodyPr wrap="square" lIns="91440" tIns="0" rIns="91440" bIns="0" rtlCol="0" anchor="ctr"/>
          <a:lstStyle/>
          <a:p>
            <a:pPr algn="l" indent="0" marL="0">
              <a:lnSpc>
                <a:spcPct val="92000"/>
              </a:lnSpc>
              <a:spcAft>
                <a:spcPts val="200"/>
              </a:spcAft>
              <a:buNone/>
            </a:pPr>
            <a:r>
              <a:rPr lang="en-US" sz="1500" b="1" dirty="0">
                <a:solidFill>
                  <a:srgbClr val="182F48"/>
                </a:solidFill>
                <a:latin typeface="Noto Sans KR" pitchFamily="34" charset="0"/>
                <a:ea typeface="Noto Sans KR" pitchFamily="34" charset="-122"/>
                <a:cs typeface="Noto Sans KR" pitchFamily="34" charset="-120"/>
              </a:rPr>
              <a:t>참가 150개사</a:t>
            </a:r>
            <a:endParaRPr lang="en-US" sz="1500" dirty="0"/>
          </a:p>
          <a:p>
            <a:pPr algn="l" indent="0" marL="0">
              <a:lnSpc>
                <a:spcPct val="92000"/>
              </a:lnSpc>
              <a:spcAft>
                <a:spcPts val="200"/>
              </a:spcAft>
              <a:buNone/>
            </a:pPr>
            <a:r>
              <a:rPr lang="en-US" sz="850" dirty="0">
                <a:solidFill>
                  <a:srgbClr val="334155"/>
                </a:solidFill>
                <a:latin typeface="Noto Sans KR" pitchFamily="34" charset="0"/>
                <a:ea typeface="Noto Sans KR" pitchFamily="34" charset="-122"/>
                <a:cs typeface="Noto Sans KR" pitchFamily="34" charset="-120"/>
              </a:rPr>
              <a:t>브랜드 90 · 소재·부자재 30 · 제조 30</a:t>
            </a:r>
            <a:endParaRPr lang="en-US" sz="1500" dirty="0"/>
          </a:p>
          <a:p>
            <a:pPr algn="l" indent="0" marL="0">
              <a:lnSpc>
                <a:spcPct val="92000"/>
              </a:lnSpc>
              <a:spcAft>
                <a:spcPts val="200"/>
              </a:spcAft>
              <a:buNone/>
            </a:pPr>
            <a:r>
              <a:rPr lang="en-US" sz="850" dirty="0">
                <a:solidFill>
                  <a:srgbClr val="334155"/>
                </a:solidFill>
                <a:latin typeface="Noto Sans KR" pitchFamily="34" charset="0"/>
                <a:ea typeface="Noto Sans KR" pitchFamily="34" charset="-122"/>
                <a:cs typeface="Noto Sans KR" pitchFamily="34" charset="-120"/>
              </a:rPr>
              <a:t>퍼블릭 랩 데이 관람객 2만 명</a:t>
            </a:r>
            <a:endParaRPr lang="en-US" sz="1500" dirty="0"/>
          </a:p>
          <a:p>
            <a:pPr algn="l" indent="0" marL="0">
              <a:lnSpc>
                <a:spcPct val="92000"/>
              </a:lnSpc>
              <a:spcAft>
                <a:spcPts val="200"/>
              </a:spcAft>
              <a:buNone/>
            </a:pPr>
            <a:r>
              <a:rPr lang="en-US" sz="850" b="1" dirty="0">
                <a:solidFill>
                  <a:srgbClr val="267D86"/>
                </a:solidFill>
                <a:latin typeface="Noto Sans KR" pitchFamily="34" charset="0"/>
                <a:ea typeface="Noto Sans KR" pitchFamily="34" charset="-122"/>
                <a:cs typeface="Noto Sans KR" pitchFamily="34" charset="-120"/>
              </a:rPr>
              <a:t>→ 2029년 3회차 300개사(2배)</a:t>
            </a:r>
            <a:endParaRPr lang="en-US" sz="1500" dirty="0"/>
          </a:p>
        </p:txBody>
      </p:sp>
      <p:sp>
        <p:nvSpPr>
          <p:cNvPr id="14" name="목표 1 지표"/>
          <p:cNvSpPr txBox="1"/>
          <p:nvPr/>
        </p:nvSpPr>
        <p:spPr>
          <a:xfrm>
            <a:off x="4315968" y="1792224"/>
            <a:ext cx="2212848" cy="1463040"/>
          </a:xfrm>
          <a:prstGeom prst="roundRect">
            <a:avLst>
              <a:gd name="adj" fmla="val 3125"/>
            </a:avLst>
          </a:prstGeom>
          <a:solidFill>
            <a:srgbClr val="F1F5F9"/>
          </a:solidFill>
          <a:ln/>
        </p:spPr>
        <p:txBody>
          <a:bodyPr wrap="square" lIns="91440" tIns="0" rIns="91440" bIns="0" rtlCol="0" anchor="ctr"/>
          <a:lstStyle/>
          <a:p>
            <a:pPr algn="l" indent="0" marL="0">
              <a:lnSpc>
                <a:spcPct val="92000"/>
              </a:lnSpc>
              <a:spcAft>
                <a:spcPts val="200"/>
              </a:spcAft>
              <a:buNone/>
            </a:pPr>
            <a:r>
              <a:rPr lang="en-US" sz="800" dirty="0">
                <a:solidFill>
                  <a:srgbClr val="334155"/>
                </a:solidFill>
                <a:latin typeface="Noto Sans KR" pitchFamily="34" charset="0"/>
                <a:ea typeface="Noto Sans KR" pitchFamily="34" charset="-122"/>
                <a:cs typeface="Noto Sans KR" pitchFamily="34" charset="-120"/>
              </a:rPr>
              <a:t>카테고리별 부스 계약 수 집계</a:t>
            </a:r>
            <a:endParaRPr lang="en-US" sz="800" dirty="0"/>
          </a:p>
          <a:p>
            <a:pPr algn="l" indent="0" marL="0">
              <a:lnSpc>
                <a:spcPct val="92000"/>
              </a:lnSpc>
              <a:spcAft>
                <a:spcPts val="200"/>
              </a:spcAft>
              <a:buNone/>
            </a:pPr>
            <a:r>
              <a:rPr lang="en-US" sz="800" dirty="0">
                <a:solidFill>
                  <a:srgbClr val="334155"/>
                </a:solidFill>
                <a:latin typeface="Noto Sans KR" pitchFamily="34" charset="0"/>
                <a:ea typeface="Noto Sans KR" pitchFamily="34" charset="-122"/>
                <a:cs typeface="Noto Sans KR" pitchFamily="34" charset="-120"/>
              </a:rPr>
              <a:t>(2027년 8월 모집 마감 시점)</a:t>
            </a:r>
            <a:endParaRPr lang="en-US" sz="800" dirty="0"/>
          </a:p>
          <a:p>
            <a:pPr algn="l" indent="0" marL="0">
              <a:lnSpc>
                <a:spcPct val="92000"/>
              </a:lnSpc>
              <a:spcAft>
                <a:spcPts val="200"/>
              </a:spcAft>
              <a:buNone/>
            </a:pPr>
            <a:r>
              <a:rPr lang="en-US" sz="800" dirty="0">
                <a:solidFill>
                  <a:srgbClr val="334155"/>
                </a:solidFill>
                <a:latin typeface="Noto Sans KR" pitchFamily="34" charset="0"/>
                <a:ea typeface="Noto Sans KR" pitchFamily="34" charset="-122"/>
                <a:cs typeface="Noto Sans KR" pitchFamily="34" charset="-120"/>
              </a:rPr>
              <a:t>브랜드 중 K-오리지널 비중 70% 이상</a:t>
            </a:r>
            <a:endParaRPr lang="en-US" sz="800" dirty="0"/>
          </a:p>
          <a:p>
            <a:pPr algn="l" indent="0" marL="0">
              <a:lnSpc>
                <a:spcPct val="92000"/>
              </a:lnSpc>
              <a:spcAft>
                <a:spcPts val="200"/>
              </a:spcAft>
              <a:buNone/>
            </a:pPr>
            <a:r>
              <a:rPr lang="en-US" sz="800" dirty="0">
                <a:solidFill>
                  <a:srgbClr val="334155"/>
                </a:solidFill>
                <a:latin typeface="Noto Sans KR" pitchFamily="34" charset="0"/>
                <a:ea typeface="Noto Sans KR" pitchFamily="34" charset="-122"/>
                <a:cs typeface="Noto Sans KR" pitchFamily="34" charset="-120"/>
              </a:rPr>
              <a:t>관람객: 관심사 사전등록 + QR 입장</a:t>
            </a:r>
            <a:endParaRPr lang="en-US" sz="800" dirty="0"/>
          </a:p>
          <a:p>
            <a:pPr algn="l" indent="0" marL="0">
              <a:lnSpc>
                <a:spcPct val="92000"/>
              </a:lnSpc>
              <a:spcAft>
                <a:spcPts val="200"/>
              </a:spcAft>
              <a:buNone/>
            </a:pPr>
            <a:r>
              <a:rPr lang="en-US" sz="800" dirty="0">
                <a:solidFill>
                  <a:srgbClr val="334155"/>
                </a:solidFill>
                <a:latin typeface="Noto Sans KR" pitchFamily="34" charset="0"/>
                <a:ea typeface="Noto Sans KR" pitchFamily="34" charset="-122"/>
                <a:cs typeface="Noto Sans KR" pitchFamily="34" charset="-120"/>
              </a:rPr>
              <a:t>(실인원 · Test Lab 체험률 함께 측정)</a:t>
            </a:r>
            <a:endParaRPr lang="en-US" sz="800" dirty="0"/>
          </a:p>
        </p:txBody>
      </p:sp>
      <p:sp>
        <p:nvSpPr>
          <p:cNvPr id="15" name="목표 1 근거"/>
          <p:cNvSpPr txBox="1"/>
          <p:nvPr/>
        </p:nvSpPr>
        <p:spPr>
          <a:xfrm>
            <a:off x="6620256" y="1792224"/>
            <a:ext cx="4956048" cy="1463040"/>
          </a:xfrm>
          <a:prstGeom prst="roundRect">
            <a:avLst>
              <a:gd name="adj" fmla="val 3125"/>
            </a:avLst>
          </a:prstGeom>
          <a:solidFill>
            <a:srgbClr val="FFFFFF"/>
          </a:solidFill>
          <a:ln w="9525">
            <a:solidFill>
              <a:srgbClr val="CBD5E1"/>
            </a:solidFill>
            <a:prstDash val="solid"/>
          </a:ln>
        </p:spPr>
        <p:txBody>
          <a:bodyPr wrap="square" lIns="109728" tIns="0" rIns="109728" bIns="0" rtlCol="0" anchor="ctr"/>
          <a:lstStyle/>
          <a:p>
            <a:pPr algn="l" indent="0" marL="0">
              <a:lnSpc>
                <a:spcPct val="92000"/>
              </a:lnSpc>
              <a:spcAft>
                <a:spcPts val="150"/>
              </a:spcAft>
              <a:buNone/>
            </a:pPr>
            <a:r>
              <a:rPr lang="en-US" sz="800" b="1" dirty="0">
                <a:solidFill>
                  <a:srgbClr val="267D86"/>
                </a:solidFill>
                <a:latin typeface="Noto Sans KR" pitchFamily="34" charset="0"/>
                <a:ea typeface="Noto Sans KR" pitchFamily="34" charset="-122"/>
                <a:cs typeface="Noto Sans KR" pitchFamily="34" charset="-120"/>
              </a:rPr>
              <a:t>비교 근거  </a:t>
            </a:r>
            <a:pPr algn="l" indent="0" marL="0">
              <a:lnSpc>
                <a:spcPct val="92000"/>
              </a:lnSpc>
              <a:spcAft>
                <a:spcPts val="150"/>
              </a:spcAft>
              <a:buNone/>
            </a:pPr>
            <a:r>
              <a:rPr lang="en-US" sz="800" dirty="0">
                <a:solidFill>
                  <a:srgbClr val="334155"/>
                </a:solidFill>
                <a:latin typeface="Noto Sans KR" pitchFamily="34" charset="0"/>
                <a:ea typeface="Noto Sans KR" pitchFamily="34" charset="-122"/>
                <a:cs typeface="Noto Sans KR" pitchFamily="34" charset="-120"/>
              </a:rPr>
              <a:t>서울패션위크 트레이드쇼 130개 브랜드 · 캠핑앤피크닉페어 116개사</a:t>
            </a:r>
            <a:endParaRPr lang="en-US" sz="800" dirty="0"/>
          </a:p>
          <a:p>
            <a:pPr algn="l" indent="0" marL="0">
              <a:lnSpc>
                <a:spcPct val="92000"/>
              </a:lnSpc>
              <a:spcAft>
                <a:spcPts val="150"/>
              </a:spcAft>
              <a:buNone/>
            </a:pPr>
            <a:r>
              <a:rPr lang="en-US" sz="800" dirty="0">
                <a:solidFill>
                  <a:srgbClr val="334155"/>
                </a:solidFill>
                <a:latin typeface="Noto Sans KR" pitchFamily="34" charset="0"/>
                <a:ea typeface="Noto Sans KR" pitchFamily="34" charset="-122"/>
                <a:cs typeface="Noto Sans KR" pitchFamily="34" charset="-120"/>
              </a:rPr>
              <a:t>유럽 OutDoor 재출범 첫 회 250개사(2026) → 단일 카테고리 첫 회 150개사는 보수적</a:t>
            </a:r>
            <a:endParaRPr lang="en-US" sz="800" dirty="0"/>
          </a:p>
          <a:p>
            <a:pPr algn="l" indent="0" marL="0">
              <a:lnSpc>
                <a:spcPct val="92000"/>
              </a:lnSpc>
              <a:spcAft>
                <a:spcPts val="150"/>
              </a:spcAft>
              <a:buNone/>
            </a:pPr>
            <a:r>
              <a:rPr lang="en-US" sz="800" dirty="0">
                <a:solidFill>
                  <a:srgbClr val="334155"/>
                </a:solidFill>
                <a:latin typeface="Noto Sans KR" pitchFamily="34" charset="0"/>
                <a:ea typeface="Noto Sans KR" pitchFamily="34" charset="-122"/>
                <a:cs typeface="Noto Sans KR" pitchFamily="34" charset="-120"/>
              </a:rPr>
              <a:t>소재 30곳은 프리뷰 인 서울 약 500개사의 6%, 관람객 2만 명은 SPOEX 4.7만 명의 절반 이하다.</a:t>
            </a:r>
            <a:endParaRPr lang="en-US" sz="800" dirty="0"/>
          </a:p>
          <a:p>
            <a:pPr algn="l" indent="0" marL="0">
              <a:lnSpc>
                <a:spcPct val="92000"/>
              </a:lnSpc>
              <a:spcAft>
                <a:spcPts val="150"/>
              </a:spcAft>
              <a:buNone/>
            </a:pPr>
            <a:r>
              <a:rPr lang="en-US" sz="800" b="1" dirty="0">
                <a:solidFill>
                  <a:srgbClr val="182F48"/>
                </a:solidFill>
                <a:latin typeface="Noto Sans KR" pitchFamily="34" charset="0"/>
                <a:ea typeface="Noto Sans KR" pitchFamily="34" charset="-122"/>
                <a:cs typeface="Noto Sans KR" pitchFamily="34" charset="-120"/>
              </a:rPr>
              <a:t>우리 행사라서 가능한 이유</a:t>
            </a:r>
            <a:endParaRPr lang="en-US" sz="800" dirty="0"/>
          </a:p>
          <a:p>
            <a:pPr algn="l" indent="0" marL="0">
              <a:lnSpc>
                <a:spcPct val="92000"/>
              </a:lnSpc>
              <a:spcAft>
                <a:spcPts val="150"/>
              </a:spcAft>
              <a:buNone/>
            </a:pPr>
            <a:r>
              <a:rPr lang="en-US" sz="800" b="1" dirty="0">
                <a:solidFill>
                  <a:srgbClr val="182F48"/>
                </a:solidFill>
                <a:latin typeface="Noto Sans KR" pitchFamily="34" charset="0"/>
                <a:ea typeface="Noto Sans KR" pitchFamily="34" charset="-122"/>
                <a:cs typeface="Noto Sans KR" pitchFamily="34" charset="-120"/>
              </a:rPr>
              <a:t>① 공급 풀이 크다  </a:t>
            </a:r>
            <a:pPr algn="l" indent="0" marL="0">
              <a:lnSpc>
                <a:spcPct val="92000"/>
              </a:lnSpc>
              <a:spcAft>
                <a:spcPts val="150"/>
              </a:spcAft>
              <a:buNone/>
            </a:pPr>
            <a:r>
              <a:rPr lang="en-US" sz="800" dirty="0">
                <a:solidFill>
                  <a:srgbClr val="334155"/>
                </a:solidFill>
                <a:latin typeface="Noto Sans KR" pitchFamily="34" charset="0"/>
                <a:ea typeface="Noto Sans KR" pitchFamily="34" charset="-122"/>
                <a:cs typeface="Noto Sans KR" pitchFamily="34" charset="-120"/>
              </a:rPr>
              <a:t>서울 도심 봉제업체 1.8만 곳의 최대 애로가 일감 수주다.</a:t>
            </a:r>
            <a:endParaRPr lang="en-US" sz="800" dirty="0"/>
          </a:p>
          <a:p>
            <a:pPr algn="l" indent="0" marL="0">
              <a:lnSpc>
                <a:spcPct val="92000"/>
              </a:lnSpc>
              <a:spcAft>
                <a:spcPts val="150"/>
              </a:spcAft>
              <a:buNone/>
            </a:pPr>
            <a:r>
              <a:rPr lang="en-US" sz="800" b="1" dirty="0">
                <a:solidFill>
                  <a:srgbClr val="182F48"/>
                </a:solidFill>
                <a:latin typeface="Noto Sans KR" pitchFamily="34" charset="0"/>
                <a:ea typeface="Noto Sans KR" pitchFamily="34" charset="-122"/>
                <a:cs typeface="Noto Sans KR" pitchFamily="34" charset="-120"/>
              </a:rPr>
              <a:t>② 신진이 많다  </a:t>
            </a:r>
            <a:pPr algn="l" indent="0" marL="0">
              <a:lnSpc>
                <a:spcPct val="92000"/>
              </a:lnSpc>
              <a:spcAft>
                <a:spcPts val="150"/>
              </a:spcAft>
              <a:buNone/>
            </a:pPr>
            <a:r>
              <a:rPr lang="en-US" sz="800" dirty="0">
                <a:solidFill>
                  <a:srgbClr val="334155"/>
                </a:solidFill>
                <a:latin typeface="Noto Sans KR" pitchFamily="34" charset="0"/>
                <a:ea typeface="Noto Sans KR" pitchFamily="34" charset="-122"/>
                <a:cs typeface="Noto Sans KR" pitchFamily="34" charset="-120"/>
              </a:rPr>
              <a:t>무신사 인큐베이팅 참여 브랜드의 72%가 론칭 3년 미만이다.</a:t>
            </a:r>
            <a:endParaRPr lang="en-US" sz="800" dirty="0"/>
          </a:p>
          <a:p>
            <a:pPr algn="l" indent="0" marL="0">
              <a:lnSpc>
                <a:spcPct val="92000"/>
              </a:lnSpc>
              <a:spcAft>
                <a:spcPts val="150"/>
              </a:spcAft>
              <a:buNone/>
            </a:pPr>
            <a:r>
              <a:rPr lang="en-US" sz="800" b="1" dirty="0">
                <a:solidFill>
                  <a:srgbClr val="182F48"/>
                </a:solidFill>
                <a:latin typeface="Noto Sans KR" pitchFamily="34" charset="0"/>
                <a:ea typeface="Noto Sans KR" pitchFamily="34" charset="-122"/>
                <a:cs typeface="Noto Sans KR" pitchFamily="34" charset="-120"/>
              </a:rPr>
              <a:t>③ 참가 장벽이 낮다  </a:t>
            </a:r>
            <a:pPr algn="l" indent="0" marL="0">
              <a:lnSpc>
                <a:spcPct val="92000"/>
              </a:lnSpc>
              <a:spcAft>
                <a:spcPts val="150"/>
              </a:spcAft>
              <a:buNone/>
            </a:pPr>
            <a:r>
              <a:rPr lang="en-US" sz="800" dirty="0">
                <a:solidFill>
                  <a:srgbClr val="334155"/>
                </a:solidFill>
                <a:latin typeface="Noto Sans KR" pitchFamily="34" charset="0"/>
                <a:ea typeface="Noto Sans KR" pitchFamily="34" charset="-122"/>
                <a:cs typeface="Noto Sans KR" pitchFamily="34" charset="-120"/>
              </a:rPr>
              <a:t>정부 'All in Korea'가 섬유패션기업 280곳의 전시 참가를 지원한다.</a:t>
            </a:r>
            <a:endParaRPr lang="en-US" sz="800" dirty="0"/>
          </a:p>
          <a:p>
            <a:pPr algn="l" indent="0" marL="0">
              <a:lnSpc>
                <a:spcPct val="92000"/>
              </a:lnSpc>
              <a:spcAft>
                <a:spcPts val="150"/>
              </a:spcAft>
              <a:buNone/>
            </a:pPr>
            <a:r>
              <a:rPr lang="en-US" sz="800" b="1" dirty="0">
                <a:solidFill>
                  <a:srgbClr val="182F48"/>
                </a:solidFill>
                <a:latin typeface="Noto Sans KR" pitchFamily="34" charset="0"/>
                <a:ea typeface="Noto Sans KR" pitchFamily="34" charset="-122"/>
                <a:cs typeface="Noto Sans KR" pitchFamily="34" charset="-120"/>
              </a:rPr>
              <a:t>④ 대체재가 없다  </a:t>
            </a:r>
            <a:pPr algn="l" indent="0" marL="0">
              <a:lnSpc>
                <a:spcPct val="92000"/>
              </a:lnSpc>
              <a:spcAft>
                <a:spcPts val="150"/>
              </a:spcAft>
              <a:buNone/>
            </a:pPr>
            <a:r>
              <a:rPr lang="en-US" sz="800" dirty="0">
                <a:solidFill>
                  <a:srgbClr val="334155"/>
                </a:solidFill>
                <a:latin typeface="Noto Sans KR" pitchFamily="34" charset="0"/>
                <a:ea typeface="Noto Sans KR" pitchFamily="34" charset="-122"/>
                <a:cs typeface="Noto Sans KR" pitchFamily="34" charset="-120"/>
              </a:rPr>
              <a:t>소재·제조사가 K-브랜드 고객을 한 번에 만나는 전시가 없다.</a:t>
            </a:r>
            <a:endParaRPr lang="en-US" sz="800" dirty="0"/>
          </a:p>
        </p:txBody>
      </p:sp>
      <p:sp>
        <p:nvSpPr>
          <p:cNvPr id="16" name="라벨"/>
          <p:cNvSpPr txBox="1"/>
          <p:nvPr/>
        </p:nvSpPr>
        <p:spPr>
          <a:xfrm>
            <a:off x="612648" y="3328416"/>
            <a:ext cx="1417320" cy="237744"/>
          </a:xfrm>
          <a:prstGeom prst="rect">
            <a:avLst/>
          </a:prstGeom>
          <a:noFill/>
          <a:ln/>
        </p:spPr>
        <p:txBody>
          <a:bodyPr wrap="square" lIns="0" tIns="0" rIns="0" bIns="0" rtlCol="0" anchor="t"/>
          <a:lstStyle/>
          <a:p>
            <a:pPr algn="l" indent="0" marL="0">
              <a:lnSpc>
                <a:spcPct val="100000"/>
              </a:lnSpc>
              <a:buNone/>
            </a:pPr>
            <a:r>
              <a:rPr lang="en-US" sz="1200" b="1" dirty="0">
                <a:solidFill>
                  <a:srgbClr val="182F48"/>
                </a:solidFill>
                <a:latin typeface="Noto Sans KR" pitchFamily="34" charset="0"/>
                <a:ea typeface="Noto Sans KR" pitchFamily="34" charset="-122"/>
                <a:cs typeface="Noto Sans KR" pitchFamily="34" charset="-120"/>
              </a:rPr>
              <a:t>목표 2</a:t>
            </a:r>
            <a:endParaRPr lang="en-US" sz="1200" dirty="0"/>
          </a:p>
        </p:txBody>
      </p:sp>
      <p:sp>
        <p:nvSpPr>
          <p:cNvPr id="17" name="목표 분류 2"/>
          <p:cNvSpPr txBox="1"/>
          <p:nvPr/>
        </p:nvSpPr>
        <p:spPr>
          <a:xfrm>
            <a:off x="612648" y="3584448"/>
            <a:ext cx="1417320" cy="237744"/>
          </a:xfrm>
          <a:prstGeom prst="rect">
            <a:avLst/>
          </a:prstGeom>
          <a:noFill/>
          <a:ln/>
        </p:spPr>
        <p:txBody>
          <a:bodyPr wrap="square" lIns="0" tIns="0" rIns="0" bIns="0" rtlCol="0" anchor="t"/>
          <a:lstStyle/>
          <a:p>
            <a:pPr algn="l" indent="0" marL="0">
              <a:lnSpc>
                <a:spcPct val="92000"/>
              </a:lnSpc>
              <a:buNone/>
            </a:pPr>
            <a:r>
              <a:rPr lang="en-US" sz="1000" b="1" dirty="0">
                <a:solidFill>
                  <a:srgbClr val="267D86"/>
                </a:solidFill>
                <a:latin typeface="Noto Sans KR" pitchFamily="34" charset="0"/>
                <a:ea typeface="Noto Sans KR" pitchFamily="34" charset="-122"/>
                <a:cs typeface="Noto Sans KR" pitchFamily="34" charset="-120"/>
              </a:rPr>
              <a:t>거래 성과 (판로)</a:t>
            </a:r>
            <a:endParaRPr lang="en-US" sz="1000" dirty="0"/>
          </a:p>
        </p:txBody>
      </p:sp>
      <p:sp>
        <p:nvSpPr>
          <p:cNvPr id="18" name="목표 2 내용"/>
          <p:cNvSpPr txBox="1"/>
          <p:nvPr/>
        </p:nvSpPr>
        <p:spPr>
          <a:xfrm>
            <a:off x="2121408" y="3310128"/>
            <a:ext cx="2103120" cy="1463040"/>
          </a:xfrm>
          <a:prstGeom prst="roundRect">
            <a:avLst>
              <a:gd name="adj" fmla="val 3125"/>
            </a:avLst>
          </a:prstGeom>
          <a:solidFill>
            <a:srgbClr val="E6F2F3"/>
          </a:solidFill>
          <a:ln/>
        </p:spPr>
        <p:txBody>
          <a:bodyPr wrap="square" lIns="91440" tIns="0" rIns="91440" bIns="0" rtlCol="0" anchor="ctr"/>
          <a:lstStyle/>
          <a:p>
            <a:pPr algn="l" indent="0" marL="0">
              <a:lnSpc>
                <a:spcPct val="92000"/>
              </a:lnSpc>
              <a:spcAft>
                <a:spcPts val="200"/>
              </a:spcAft>
              <a:buNone/>
            </a:pPr>
            <a:r>
              <a:rPr lang="en-US" sz="1500" b="1" dirty="0">
                <a:solidFill>
                  <a:srgbClr val="182F48"/>
                </a:solidFill>
                <a:latin typeface="Noto Sans KR" pitchFamily="34" charset="0"/>
                <a:ea typeface="Noto Sans KR" pitchFamily="34" charset="-122"/>
                <a:cs typeface="Noto Sans KR" pitchFamily="34" charset="-120"/>
              </a:rPr>
              <a:t>수주상담 800만 달러</a:t>
            </a:r>
            <a:endParaRPr lang="en-US" sz="1500" dirty="0"/>
          </a:p>
          <a:p>
            <a:pPr algn="l" indent="0" marL="0">
              <a:lnSpc>
                <a:spcPct val="92000"/>
              </a:lnSpc>
              <a:spcAft>
                <a:spcPts val="200"/>
              </a:spcAft>
              <a:buNone/>
            </a:pPr>
            <a:r>
              <a:rPr lang="en-US" sz="850" dirty="0">
                <a:solidFill>
                  <a:srgbClr val="334155"/>
                </a:solidFill>
                <a:latin typeface="Noto Sans KR" pitchFamily="34" charset="0"/>
                <a:ea typeface="Noto Sans KR" pitchFamily="34" charset="-122"/>
                <a:cs typeface="Noto Sans KR" pitchFamily="34" charset="-120"/>
              </a:rPr>
              <a:t>인증 바이어 400명(해외 150명)</a:t>
            </a:r>
            <a:endParaRPr lang="en-US" sz="1500" dirty="0"/>
          </a:p>
          <a:p>
            <a:pPr algn="l" indent="0" marL="0">
              <a:lnSpc>
                <a:spcPct val="92000"/>
              </a:lnSpc>
              <a:spcAft>
                <a:spcPts val="200"/>
              </a:spcAft>
              <a:buNone/>
            </a:pPr>
            <a:r>
              <a:rPr lang="en-US" sz="850" dirty="0">
                <a:solidFill>
                  <a:srgbClr val="334155"/>
                </a:solidFill>
                <a:latin typeface="Noto Sans KR" pitchFamily="34" charset="0"/>
                <a:ea typeface="Noto Sans KR" pitchFamily="34" charset="-122"/>
                <a:cs typeface="Noto Sans KR" pitchFamily="34" charset="-120"/>
              </a:rPr>
              <a:t>1:1 사전 매칭 상담 1,200건</a:t>
            </a:r>
            <a:endParaRPr lang="en-US" sz="1500" dirty="0"/>
          </a:p>
        </p:txBody>
      </p:sp>
      <p:sp>
        <p:nvSpPr>
          <p:cNvPr id="19" name="목표 2 지표"/>
          <p:cNvSpPr txBox="1"/>
          <p:nvPr/>
        </p:nvSpPr>
        <p:spPr>
          <a:xfrm>
            <a:off x="4315968" y="3310128"/>
            <a:ext cx="2212848" cy="1463040"/>
          </a:xfrm>
          <a:prstGeom prst="roundRect">
            <a:avLst>
              <a:gd name="adj" fmla="val 3125"/>
            </a:avLst>
          </a:prstGeom>
          <a:solidFill>
            <a:srgbClr val="F1F5F9"/>
          </a:solidFill>
          <a:ln/>
        </p:spPr>
        <p:txBody>
          <a:bodyPr wrap="square" lIns="91440" tIns="0" rIns="91440" bIns="0" rtlCol="0" anchor="ctr"/>
          <a:lstStyle/>
          <a:p>
            <a:pPr algn="l" indent="0" marL="0">
              <a:lnSpc>
                <a:spcPct val="92000"/>
              </a:lnSpc>
              <a:spcAft>
                <a:spcPts val="200"/>
              </a:spcAft>
              <a:buNone/>
            </a:pPr>
            <a:r>
              <a:rPr lang="en-US" sz="800" dirty="0">
                <a:solidFill>
                  <a:srgbClr val="334155"/>
                </a:solidFill>
                <a:latin typeface="Noto Sans KR" pitchFamily="34" charset="0"/>
                <a:ea typeface="Noto Sans KR" pitchFamily="34" charset="-122"/>
                <a:cs typeface="Noto Sans KR" pitchFamily="34" charset="-120"/>
              </a:rPr>
              <a:t>바이어 사전등록 + 자격 심사</a:t>
            </a:r>
            <a:endParaRPr lang="en-US" sz="800" dirty="0"/>
          </a:p>
          <a:p>
            <a:pPr algn="l" indent="0" marL="0">
              <a:lnSpc>
                <a:spcPct val="92000"/>
              </a:lnSpc>
              <a:spcAft>
                <a:spcPts val="200"/>
              </a:spcAft>
              <a:buNone/>
            </a:pPr>
            <a:r>
              <a:rPr lang="en-US" sz="800" dirty="0">
                <a:solidFill>
                  <a:srgbClr val="334155"/>
                </a:solidFill>
                <a:latin typeface="Noto Sans KR" pitchFamily="34" charset="0"/>
                <a:ea typeface="Noto Sans KR" pitchFamily="34" charset="-122"/>
                <a:cs typeface="Noto Sans KR" pitchFamily="34" charset="-120"/>
              </a:rPr>
              <a:t>(사업자등록 · 바잉 이력 확인)</a:t>
            </a:r>
            <a:endParaRPr lang="en-US" sz="800" dirty="0"/>
          </a:p>
          <a:p>
            <a:pPr algn="l" indent="0" marL="0">
              <a:lnSpc>
                <a:spcPct val="92000"/>
              </a:lnSpc>
              <a:spcAft>
                <a:spcPts val="200"/>
              </a:spcAft>
              <a:buNone/>
            </a:pPr>
            <a:r>
              <a:rPr lang="en-US" sz="800" dirty="0">
                <a:solidFill>
                  <a:srgbClr val="334155"/>
                </a:solidFill>
                <a:latin typeface="Noto Sans KR" pitchFamily="34" charset="0"/>
                <a:ea typeface="Noto Sans KR" pitchFamily="34" charset="-122"/>
                <a:cs typeface="Noto Sans KR" pitchFamily="34" charset="-120"/>
              </a:rPr>
              <a:t>매칭 시스템 상담 로그</a:t>
            </a:r>
            <a:endParaRPr lang="en-US" sz="800" dirty="0"/>
          </a:p>
          <a:p>
            <a:pPr algn="l" indent="0" marL="0">
              <a:lnSpc>
                <a:spcPct val="92000"/>
              </a:lnSpc>
              <a:spcAft>
                <a:spcPts val="200"/>
              </a:spcAft>
              <a:buNone/>
            </a:pPr>
            <a:r>
              <a:rPr lang="en-US" sz="800" dirty="0">
                <a:solidFill>
                  <a:srgbClr val="334155"/>
                </a:solidFill>
                <a:latin typeface="Noto Sans KR" pitchFamily="34" charset="0"/>
                <a:ea typeface="Noto Sans KR" pitchFamily="34" charset="-122"/>
                <a:cs typeface="Noto Sans KR" pitchFamily="34" charset="-120"/>
              </a:rPr>
              <a:t>상담일지의 상담 금액 합산</a:t>
            </a:r>
            <a:endParaRPr lang="en-US" sz="800" dirty="0"/>
          </a:p>
          <a:p>
            <a:pPr algn="l" indent="0" marL="0">
              <a:lnSpc>
                <a:spcPct val="92000"/>
              </a:lnSpc>
              <a:spcAft>
                <a:spcPts val="200"/>
              </a:spcAft>
              <a:buNone/>
            </a:pPr>
            <a:r>
              <a:rPr lang="en-US" sz="800" dirty="0">
                <a:solidFill>
                  <a:srgbClr val="334155"/>
                </a:solidFill>
                <a:latin typeface="Noto Sans KR" pitchFamily="34" charset="0"/>
                <a:ea typeface="Noto Sans KR" pitchFamily="34" charset="-122"/>
                <a:cs typeface="Noto Sans KR" pitchFamily="34" charset="-120"/>
              </a:rPr>
              <a:t>폐막 3개월 후 계약 전환 추적</a:t>
            </a:r>
            <a:endParaRPr lang="en-US" sz="800" dirty="0"/>
          </a:p>
        </p:txBody>
      </p:sp>
      <p:sp>
        <p:nvSpPr>
          <p:cNvPr id="20" name="목표 2 근거"/>
          <p:cNvSpPr txBox="1"/>
          <p:nvPr/>
        </p:nvSpPr>
        <p:spPr>
          <a:xfrm>
            <a:off x="6620256" y="3310128"/>
            <a:ext cx="4956048" cy="1463040"/>
          </a:xfrm>
          <a:prstGeom prst="roundRect">
            <a:avLst>
              <a:gd name="adj" fmla="val 3125"/>
            </a:avLst>
          </a:prstGeom>
          <a:solidFill>
            <a:srgbClr val="FFFFFF"/>
          </a:solidFill>
          <a:ln w="9525">
            <a:solidFill>
              <a:srgbClr val="CBD5E1"/>
            </a:solidFill>
            <a:prstDash val="solid"/>
          </a:ln>
        </p:spPr>
        <p:txBody>
          <a:bodyPr wrap="square" lIns="109728" tIns="0" rIns="109728" bIns="0" rtlCol="0" anchor="ctr"/>
          <a:lstStyle/>
          <a:p>
            <a:pPr algn="l" indent="0" marL="0">
              <a:lnSpc>
                <a:spcPct val="92000"/>
              </a:lnSpc>
              <a:spcAft>
                <a:spcPts val="150"/>
              </a:spcAft>
              <a:buNone/>
            </a:pPr>
            <a:r>
              <a:rPr lang="en-US" sz="800" b="1" dirty="0">
                <a:solidFill>
                  <a:srgbClr val="267D86"/>
                </a:solidFill>
                <a:latin typeface="Noto Sans KR" pitchFamily="34" charset="0"/>
                <a:ea typeface="Noto Sans KR" pitchFamily="34" charset="-122"/>
                <a:cs typeface="Noto Sans KR" pitchFamily="34" charset="-120"/>
              </a:rPr>
              <a:t>산식  </a:t>
            </a:r>
            <a:pPr algn="l" indent="0" marL="0">
              <a:lnSpc>
                <a:spcPct val="92000"/>
              </a:lnSpc>
              <a:spcAft>
                <a:spcPts val="150"/>
              </a:spcAft>
              <a:buNone/>
            </a:pPr>
            <a:r>
              <a:rPr lang="en-US" sz="800" dirty="0">
                <a:solidFill>
                  <a:srgbClr val="334155"/>
                </a:solidFill>
                <a:latin typeface="Noto Sans KR" pitchFamily="34" charset="0"/>
                <a:ea typeface="Noto Sans KR" pitchFamily="34" charset="-122"/>
                <a:cs typeface="Noto Sans KR" pitchFamily="34" charset="-120"/>
              </a:rPr>
              <a:t>상담 1,200건 = 브랜드 90곳 × 10건 + 소재·제조 60곳 × 5건</a:t>
            </a:r>
            <a:endParaRPr lang="en-US" sz="800" dirty="0"/>
          </a:p>
          <a:p>
            <a:pPr algn="l" indent="0" marL="0">
              <a:lnSpc>
                <a:spcPct val="92000"/>
              </a:lnSpc>
              <a:spcAft>
                <a:spcPts val="150"/>
              </a:spcAft>
              <a:buNone/>
            </a:pPr>
            <a:r>
              <a:rPr lang="en-US" sz="800" dirty="0">
                <a:solidFill>
                  <a:srgbClr val="334155"/>
                </a:solidFill>
                <a:latin typeface="Noto Sans KR" pitchFamily="34" charset="0"/>
                <a:ea typeface="Noto Sans KR" pitchFamily="34" charset="-122"/>
                <a:cs typeface="Noto Sans KR" pitchFamily="34" charset="-120"/>
              </a:rPr>
              <a:t>= 바이어 400명 × 1인당 3건(이틀 행사에서 무리 없는 상담량)</a:t>
            </a:r>
            <a:endParaRPr lang="en-US" sz="800" dirty="0"/>
          </a:p>
          <a:p>
            <a:pPr algn="l" indent="0" marL="0">
              <a:lnSpc>
                <a:spcPct val="92000"/>
              </a:lnSpc>
              <a:spcAft>
                <a:spcPts val="150"/>
              </a:spcAft>
              <a:buNone/>
            </a:pPr>
            <a:r>
              <a:rPr lang="en-US" sz="800" dirty="0">
                <a:solidFill>
                  <a:srgbClr val="334155"/>
                </a:solidFill>
                <a:latin typeface="Noto Sans KR" pitchFamily="34" charset="0"/>
                <a:ea typeface="Noto Sans KR" pitchFamily="34" charset="-122"/>
                <a:cs typeface="Noto Sans KR" pitchFamily="34" charset="-120"/>
              </a:rPr>
              <a:t>상담액 = 브랜드 90곳 × 5.2만 달러 + 소재·제조 60곳 × 5만 달러 ≈ 770만 달러</a:t>
            </a:r>
            <a:endParaRPr lang="en-US" sz="800" dirty="0"/>
          </a:p>
          <a:p>
            <a:pPr algn="l" indent="0" marL="0">
              <a:lnSpc>
                <a:spcPct val="92000"/>
              </a:lnSpc>
              <a:spcAft>
                <a:spcPts val="150"/>
              </a:spcAft>
              <a:buNone/>
            </a:pPr>
            <a:r>
              <a:rPr lang="en-US" sz="800" dirty="0">
                <a:solidFill>
                  <a:srgbClr val="334155"/>
                </a:solidFill>
                <a:latin typeface="Noto Sans KR" pitchFamily="34" charset="0"/>
                <a:ea typeface="Noto Sans KR" pitchFamily="34" charset="-122"/>
                <a:cs typeface="Noto Sans KR" pitchFamily="34" charset="-120"/>
              </a:rPr>
              <a:t>(5.2만 달러 = 서울패션위크 트레이드쇼 671만 달러 ÷ 130개 브랜드)</a:t>
            </a:r>
            <a:endParaRPr lang="en-US" sz="800" dirty="0"/>
          </a:p>
          <a:p>
            <a:pPr algn="l" indent="0" marL="0">
              <a:lnSpc>
                <a:spcPct val="92000"/>
              </a:lnSpc>
              <a:spcAft>
                <a:spcPts val="150"/>
              </a:spcAft>
              <a:buNone/>
            </a:pPr>
            <a:r>
              <a:rPr lang="en-US" sz="800" b="1" dirty="0">
                <a:solidFill>
                  <a:srgbClr val="182F48"/>
                </a:solidFill>
                <a:latin typeface="Noto Sans KR" pitchFamily="34" charset="0"/>
                <a:ea typeface="Noto Sans KR" pitchFamily="34" charset="-122"/>
                <a:cs typeface="Noto Sans KR" pitchFamily="34" charset="-120"/>
              </a:rPr>
              <a:t>우리 행사라서 가능한 이유</a:t>
            </a:r>
            <a:endParaRPr lang="en-US" sz="800" dirty="0"/>
          </a:p>
          <a:p>
            <a:pPr algn="l" indent="0" marL="0">
              <a:lnSpc>
                <a:spcPct val="92000"/>
              </a:lnSpc>
              <a:spcAft>
                <a:spcPts val="150"/>
              </a:spcAft>
              <a:buNone/>
            </a:pPr>
            <a:r>
              <a:rPr lang="en-US" sz="800" b="1" dirty="0">
                <a:solidFill>
                  <a:srgbClr val="182F48"/>
                </a:solidFill>
                <a:latin typeface="Noto Sans KR" pitchFamily="34" charset="0"/>
                <a:ea typeface="Noto Sans KR" pitchFamily="34" charset="-122"/>
                <a:cs typeface="Noto Sans KR" pitchFamily="34" charset="-120"/>
              </a:rPr>
              <a:t>① 수요 검증  </a:t>
            </a:r>
            <a:pPr algn="l" indent="0" marL="0">
              <a:lnSpc>
                <a:spcPct val="92000"/>
              </a:lnSpc>
              <a:spcAft>
                <a:spcPts val="150"/>
              </a:spcAft>
              <a:buNone/>
            </a:pPr>
            <a:r>
              <a:rPr lang="en-US" sz="800" dirty="0">
                <a:solidFill>
                  <a:srgbClr val="334155"/>
                </a:solidFill>
                <a:latin typeface="Noto Sans KR" pitchFamily="34" charset="0"/>
                <a:ea typeface="Noto Sans KR" pitchFamily="34" charset="-122"/>
                <a:cs typeface="Noto Sans KR" pitchFamily="34" charset="-120"/>
              </a:rPr>
              <a:t>도쿄 쇼룸에 일본 바이어 200명 이상, 서울 수주회(2026.8)에 조조타운·티몰이 왔다.</a:t>
            </a:r>
            <a:endParaRPr lang="en-US" sz="800" dirty="0"/>
          </a:p>
          <a:p>
            <a:pPr algn="l" indent="0" marL="0">
              <a:lnSpc>
                <a:spcPct val="92000"/>
              </a:lnSpc>
              <a:spcAft>
                <a:spcPts val="150"/>
              </a:spcAft>
              <a:buNone/>
            </a:pPr>
            <a:r>
              <a:rPr lang="en-US" sz="800" b="1" dirty="0">
                <a:solidFill>
                  <a:srgbClr val="182F48"/>
                </a:solidFill>
                <a:latin typeface="Noto Sans KR" pitchFamily="34" charset="0"/>
                <a:ea typeface="Noto Sans KR" pitchFamily="34" charset="-122"/>
                <a:cs typeface="Noto Sans KR" pitchFamily="34" charset="-120"/>
              </a:rPr>
              <a:t>② 아시아 공백  </a:t>
            </a:r>
            <a:pPr algn="l" indent="0" marL="0">
              <a:lnSpc>
                <a:spcPct val="92000"/>
              </a:lnSpc>
              <a:spcAft>
                <a:spcPts val="150"/>
              </a:spcAft>
              <a:buNone/>
            </a:pPr>
            <a:r>
              <a:rPr lang="en-US" sz="800" dirty="0">
                <a:solidFill>
                  <a:srgbClr val="334155"/>
                </a:solidFill>
                <a:latin typeface="Noto Sans KR" pitchFamily="34" charset="0"/>
                <a:ea typeface="Noto Sans KR" pitchFamily="34" charset="-122"/>
                <a:cs typeface="Noto Sans KR" pitchFamily="34" charset="-120"/>
              </a:rPr>
              <a:t>유럽 B2B는 줄고 있고(ISPO 1,937개사), 아시아는 커진다(ISPO 상하이 3.1만 명).</a:t>
            </a:r>
            <a:endParaRPr lang="en-US" sz="800" dirty="0"/>
          </a:p>
          <a:p>
            <a:pPr algn="l" indent="0" marL="0">
              <a:lnSpc>
                <a:spcPct val="92000"/>
              </a:lnSpc>
              <a:spcAft>
                <a:spcPts val="150"/>
              </a:spcAft>
              <a:buNone/>
            </a:pPr>
            <a:r>
              <a:rPr lang="en-US" sz="800" b="1" dirty="0">
                <a:solidFill>
                  <a:srgbClr val="182F48"/>
                </a:solidFill>
                <a:latin typeface="Noto Sans KR" pitchFamily="34" charset="0"/>
                <a:ea typeface="Noto Sans KR" pitchFamily="34" charset="-122"/>
                <a:cs typeface="Noto Sans KR" pitchFamily="34" charset="-120"/>
              </a:rPr>
              <a:t>③ 원스톱 소싱  </a:t>
            </a:r>
            <a:pPr algn="l" indent="0" marL="0">
              <a:lnSpc>
                <a:spcPct val="92000"/>
              </a:lnSpc>
              <a:spcAft>
                <a:spcPts val="150"/>
              </a:spcAft>
              <a:buNone/>
            </a:pPr>
            <a:r>
              <a:rPr lang="en-US" sz="800" dirty="0">
                <a:solidFill>
                  <a:srgbClr val="334155"/>
                </a:solidFill>
                <a:latin typeface="Noto Sans KR" pitchFamily="34" charset="0"/>
                <a:ea typeface="Noto Sans KR" pitchFamily="34" charset="-122"/>
                <a:cs typeface="Noto Sans KR" pitchFamily="34" charset="-120"/>
              </a:rPr>
              <a:t>브랜드와 생산 파트너를 한 동선에서 찾아 출장 효율이 높다.</a:t>
            </a:r>
            <a:endParaRPr lang="en-US" sz="800" dirty="0"/>
          </a:p>
          <a:p>
            <a:pPr algn="l" indent="0" marL="0">
              <a:lnSpc>
                <a:spcPct val="92000"/>
              </a:lnSpc>
              <a:spcAft>
                <a:spcPts val="150"/>
              </a:spcAft>
              <a:buNone/>
            </a:pPr>
            <a:r>
              <a:rPr lang="en-US" sz="800" b="1" dirty="0">
                <a:solidFill>
                  <a:srgbClr val="182F48"/>
                </a:solidFill>
                <a:latin typeface="Noto Sans KR" pitchFamily="34" charset="0"/>
                <a:ea typeface="Noto Sans KR" pitchFamily="34" charset="-122"/>
                <a:cs typeface="Noto Sans KR" pitchFamily="34" charset="-120"/>
              </a:rPr>
              <a:t>④ 유치 경로  </a:t>
            </a:r>
            <a:pPr algn="l" indent="0" marL="0">
              <a:lnSpc>
                <a:spcPct val="92000"/>
              </a:lnSpc>
              <a:spcAft>
                <a:spcPts val="150"/>
              </a:spcAft>
              <a:buNone/>
            </a:pPr>
            <a:r>
              <a:rPr lang="en-US" sz="800" dirty="0">
                <a:solidFill>
                  <a:srgbClr val="334155"/>
                </a:solidFill>
                <a:latin typeface="Noto Sans KR" pitchFamily="34" charset="0"/>
                <a:ea typeface="Noto Sans KR" pitchFamily="34" charset="-122"/>
                <a:cs typeface="Noto Sans KR" pitchFamily="34" charset="-120"/>
              </a:rPr>
              <a:t>해외 150명은 KOTRA 초청과 서울관광재단 MICE 지원으로 모은다.</a:t>
            </a:r>
            <a:endParaRPr lang="en-US" sz="800" dirty="0"/>
          </a:p>
        </p:txBody>
      </p:sp>
      <p:sp>
        <p:nvSpPr>
          <p:cNvPr id="21" name="라벨"/>
          <p:cNvSpPr txBox="1"/>
          <p:nvPr/>
        </p:nvSpPr>
        <p:spPr>
          <a:xfrm>
            <a:off x="612648" y="4846320"/>
            <a:ext cx="1417320" cy="237744"/>
          </a:xfrm>
          <a:prstGeom prst="rect">
            <a:avLst/>
          </a:prstGeom>
          <a:noFill/>
          <a:ln/>
        </p:spPr>
        <p:txBody>
          <a:bodyPr wrap="square" lIns="0" tIns="0" rIns="0" bIns="0" rtlCol="0" anchor="t"/>
          <a:lstStyle/>
          <a:p>
            <a:pPr algn="l" indent="0" marL="0">
              <a:lnSpc>
                <a:spcPct val="100000"/>
              </a:lnSpc>
              <a:buNone/>
            </a:pPr>
            <a:r>
              <a:rPr lang="en-US" sz="1200" b="1" dirty="0">
                <a:solidFill>
                  <a:srgbClr val="182F48"/>
                </a:solidFill>
                <a:latin typeface="Noto Sans KR" pitchFamily="34" charset="0"/>
                <a:ea typeface="Noto Sans KR" pitchFamily="34" charset="-122"/>
                <a:cs typeface="Noto Sans KR" pitchFamily="34" charset="-120"/>
              </a:rPr>
              <a:t>목표 3</a:t>
            </a:r>
            <a:endParaRPr lang="en-US" sz="1200" dirty="0"/>
          </a:p>
        </p:txBody>
      </p:sp>
      <p:sp>
        <p:nvSpPr>
          <p:cNvPr id="22" name="목표 분류 3"/>
          <p:cNvSpPr txBox="1"/>
          <p:nvPr/>
        </p:nvSpPr>
        <p:spPr>
          <a:xfrm>
            <a:off x="612648" y="5102352"/>
            <a:ext cx="1417320" cy="237744"/>
          </a:xfrm>
          <a:prstGeom prst="rect">
            <a:avLst/>
          </a:prstGeom>
          <a:noFill/>
          <a:ln/>
        </p:spPr>
        <p:txBody>
          <a:bodyPr wrap="square" lIns="0" tIns="0" rIns="0" bIns="0" rtlCol="0" anchor="t"/>
          <a:lstStyle/>
          <a:p>
            <a:pPr algn="l" indent="0" marL="0">
              <a:lnSpc>
                <a:spcPct val="92000"/>
              </a:lnSpc>
              <a:buNone/>
            </a:pPr>
            <a:r>
              <a:rPr lang="en-US" sz="1000" b="1" dirty="0">
                <a:solidFill>
                  <a:srgbClr val="267D86"/>
                </a:solidFill>
                <a:latin typeface="Noto Sans KR" pitchFamily="34" charset="0"/>
                <a:ea typeface="Noto Sans KR" pitchFamily="34" charset="-122"/>
                <a:cs typeface="Noto Sans KR" pitchFamily="34" charset="-120"/>
              </a:rPr>
              <a:t>밸류체인 연결</a:t>
            </a:r>
            <a:endParaRPr lang="en-US" sz="1000" dirty="0"/>
          </a:p>
        </p:txBody>
      </p:sp>
      <p:sp>
        <p:nvSpPr>
          <p:cNvPr id="23" name="목표 3 내용"/>
          <p:cNvSpPr txBox="1"/>
          <p:nvPr/>
        </p:nvSpPr>
        <p:spPr>
          <a:xfrm>
            <a:off x="2121408" y="4828032"/>
            <a:ext cx="2103120" cy="1463040"/>
          </a:xfrm>
          <a:prstGeom prst="roundRect">
            <a:avLst>
              <a:gd name="adj" fmla="val 3125"/>
            </a:avLst>
          </a:prstGeom>
          <a:solidFill>
            <a:srgbClr val="E6F2F3"/>
          </a:solidFill>
          <a:ln/>
        </p:spPr>
        <p:txBody>
          <a:bodyPr wrap="square" lIns="91440" tIns="0" rIns="91440" bIns="0" rtlCol="0" anchor="ctr"/>
          <a:lstStyle/>
          <a:p>
            <a:pPr algn="l" indent="0" marL="0">
              <a:lnSpc>
                <a:spcPct val="92000"/>
              </a:lnSpc>
              <a:spcAft>
                <a:spcPts val="200"/>
              </a:spcAft>
              <a:buNone/>
            </a:pPr>
            <a:r>
              <a:rPr lang="en-US" sz="1500" b="1" dirty="0">
                <a:solidFill>
                  <a:srgbClr val="182F48"/>
                </a:solidFill>
                <a:latin typeface="Noto Sans KR" pitchFamily="34" charset="0"/>
                <a:ea typeface="Noto Sans KR" pitchFamily="34" charset="-122"/>
                <a:cs typeface="Noto Sans KR" pitchFamily="34" charset="-120"/>
              </a:rPr>
              <a:t>사전 매칭 300건</a:t>
            </a:r>
            <a:endParaRPr lang="en-US" sz="1500" dirty="0"/>
          </a:p>
          <a:p>
            <a:pPr algn="l" indent="0" marL="0">
              <a:lnSpc>
                <a:spcPct val="92000"/>
              </a:lnSpc>
              <a:spcAft>
                <a:spcPts val="200"/>
              </a:spcAft>
              <a:buNone/>
            </a:pPr>
            <a:r>
              <a:rPr lang="en-US" sz="850" dirty="0">
                <a:solidFill>
                  <a:srgbClr val="334155"/>
                </a:solidFill>
                <a:latin typeface="Noto Sans KR" pitchFamily="34" charset="0"/>
                <a:ea typeface="Noto Sans KR" pitchFamily="34" charset="-122"/>
                <a:cs typeface="Noto Sans KR" pitchFamily="34" charset="-120"/>
              </a:rPr>
              <a:t>→ 샘플·개발 의뢰 100건</a:t>
            </a:r>
            <a:endParaRPr lang="en-US" sz="1500" dirty="0"/>
          </a:p>
          <a:p>
            <a:pPr algn="l" indent="0" marL="0">
              <a:lnSpc>
                <a:spcPct val="92000"/>
              </a:lnSpc>
              <a:spcAft>
                <a:spcPts val="200"/>
              </a:spcAft>
              <a:buNone/>
            </a:pPr>
            <a:r>
              <a:rPr lang="en-US" sz="850" dirty="0">
                <a:solidFill>
                  <a:srgbClr val="334155"/>
                </a:solidFill>
                <a:latin typeface="Noto Sans KR" pitchFamily="34" charset="0"/>
                <a:ea typeface="Noto Sans KR" pitchFamily="34" charset="-122"/>
                <a:cs typeface="Noto Sans KR" pitchFamily="34" charset="-120"/>
              </a:rPr>
              <a:t>PFAS-free 소재 전환 상담 50건</a:t>
            </a:r>
            <a:endParaRPr lang="en-US" sz="1500" dirty="0"/>
          </a:p>
        </p:txBody>
      </p:sp>
      <p:sp>
        <p:nvSpPr>
          <p:cNvPr id="24" name="목표 3 지표"/>
          <p:cNvSpPr txBox="1"/>
          <p:nvPr/>
        </p:nvSpPr>
        <p:spPr>
          <a:xfrm>
            <a:off x="4315968" y="4828032"/>
            <a:ext cx="2212848" cy="1463040"/>
          </a:xfrm>
          <a:prstGeom prst="roundRect">
            <a:avLst>
              <a:gd name="adj" fmla="val 3125"/>
            </a:avLst>
          </a:prstGeom>
          <a:solidFill>
            <a:srgbClr val="F1F5F9"/>
          </a:solidFill>
          <a:ln/>
        </p:spPr>
        <p:txBody>
          <a:bodyPr wrap="square" lIns="91440" tIns="0" rIns="91440" bIns="0" rtlCol="0" anchor="ctr"/>
          <a:lstStyle/>
          <a:p>
            <a:pPr algn="l" indent="0" marL="0">
              <a:lnSpc>
                <a:spcPct val="92000"/>
              </a:lnSpc>
              <a:spcAft>
                <a:spcPts val="200"/>
              </a:spcAft>
              <a:buNone/>
            </a:pPr>
            <a:r>
              <a:rPr lang="en-US" sz="800" dirty="0">
                <a:solidFill>
                  <a:srgbClr val="334155"/>
                </a:solidFill>
                <a:latin typeface="Noto Sans KR" pitchFamily="34" charset="0"/>
                <a:ea typeface="Noto Sans KR" pitchFamily="34" charset="-122"/>
                <a:cs typeface="Noto Sans KR" pitchFamily="34" charset="-120"/>
              </a:rPr>
              <a:t>소재관·제조관 사전 매칭 신청서</a:t>
            </a:r>
            <a:endParaRPr lang="en-US" sz="800" dirty="0"/>
          </a:p>
          <a:p>
            <a:pPr algn="l" indent="0" marL="0">
              <a:lnSpc>
                <a:spcPct val="92000"/>
              </a:lnSpc>
              <a:spcAft>
                <a:spcPts val="200"/>
              </a:spcAft>
              <a:buNone/>
            </a:pPr>
            <a:r>
              <a:rPr lang="en-US" sz="800" dirty="0">
                <a:solidFill>
                  <a:srgbClr val="334155"/>
                </a:solidFill>
                <a:latin typeface="Noto Sans KR" pitchFamily="34" charset="0"/>
                <a:ea typeface="Noto Sans KR" pitchFamily="34" charset="-122"/>
                <a:cs typeface="Noto Sans KR" pitchFamily="34" charset="-120"/>
              </a:rPr>
              <a:t>(필요 소재 · 수량 · 납기 기재)</a:t>
            </a:r>
            <a:endParaRPr lang="en-US" sz="800" dirty="0"/>
          </a:p>
          <a:p>
            <a:pPr algn="l" indent="0" marL="0">
              <a:lnSpc>
                <a:spcPct val="92000"/>
              </a:lnSpc>
              <a:spcAft>
                <a:spcPts val="200"/>
              </a:spcAft>
              <a:buNone/>
            </a:pPr>
            <a:r>
              <a:rPr lang="en-US" sz="800" dirty="0">
                <a:solidFill>
                  <a:srgbClr val="334155"/>
                </a:solidFill>
                <a:latin typeface="Noto Sans KR" pitchFamily="34" charset="0"/>
                <a:ea typeface="Noto Sans KR" pitchFamily="34" charset="-122"/>
                <a:cs typeface="Noto Sans KR" pitchFamily="34" charset="-120"/>
              </a:rPr>
              <a:t>샘플 의뢰서 현장 QR 수집</a:t>
            </a:r>
            <a:endParaRPr lang="en-US" sz="800" dirty="0"/>
          </a:p>
          <a:p>
            <a:pPr algn="l" indent="0" marL="0">
              <a:lnSpc>
                <a:spcPct val="92000"/>
              </a:lnSpc>
              <a:spcAft>
                <a:spcPts val="200"/>
              </a:spcAft>
              <a:buNone/>
            </a:pPr>
            <a:r>
              <a:rPr lang="en-US" sz="800" dirty="0">
                <a:solidFill>
                  <a:srgbClr val="334155"/>
                </a:solidFill>
                <a:latin typeface="Noto Sans KR" pitchFamily="34" charset="0"/>
                <a:ea typeface="Noto Sans KR" pitchFamily="34" charset="-122"/>
                <a:cs typeface="Noto Sans KR" pitchFamily="34" charset="-120"/>
              </a:rPr>
              <a:t>6개월 후 양산 전환 추적</a:t>
            </a:r>
            <a:endParaRPr lang="en-US" sz="800" dirty="0"/>
          </a:p>
        </p:txBody>
      </p:sp>
      <p:sp>
        <p:nvSpPr>
          <p:cNvPr id="25" name="목표 3 근거"/>
          <p:cNvSpPr txBox="1"/>
          <p:nvPr/>
        </p:nvSpPr>
        <p:spPr>
          <a:xfrm>
            <a:off x="6620256" y="4828032"/>
            <a:ext cx="4956048" cy="1463040"/>
          </a:xfrm>
          <a:prstGeom prst="roundRect">
            <a:avLst>
              <a:gd name="adj" fmla="val 3125"/>
            </a:avLst>
          </a:prstGeom>
          <a:solidFill>
            <a:srgbClr val="FFFFFF"/>
          </a:solidFill>
          <a:ln w="9525">
            <a:solidFill>
              <a:srgbClr val="CBD5E1"/>
            </a:solidFill>
            <a:prstDash val="solid"/>
          </a:ln>
        </p:spPr>
        <p:txBody>
          <a:bodyPr wrap="square" lIns="109728" tIns="0" rIns="109728" bIns="0" rtlCol="0" anchor="ctr"/>
          <a:lstStyle/>
          <a:p>
            <a:pPr algn="l" indent="0" marL="0">
              <a:lnSpc>
                <a:spcPct val="92000"/>
              </a:lnSpc>
              <a:spcAft>
                <a:spcPts val="150"/>
              </a:spcAft>
              <a:buNone/>
            </a:pPr>
            <a:r>
              <a:rPr lang="en-US" sz="800" b="1" dirty="0">
                <a:solidFill>
                  <a:srgbClr val="267D86"/>
                </a:solidFill>
                <a:latin typeface="Noto Sans KR" pitchFamily="34" charset="0"/>
                <a:ea typeface="Noto Sans KR" pitchFamily="34" charset="-122"/>
                <a:cs typeface="Noto Sans KR" pitchFamily="34" charset="-120"/>
              </a:rPr>
              <a:t>수요  </a:t>
            </a:r>
            <a:pPr algn="l" indent="0" marL="0">
              <a:lnSpc>
                <a:spcPct val="92000"/>
              </a:lnSpc>
              <a:spcAft>
                <a:spcPts val="150"/>
              </a:spcAft>
              <a:buNone/>
            </a:pPr>
            <a:r>
              <a:rPr lang="en-US" sz="800" dirty="0">
                <a:solidFill>
                  <a:srgbClr val="334155"/>
                </a:solidFill>
                <a:latin typeface="Noto Sans KR" pitchFamily="34" charset="0"/>
                <a:ea typeface="Noto Sans KR" pitchFamily="34" charset="-122"/>
                <a:cs typeface="Noto Sans KR" pitchFamily="34" charset="-120"/>
              </a:rPr>
              <a:t>신진 브랜드는 원단 최소주문량·심실링 공정에 막혀 있다.</a:t>
            </a:r>
            <a:endParaRPr lang="en-US" sz="800" dirty="0"/>
          </a:p>
          <a:p>
            <a:pPr algn="l" indent="0" marL="0">
              <a:lnSpc>
                <a:spcPct val="92000"/>
              </a:lnSpc>
              <a:spcAft>
                <a:spcPts val="150"/>
              </a:spcAft>
              <a:buNone/>
            </a:pPr>
            <a:r>
              <a:rPr lang="en-US" sz="800" dirty="0">
                <a:solidFill>
                  <a:srgbClr val="334155"/>
                </a:solidFill>
                <a:latin typeface="Noto Sans KR" pitchFamily="34" charset="0"/>
                <a:ea typeface="Noto Sans KR" pitchFamily="34" charset="-122"/>
                <a:cs typeface="Noto Sans KR" pitchFamily="34" charset="-120"/>
              </a:rPr>
              <a:t>PFAS 기준은 2027년 50ppm으로 강화되고, 2028년에는 아웃도어 예외도 끝난다(미 캘리포니아).</a:t>
            </a:r>
            <a:endParaRPr lang="en-US" sz="800" dirty="0"/>
          </a:p>
          <a:p>
            <a:pPr algn="l" indent="0" marL="0">
              <a:lnSpc>
                <a:spcPct val="92000"/>
              </a:lnSpc>
              <a:spcAft>
                <a:spcPts val="150"/>
              </a:spcAft>
              <a:buNone/>
            </a:pPr>
            <a:r>
              <a:rPr lang="en-US" sz="800" b="1" dirty="0">
                <a:solidFill>
                  <a:srgbClr val="267D86"/>
                </a:solidFill>
                <a:latin typeface="Noto Sans KR" pitchFamily="34" charset="0"/>
                <a:ea typeface="Noto Sans KR" pitchFamily="34" charset="-122"/>
                <a:cs typeface="Noto Sans KR" pitchFamily="34" charset="-120"/>
              </a:rPr>
              <a:t>공급  </a:t>
            </a:r>
            <a:pPr algn="l" indent="0" marL="0">
              <a:lnSpc>
                <a:spcPct val="92000"/>
              </a:lnSpc>
              <a:spcAft>
                <a:spcPts val="150"/>
              </a:spcAft>
              <a:buNone/>
            </a:pPr>
            <a:r>
              <a:rPr lang="en-US" sz="800" dirty="0">
                <a:solidFill>
                  <a:srgbClr val="334155"/>
                </a:solidFill>
                <a:latin typeface="Noto Sans KR" pitchFamily="34" charset="0"/>
                <a:ea typeface="Noto Sans KR" pitchFamily="34" charset="-122"/>
                <a:cs typeface="Noto Sans KR" pitchFamily="34" charset="-120"/>
              </a:rPr>
              <a:t>소재·제조 60곳 × 사전 매칭 5건 = 300건(트레이드 데이 하루 2~3건).</a:t>
            </a:r>
            <a:endParaRPr lang="en-US" sz="800" dirty="0"/>
          </a:p>
          <a:p>
            <a:pPr algn="l" indent="0" marL="0">
              <a:lnSpc>
                <a:spcPct val="92000"/>
              </a:lnSpc>
              <a:spcAft>
                <a:spcPts val="150"/>
              </a:spcAft>
              <a:buNone/>
            </a:pPr>
            <a:r>
              <a:rPr lang="en-US" sz="800" dirty="0">
                <a:solidFill>
                  <a:srgbClr val="334155"/>
                </a:solidFill>
                <a:latin typeface="Noto Sans KR" pitchFamily="34" charset="0"/>
                <a:ea typeface="Noto Sans KR" pitchFamily="34" charset="-122"/>
                <a:cs typeface="Noto Sans KR" pitchFamily="34" charset="-120"/>
              </a:rPr>
              <a:t>PFAS-free 상담 50건은 소재관 30곳이 2건 안팎씩 받는 규모다(사전 매칭의 1/6).</a:t>
            </a:r>
            <a:endParaRPr lang="en-US" sz="800" dirty="0"/>
          </a:p>
          <a:p>
            <a:pPr algn="l" indent="0" marL="0">
              <a:lnSpc>
                <a:spcPct val="92000"/>
              </a:lnSpc>
              <a:spcAft>
                <a:spcPts val="150"/>
              </a:spcAft>
              <a:buNone/>
            </a:pPr>
            <a:r>
              <a:rPr lang="en-US" sz="800" b="1" dirty="0">
                <a:solidFill>
                  <a:srgbClr val="182F48"/>
                </a:solidFill>
                <a:latin typeface="Noto Sans KR" pitchFamily="34" charset="0"/>
                <a:ea typeface="Noto Sans KR" pitchFamily="34" charset="-122"/>
                <a:cs typeface="Noto Sans KR" pitchFamily="34" charset="-120"/>
              </a:rPr>
              <a:t>우리 행사라서 가능한 이유</a:t>
            </a:r>
            <a:endParaRPr lang="en-US" sz="800" dirty="0"/>
          </a:p>
          <a:p>
            <a:pPr algn="l" indent="0" marL="0">
              <a:lnSpc>
                <a:spcPct val="92000"/>
              </a:lnSpc>
              <a:spcAft>
                <a:spcPts val="150"/>
              </a:spcAft>
              <a:buNone/>
            </a:pPr>
            <a:r>
              <a:rPr lang="en-US" sz="800" b="1" dirty="0">
                <a:solidFill>
                  <a:srgbClr val="182F48"/>
                </a:solidFill>
                <a:latin typeface="Noto Sans KR" pitchFamily="34" charset="0"/>
                <a:ea typeface="Noto Sans KR" pitchFamily="34" charset="-122"/>
                <a:cs typeface="Noto Sans KR" pitchFamily="34" charset="-120"/>
              </a:rPr>
              <a:t>① 정책 정합  </a:t>
            </a:r>
            <a:pPr algn="l" indent="0" marL="0">
              <a:lnSpc>
                <a:spcPct val="92000"/>
              </a:lnSpc>
              <a:spcAft>
                <a:spcPts val="150"/>
              </a:spcAft>
              <a:buNone/>
            </a:pPr>
            <a:r>
              <a:rPr lang="en-US" sz="800" dirty="0">
                <a:solidFill>
                  <a:srgbClr val="334155"/>
                </a:solidFill>
                <a:latin typeface="Noto Sans KR" pitchFamily="34" charset="0"/>
                <a:ea typeface="Noto Sans KR" pitchFamily="34" charset="-122"/>
                <a:cs typeface="Noto Sans KR" pitchFamily="34" charset="-120"/>
              </a:rPr>
              <a:t>'All in Korea'의 목표인 소재-제조-브랜드 협력이 일어나는 현장이 된다.</a:t>
            </a:r>
            <a:endParaRPr lang="en-US" sz="800" dirty="0"/>
          </a:p>
          <a:p>
            <a:pPr algn="l" indent="0" marL="0">
              <a:lnSpc>
                <a:spcPct val="92000"/>
              </a:lnSpc>
              <a:spcAft>
                <a:spcPts val="150"/>
              </a:spcAft>
              <a:buNone/>
            </a:pPr>
            <a:r>
              <a:rPr lang="en-US" sz="800" b="1" dirty="0">
                <a:solidFill>
                  <a:srgbClr val="182F48"/>
                </a:solidFill>
                <a:latin typeface="Noto Sans KR" pitchFamily="34" charset="0"/>
                <a:ea typeface="Noto Sans KR" pitchFamily="34" charset="-122"/>
                <a:cs typeface="Noto Sans KR" pitchFamily="34" charset="-120"/>
              </a:rPr>
              <a:t>② 흩어진 시도 통합  </a:t>
            </a:r>
            <a:pPr algn="l" indent="0" marL="0">
              <a:lnSpc>
                <a:spcPct val="92000"/>
              </a:lnSpc>
              <a:spcAft>
                <a:spcPts val="150"/>
              </a:spcAft>
              <a:buNone/>
            </a:pPr>
            <a:r>
              <a:rPr lang="en-US" sz="800" dirty="0">
                <a:solidFill>
                  <a:srgbClr val="334155"/>
                </a:solidFill>
                <a:latin typeface="Noto Sans KR" pitchFamily="34" charset="0"/>
                <a:ea typeface="Noto Sans KR" pitchFamily="34" charset="-122"/>
                <a:cs typeface="Noto Sans KR" pitchFamily="34" charset="-120"/>
              </a:rPr>
              <a:t>대구 봉제 맵(20개사) 같은 지역 매칭을 전국 단위로 모은다.</a:t>
            </a:r>
            <a:endParaRPr lang="en-US" sz="800" dirty="0"/>
          </a:p>
          <a:p>
            <a:pPr algn="l" indent="0" marL="0">
              <a:lnSpc>
                <a:spcPct val="92000"/>
              </a:lnSpc>
              <a:spcAft>
                <a:spcPts val="150"/>
              </a:spcAft>
              <a:buNone/>
            </a:pPr>
            <a:r>
              <a:rPr lang="en-US" sz="800" b="1" dirty="0">
                <a:solidFill>
                  <a:srgbClr val="182F48"/>
                </a:solidFill>
                <a:latin typeface="Noto Sans KR" pitchFamily="34" charset="0"/>
                <a:ea typeface="Noto Sans KR" pitchFamily="34" charset="-122"/>
                <a:cs typeface="Noto Sans KR" pitchFamily="34" charset="-120"/>
              </a:rPr>
              <a:t>③ 보정 원칙  </a:t>
            </a:r>
            <a:pPr algn="l" indent="0" marL="0">
              <a:lnSpc>
                <a:spcPct val="92000"/>
              </a:lnSpc>
              <a:spcAft>
                <a:spcPts val="150"/>
              </a:spcAft>
              <a:buNone/>
            </a:pPr>
            <a:r>
              <a:rPr lang="en-US" sz="800" dirty="0">
                <a:solidFill>
                  <a:srgbClr val="334155"/>
                </a:solidFill>
                <a:latin typeface="Noto Sans KR" pitchFamily="34" charset="0"/>
                <a:ea typeface="Noto Sans KR" pitchFamily="34" charset="-122"/>
                <a:cs typeface="Noto Sans KR" pitchFamily="34" charset="-120"/>
              </a:rPr>
              <a:t>샘플 의뢰 비율 1/3은 가정이며, 1회 실측 후 2회차 목표를 고친다.</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과제 표기"/>
          <p:cNvSpPr txBox="1"/>
          <p:nvPr/>
        </p:nvSpPr>
        <p:spPr>
          <a:xfrm>
            <a:off x="612648" y="274320"/>
            <a:ext cx="5486400" cy="237744"/>
          </a:xfrm>
          <a:prstGeom prst="rect">
            <a:avLst/>
          </a:prstGeom>
          <a:noFill/>
          <a:ln/>
        </p:spPr>
        <p:txBody>
          <a:bodyPr wrap="square" lIns="0" tIns="0" rIns="0" bIns="0" rtlCol="0" anchor="t"/>
          <a:lstStyle/>
          <a:p>
            <a:pPr algn="l" indent="0" marL="0">
              <a:lnSpc>
                <a:spcPct val="92000"/>
              </a:lnSpc>
              <a:buNone/>
            </a:pPr>
            <a:r>
              <a:rPr lang="en-US" sz="1100" dirty="0">
                <a:solidFill>
                  <a:srgbClr val="64748B"/>
                </a:solidFill>
                <a:latin typeface="Noto Sans KR" pitchFamily="34" charset="0"/>
                <a:ea typeface="Noto Sans KR" pitchFamily="34" charset="-122"/>
                <a:cs typeface="Noto Sans KR" pitchFamily="34" charset="-120"/>
              </a:rPr>
              <a:t>전시산업론 중간고사 개인 과제   4/6</a:t>
            </a:r>
            <a:endParaRPr lang="en-US" sz="1100" dirty="0"/>
          </a:p>
        </p:txBody>
      </p:sp>
      <p:sp>
        <p:nvSpPr>
          <p:cNvPr id="3" name="Text 1"/>
          <p:cNvSpPr/>
          <p:nvPr>
            <p:ph idx="101" type="title" hasCustomPrompt="1"/>
          </p:nvPr>
        </p:nvSpPr>
        <p:spPr>
          <a:xfrm>
            <a:off x="612648" y="548640"/>
            <a:ext cx="10963656" cy="512064"/>
          </a:xfrm>
          <a:prstGeom prst="rect">
            <a:avLst/>
          </a:prstGeom>
          <a:noFill/>
          <a:ln/>
        </p:spPr>
        <p:txBody>
          <a:bodyPr wrap="square" lIns="0" tIns="0" rIns="0" bIns="0" rtlCol="0" anchor="ctr"/>
          <a:lstStyle/>
          <a:p>
            <a:pPr algn="l" indent="0" marL="0">
              <a:buNone/>
            </a:pPr>
            <a:r>
              <a:rPr lang="en-US" sz="3000" b="1" dirty="0">
                <a:solidFill>
                  <a:srgbClr val="182F48"/>
                </a:solidFill>
                <a:latin typeface="Noto Sans KR" pitchFamily="34" charset="0"/>
                <a:ea typeface="Noto Sans KR" pitchFamily="34" charset="-122"/>
                <a:cs typeface="Noto Sans KR" pitchFamily="34" charset="-120"/>
              </a:rPr>
              <a:t>산업 밸류체인 지도</a:t>
            </a:r>
            <a:endParaRPr lang="en-US" sz="3000" dirty="0"/>
          </a:p>
        </p:txBody>
      </p:sp>
      <p:sp>
        <p:nvSpPr>
          <p:cNvPr id="4" name="Text 1"/>
          <p:cNvSpPr/>
          <p:nvPr>
            <p:ph idx="102" type="body" hasCustomPrompt="1"/>
          </p:nvPr>
        </p:nvSpPr>
        <p:spPr>
          <a:xfrm>
            <a:off x="612648" y="1060704"/>
            <a:ext cx="10963656" cy="310896"/>
          </a:xfrm>
          <a:prstGeom prst="rect">
            <a:avLst/>
          </a:prstGeom>
          <a:noFill/>
          <a:ln/>
        </p:spPr>
        <p:txBody>
          <a:bodyPr wrap="square" lIns="0" tIns="0" rIns="0" bIns="0" rtlCol="0" anchor="ctr"/>
          <a:lstStyle/>
          <a:p>
            <a:pPr algn="l" indent="0" marL="0">
              <a:buNone/>
            </a:pPr>
            <a:r>
              <a:rPr lang="en-US" sz="1500" dirty="0">
                <a:solidFill>
                  <a:srgbClr val="267D86"/>
                </a:solidFill>
                <a:latin typeface="Noto Sans KR" pitchFamily="34" charset="0"/>
                <a:ea typeface="Noto Sans KR" pitchFamily="34" charset="-122"/>
                <a:cs typeface="Noto Sans KR" pitchFamily="34" charset="-120"/>
              </a:rPr>
              <a:t>고프코어 패션 산업의 가치 흐름과 전시회가 다룰 범위</a:t>
            </a:r>
            <a:endParaRPr lang="en-US" sz="1500" dirty="0"/>
          </a:p>
        </p:txBody>
      </p:sp>
      <p:sp>
        <p:nvSpPr>
          <p:cNvPr id="5" name="출처"/>
          <p:cNvSpPr txBox="1"/>
          <p:nvPr/>
        </p:nvSpPr>
        <p:spPr>
          <a:xfrm>
            <a:off x="612648" y="6355080"/>
            <a:ext cx="10963656" cy="457200"/>
          </a:xfrm>
          <a:prstGeom prst="rect">
            <a:avLst/>
          </a:prstGeom>
          <a:noFill/>
          <a:ln/>
        </p:spPr>
        <p:txBody>
          <a:bodyPr wrap="square" lIns="0" tIns="0" rIns="0" bIns="0" rtlCol="0" anchor="t"/>
          <a:lstStyle/>
          <a:p>
            <a:pPr algn="l" indent="0" marL="0">
              <a:lnSpc>
                <a:spcPct val="90000"/>
              </a:lnSpc>
              <a:buNone/>
            </a:pPr>
            <a:r>
              <a:rPr lang="en-US" sz="700" dirty="0">
                <a:solidFill>
                  <a:srgbClr val="64748B"/>
                </a:solidFill>
                <a:latin typeface="Noto Sans KR" pitchFamily="34" charset="0"/>
                <a:ea typeface="Noto Sans KR" pitchFamily="34" charset="-122"/>
                <a:cs typeface="Noto Sans KR" pitchFamily="34" charset="-120"/>
              </a:rPr>
              <a:t>출처: 코오롱 공식 블로그(네오벤트) · 어패럴뉴스·국제섬유신문(벤텍스·신한산업) · 파이낸셜뉴스(2024.2.1, 신한산업) · 프라우덴(태평양물산) · YKK코리아 · 삼성증권·한국투자증권(2025, 영원무역)</a:t>
            </a:r>
            <a:endParaRPr lang="en-US" sz="700" dirty="0"/>
          </a:p>
          <a:p>
            <a:pPr algn="l" indent="0" marL="0">
              <a:lnSpc>
                <a:spcPct val="90000"/>
              </a:lnSpc>
              <a:buNone/>
            </a:pPr>
            <a:r>
              <a:rPr lang="en-US" sz="700" dirty="0">
                <a:solidFill>
                  <a:srgbClr val="64748B"/>
                </a:solidFill>
                <a:latin typeface="Noto Sans KR" pitchFamily="34" charset="0"/>
                <a:ea typeface="Noto Sans KR" pitchFamily="34" charset="-122"/>
                <a:cs typeface="Noto Sans KR" pitchFamily="34" charset="-120"/>
              </a:rPr>
              <a:t>뉴스토마토(2026)·innoforest(기도산업) · 한국경제(태광실업·창신INC) · 부산일보(트렉스타) · 연세춘추(2021 봉제업체 실태조사) · 경북매일(2026, 대구 봉제 맵) · 한국경제매거진(효성 regen) · 뉴데일리(휴비스 에코에버)</a:t>
            </a:r>
            <a:endParaRPr lang="en-US" sz="700" dirty="0"/>
          </a:p>
          <a:p>
            <a:pPr algn="l" indent="0" marL="0">
              <a:lnSpc>
                <a:spcPct val="90000"/>
              </a:lnSpc>
              <a:buNone/>
            </a:pPr>
            <a:r>
              <a:rPr lang="en-US" sz="700" dirty="0">
                <a:solidFill>
                  <a:srgbClr val="64748B"/>
                </a:solidFill>
                <a:latin typeface="Noto Sans KR" pitchFamily="34" charset="0"/>
                <a:ea typeface="Noto Sans KR" pitchFamily="34" charset="-122"/>
                <a:cs typeface="Noto Sans KR" pitchFamily="34" charset="-120"/>
              </a:rPr>
              <a:t>아시아경제(2024.7.2, 노스페이스 로열티) · TENANT news(2025) · 무신사 뉴스룸(2022.10.13, 그레일즈) · 스마트투데이(2026.8, 무신사 스탠다드 수주회) · BUYMA·프루츠패밀리(고요웨어·산산기어) · 이투데이(2025, 더 풀필) · 바이라인네트워크(2023)</a:t>
            </a:r>
            <a:endParaRPr lang="en-US" sz="700" dirty="0"/>
          </a:p>
          <a:p>
            <a:pPr algn="l" indent="0" marL="0">
              <a:lnSpc>
                <a:spcPct val="90000"/>
              </a:lnSpc>
              <a:buNone/>
            </a:pPr>
            <a:r>
              <a:rPr lang="en-US" sz="700" dirty="0">
                <a:solidFill>
                  <a:srgbClr val="64748B"/>
                </a:solidFill>
                <a:latin typeface="Noto Sans KR" pitchFamily="34" charset="0"/>
                <a:ea typeface="Noto Sans KR" pitchFamily="34" charset="-122"/>
                <a:cs typeface="Noto Sans KR" pitchFamily="34" charset="-120"/>
              </a:rPr>
              <a:t>중소기업중앙회(2024.7.3, 2025.12.9) · 데일리안(FITI) · 산업통상부(2026.2.3) · 스마트투데이(2025, 프리뷰 인 서울) · 패션비즈(K패션 수출 장벽) · 아시아경제(2026.7.29, 코오롱스포츠 차이나) · 크린토피아-벤텍스 협약(2014)</a:t>
            </a:r>
            <a:endParaRPr lang="en-US" sz="700" dirty="0"/>
          </a:p>
        </p:txBody>
      </p:sp>
      <p:sp>
        <p:nvSpPr>
          <p:cNvPr id="7" name="배지 국내 기업"/>
          <p:cNvSpPr/>
          <p:nvPr/>
        </p:nvSpPr>
        <p:spPr>
          <a:xfrm>
            <a:off x="6720840" y="1129284"/>
            <a:ext cx="463296" cy="173736"/>
          </a:xfrm>
          <a:prstGeom prst="roundRect">
            <a:avLst>
              <a:gd name="adj" fmla="val 21053"/>
            </a:avLst>
          </a:prstGeom>
          <a:solidFill>
            <a:srgbClr val="E6F2F3"/>
          </a:solidFill>
          <a:ln/>
        </p:spPr>
        <p:txBody>
          <a:bodyPr wrap="square" lIns="0" tIns="0" rIns="0" bIns="0" rtlCol="0" anchor="ctr"/>
          <a:lstStyle/>
          <a:p>
            <a:pPr algn="ctr" indent="0" marL="0">
              <a:buNone/>
            </a:pPr>
            <a:r>
              <a:rPr lang="en-US" sz="750" dirty="0">
                <a:solidFill>
                  <a:srgbClr val="182F48"/>
                </a:solidFill>
                <a:latin typeface="Noto Sans KR" pitchFamily="34" charset="0"/>
                <a:ea typeface="Noto Sans KR" pitchFamily="34" charset="-122"/>
                <a:cs typeface="Noto Sans KR" pitchFamily="34" charset="-120"/>
              </a:rPr>
              <a:t>국내 기업</a:t>
            </a:r>
            <a:endParaRPr lang="en-US" sz="750" dirty="0"/>
          </a:p>
        </p:txBody>
      </p:sp>
      <p:sp>
        <p:nvSpPr>
          <p:cNvPr id="8" name="배지 해외 기업"/>
          <p:cNvSpPr/>
          <p:nvPr/>
        </p:nvSpPr>
        <p:spPr>
          <a:xfrm>
            <a:off x="7275576" y="1129284"/>
            <a:ext cx="463296" cy="173736"/>
          </a:xfrm>
          <a:prstGeom prst="roundRect">
            <a:avLst>
              <a:gd name="adj" fmla="val 21053"/>
            </a:avLst>
          </a:prstGeom>
          <a:solidFill>
            <a:srgbClr val="EEF0F3"/>
          </a:solidFill>
          <a:ln/>
        </p:spPr>
        <p:txBody>
          <a:bodyPr wrap="square" lIns="0" tIns="0" rIns="0" bIns="0" rtlCol="0" anchor="ctr"/>
          <a:lstStyle/>
          <a:p>
            <a:pPr algn="ctr" indent="0" marL="0">
              <a:buNone/>
            </a:pPr>
            <a:r>
              <a:rPr lang="en-US" sz="750" dirty="0">
                <a:solidFill>
                  <a:srgbClr val="475569"/>
                </a:solidFill>
                <a:latin typeface="Noto Sans KR" pitchFamily="34" charset="0"/>
                <a:ea typeface="Noto Sans KR" pitchFamily="34" charset="-122"/>
                <a:cs typeface="Noto Sans KR" pitchFamily="34" charset="-120"/>
              </a:rPr>
              <a:t>해외 기업</a:t>
            </a:r>
            <a:endParaRPr lang="en-US" sz="750" dirty="0"/>
          </a:p>
        </p:txBody>
      </p:sp>
      <p:sp>
        <p:nvSpPr>
          <p:cNvPr id="9" name="배지 해외 IP 라이선스"/>
          <p:cNvSpPr/>
          <p:nvPr/>
        </p:nvSpPr>
        <p:spPr>
          <a:xfrm>
            <a:off x="7830312" y="1129284"/>
            <a:ext cx="792671" cy="173736"/>
          </a:xfrm>
          <a:prstGeom prst="roundRect">
            <a:avLst>
              <a:gd name="adj" fmla="val 21053"/>
            </a:avLst>
          </a:prstGeom>
          <a:solidFill>
            <a:srgbClr val="FDEDE3"/>
          </a:solidFill>
          <a:ln/>
        </p:spPr>
        <p:txBody>
          <a:bodyPr wrap="square" lIns="0" tIns="0" rIns="0" bIns="0" rtlCol="0" anchor="ctr"/>
          <a:lstStyle/>
          <a:p>
            <a:pPr algn="ctr" indent="0" marL="0">
              <a:buNone/>
            </a:pPr>
            <a:r>
              <a:rPr lang="en-US" sz="750" dirty="0">
                <a:solidFill>
                  <a:srgbClr val="9A3412"/>
                </a:solidFill>
                <a:latin typeface="Noto Sans KR" pitchFamily="34" charset="0"/>
                <a:ea typeface="Noto Sans KR" pitchFamily="34" charset="-122"/>
                <a:cs typeface="Noto Sans KR" pitchFamily="34" charset="-120"/>
              </a:rPr>
              <a:t>해외 IP 라이선스</a:t>
            </a:r>
            <a:endParaRPr lang="en-US" sz="750" dirty="0"/>
          </a:p>
        </p:txBody>
      </p:sp>
      <p:sp>
        <p:nvSpPr>
          <p:cNvPr id="10" name="범례 설명"/>
          <p:cNvSpPr txBox="1"/>
          <p:nvPr/>
        </p:nvSpPr>
        <p:spPr>
          <a:xfrm>
            <a:off x="8760143" y="1115568"/>
            <a:ext cx="3017330" cy="201168"/>
          </a:xfrm>
          <a:prstGeom prst="rect">
            <a:avLst/>
          </a:prstGeom>
          <a:noFill/>
          <a:ln/>
        </p:spPr>
        <p:txBody>
          <a:bodyPr wrap="square" lIns="0" tIns="0" rIns="0" bIns="0" rtlCol="0" anchor="ctr"/>
          <a:lstStyle/>
          <a:p>
            <a:pPr algn="l" indent="0" marL="0">
              <a:lnSpc>
                <a:spcPct val="92000"/>
              </a:lnSpc>
              <a:buNone/>
            </a:pPr>
            <a:r>
              <a:rPr lang="en-US" sz="750" b="1" dirty="0">
                <a:solidFill>
                  <a:srgbClr val="64748B"/>
                </a:solidFill>
                <a:latin typeface="Noto Sans KR" pitchFamily="34" charset="0"/>
                <a:ea typeface="Noto Sans KR" pitchFamily="34" charset="-122"/>
                <a:cs typeface="Noto Sans KR" pitchFamily="34" charset="-120"/>
              </a:rPr>
              <a:t>→ </a:t>
            </a:r>
            <a:pPr algn="l" indent="0" marL="0">
              <a:lnSpc>
                <a:spcPct val="92000"/>
              </a:lnSpc>
              <a:buNone/>
            </a:pPr>
            <a:r>
              <a:rPr lang="en-US" sz="750" dirty="0">
                <a:solidFill>
                  <a:srgbClr val="334155"/>
                </a:solidFill>
                <a:latin typeface="Noto Sans KR" pitchFamily="34" charset="0"/>
                <a:ea typeface="Noto Sans KR" pitchFamily="34" charset="-122"/>
                <a:cs typeface="Noto Sans KR" pitchFamily="34" charset="-120"/>
              </a:rPr>
              <a:t>제품 흐름   </a:t>
            </a:r>
            <a:pPr algn="l" indent="0" marL="0">
              <a:lnSpc>
                <a:spcPct val="92000"/>
              </a:lnSpc>
              <a:buNone/>
            </a:pPr>
            <a:r>
              <a:rPr lang="en-US" sz="750" b="1" dirty="0">
                <a:solidFill>
                  <a:srgbClr val="C2410C"/>
                </a:solidFill>
                <a:latin typeface="Noto Sans KR" pitchFamily="34" charset="0"/>
                <a:ea typeface="Noto Sans KR" pitchFamily="34" charset="-122"/>
                <a:cs typeface="Noto Sans KR" pitchFamily="34" charset="-120"/>
              </a:rPr>
              <a:t>← </a:t>
            </a:r>
            <a:pPr algn="l" indent="0" marL="0">
              <a:lnSpc>
                <a:spcPct val="92000"/>
              </a:lnSpc>
              <a:buNone/>
            </a:pPr>
            <a:r>
              <a:rPr lang="en-US" sz="750" dirty="0">
                <a:solidFill>
                  <a:srgbClr val="334155"/>
                </a:solidFill>
                <a:latin typeface="Noto Sans KR" pitchFamily="34" charset="0"/>
                <a:ea typeface="Noto Sans KR" pitchFamily="34" charset="-122"/>
                <a:cs typeface="Noto Sans KR" pitchFamily="34" charset="-120"/>
              </a:rPr>
              <a:t>돈의 흐름   </a:t>
            </a:r>
            <a:pPr algn="l" indent="0" marL="0">
              <a:lnSpc>
                <a:spcPct val="92000"/>
              </a:lnSpc>
              <a:buNone/>
            </a:pPr>
            <a:r>
              <a:rPr lang="en-US" sz="750" b="1" dirty="0">
                <a:solidFill>
                  <a:srgbClr val="C2410C"/>
                </a:solidFill>
                <a:latin typeface="Noto Sans KR" pitchFamily="34" charset="0"/>
                <a:ea typeface="Noto Sans KR" pitchFamily="34" charset="-122"/>
                <a:cs typeface="Noto Sans KR" pitchFamily="34" charset="-120"/>
              </a:rPr>
              <a:t>● </a:t>
            </a:r>
            <a:pPr algn="l" indent="0" marL="0">
              <a:lnSpc>
                <a:spcPct val="92000"/>
              </a:lnSpc>
              <a:buNone/>
            </a:pPr>
            <a:r>
              <a:rPr lang="en-US" sz="750" dirty="0">
                <a:solidFill>
                  <a:srgbClr val="334155"/>
                </a:solidFill>
                <a:latin typeface="Noto Sans KR" pitchFamily="34" charset="0"/>
                <a:ea typeface="Noto Sans KR" pitchFamily="34" charset="-122"/>
                <a:cs typeface="Noto Sans KR" pitchFamily="34" charset="-120"/>
              </a:rPr>
              <a:t>병목 위치</a:t>
            </a:r>
            <a:endParaRPr lang="en-US" sz="750" dirty="0"/>
          </a:p>
        </p:txBody>
      </p:sp>
      <p:sp>
        <p:nvSpPr>
          <p:cNvPr id="11" name="지도 바탕"/>
          <p:cNvSpPr/>
          <p:nvPr/>
        </p:nvSpPr>
        <p:spPr>
          <a:xfrm>
            <a:off x="411480" y="1426464"/>
            <a:ext cx="11365992" cy="3767328"/>
          </a:xfrm>
          <a:prstGeom prst="roundRect">
            <a:avLst>
              <a:gd name="adj" fmla="val 971"/>
            </a:avLst>
          </a:prstGeom>
          <a:solidFill>
            <a:srgbClr val="F8FAFC"/>
          </a:solidFill>
          <a:ln w="9525">
            <a:solidFill>
              <a:srgbClr val="CBD5E1"/>
            </a:solidFill>
            <a:prstDash val="solid"/>
          </a:ln>
        </p:spPr>
      </p:sp>
      <p:sp>
        <p:nvSpPr>
          <p:cNvPr id="12" name="전시 정식 범위"/>
          <p:cNvSpPr/>
          <p:nvPr/>
        </p:nvSpPr>
        <p:spPr>
          <a:xfrm>
            <a:off x="1554480" y="1655064"/>
            <a:ext cx="8988552" cy="2587752"/>
          </a:xfrm>
          <a:prstGeom prst="rect">
            <a:avLst/>
          </a:prstGeom>
          <a:solidFill>
            <a:srgbClr val="FFFFFF">
              <a:alpha val="0"/>
            </a:srgbClr>
          </a:solidFill>
          <a:ln w="19050">
            <a:solidFill>
              <a:srgbClr val="267D86"/>
            </a:solidFill>
            <a:prstDash val="dash"/>
          </a:ln>
        </p:spPr>
      </p:sp>
      <p:sp>
        <p:nvSpPr>
          <p:cNvPr id="13" name="퍼블릭 랩 데이 범위"/>
          <p:cNvSpPr/>
          <p:nvPr/>
        </p:nvSpPr>
        <p:spPr>
          <a:xfrm>
            <a:off x="10561320" y="1655064"/>
            <a:ext cx="1188720" cy="2587752"/>
          </a:xfrm>
          <a:prstGeom prst="rect">
            <a:avLst/>
          </a:prstGeom>
          <a:solidFill>
            <a:srgbClr val="FFFFFF">
              <a:alpha val="0"/>
            </a:srgbClr>
          </a:solidFill>
          <a:ln w="12700">
            <a:solidFill>
              <a:srgbClr val="267D86"/>
            </a:solidFill>
            <a:prstDash val="sysDot"/>
          </a:ln>
        </p:spPr>
      </p:sp>
      <p:sp>
        <p:nvSpPr>
          <p:cNvPr id="14" name="제외 표시"/>
          <p:cNvSpPr txBox="1"/>
          <p:nvPr/>
        </p:nvSpPr>
        <p:spPr>
          <a:xfrm>
            <a:off x="484632" y="1463040"/>
            <a:ext cx="1005840" cy="201168"/>
          </a:xfrm>
          <a:prstGeom prst="rect">
            <a:avLst/>
          </a:prstGeom>
          <a:noFill/>
          <a:ln/>
        </p:spPr>
        <p:txBody>
          <a:bodyPr wrap="square" lIns="0" tIns="0" rIns="0" bIns="0" rtlCol="0" anchor="ctr"/>
          <a:lstStyle/>
          <a:p>
            <a:pPr algn="ctr" indent="0" marL="0">
              <a:lnSpc>
                <a:spcPct val="92000"/>
              </a:lnSpc>
              <a:buNone/>
            </a:pPr>
            <a:r>
              <a:rPr lang="en-US" sz="800" b="1" dirty="0">
                <a:solidFill>
                  <a:srgbClr val="94A3B8"/>
                </a:solidFill>
                <a:latin typeface="Noto Sans KR" pitchFamily="34" charset="0"/>
                <a:ea typeface="Noto Sans KR" pitchFamily="34" charset="-122"/>
                <a:cs typeface="Noto Sans KR" pitchFamily="34" charset="-120"/>
              </a:rPr>
              <a:t>제외</a:t>
            </a:r>
            <a:endParaRPr lang="en-US" sz="800" dirty="0"/>
          </a:p>
        </p:txBody>
      </p:sp>
      <p:sp>
        <p:nvSpPr>
          <p:cNvPr id="15" name="정식 범위 표시"/>
          <p:cNvSpPr txBox="1"/>
          <p:nvPr/>
        </p:nvSpPr>
        <p:spPr>
          <a:xfrm>
            <a:off x="1600200" y="1463040"/>
            <a:ext cx="8897112" cy="201168"/>
          </a:xfrm>
          <a:prstGeom prst="rect">
            <a:avLst/>
          </a:prstGeom>
          <a:noFill/>
          <a:ln/>
        </p:spPr>
        <p:txBody>
          <a:bodyPr wrap="square" lIns="0" tIns="0" rIns="0" bIns="0" rtlCol="0" anchor="ctr"/>
          <a:lstStyle/>
          <a:p>
            <a:pPr algn="ctr" indent="0" marL="0">
              <a:lnSpc>
                <a:spcPct val="92000"/>
              </a:lnSpc>
              <a:buNone/>
            </a:pPr>
            <a:r>
              <a:rPr lang="en-US" sz="850" b="1" dirty="0">
                <a:solidFill>
                  <a:srgbClr val="267D86"/>
                </a:solidFill>
                <a:latin typeface="Noto Sans KR" pitchFamily="34" charset="0"/>
                <a:ea typeface="Noto Sans KR" pitchFamily="34" charset="-122"/>
                <a:cs typeface="Noto Sans KR" pitchFamily="34" charset="-120"/>
              </a:rPr>
              <a:t>GFF SEOUL 정식 참가 범위 ②~⑥ (소재관 · 제조관 · 브랜드관 · 트레이드 데이)</a:t>
            </a:r>
            <a:endParaRPr lang="en-US" sz="850" dirty="0"/>
          </a:p>
        </p:txBody>
      </p:sp>
      <p:sp>
        <p:nvSpPr>
          <p:cNvPr id="16" name="퍼블릭 범위 표시"/>
          <p:cNvSpPr txBox="1"/>
          <p:nvPr/>
        </p:nvSpPr>
        <p:spPr>
          <a:xfrm>
            <a:off x="10561320" y="1463040"/>
            <a:ext cx="1188720" cy="201168"/>
          </a:xfrm>
          <a:prstGeom prst="rect">
            <a:avLst/>
          </a:prstGeom>
          <a:noFill/>
          <a:ln/>
        </p:spPr>
        <p:txBody>
          <a:bodyPr wrap="square" lIns="0" tIns="0" rIns="0" bIns="0" rtlCol="0" anchor="ctr"/>
          <a:lstStyle/>
          <a:p>
            <a:pPr algn="ctr" indent="0" marL="0">
              <a:lnSpc>
                <a:spcPct val="92000"/>
              </a:lnSpc>
              <a:buNone/>
            </a:pPr>
            <a:r>
              <a:rPr lang="en-US" sz="800" b="1" dirty="0">
                <a:solidFill>
                  <a:srgbClr val="267D86"/>
                </a:solidFill>
                <a:latin typeface="Noto Sans KR" pitchFamily="34" charset="0"/>
                <a:ea typeface="Noto Sans KR" pitchFamily="34" charset="-122"/>
                <a:cs typeface="Noto Sans KR" pitchFamily="34" charset="-120"/>
              </a:rPr>
              <a:t>퍼블릭 랩 데이</a:t>
            </a:r>
            <a:endParaRPr lang="en-US" sz="800" dirty="0"/>
          </a:p>
        </p:txBody>
      </p:sp>
      <p:sp>
        <p:nvSpPr>
          <p:cNvPr id="17" name="단계 1"/>
          <p:cNvSpPr txBox="1"/>
          <p:nvPr/>
        </p:nvSpPr>
        <p:spPr>
          <a:xfrm>
            <a:off x="484632" y="1700784"/>
            <a:ext cx="1005840" cy="347472"/>
          </a:xfrm>
          <a:prstGeom prst="rect">
            <a:avLst/>
          </a:prstGeom>
          <a:solidFill>
            <a:srgbClr val="94A3B8"/>
          </a:solidFill>
          <a:ln/>
        </p:spPr>
        <p:txBody>
          <a:bodyPr wrap="square" lIns="0" tIns="0" rIns="0" bIns="0" rtlCol="0" anchor="ctr"/>
          <a:lstStyle/>
          <a:p>
            <a:pPr algn="ctr" indent="0" marL="0">
              <a:lnSpc>
                <a:spcPct val="95000"/>
              </a:lnSpc>
              <a:buNone/>
            </a:pPr>
            <a:r>
              <a:rPr lang="en-US" sz="900" b="1" dirty="0">
                <a:solidFill>
                  <a:srgbClr val="FFFFFF"/>
                </a:solidFill>
                <a:latin typeface="Noto Sans KR" pitchFamily="34" charset="0"/>
                <a:ea typeface="Noto Sans KR" pitchFamily="34" charset="-122"/>
                <a:cs typeface="Noto Sans KR" pitchFamily="34" charset="-120"/>
              </a:rPr>
              <a:t>① 원사 · 원료</a:t>
            </a:r>
            <a:endParaRPr lang="en-US" sz="900" dirty="0"/>
          </a:p>
          <a:p>
            <a:pPr algn="ctr" indent="0" marL="0">
              <a:lnSpc>
                <a:spcPct val="95000"/>
              </a:lnSpc>
              <a:buNone/>
            </a:pPr>
            <a:r>
              <a:rPr lang="en-US" sz="700" dirty="0">
                <a:solidFill>
                  <a:srgbClr val="E2E8F0"/>
                </a:solidFill>
                <a:latin typeface="Noto Sans KR" pitchFamily="34" charset="0"/>
                <a:ea typeface="Noto Sans KR" pitchFamily="34" charset="-122"/>
                <a:cs typeface="Noto Sans KR" pitchFamily="34" charset="-120"/>
              </a:rPr>
              <a:t>섬유 · 화학</a:t>
            </a:r>
            <a:endParaRPr lang="en-US" sz="900" dirty="0"/>
          </a:p>
        </p:txBody>
      </p:sp>
      <p:sp>
        <p:nvSpPr>
          <p:cNvPr id="18" name="단계 본문 1"/>
          <p:cNvSpPr/>
          <p:nvPr/>
        </p:nvSpPr>
        <p:spPr>
          <a:xfrm>
            <a:off x="484632" y="2093976"/>
            <a:ext cx="1005840" cy="2121408"/>
          </a:xfrm>
          <a:prstGeom prst="rect">
            <a:avLst/>
          </a:prstGeom>
          <a:solidFill>
            <a:srgbClr val="FFFFFF"/>
          </a:solidFill>
          <a:ln w="9525">
            <a:solidFill>
              <a:srgbClr val="CBD5E1"/>
            </a:solidFill>
            <a:prstDash val="solid"/>
          </a:ln>
        </p:spPr>
      </p:sp>
      <p:sp>
        <p:nvSpPr>
          <p:cNvPr id="19" name="제품 흐름 1"/>
          <p:cNvSpPr/>
          <p:nvPr/>
        </p:nvSpPr>
        <p:spPr>
          <a:xfrm>
            <a:off x="1499616" y="1874520"/>
            <a:ext cx="91440" cy="0"/>
          </a:xfrm>
          <a:prstGeom prst="line">
            <a:avLst/>
          </a:prstGeom>
          <a:noFill/>
          <a:ln w="19050">
            <a:solidFill>
              <a:srgbClr val="94A3B8"/>
            </a:solidFill>
            <a:prstDash val="solid"/>
            <a:tailEnd type="triangle"/>
          </a:ln>
        </p:spPr>
      </p:sp>
      <p:sp>
        <p:nvSpPr>
          <p:cNvPr id="20" name="단계 2"/>
          <p:cNvSpPr txBox="1"/>
          <p:nvPr/>
        </p:nvSpPr>
        <p:spPr>
          <a:xfrm>
            <a:off x="1600200" y="1700784"/>
            <a:ext cx="1481328" cy="347472"/>
          </a:xfrm>
          <a:prstGeom prst="rect">
            <a:avLst/>
          </a:prstGeom>
          <a:solidFill>
            <a:srgbClr val="182F48"/>
          </a:solidFill>
          <a:ln/>
        </p:spPr>
        <p:txBody>
          <a:bodyPr wrap="square" lIns="0" tIns="0" rIns="0" bIns="0" rtlCol="0" anchor="ctr"/>
          <a:lstStyle/>
          <a:p>
            <a:pPr algn="ctr" indent="0" marL="0">
              <a:lnSpc>
                <a:spcPct val="95000"/>
              </a:lnSpc>
              <a:buNone/>
            </a:pPr>
            <a:r>
              <a:rPr lang="en-US" sz="900" b="1" dirty="0">
                <a:solidFill>
                  <a:srgbClr val="FFFFFF"/>
                </a:solidFill>
                <a:latin typeface="Noto Sans KR" pitchFamily="34" charset="0"/>
                <a:ea typeface="Noto Sans KR" pitchFamily="34" charset="-122"/>
                <a:cs typeface="Noto Sans KR" pitchFamily="34" charset="-120"/>
              </a:rPr>
              <a:t>② 기능성 원단</a:t>
            </a:r>
            <a:endParaRPr lang="en-US" sz="900" dirty="0"/>
          </a:p>
          <a:p>
            <a:pPr algn="ctr" indent="0" marL="0">
              <a:lnSpc>
                <a:spcPct val="95000"/>
              </a:lnSpc>
              <a:buNone/>
            </a:pPr>
            <a:r>
              <a:rPr lang="en-US" sz="700" dirty="0">
                <a:solidFill>
                  <a:srgbClr val="9FE0E6"/>
                </a:solidFill>
                <a:latin typeface="Noto Sans KR" pitchFamily="34" charset="0"/>
                <a:ea typeface="Noto Sans KR" pitchFamily="34" charset="-122"/>
                <a:cs typeface="Noto Sans KR" pitchFamily="34" charset="-120"/>
              </a:rPr>
              <a:t>투습방수 · 멤브레인</a:t>
            </a:r>
            <a:endParaRPr lang="en-US" sz="900" dirty="0"/>
          </a:p>
        </p:txBody>
      </p:sp>
      <p:sp>
        <p:nvSpPr>
          <p:cNvPr id="21" name="단계 본문 2"/>
          <p:cNvSpPr/>
          <p:nvPr/>
        </p:nvSpPr>
        <p:spPr>
          <a:xfrm>
            <a:off x="1600200" y="2093976"/>
            <a:ext cx="1481328" cy="2121408"/>
          </a:xfrm>
          <a:prstGeom prst="rect">
            <a:avLst/>
          </a:prstGeom>
          <a:solidFill>
            <a:srgbClr val="FFFFFF"/>
          </a:solidFill>
          <a:ln w="9525">
            <a:solidFill>
              <a:srgbClr val="CBD5E1"/>
            </a:solidFill>
            <a:prstDash val="solid"/>
          </a:ln>
        </p:spPr>
      </p:sp>
      <p:sp>
        <p:nvSpPr>
          <p:cNvPr id="22" name="제품 흐름 2"/>
          <p:cNvSpPr/>
          <p:nvPr/>
        </p:nvSpPr>
        <p:spPr>
          <a:xfrm>
            <a:off x="3090672" y="1874520"/>
            <a:ext cx="91440" cy="0"/>
          </a:xfrm>
          <a:prstGeom prst="line">
            <a:avLst/>
          </a:prstGeom>
          <a:noFill/>
          <a:ln w="19050">
            <a:solidFill>
              <a:srgbClr val="94A3B8"/>
            </a:solidFill>
            <a:prstDash val="solid"/>
            <a:tailEnd type="triangle"/>
          </a:ln>
        </p:spPr>
      </p:sp>
      <p:sp>
        <p:nvSpPr>
          <p:cNvPr id="23" name="단계 3"/>
          <p:cNvSpPr txBox="1"/>
          <p:nvPr/>
        </p:nvSpPr>
        <p:spPr>
          <a:xfrm>
            <a:off x="3191256" y="1700784"/>
            <a:ext cx="1298448" cy="347472"/>
          </a:xfrm>
          <a:prstGeom prst="rect">
            <a:avLst/>
          </a:prstGeom>
          <a:solidFill>
            <a:srgbClr val="182F48"/>
          </a:solidFill>
          <a:ln/>
        </p:spPr>
        <p:txBody>
          <a:bodyPr wrap="square" lIns="0" tIns="0" rIns="0" bIns="0" rtlCol="0" anchor="ctr"/>
          <a:lstStyle/>
          <a:p>
            <a:pPr algn="ctr" indent="0" marL="0">
              <a:lnSpc>
                <a:spcPct val="95000"/>
              </a:lnSpc>
              <a:buNone/>
            </a:pPr>
            <a:r>
              <a:rPr lang="en-US" sz="900" b="1" dirty="0">
                <a:solidFill>
                  <a:srgbClr val="FFFFFF"/>
                </a:solidFill>
                <a:latin typeface="Noto Sans KR" pitchFamily="34" charset="0"/>
                <a:ea typeface="Noto Sans KR" pitchFamily="34" charset="-122"/>
                <a:cs typeface="Noto Sans KR" pitchFamily="34" charset="-120"/>
              </a:rPr>
              <a:t>③ 충전재 · 부자재</a:t>
            </a:r>
            <a:endParaRPr lang="en-US" sz="900" dirty="0"/>
          </a:p>
          <a:p>
            <a:pPr algn="ctr" indent="0" marL="0">
              <a:lnSpc>
                <a:spcPct val="95000"/>
              </a:lnSpc>
              <a:buNone/>
            </a:pPr>
            <a:r>
              <a:rPr lang="en-US" sz="700" dirty="0">
                <a:solidFill>
                  <a:srgbClr val="9FE0E6"/>
                </a:solidFill>
                <a:latin typeface="Noto Sans KR" pitchFamily="34" charset="0"/>
                <a:ea typeface="Noto Sans KR" pitchFamily="34" charset="-122"/>
                <a:cs typeface="Noto Sans KR" pitchFamily="34" charset="-120"/>
              </a:rPr>
              <a:t>다운 · 지퍼 · 밑창</a:t>
            </a:r>
            <a:endParaRPr lang="en-US" sz="900" dirty="0"/>
          </a:p>
        </p:txBody>
      </p:sp>
      <p:sp>
        <p:nvSpPr>
          <p:cNvPr id="24" name="단계 본문 3"/>
          <p:cNvSpPr/>
          <p:nvPr/>
        </p:nvSpPr>
        <p:spPr>
          <a:xfrm>
            <a:off x="3191256" y="2093976"/>
            <a:ext cx="1298448" cy="2121408"/>
          </a:xfrm>
          <a:prstGeom prst="rect">
            <a:avLst/>
          </a:prstGeom>
          <a:solidFill>
            <a:srgbClr val="FFFFFF"/>
          </a:solidFill>
          <a:ln w="9525">
            <a:solidFill>
              <a:srgbClr val="CBD5E1"/>
            </a:solidFill>
            <a:prstDash val="solid"/>
          </a:ln>
        </p:spPr>
      </p:sp>
      <p:sp>
        <p:nvSpPr>
          <p:cNvPr id="25" name="제품 흐름 3"/>
          <p:cNvSpPr/>
          <p:nvPr/>
        </p:nvSpPr>
        <p:spPr>
          <a:xfrm>
            <a:off x="4498848" y="1874520"/>
            <a:ext cx="91440" cy="0"/>
          </a:xfrm>
          <a:prstGeom prst="line">
            <a:avLst/>
          </a:prstGeom>
          <a:noFill/>
          <a:ln w="19050">
            <a:solidFill>
              <a:srgbClr val="94A3B8"/>
            </a:solidFill>
            <a:prstDash val="solid"/>
            <a:tailEnd type="triangle"/>
          </a:ln>
        </p:spPr>
      </p:sp>
      <p:sp>
        <p:nvSpPr>
          <p:cNvPr id="26" name="단계 4"/>
          <p:cNvSpPr txBox="1"/>
          <p:nvPr/>
        </p:nvSpPr>
        <p:spPr>
          <a:xfrm>
            <a:off x="4599432" y="1700784"/>
            <a:ext cx="1517904" cy="347472"/>
          </a:xfrm>
          <a:prstGeom prst="rect">
            <a:avLst/>
          </a:prstGeom>
          <a:solidFill>
            <a:srgbClr val="182F48"/>
          </a:solidFill>
          <a:ln/>
        </p:spPr>
        <p:txBody>
          <a:bodyPr wrap="square" lIns="0" tIns="0" rIns="0" bIns="0" rtlCol="0" anchor="ctr"/>
          <a:lstStyle/>
          <a:p>
            <a:pPr algn="ctr" indent="0" marL="0">
              <a:lnSpc>
                <a:spcPct val="95000"/>
              </a:lnSpc>
              <a:buNone/>
            </a:pPr>
            <a:r>
              <a:rPr lang="en-US" sz="900" b="1" dirty="0">
                <a:solidFill>
                  <a:srgbClr val="FFFFFF"/>
                </a:solidFill>
                <a:latin typeface="Noto Sans KR" pitchFamily="34" charset="0"/>
                <a:ea typeface="Noto Sans KR" pitchFamily="34" charset="-122"/>
                <a:cs typeface="Noto Sans KR" pitchFamily="34" charset="-120"/>
              </a:rPr>
              <a:t>④ 생산</a:t>
            </a:r>
            <a:endParaRPr lang="en-US" sz="900" dirty="0"/>
          </a:p>
          <a:p>
            <a:pPr algn="ctr" indent="0" marL="0">
              <a:lnSpc>
                <a:spcPct val="95000"/>
              </a:lnSpc>
              <a:buNone/>
            </a:pPr>
            <a:r>
              <a:rPr lang="en-US" sz="700" dirty="0">
                <a:solidFill>
                  <a:srgbClr val="9FE0E6"/>
                </a:solidFill>
                <a:latin typeface="Noto Sans KR" pitchFamily="34" charset="0"/>
                <a:ea typeface="Noto Sans KR" pitchFamily="34" charset="-122"/>
                <a:cs typeface="Noto Sans KR" pitchFamily="34" charset="-120"/>
              </a:rPr>
              <a:t>OEM · ODM · 봉제 · 신발</a:t>
            </a:r>
            <a:endParaRPr lang="en-US" sz="900" dirty="0"/>
          </a:p>
        </p:txBody>
      </p:sp>
      <p:sp>
        <p:nvSpPr>
          <p:cNvPr id="27" name="단계 본문 4"/>
          <p:cNvSpPr/>
          <p:nvPr/>
        </p:nvSpPr>
        <p:spPr>
          <a:xfrm>
            <a:off x="4599432" y="2093976"/>
            <a:ext cx="1517904" cy="2121408"/>
          </a:xfrm>
          <a:prstGeom prst="rect">
            <a:avLst/>
          </a:prstGeom>
          <a:solidFill>
            <a:srgbClr val="FFFFFF"/>
          </a:solidFill>
          <a:ln w="9525">
            <a:solidFill>
              <a:srgbClr val="CBD5E1"/>
            </a:solidFill>
            <a:prstDash val="solid"/>
          </a:ln>
        </p:spPr>
      </p:sp>
      <p:sp>
        <p:nvSpPr>
          <p:cNvPr id="28" name="제품 흐름 4"/>
          <p:cNvSpPr/>
          <p:nvPr/>
        </p:nvSpPr>
        <p:spPr>
          <a:xfrm>
            <a:off x="6126480" y="1874520"/>
            <a:ext cx="91440" cy="0"/>
          </a:xfrm>
          <a:prstGeom prst="line">
            <a:avLst/>
          </a:prstGeom>
          <a:noFill/>
          <a:ln w="19050">
            <a:solidFill>
              <a:srgbClr val="94A3B8"/>
            </a:solidFill>
            <a:prstDash val="solid"/>
            <a:tailEnd type="triangle"/>
          </a:ln>
        </p:spPr>
      </p:sp>
      <p:sp>
        <p:nvSpPr>
          <p:cNvPr id="29" name="단계 5"/>
          <p:cNvSpPr txBox="1"/>
          <p:nvPr/>
        </p:nvSpPr>
        <p:spPr>
          <a:xfrm>
            <a:off x="6227064" y="1700784"/>
            <a:ext cx="2103120" cy="347472"/>
          </a:xfrm>
          <a:prstGeom prst="rect">
            <a:avLst/>
          </a:prstGeom>
          <a:solidFill>
            <a:srgbClr val="182F48"/>
          </a:solidFill>
          <a:ln/>
        </p:spPr>
        <p:txBody>
          <a:bodyPr wrap="square" lIns="0" tIns="0" rIns="0" bIns="0" rtlCol="0" anchor="ctr"/>
          <a:lstStyle/>
          <a:p>
            <a:pPr algn="ctr" indent="0" marL="0">
              <a:lnSpc>
                <a:spcPct val="95000"/>
              </a:lnSpc>
              <a:buNone/>
            </a:pPr>
            <a:r>
              <a:rPr lang="en-US" sz="900" b="1" dirty="0">
                <a:solidFill>
                  <a:srgbClr val="FFFFFF"/>
                </a:solidFill>
                <a:latin typeface="Noto Sans KR" pitchFamily="34" charset="0"/>
                <a:ea typeface="Noto Sans KR" pitchFamily="34" charset="-122"/>
                <a:cs typeface="Noto Sans KR" pitchFamily="34" charset="-120"/>
              </a:rPr>
              <a:t>⑤ 브랜드</a:t>
            </a:r>
            <a:endParaRPr lang="en-US" sz="900" dirty="0"/>
          </a:p>
          <a:p>
            <a:pPr algn="ctr" indent="0" marL="0">
              <a:lnSpc>
                <a:spcPct val="95000"/>
              </a:lnSpc>
              <a:buNone/>
            </a:pPr>
            <a:r>
              <a:rPr lang="en-US" sz="700" dirty="0">
                <a:solidFill>
                  <a:srgbClr val="9FE0E6"/>
                </a:solidFill>
                <a:latin typeface="Noto Sans KR" pitchFamily="34" charset="0"/>
                <a:ea typeface="Noto Sans KR" pitchFamily="34" charset="-122"/>
                <a:cs typeface="Noto Sans KR" pitchFamily="34" charset="-120"/>
              </a:rPr>
              <a:t>기획 · 디자인 · 마케팅</a:t>
            </a:r>
            <a:endParaRPr lang="en-US" sz="900" dirty="0"/>
          </a:p>
        </p:txBody>
      </p:sp>
      <p:sp>
        <p:nvSpPr>
          <p:cNvPr id="30" name="단계 본문 5"/>
          <p:cNvSpPr/>
          <p:nvPr/>
        </p:nvSpPr>
        <p:spPr>
          <a:xfrm>
            <a:off x="6227064" y="2093976"/>
            <a:ext cx="2103120" cy="2121408"/>
          </a:xfrm>
          <a:prstGeom prst="rect">
            <a:avLst/>
          </a:prstGeom>
          <a:solidFill>
            <a:srgbClr val="FFFFFF"/>
          </a:solidFill>
          <a:ln w="9525">
            <a:solidFill>
              <a:srgbClr val="CBD5E1"/>
            </a:solidFill>
            <a:prstDash val="solid"/>
          </a:ln>
        </p:spPr>
      </p:sp>
      <p:sp>
        <p:nvSpPr>
          <p:cNvPr id="31" name="제품 흐름 5"/>
          <p:cNvSpPr/>
          <p:nvPr/>
        </p:nvSpPr>
        <p:spPr>
          <a:xfrm>
            <a:off x="8339328" y="1874520"/>
            <a:ext cx="91440" cy="0"/>
          </a:xfrm>
          <a:prstGeom prst="line">
            <a:avLst/>
          </a:prstGeom>
          <a:noFill/>
          <a:ln w="19050">
            <a:solidFill>
              <a:srgbClr val="94A3B8"/>
            </a:solidFill>
            <a:prstDash val="solid"/>
            <a:tailEnd type="triangle"/>
          </a:ln>
        </p:spPr>
      </p:sp>
      <p:sp>
        <p:nvSpPr>
          <p:cNvPr id="32" name="단계 6"/>
          <p:cNvSpPr txBox="1"/>
          <p:nvPr/>
        </p:nvSpPr>
        <p:spPr>
          <a:xfrm>
            <a:off x="8439912" y="1700784"/>
            <a:ext cx="2057400" cy="347472"/>
          </a:xfrm>
          <a:prstGeom prst="rect">
            <a:avLst/>
          </a:prstGeom>
          <a:solidFill>
            <a:srgbClr val="182F48"/>
          </a:solidFill>
          <a:ln/>
        </p:spPr>
        <p:txBody>
          <a:bodyPr wrap="square" lIns="0" tIns="0" rIns="0" bIns="0" rtlCol="0" anchor="ctr"/>
          <a:lstStyle/>
          <a:p>
            <a:pPr algn="ctr" indent="0" marL="0">
              <a:lnSpc>
                <a:spcPct val="95000"/>
              </a:lnSpc>
              <a:buNone/>
            </a:pPr>
            <a:r>
              <a:rPr lang="en-US" sz="900" b="1" dirty="0">
                <a:solidFill>
                  <a:srgbClr val="FFFFFF"/>
                </a:solidFill>
                <a:latin typeface="Noto Sans KR" pitchFamily="34" charset="0"/>
                <a:ea typeface="Noto Sans KR" pitchFamily="34" charset="-122"/>
                <a:cs typeface="Noto Sans KR" pitchFamily="34" charset="-120"/>
              </a:rPr>
              <a:t>⑥ 유통 (B2B 바이어)</a:t>
            </a:r>
            <a:endParaRPr lang="en-US" sz="900" dirty="0"/>
          </a:p>
          <a:p>
            <a:pPr algn="ctr" indent="0" marL="0">
              <a:lnSpc>
                <a:spcPct val="95000"/>
              </a:lnSpc>
              <a:buNone/>
            </a:pPr>
            <a:r>
              <a:rPr lang="en-US" sz="700" dirty="0">
                <a:solidFill>
                  <a:srgbClr val="9FE0E6"/>
                </a:solidFill>
                <a:latin typeface="Noto Sans KR" pitchFamily="34" charset="0"/>
                <a:ea typeface="Noto Sans KR" pitchFamily="34" charset="-122"/>
                <a:cs typeface="Noto Sans KR" pitchFamily="34" charset="-120"/>
              </a:rPr>
              <a:t>국내 · 해외 판매 채널</a:t>
            </a:r>
            <a:endParaRPr lang="en-US" sz="900" dirty="0"/>
          </a:p>
        </p:txBody>
      </p:sp>
      <p:sp>
        <p:nvSpPr>
          <p:cNvPr id="33" name="단계 본문 6"/>
          <p:cNvSpPr/>
          <p:nvPr/>
        </p:nvSpPr>
        <p:spPr>
          <a:xfrm>
            <a:off x="8439912" y="2093976"/>
            <a:ext cx="2057400" cy="2121408"/>
          </a:xfrm>
          <a:prstGeom prst="rect">
            <a:avLst/>
          </a:prstGeom>
          <a:solidFill>
            <a:srgbClr val="FFFFFF"/>
          </a:solidFill>
          <a:ln w="9525">
            <a:solidFill>
              <a:srgbClr val="CBD5E1"/>
            </a:solidFill>
            <a:prstDash val="solid"/>
          </a:ln>
        </p:spPr>
      </p:sp>
      <p:sp>
        <p:nvSpPr>
          <p:cNvPr id="34" name="제품 흐름 6"/>
          <p:cNvSpPr/>
          <p:nvPr/>
        </p:nvSpPr>
        <p:spPr>
          <a:xfrm>
            <a:off x="10506456" y="1874520"/>
            <a:ext cx="91440" cy="0"/>
          </a:xfrm>
          <a:prstGeom prst="line">
            <a:avLst/>
          </a:prstGeom>
          <a:noFill/>
          <a:ln w="19050">
            <a:solidFill>
              <a:srgbClr val="94A3B8"/>
            </a:solidFill>
            <a:prstDash val="solid"/>
            <a:tailEnd type="triangle"/>
          </a:ln>
        </p:spPr>
      </p:sp>
      <p:sp>
        <p:nvSpPr>
          <p:cNvPr id="35" name="단계 7"/>
          <p:cNvSpPr txBox="1"/>
          <p:nvPr/>
        </p:nvSpPr>
        <p:spPr>
          <a:xfrm>
            <a:off x="10607040" y="1700784"/>
            <a:ext cx="1097280" cy="347472"/>
          </a:xfrm>
          <a:prstGeom prst="rect">
            <a:avLst/>
          </a:prstGeom>
          <a:solidFill>
            <a:srgbClr val="182F48"/>
          </a:solidFill>
          <a:ln/>
        </p:spPr>
        <p:txBody>
          <a:bodyPr wrap="square" lIns="0" tIns="0" rIns="0" bIns="0" rtlCol="0" anchor="ctr"/>
          <a:lstStyle/>
          <a:p>
            <a:pPr algn="ctr" indent="0" marL="0">
              <a:lnSpc>
                <a:spcPct val="95000"/>
              </a:lnSpc>
              <a:buNone/>
            </a:pPr>
            <a:r>
              <a:rPr lang="en-US" sz="900" b="1" dirty="0">
                <a:solidFill>
                  <a:srgbClr val="FFFFFF"/>
                </a:solidFill>
                <a:latin typeface="Noto Sans KR" pitchFamily="34" charset="0"/>
                <a:ea typeface="Noto Sans KR" pitchFamily="34" charset="-122"/>
                <a:cs typeface="Noto Sans KR" pitchFamily="34" charset="-120"/>
              </a:rPr>
              <a:t>⑦ 소비자 · 순환</a:t>
            </a:r>
            <a:endParaRPr lang="en-US" sz="900" dirty="0"/>
          </a:p>
          <a:p>
            <a:pPr algn="ctr" indent="0" marL="0">
              <a:lnSpc>
                <a:spcPct val="95000"/>
              </a:lnSpc>
              <a:buNone/>
            </a:pPr>
            <a:r>
              <a:rPr lang="en-US" sz="700" dirty="0">
                <a:solidFill>
                  <a:srgbClr val="9FE0E6"/>
                </a:solidFill>
                <a:latin typeface="Noto Sans KR" pitchFamily="34" charset="0"/>
                <a:ea typeface="Noto Sans KR" pitchFamily="34" charset="-122"/>
                <a:cs typeface="Noto Sans KR" pitchFamily="34" charset="-120"/>
              </a:rPr>
              <a:t>착용 · 리세일 · 재활용</a:t>
            </a:r>
            <a:endParaRPr lang="en-US" sz="900" dirty="0"/>
          </a:p>
        </p:txBody>
      </p:sp>
      <p:sp>
        <p:nvSpPr>
          <p:cNvPr id="36" name="단계 본문 7"/>
          <p:cNvSpPr/>
          <p:nvPr/>
        </p:nvSpPr>
        <p:spPr>
          <a:xfrm>
            <a:off x="10607040" y="2093976"/>
            <a:ext cx="1097280" cy="2121408"/>
          </a:xfrm>
          <a:prstGeom prst="rect">
            <a:avLst/>
          </a:prstGeom>
          <a:solidFill>
            <a:srgbClr val="FFFFFF"/>
          </a:solidFill>
          <a:ln w="9525">
            <a:solidFill>
              <a:srgbClr val="CBD5E1"/>
            </a:solidFill>
            <a:prstDash val="solid"/>
          </a:ln>
        </p:spPr>
      </p:sp>
      <p:sp>
        <p:nvSpPr>
          <p:cNvPr id="37" name="단계 1 국내"/>
          <p:cNvSpPr txBox="1"/>
          <p:nvPr/>
        </p:nvSpPr>
        <p:spPr>
          <a:xfrm>
            <a:off x="539496" y="2148840"/>
            <a:ext cx="896112" cy="137160"/>
          </a:xfrm>
          <a:prstGeom prst="rect">
            <a:avLst/>
          </a:prstGeom>
          <a:noFill/>
          <a:ln/>
        </p:spPr>
        <p:txBody>
          <a:bodyPr wrap="square" lIns="0" tIns="0" rIns="0" bIns="0" rtlCol="0" anchor="t"/>
          <a:lstStyle/>
          <a:p>
            <a:pPr algn="l" indent="0" marL="0">
              <a:lnSpc>
                <a:spcPct val="90000"/>
              </a:lnSpc>
              <a:buNone/>
            </a:pPr>
            <a:r>
              <a:rPr lang="en-US" sz="680" b="1" dirty="0">
                <a:solidFill>
                  <a:srgbClr val="267D86"/>
                </a:solidFill>
                <a:latin typeface="Noto Sans KR" pitchFamily="34" charset="0"/>
                <a:ea typeface="Noto Sans KR" pitchFamily="34" charset="-122"/>
                <a:cs typeface="Noto Sans KR" pitchFamily="34" charset="-120"/>
              </a:rPr>
              <a:t>국내</a:t>
            </a:r>
            <a:endParaRPr lang="en-US" sz="680" dirty="0"/>
          </a:p>
        </p:txBody>
      </p:sp>
      <p:sp>
        <p:nvSpPr>
          <p:cNvPr id="38" name="배지 효성티앤씨"/>
          <p:cNvSpPr/>
          <p:nvPr/>
        </p:nvSpPr>
        <p:spPr>
          <a:xfrm>
            <a:off x="539496" y="2295144"/>
            <a:ext cx="500380" cy="164592"/>
          </a:xfrm>
          <a:prstGeom prst="roundRect">
            <a:avLst>
              <a:gd name="adj" fmla="val 22222"/>
            </a:avLst>
          </a:prstGeom>
          <a:solidFill>
            <a:srgbClr val="FFFFFF"/>
          </a:solidFill>
          <a:ln w="6350">
            <a:solidFill>
              <a:srgbClr val="CBD5E1"/>
            </a:solidFill>
          </a:ln>
        </p:spPr>
        <p:txBody>
          <a:bodyPr wrap="square" lIns="0" tIns="0" rIns="0" bIns="0" rtlCol="0" anchor="ctr"/>
          <a:lstStyle/>
          <a:p>
            <a:pPr algn="ctr" indent="0" marL="0">
              <a:buNone/>
            </a:pPr>
            <a:r>
              <a:rPr lang="en-US" sz="700" dirty="0">
                <a:solidFill>
                  <a:srgbClr val="94A3B8"/>
                </a:solidFill>
                <a:latin typeface="Noto Sans KR" pitchFamily="34" charset="0"/>
                <a:ea typeface="Noto Sans KR" pitchFamily="34" charset="-122"/>
                <a:cs typeface="Noto Sans KR" pitchFamily="34" charset="-120"/>
              </a:rPr>
              <a:t>효성티앤씨</a:t>
            </a:r>
            <a:endParaRPr lang="en-US" sz="700" dirty="0"/>
          </a:p>
        </p:txBody>
      </p:sp>
      <p:sp>
        <p:nvSpPr>
          <p:cNvPr id="39" name="배지 태광산업"/>
          <p:cNvSpPr/>
          <p:nvPr/>
        </p:nvSpPr>
        <p:spPr>
          <a:xfrm>
            <a:off x="539496" y="2491740"/>
            <a:ext cx="418592" cy="164592"/>
          </a:xfrm>
          <a:prstGeom prst="roundRect">
            <a:avLst>
              <a:gd name="adj" fmla="val 22222"/>
            </a:avLst>
          </a:prstGeom>
          <a:solidFill>
            <a:srgbClr val="FFFFFF"/>
          </a:solidFill>
          <a:ln w="6350">
            <a:solidFill>
              <a:srgbClr val="CBD5E1"/>
            </a:solidFill>
          </a:ln>
        </p:spPr>
        <p:txBody>
          <a:bodyPr wrap="square" lIns="0" tIns="0" rIns="0" bIns="0" rtlCol="0" anchor="ctr"/>
          <a:lstStyle/>
          <a:p>
            <a:pPr algn="ctr" indent="0" marL="0">
              <a:buNone/>
            </a:pPr>
            <a:r>
              <a:rPr lang="en-US" sz="700" dirty="0">
                <a:solidFill>
                  <a:srgbClr val="94A3B8"/>
                </a:solidFill>
                <a:latin typeface="Noto Sans KR" pitchFamily="34" charset="0"/>
                <a:ea typeface="Noto Sans KR" pitchFamily="34" charset="-122"/>
                <a:cs typeface="Noto Sans KR" pitchFamily="34" charset="-120"/>
              </a:rPr>
              <a:t>태광산업</a:t>
            </a:r>
            <a:endParaRPr lang="en-US" sz="700" dirty="0"/>
          </a:p>
        </p:txBody>
      </p:sp>
      <p:sp>
        <p:nvSpPr>
          <p:cNvPr id="40" name="배지 휴비스"/>
          <p:cNvSpPr/>
          <p:nvPr/>
        </p:nvSpPr>
        <p:spPr>
          <a:xfrm>
            <a:off x="994664" y="2491740"/>
            <a:ext cx="336804" cy="164592"/>
          </a:xfrm>
          <a:prstGeom prst="roundRect">
            <a:avLst>
              <a:gd name="adj" fmla="val 22222"/>
            </a:avLst>
          </a:prstGeom>
          <a:solidFill>
            <a:srgbClr val="FFFFFF"/>
          </a:solidFill>
          <a:ln w="6350">
            <a:solidFill>
              <a:srgbClr val="CBD5E1"/>
            </a:solidFill>
          </a:ln>
        </p:spPr>
        <p:txBody>
          <a:bodyPr wrap="square" lIns="0" tIns="0" rIns="0" bIns="0" rtlCol="0" anchor="ctr"/>
          <a:lstStyle/>
          <a:p>
            <a:pPr algn="ctr" indent="0" marL="0">
              <a:buNone/>
            </a:pPr>
            <a:r>
              <a:rPr lang="en-US" sz="700" dirty="0">
                <a:solidFill>
                  <a:srgbClr val="94A3B8"/>
                </a:solidFill>
                <a:latin typeface="Noto Sans KR" pitchFamily="34" charset="0"/>
                <a:ea typeface="Noto Sans KR" pitchFamily="34" charset="-122"/>
                <a:cs typeface="Noto Sans KR" pitchFamily="34" charset="-120"/>
              </a:rPr>
              <a:t>휴비스</a:t>
            </a:r>
            <a:endParaRPr lang="en-US" sz="700" dirty="0"/>
          </a:p>
        </p:txBody>
      </p:sp>
      <p:sp>
        <p:nvSpPr>
          <p:cNvPr id="41" name="단계 1 해외"/>
          <p:cNvSpPr txBox="1"/>
          <p:nvPr/>
        </p:nvSpPr>
        <p:spPr>
          <a:xfrm>
            <a:off x="539496" y="2711196"/>
            <a:ext cx="896112" cy="137160"/>
          </a:xfrm>
          <a:prstGeom prst="rect">
            <a:avLst/>
          </a:prstGeom>
          <a:noFill/>
          <a:ln/>
        </p:spPr>
        <p:txBody>
          <a:bodyPr wrap="square" lIns="0" tIns="0" rIns="0" bIns="0" rtlCol="0" anchor="t"/>
          <a:lstStyle/>
          <a:p>
            <a:pPr algn="l" indent="0" marL="0">
              <a:lnSpc>
                <a:spcPct val="90000"/>
              </a:lnSpc>
              <a:buNone/>
            </a:pPr>
            <a:r>
              <a:rPr lang="en-US" sz="680" b="1" dirty="0">
                <a:solidFill>
                  <a:srgbClr val="267D86"/>
                </a:solidFill>
                <a:latin typeface="Noto Sans KR" pitchFamily="34" charset="0"/>
                <a:ea typeface="Noto Sans KR" pitchFamily="34" charset="-122"/>
                <a:cs typeface="Noto Sans KR" pitchFamily="34" charset="-120"/>
              </a:rPr>
              <a:t>해외</a:t>
            </a:r>
            <a:endParaRPr lang="en-US" sz="680" dirty="0"/>
          </a:p>
        </p:txBody>
      </p:sp>
      <p:sp>
        <p:nvSpPr>
          <p:cNvPr id="42" name="배지 인비스타"/>
          <p:cNvSpPr/>
          <p:nvPr/>
        </p:nvSpPr>
        <p:spPr>
          <a:xfrm>
            <a:off x="539496" y="2857500"/>
            <a:ext cx="418592" cy="164592"/>
          </a:xfrm>
          <a:prstGeom prst="roundRect">
            <a:avLst>
              <a:gd name="adj" fmla="val 22222"/>
            </a:avLst>
          </a:prstGeom>
          <a:solidFill>
            <a:srgbClr val="FFFFFF"/>
          </a:solidFill>
          <a:ln w="6350">
            <a:solidFill>
              <a:srgbClr val="CBD5E1"/>
            </a:solidFill>
          </a:ln>
        </p:spPr>
        <p:txBody>
          <a:bodyPr wrap="square" lIns="0" tIns="0" rIns="0" bIns="0" rtlCol="0" anchor="ctr"/>
          <a:lstStyle/>
          <a:p>
            <a:pPr algn="ctr" indent="0" marL="0">
              <a:buNone/>
            </a:pPr>
            <a:r>
              <a:rPr lang="en-US" sz="700" dirty="0">
                <a:solidFill>
                  <a:srgbClr val="94A3B8"/>
                </a:solidFill>
                <a:latin typeface="Noto Sans KR" pitchFamily="34" charset="0"/>
                <a:ea typeface="Noto Sans KR" pitchFamily="34" charset="-122"/>
                <a:cs typeface="Noto Sans KR" pitchFamily="34" charset="-120"/>
              </a:rPr>
              <a:t>인비스타</a:t>
            </a:r>
            <a:endParaRPr lang="en-US" sz="700" dirty="0"/>
          </a:p>
        </p:txBody>
      </p:sp>
      <p:sp>
        <p:nvSpPr>
          <p:cNvPr id="43" name="배지 도레이"/>
          <p:cNvSpPr/>
          <p:nvPr/>
        </p:nvSpPr>
        <p:spPr>
          <a:xfrm>
            <a:off x="994664" y="2857500"/>
            <a:ext cx="336804" cy="164592"/>
          </a:xfrm>
          <a:prstGeom prst="roundRect">
            <a:avLst>
              <a:gd name="adj" fmla="val 22222"/>
            </a:avLst>
          </a:prstGeom>
          <a:solidFill>
            <a:srgbClr val="FFFFFF"/>
          </a:solidFill>
          <a:ln w="6350">
            <a:solidFill>
              <a:srgbClr val="CBD5E1"/>
            </a:solidFill>
          </a:ln>
        </p:spPr>
        <p:txBody>
          <a:bodyPr wrap="square" lIns="0" tIns="0" rIns="0" bIns="0" rtlCol="0" anchor="ctr"/>
          <a:lstStyle/>
          <a:p>
            <a:pPr algn="ctr" indent="0" marL="0">
              <a:buNone/>
            </a:pPr>
            <a:r>
              <a:rPr lang="en-US" sz="700" dirty="0">
                <a:solidFill>
                  <a:srgbClr val="94A3B8"/>
                </a:solidFill>
                <a:latin typeface="Noto Sans KR" pitchFamily="34" charset="0"/>
                <a:ea typeface="Noto Sans KR" pitchFamily="34" charset="-122"/>
                <a:cs typeface="Noto Sans KR" pitchFamily="34" charset="-120"/>
              </a:rPr>
              <a:t>도레이</a:t>
            </a:r>
            <a:endParaRPr lang="en-US" sz="700" dirty="0"/>
          </a:p>
        </p:txBody>
      </p:sp>
      <p:sp>
        <p:nvSpPr>
          <p:cNvPr id="44" name="단계 1 리사이클 원사"/>
          <p:cNvSpPr txBox="1"/>
          <p:nvPr/>
        </p:nvSpPr>
        <p:spPr>
          <a:xfrm>
            <a:off x="539496" y="3076956"/>
            <a:ext cx="896112" cy="137160"/>
          </a:xfrm>
          <a:prstGeom prst="rect">
            <a:avLst/>
          </a:prstGeom>
          <a:noFill/>
          <a:ln/>
        </p:spPr>
        <p:txBody>
          <a:bodyPr wrap="square" lIns="0" tIns="0" rIns="0" bIns="0" rtlCol="0" anchor="t"/>
          <a:lstStyle/>
          <a:p>
            <a:pPr algn="l" indent="0" marL="0">
              <a:lnSpc>
                <a:spcPct val="90000"/>
              </a:lnSpc>
              <a:buNone/>
            </a:pPr>
            <a:r>
              <a:rPr lang="en-US" sz="680" b="1" dirty="0">
                <a:solidFill>
                  <a:srgbClr val="267D86"/>
                </a:solidFill>
                <a:latin typeface="Noto Sans KR" pitchFamily="34" charset="0"/>
                <a:ea typeface="Noto Sans KR" pitchFamily="34" charset="-122"/>
                <a:cs typeface="Noto Sans KR" pitchFamily="34" charset="-120"/>
              </a:rPr>
              <a:t>리사이클 원사</a:t>
            </a:r>
            <a:endParaRPr lang="en-US" sz="680" dirty="0"/>
          </a:p>
        </p:txBody>
      </p:sp>
      <p:sp>
        <p:nvSpPr>
          <p:cNvPr id="45" name="배지 효성 regen"/>
          <p:cNvSpPr/>
          <p:nvPr/>
        </p:nvSpPr>
        <p:spPr>
          <a:xfrm>
            <a:off x="539496" y="3223260"/>
            <a:ext cx="533095" cy="164592"/>
          </a:xfrm>
          <a:prstGeom prst="roundRect">
            <a:avLst>
              <a:gd name="adj" fmla="val 22222"/>
            </a:avLst>
          </a:prstGeom>
          <a:solidFill>
            <a:srgbClr val="FFFFFF"/>
          </a:solidFill>
          <a:ln w="6350">
            <a:solidFill>
              <a:srgbClr val="CBD5E1"/>
            </a:solidFill>
          </a:ln>
        </p:spPr>
        <p:txBody>
          <a:bodyPr wrap="square" lIns="0" tIns="0" rIns="0" bIns="0" rtlCol="0" anchor="ctr"/>
          <a:lstStyle/>
          <a:p>
            <a:pPr algn="ctr" indent="0" marL="0">
              <a:buNone/>
            </a:pPr>
            <a:r>
              <a:rPr lang="en-US" sz="700" dirty="0">
                <a:solidFill>
                  <a:srgbClr val="94A3B8"/>
                </a:solidFill>
                <a:latin typeface="Noto Sans KR" pitchFamily="34" charset="0"/>
                <a:ea typeface="Noto Sans KR" pitchFamily="34" charset="-122"/>
                <a:cs typeface="Noto Sans KR" pitchFamily="34" charset="-120"/>
              </a:rPr>
              <a:t>효성 regen</a:t>
            </a:r>
            <a:endParaRPr lang="en-US" sz="700" dirty="0"/>
          </a:p>
        </p:txBody>
      </p:sp>
      <p:sp>
        <p:nvSpPr>
          <p:cNvPr id="46" name="배지 휴비스 에코에버"/>
          <p:cNvSpPr/>
          <p:nvPr/>
        </p:nvSpPr>
        <p:spPr>
          <a:xfrm>
            <a:off x="539496" y="3419856"/>
            <a:ext cx="683870" cy="164592"/>
          </a:xfrm>
          <a:prstGeom prst="roundRect">
            <a:avLst>
              <a:gd name="adj" fmla="val 22222"/>
            </a:avLst>
          </a:prstGeom>
          <a:solidFill>
            <a:srgbClr val="FFFFFF"/>
          </a:solidFill>
          <a:ln w="6350">
            <a:solidFill>
              <a:srgbClr val="CBD5E1"/>
            </a:solidFill>
          </a:ln>
        </p:spPr>
        <p:txBody>
          <a:bodyPr wrap="square" lIns="0" tIns="0" rIns="0" bIns="0" rtlCol="0" anchor="ctr"/>
          <a:lstStyle/>
          <a:p>
            <a:pPr algn="ctr" indent="0" marL="0">
              <a:buNone/>
            </a:pPr>
            <a:r>
              <a:rPr lang="en-US" sz="700" dirty="0">
                <a:solidFill>
                  <a:srgbClr val="94A3B8"/>
                </a:solidFill>
                <a:latin typeface="Noto Sans KR" pitchFamily="34" charset="0"/>
                <a:ea typeface="Noto Sans KR" pitchFamily="34" charset="-122"/>
                <a:cs typeface="Noto Sans KR" pitchFamily="34" charset="-120"/>
              </a:rPr>
              <a:t>휴비스 에코에버</a:t>
            </a:r>
            <a:endParaRPr lang="en-US" sz="700" dirty="0"/>
          </a:p>
        </p:txBody>
      </p:sp>
      <p:sp>
        <p:nvSpPr>
          <p:cNvPr id="47" name="단계 2 국내 원단사"/>
          <p:cNvSpPr txBox="1"/>
          <p:nvPr/>
        </p:nvSpPr>
        <p:spPr>
          <a:xfrm>
            <a:off x="1655064" y="2148840"/>
            <a:ext cx="1371600" cy="137160"/>
          </a:xfrm>
          <a:prstGeom prst="rect">
            <a:avLst/>
          </a:prstGeom>
          <a:noFill/>
          <a:ln/>
        </p:spPr>
        <p:txBody>
          <a:bodyPr wrap="square" lIns="0" tIns="0" rIns="0" bIns="0" rtlCol="0" anchor="t"/>
          <a:lstStyle/>
          <a:p>
            <a:pPr algn="l" indent="0" marL="0">
              <a:lnSpc>
                <a:spcPct val="90000"/>
              </a:lnSpc>
              <a:buNone/>
            </a:pPr>
            <a:r>
              <a:rPr lang="en-US" sz="680" b="1" dirty="0">
                <a:solidFill>
                  <a:srgbClr val="267D86"/>
                </a:solidFill>
                <a:latin typeface="Noto Sans KR" pitchFamily="34" charset="0"/>
                <a:ea typeface="Noto Sans KR" pitchFamily="34" charset="-122"/>
                <a:cs typeface="Noto Sans KR" pitchFamily="34" charset="-120"/>
              </a:rPr>
              <a:t>국내 원단사</a:t>
            </a:r>
            <a:endParaRPr lang="en-US" sz="680" dirty="0"/>
          </a:p>
        </p:txBody>
      </p:sp>
      <p:sp>
        <p:nvSpPr>
          <p:cNvPr id="48" name="배지 코오롱인더스트리"/>
          <p:cNvSpPr/>
          <p:nvPr/>
        </p:nvSpPr>
        <p:spPr>
          <a:xfrm>
            <a:off x="1655064" y="2295144"/>
            <a:ext cx="745744" cy="164592"/>
          </a:xfrm>
          <a:prstGeom prst="roundRect">
            <a:avLst>
              <a:gd name="adj" fmla="val 22222"/>
            </a:avLst>
          </a:prstGeom>
          <a:solidFill>
            <a:srgbClr val="E6F2F3"/>
          </a:solidFill>
          <a:ln/>
        </p:spPr>
        <p:txBody>
          <a:bodyPr wrap="square" lIns="0" tIns="0" rIns="0" bIns="0" rtlCol="0" anchor="ctr"/>
          <a:lstStyle/>
          <a:p>
            <a:pPr algn="ctr" indent="0" marL="0">
              <a:buNone/>
            </a:pPr>
            <a:r>
              <a:rPr lang="en-US" sz="700" dirty="0">
                <a:solidFill>
                  <a:srgbClr val="182F48"/>
                </a:solidFill>
                <a:latin typeface="Noto Sans KR" pitchFamily="34" charset="0"/>
                <a:ea typeface="Noto Sans KR" pitchFamily="34" charset="-122"/>
                <a:cs typeface="Noto Sans KR" pitchFamily="34" charset="-120"/>
              </a:rPr>
              <a:t>코오롱인더스트리</a:t>
            </a:r>
            <a:endParaRPr lang="en-US" sz="700" dirty="0"/>
          </a:p>
        </p:txBody>
      </p:sp>
      <p:sp>
        <p:nvSpPr>
          <p:cNvPr id="49" name="배지 효성티앤씨"/>
          <p:cNvSpPr/>
          <p:nvPr/>
        </p:nvSpPr>
        <p:spPr>
          <a:xfrm>
            <a:off x="2437384" y="2295144"/>
            <a:ext cx="500380" cy="164592"/>
          </a:xfrm>
          <a:prstGeom prst="roundRect">
            <a:avLst>
              <a:gd name="adj" fmla="val 22222"/>
            </a:avLst>
          </a:prstGeom>
          <a:solidFill>
            <a:srgbClr val="E6F2F3"/>
          </a:solidFill>
          <a:ln/>
        </p:spPr>
        <p:txBody>
          <a:bodyPr wrap="square" lIns="0" tIns="0" rIns="0" bIns="0" rtlCol="0" anchor="ctr"/>
          <a:lstStyle/>
          <a:p>
            <a:pPr algn="ctr" indent="0" marL="0">
              <a:buNone/>
            </a:pPr>
            <a:r>
              <a:rPr lang="en-US" sz="700" dirty="0">
                <a:solidFill>
                  <a:srgbClr val="182F48"/>
                </a:solidFill>
                <a:latin typeface="Noto Sans KR" pitchFamily="34" charset="0"/>
                <a:ea typeface="Noto Sans KR" pitchFamily="34" charset="-122"/>
                <a:cs typeface="Noto Sans KR" pitchFamily="34" charset="-120"/>
              </a:rPr>
              <a:t>효성티앤씨</a:t>
            </a:r>
            <a:endParaRPr lang="en-US" sz="700" dirty="0"/>
          </a:p>
        </p:txBody>
      </p:sp>
      <p:sp>
        <p:nvSpPr>
          <p:cNvPr id="50" name="배지 벤텍스"/>
          <p:cNvSpPr/>
          <p:nvPr/>
        </p:nvSpPr>
        <p:spPr>
          <a:xfrm>
            <a:off x="1655064" y="2491740"/>
            <a:ext cx="336804" cy="164592"/>
          </a:xfrm>
          <a:prstGeom prst="roundRect">
            <a:avLst>
              <a:gd name="adj" fmla="val 22222"/>
            </a:avLst>
          </a:prstGeom>
          <a:solidFill>
            <a:srgbClr val="E6F2F3"/>
          </a:solidFill>
          <a:ln/>
        </p:spPr>
        <p:txBody>
          <a:bodyPr wrap="square" lIns="0" tIns="0" rIns="0" bIns="0" rtlCol="0" anchor="ctr"/>
          <a:lstStyle/>
          <a:p>
            <a:pPr algn="ctr" indent="0" marL="0">
              <a:buNone/>
            </a:pPr>
            <a:r>
              <a:rPr lang="en-US" sz="700" dirty="0">
                <a:solidFill>
                  <a:srgbClr val="182F48"/>
                </a:solidFill>
                <a:latin typeface="Noto Sans KR" pitchFamily="34" charset="0"/>
                <a:ea typeface="Noto Sans KR" pitchFamily="34" charset="-122"/>
                <a:cs typeface="Noto Sans KR" pitchFamily="34" charset="-120"/>
              </a:rPr>
              <a:t>벤텍스</a:t>
            </a:r>
            <a:endParaRPr lang="en-US" sz="700" dirty="0"/>
          </a:p>
        </p:txBody>
      </p:sp>
      <p:sp>
        <p:nvSpPr>
          <p:cNvPr id="51" name="배지 신한산업"/>
          <p:cNvSpPr/>
          <p:nvPr/>
        </p:nvSpPr>
        <p:spPr>
          <a:xfrm>
            <a:off x="2028444" y="2491740"/>
            <a:ext cx="418592" cy="164592"/>
          </a:xfrm>
          <a:prstGeom prst="roundRect">
            <a:avLst>
              <a:gd name="adj" fmla="val 22222"/>
            </a:avLst>
          </a:prstGeom>
          <a:solidFill>
            <a:srgbClr val="E6F2F3"/>
          </a:solidFill>
          <a:ln/>
        </p:spPr>
        <p:txBody>
          <a:bodyPr wrap="square" lIns="0" tIns="0" rIns="0" bIns="0" rtlCol="0" anchor="ctr"/>
          <a:lstStyle/>
          <a:p>
            <a:pPr algn="ctr" indent="0" marL="0">
              <a:buNone/>
            </a:pPr>
            <a:r>
              <a:rPr lang="en-US" sz="700" dirty="0">
                <a:solidFill>
                  <a:srgbClr val="182F48"/>
                </a:solidFill>
                <a:latin typeface="Noto Sans KR" pitchFamily="34" charset="0"/>
                <a:ea typeface="Noto Sans KR" pitchFamily="34" charset="-122"/>
                <a:cs typeface="Noto Sans KR" pitchFamily="34" charset="-120"/>
              </a:rPr>
              <a:t>신한산업</a:t>
            </a:r>
            <a:endParaRPr lang="en-US" sz="700" dirty="0"/>
          </a:p>
        </p:txBody>
      </p:sp>
      <p:sp>
        <p:nvSpPr>
          <p:cNvPr id="52" name="단계 2 해외 소재 브랜드"/>
          <p:cNvSpPr txBox="1"/>
          <p:nvPr/>
        </p:nvSpPr>
        <p:spPr>
          <a:xfrm>
            <a:off x="1655064" y="2711196"/>
            <a:ext cx="1371600" cy="137160"/>
          </a:xfrm>
          <a:prstGeom prst="rect">
            <a:avLst/>
          </a:prstGeom>
          <a:noFill/>
          <a:ln/>
        </p:spPr>
        <p:txBody>
          <a:bodyPr wrap="square" lIns="0" tIns="0" rIns="0" bIns="0" rtlCol="0" anchor="t"/>
          <a:lstStyle/>
          <a:p>
            <a:pPr algn="l" indent="0" marL="0">
              <a:lnSpc>
                <a:spcPct val="90000"/>
              </a:lnSpc>
              <a:buNone/>
            </a:pPr>
            <a:r>
              <a:rPr lang="en-US" sz="680" b="1" dirty="0">
                <a:solidFill>
                  <a:srgbClr val="267D86"/>
                </a:solidFill>
                <a:latin typeface="Noto Sans KR" pitchFamily="34" charset="0"/>
                <a:ea typeface="Noto Sans KR" pitchFamily="34" charset="-122"/>
                <a:cs typeface="Noto Sans KR" pitchFamily="34" charset="-120"/>
              </a:rPr>
              <a:t>해외 소재 브랜드</a:t>
            </a:r>
            <a:endParaRPr lang="en-US" sz="680" dirty="0"/>
          </a:p>
        </p:txBody>
      </p:sp>
      <p:sp>
        <p:nvSpPr>
          <p:cNvPr id="53" name="배지 고어텍스"/>
          <p:cNvSpPr/>
          <p:nvPr/>
        </p:nvSpPr>
        <p:spPr>
          <a:xfrm>
            <a:off x="1655064" y="2857500"/>
            <a:ext cx="418592" cy="164592"/>
          </a:xfrm>
          <a:prstGeom prst="roundRect">
            <a:avLst>
              <a:gd name="adj" fmla="val 22222"/>
            </a:avLst>
          </a:prstGeom>
          <a:solidFill>
            <a:srgbClr val="EEF0F3"/>
          </a:solidFill>
          <a:ln/>
        </p:spPr>
        <p:txBody>
          <a:bodyPr wrap="square" lIns="0" tIns="0" rIns="0" bIns="0" rtlCol="0" anchor="ctr"/>
          <a:lstStyle/>
          <a:p>
            <a:pPr algn="ctr" indent="0" marL="0">
              <a:buNone/>
            </a:pPr>
            <a:r>
              <a:rPr lang="en-US" sz="700" dirty="0">
                <a:solidFill>
                  <a:srgbClr val="475569"/>
                </a:solidFill>
                <a:latin typeface="Noto Sans KR" pitchFamily="34" charset="0"/>
                <a:ea typeface="Noto Sans KR" pitchFamily="34" charset="-122"/>
                <a:cs typeface="Noto Sans KR" pitchFamily="34" charset="-120"/>
              </a:rPr>
              <a:t>고어텍스</a:t>
            </a:r>
            <a:endParaRPr lang="en-US" sz="700" dirty="0"/>
          </a:p>
        </p:txBody>
      </p:sp>
      <p:sp>
        <p:nvSpPr>
          <p:cNvPr id="54" name="배지 폴라텍"/>
          <p:cNvSpPr/>
          <p:nvPr/>
        </p:nvSpPr>
        <p:spPr>
          <a:xfrm>
            <a:off x="2110232" y="2857500"/>
            <a:ext cx="336804" cy="164592"/>
          </a:xfrm>
          <a:prstGeom prst="roundRect">
            <a:avLst>
              <a:gd name="adj" fmla="val 22222"/>
            </a:avLst>
          </a:prstGeom>
          <a:solidFill>
            <a:srgbClr val="EEF0F3"/>
          </a:solidFill>
          <a:ln/>
        </p:spPr>
        <p:txBody>
          <a:bodyPr wrap="square" lIns="0" tIns="0" rIns="0" bIns="0" rtlCol="0" anchor="ctr"/>
          <a:lstStyle/>
          <a:p>
            <a:pPr algn="ctr" indent="0" marL="0">
              <a:buNone/>
            </a:pPr>
            <a:r>
              <a:rPr lang="en-US" sz="700" dirty="0">
                <a:solidFill>
                  <a:srgbClr val="475569"/>
                </a:solidFill>
                <a:latin typeface="Noto Sans KR" pitchFamily="34" charset="0"/>
                <a:ea typeface="Noto Sans KR" pitchFamily="34" charset="-122"/>
                <a:cs typeface="Noto Sans KR" pitchFamily="34" charset="-120"/>
              </a:rPr>
              <a:t>폴라텍</a:t>
            </a:r>
            <a:endParaRPr lang="en-US" sz="700" dirty="0"/>
          </a:p>
        </p:txBody>
      </p:sp>
      <p:sp>
        <p:nvSpPr>
          <p:cNvPr id="55" name="배지 퍼텍스"/>
          <p:cNvSpPr/>
          <p:nvPr/>
        </p:nvSpPr>
        <p:spPr>
          <a:xfrm>
            <a:off x="2483612" y="2857500"/>
            <a:ext cx="336804" cy="164592"/>
          </a:xfrm>
          <a:prstGeom prst="roundRect">
            <a:avLst>
              <a:gd name="adj" fmla="val 22222"/>
            </a:avLst>
          </a:prstGeom>
          <a:solidFill>
            <a:srgbClr val="EEF0F3"/>
          </a:solidFill>
          <a:ln/>
        </p:spPr>
        <p:txBody>
          <a:bodyPr wrap="square" lIns="0" tIns="0" rIns="0" bIns="0" rtlCol="0" anchor="ctr"/>
          <a:lstStyle/>
          <a:p>
            <a:pPr algn="ctr" indent="0" marL="0">
              <a:buNone/>
            </a:pPr>
            <a:r>
              <a:rPr lang="en-US" sz="700" dirty="0">
                <a:solidFill>
                  <a:srgbClr val="475569"/>
                </a:solidFill>
                <a:latin typeface="Noto Sans KR" pitchFamily="34" charset="0"/>
                <a:ea typeface="Noto Sans KR" pitchFamily="34" charset="-122"/>
                <a:cs typeface="Noto Sans KR" pitchFamily="34" charset="-120"/>
              </a:rPr>
              <a:t>퍼텍스</a:t>
            </a:r>
            <a:endParaRPr lang="en-US" sz="700" dirty="0"/>
          </a:p>
        </p:txBody>
      </p:sp>
      <p:sp>
        <p:nvSpPr>
          <p:cNvPr id="56" name="단계 2 메모"/>
          <p:cNvSpPr txBox="1"/>
          <p:nvPr/>
        </p:nvSpPr>
        <p:spPr>
          <a:xfrm>
            <a:off x="1655064" y="3076956"/>
            <a:ext cx="1371600" cy="228600"/>
          </a:xfrm>
          <a:prstGeom prst="rect">
            <a:avLst/>
          </a:prstGeom>
          <a:noFill/>
          <a:ln/>
        </p:spPr>
        <p:txBody>
          <a:bodyPr wrap="square" lIns="0" tIns="0" rIns="0" bIns="0" rtlCol="0" anchor="t"/>
          <a:lstStyle/>
          <a:p>
            <a:pPr algn="l" indent="0" marL="0">
              <a:lnSpc>
                <a:spcPct val="90000"/>
              </a:lnSpc>
              <a:buNone/>
            </a:pPr>
            <a:r>
              <a:rPr lang="en-US" sz="650" dirty="0">
                <a:solidFill>
                  <a:srgbClr val="64748B"/>
                </a:solidFill>
                <a:latin typeface="Noto Sans KR" pitchFamily="34" charset="0"/>
                <a:ea typeface="Noto Sans KR" pitchFamily="34" charset="-122"/>
                <a:cs typeface="Noto Sans KR" pitchFamily="34" charset="-120"/>
              </a:rPr>
              <a:t>코오롱 네오벤트 →</a:t>
            </a:r>
            <a:endParaRPr lang="en-US" sz="650" dirty="0"/>
          </a:p>
          <a:p>
            <a:pPr algn="l" indent="0" marL="0">
              <a:lnSpc>
                <a:spcPct val="90000"/>
              </a:lnSpc>
              <a:buNone/>
            </a:pPr>
            <a:r>
              <a:rPr lang="en-US" sz="650" dirty="0">
                <a:solidFill>
                  <a:srgbClr val="64748B"/>
                </a:solidFill>
                <a:latin typeface="Noto Sans KR" pitchFamily="34" charset="0"/>
                <a:ea typeface="Noto Sans KR" pitchFamily="34" charset="-122"/>
                <a:cs typeface="Noto Sans KR" pitchFamily="34" charset="-120"/>
              </a:rPr>
              <a:t>노스페이스·컬럼비아 수출</a:t>
            </a:r>
            <a:endParaRPr lang="en-US" sz="650" dirty="0"/>
          </a:p>
        </p:txBody>
      </p:sp>
      <p:sp>
        <p:nvSpPr>
          <p:cNvPr id="57" name="단계 2 메모"/>
          <p:cNvSpPr txBox="1"/>
          <p:nvPr/>
        </p:nvSpPr>
        <p:spPr>
          <a:xfrm>
            <a:off x="1655064" y="3332988"/>
            <a:ext cx="1371600" cy="228600"/>
          </a:xfrm>
          <a:prstGeom prst="rect">
            <a:avLst/>
          </a:prstGeom>
          <a:noFill/>
          <a:ln/>
        </p:spPr>
        <p:txBody>
          <a:bodyPr wrap="square" lIns="0" tIns="0" rIns="0" bIns="0" rtlCol="0" anchor="t"/>
          <a:lstStyle/>
          <a:p>
            <a:pPr algn="l" indent="0" marL="0">
              <a:lnSpc>
                <a:spcPct val="90000"/>
              </a:lnSpc>
              <a:buNone/>
            </a:pPr>
            <a:r>
              <a:rPr lang="en-US" sz="650" b="1" dirty="0">
                <a:solidFill>
                  <a:srgbClr val="C2410C"/>
                </a:solidFill>
                <a:latin typeface="Noto Sans KR" pitchFamily="34" charset="0"/>
                <a:ea typeface="Noto Sans KR" pitchFamily="34" charset="-122"/>
                <a:cs typeface="Noto Sans KR" pitchFamily="34" charset="-120"/>
              </a:rPr>
              <a:t>PFAS 규제로 비불소</a:t>
            </a:r>
            <a:endParaRPr lang="en-US" sz="650" dirty="0"/>
          </a:p>
          <a:p>
            <a:pPr algn="l" indent="0" marL="0">
              <a:lnSpc>
                <a:spcPct val="90000"/>
              </a:lnSpc>
              <a:buNone/>
            </a:pPr>
            <a:r>
              <a:rPr lang="en-US" sz="650" b="1" dirty="0">
                <a:solidFill>
                  <a:srgbClr val="C2410C"/>
                </a:solidFill>
                <a:latin typeface="Noto Sans KR" pitchFamily="34" charset="0"/>
                <a:ea typeface="Noto Sans KR" pitchFamily="34" charset="-122"/>
                <a:cs typeface="Noto Sans KR" pitchFamily="34" charset="-120"/>
              </a:rPr>
              <a:t>발수·멤브레인 전환 중</a:t>
            </a:r>
            <a:endParaRPr lang="en-US" sz="650" dirty="0"/>
          </a:p>
        </p:txBody>
      </p:sp>
      <p:sp>
        <p:nvSpPr>
          <p:cNvPr id="58" name="단계 2 메모"/>
          <p:cNvSpPr txBox="1"/>
          <p:nvPr/>
        </p:nvSpPr>
        <p:spPr>
          <a:xfrm>
            <a:off x="1655064" y="3589020"/>
            <a:ext cx="1371600" cy="228600"/>
          </a:xfrm>
          <a:prstGeom prst="rect">
            <a:avLst/>
          </a:prstGeom>
          <a:noFill/>
          <a:ln/>
        </p:spPr>
        <p:txBody>
          <a:bodyPr wrap="square" lIns="0" tIns="0" rIns="0" bIns="0" rtlCol="0" anchor="t"/>
          <a:lstStyle/>
          <a:p>
            <a:pPr algn="l" indent="0" marL="0">
              <a:lnSpc>
                <a:spcPct val="90000"/>
              </a:lnSpc>
              <a:buNone/>
            </a:pPr>
            <a:r>
              <a:rPr lang="en-US" sz="650" dirty="0">
                <a:solidFill>
                  <a:srgbClr val="64748B"/>
                </a:solidFill>
                <a:latin typeface="Noto Sans KR" pitchFamily="34" charset="0"/>
                <a:ea typeface="Noto Sans KR" pitchFamily="34" charset="-122"/>
                <a:cs typeface="Noto Sans KR" pitchFamily="34" charset="-120"/>
              </a:rPr>
              <a:t>원단 산지: 대구·경북</a:t>
            </a:r>
            <a:endParaRPr lang="en-US" sz="650" dirty="0"/>
          </a:p>
          <a:p>
            <a:pPr algn="l" indent="0" marL="0">
              <a:lnSpc>
                <a:spcPct val="90000"/>
              </a:lnSpc>
              <a:buNone/>
            </a:pPr>
            <a:r>
              <a:rPr lang="en-US" sz="650" dirty="0">
                <a:solidFill>
                  <a:srgbClr val="64748B"/>
                </a:solidFill>
                <a:latin typeface="Noto Sans KR" pitchFamily="34" charset="0"/>
                <a:ea typeface="Noto Sans KR" pitchFamily="34" charset="-122"/>
                <a:cs typeface="Noto Sans KR" pitchFamily="34" charset="-120"/>
              </a:rPr>
              <a:t>화섬 직물 클러스터</a:t>
            </a:r>
            <a:endParaRPr lang="en-US" sz="650" dirty="0"/>
          </a:p>
        </p:txBody>
      </p:sp>
      <p:sp>
        <p:nvSpPr>
          <p:cNvPr id="59" name="단계 3 충전재"/>
          <p:cNvSpPr txBox="1"/>
          <p:nvPr/>
        </p:nvSpPr>
        <p:spPr>
          <a:xfrm>
            <a:off x="3246120" y="2148840"/>
            <a:ext cx="1188720" cy="137160"/>
          </a:xfrm>
          <a:prstGeom prst="rect">
            <a:avLst/>
          </a:prstGeom>
          <a:noFill/>
          <a:ln/>
        </p:spPr>
        <p:txBody>
          <a:bodyPr wrap="square" lIns="0" tIns="0" rIns="0" bIns="0" rtlCol="0" anchor="t"/>
          <a:lstStyle/>
          <a:p>
            <a:pPr algn="l" indent="0" marL="0">
              <a:lnSpc>
                <a:spcPct val="90000"/>
              </a:lnSpc>
              <a:buNone/>
            </a:pPr>
            <a:r>
              <a:rPr lang="en-US" sz="680" b="1" dirty="0">
                <a:solidFill>
                  <a:srgbClr val="267D86"/>
                </a:solidFill>
                <a:latin typeface="Noto Sans KR" pitchFamily="34" charset="0"/>
                <a:ea typeface="Noto Sans KR" pitchFamily="34" charset="-122"/>
                <a:cs typeface="Noto Sans KR" pitchFamily="34" charset="-120"/>
              </a:rPr>
              <a:t>충전재</a:t>
            </a:r>
            <a:endParaRPr lang="en-US" sz="680" dirty="0"/>
          </a:p>
        </p:txBody>
      </p:sp>
      <p:sp>
        <p:nvSpPr>
          <p:cNvPr id="60" name="배지 프라우덴(태평양물산)"/>
          <p:cNvSpPr/>
          <p:nvPr/>
        </p:nvSpPr>
        <p:spPr>
          <a:xfrm>
            <a:off x="3246120" y="2295144"/>
            <a:ext cx="950036" cy="164592"/>
          </a:xfrm>
          <a:prstGeom prst="roundRect">
            <a:avLst>
              <a:gd name="adj" fmla="val 22222"/>
            </a:avLst>
          </a:prstGeom>
          <a:solidFill>
            <a:srgbClr val="E6F2F3"/>
          </a:solidFill>
          <a:ln/>
        </p:spPr>
        <p:txBody>
          <a:bodyPr wrap="square" lIns="0" tIns="0" rIns="0" bIns="0" rtlCol="0" anchor="ctr"/>
          <a:lstStyle/>
          <a:p>
            <a:pPr algn="ctr" indent="0" marL="0">
              <a:buNone/>
            </a:pPr>
            <a:r>
              <a:rPr lang="en-US" sz="700" dirty="0">
                <a:solidFill>
                  <a:srgbClr val="182F48"/>
                </a:solidFill>
                <a:latin typeface="Noto Sans KR" pitchFamily="34" charset="0"/>
                <a:ea typeface="Noto Sans KR" pitchFamily="34" charset="-122"/>
                <a:cs typeface="Noto Sans KR" pitchFamily="34" charset="-120"/>
              </a:rPr>
              <a:t>프라우덴(태평양물산)</a:t>
            </a:r>
            <a:endParaRPr lang="en-US" sz="700" dirty="0"/>
          </a:p>
        </p:txBody>
      </p:sp>
      <p:sp>
        <p:nvSpPr>
          <p:cNvPr id="61" name="배지 프리마로프트"/>
          <p:cNvSpPr/>
          <p:nvPr/>
        </p:nvSpPr>
        <p:spPr>
          <a:xfrm>
            <a:off x="3246120" y="2491740"/>
            <a:ext cx="582168" cy="164592"/>
          </a:xfrm>
          <a:prstGeom prst="roundRect">
            <a:avLst>
              <a:gd name="adj" fmla="val 22222"/>
            </a:avLst>
          </a:prstGeom>
          <a:solidFill>
            <a:srgbClr val="EEF0F3"/>
          </a:solidFill>
          <a:ln/>
        </p:spPr>
        <p:txBody>
          <a:bodyPr wrap="square" lIns="0" tIns="0" rIns="0" bIns="0" rtlCol="0" anchor="ctr"/>
          <a:lstStyle/>
          <a:p>
            <a:pPr algn="ctr" indent="0" marL="0">
              <a:buNone/>
            </a:pPr>
            <a:r>
              <a:rPr lang="en-US" sz="700" dirty="0">
                <a:solidFill>
                  <a:srgbClr val="475569"/>
                </a:solidFill>
                <a:latin typeface="Noto Sans KR" pitchFamily="34" charset="0"/>
                <a:ea typeface="Noto Sans KR" pitchFamily="34" charset="-122"/>
                <a:cs typeface="Noto Sans KR" pitchFamily="34" charset="-120"/>
              </a:rPr>
              <a:t>프리마로프트</a:t>
            </a:r>
            <a:endParaRPr lang="en-US" sz="700" dirty="0"/>
          </a:p>
        </p:txBody>
      </p:sp>
      <p:sp>
        <p:nvSpPr>
          <p:cNvPr id="62" name="배지 3M 신슐레이트"/>
          <p:cNvSpPr/>
          <p:nvPr/>
        </p:nvSpPr>
        <p:spPr>
          <a:xfrm>
            <a:off x="3246120" y="2688336"/>
            <a:ext cx="662623" cy="164592"/>
          </a:xfrm>
          <a:prstGeom prst="roundRect">
            <a:avLst>
              <a:gd name="adj" fmla="val 22222"/>
            </a:avLst>
          </a:prstGeom>
          <a:solidFill>
            <a:srgbClr val="EEF0F3"/>
          </a:solidFill>
          <a:ln/>
        </p:spPr>
        <p:txBody>
          <a:bodyPr wrap="square" lIns="0" tIns="0" rIns="0" bIns="0" rtlCol="0" anchor="ctr"/>
          <a:lstStyle/>
          <a:p>
            <a:pPr algn="ctr" indent="0" marL="0">
              <a:buNone/>
            </a:pPr>
            <a:r>
              <a:rPr lang="en-US" sz="700" dirty="0">
                <a:solidFill>
                  <a:srgbClr val="475569"/>
                </a:solidFill>
                <a:latin typeface="Noto Sans KR" pitchFamily="34" charset="0"/>
                <a:ea typeface="Noto Sans KR" pitchFamily="34" charset="-122"/>
                <a:cs typeface="Noto Sans KR" pitchFamily="34" charset="-120"/>
              </a:rPr>
              <a:t>3M 신슐레이트</a:t>
            </a:r>
            <a:endParaRPr lang="en-US" sz="700" dirty="0"/>
          </a:p>
        </p:txBody>
      </p:sp>
      <p:sp>
        <p:nvSpPr>
          <p:cNvPr id="63" name="단계 3 부자재"/>
          <p:cNvSpPr txBox="1"/>
          <p:nvPr/>
        </p:nvSpPr>
        <p:spPr>
          <a:xfrm>
            <a:off x="3246120" y="2907792"/>
            <a:ext cx="1188720" cy="137160"/>
          </a:xfrm>
          <a:prstGeom prst="rect">
            <a:avLst/>
          </a:prstGeom>
          <a:noFill/>
          <a:ln/>
        </p:spPr>
        <p:txBody>
          <a:bodyPr wrap="square" lIns="0" tIns="0" rIns="0" bIns="0" rtlCol="0" anchor="t"/>
          <a:lstStyle/>
          <a:p>
            <a:pPr algn="l" indent="0" marL="0">
              <a:lnSpc>
                <a:spcPct val="90000"/>
              </a:lnSpc>
              <a:buNone/>
            </a:pPr>
            <a:r>
              <a:rPr lang="en-US" sz="680" b="1" dirty="0">
                <a:solidFill>
                  <a:srgbClr val="267D86"/>
                </a:solidFill>
                <a:latin typeface="Noto Sans KR" pitchFamily="34" charset="0"/>
                <a:ea typeface="Noto Sans KR" pitchFamily="34" charset="-122"/>
                <a:cs typeface="Noto Sans KR" pitchFamily="34" charset="-120"/>
              </a:rPr>
              <a:t>부자재</a:t>
            </a:r>
            <a:endParaRPr lang="en-US" sz="680" dirty="0"/>
          </a:p>
        </p:txBody>
      </p:sp>
      <p:sp>
        <p:nvSpPr>
          <p:cNvPr id="64" name="배지 YKK코리아"/>
          <p:cNvSpPr/>
          <p:nvPr/>
        </p:nvSpPr>
        <p:spPr>
          <a:xfrm>
            <a:off x="3246120" y="3054096"/>
            <a:ext cx="519671" cy="164592"/>
          </a:xfrm>
          <a:prstGeom prst="roundRect">
            <a:avLst>
              <a:gd name="adj" fmla="val 22222"/>
            </a:avLst>
          </a:prstGeom>
          <a:solidFill>
            <a:srgbClr val="EEF0F3"/>
          </a:solidFill>
          <a:ln/>
        </p:spPr>
        <p:txBody>
          <a:bodyPr wrap="square" lIns="0" tIns="0" rIns="0" bIns="0" rtlCol="0" anchor="ctr"/>
          <a:lstStyle/>
          <a:p>
            <a:pPr algn="ctr" indent="0" marL="0">
              <a:buNone/>
            </a:pPr>
            <a:r>
              <a:rPr lang="en-US" sz="700" dirty="0">
                <a:solidFill>
                  <a:srgbClr val="475569"/>
                </a:solidFill>
                <a:latin typeface="Noto Sans KR" pitchFamily="34" charset="0"/>
                <a:ea typeface="Noto Sans KR" pitchFamily="34" charset="-122"/>
                <a:cs typeface="Noto Sans KR" pitchFamily="34" charset="-120"/>
              </a:rPr>
              <a:t>YKK코리아</a:t>
            </a:r>
            <a:endParaRPr lang="en-US" sz="700" dirty="0"/>
          </a:p>
        </p:txBody>
      </p:sp>
      <p:sp>
        <p:nvSpPr>
          <p:cNvPr id="65" name="배지 비브람"/>
          <p:cNvSpPr/>
          <p:nvPr/>
        </p:nvSpPr>
        <p:spPr>
          <a:xfrm>
            <a:off x="3802367" y="3054096"/>
            <a:ext cx="336804" cy="164592"/>
          </a:xfrm>
          <a:prstGeom prst="roundRect">
            <a:avLst>
              <a:gd name="adj" fmla="val 22222"/>
            </a:avLst>
          </a:prstGeom>
          <a:solidFill>
            <a:srgbClr val="EEF0F3"/>
          </a:solidFill>
          <a:ln/>
        </p:spPr>
        <p:txBody>
          <a:bodyPr wrap="square" lIns="0" tIns="0" rIns="0" bIns="0" rtlCol="0" anchor="ctr"/>
          <a:lstStyle/>
          <a:p>
            <a:pPr algn="ctr" indent="0" marL="0">
              <a:buNone/>
            </a:pPr>
            <a:r>
              <a:rPr lang="en-US" sz="700" dirty="0">
                <a:solidFill>
                  <a:srgbClr val="475569"/>
                </a:solidFill>
                <a:latin typeface="Noto Sans KR" pitchFamily="34" charset="0"/>
                <a:ea typeface="Noto Sans KR" pitchFamily="34" charset="-122"/>
                <a:cs typeface="Noto Sans KR" pitchFamily="34" charset="-120"/>
              </a:rPr>
              <a:t>비브람</a:t>
            </a:r>
            <a:endParaRPr lang="en-US" sz="700" dirty="0"/>
          </a:p>
        </p:txBody>
      </p:sp>
      <p:sp>
        <p:nvSpPr>
          <p:cNvPr id="66" name="배지 SBS(중국)"/>
          <p:cNvSpPr/>
          <p:nvPr/>
        </p:nvSpPr>
        <p:spPr>
          <a:xfrm>
            <a:off x="3246120" y="3250692"/>
            <a:ext cx="521094" cy="164592"/>
          </a:xfrm>
          <a:prstGeom prst="roundRect">
            <a:avLst>
              <a:gd name="adj" fmla="val 22222"/>
            </a:avLst>
          </a:prstGeom>
          <a:solidFill>
            <a:srgbClr val="EEF0F3"/>
          </a:solidFill>
          <a:ln/>
        </p:spPr>
        <p:txBody>
          <a:bodyPr wrap="square" lIns="0" tIns="0" rIns="0" bIns="0" rtlCol="0" anchor="ctr"/>
          <a:lstStyle/>
          <a:p>
            <a:pPr algn="ctr" indent="0" marL="0">
              <a:buNone/>
            </a:pPr>
            <a:r>
              <a:rPr lang="en-US" sz="700" dirty="0">
                <a:solidFill>
                  <a:srgbClr val="475569"/>
                </a:solidFill>
                <a:latin typeface="Noto Sans KR" pitchFamily="34" charset="0"/>
                <a:ea typeface="Noto Sans KR" pitchFamily="34" charset="-122"/>
                <a:cs typeface="Noto Sans KR" pitchFamily="34" charset="-120"/>
              </a:rPr>
              <a:t>SBS(중국)</a:t>
            </a:r>
            <a:endParaRPr lang="en-US" sz="700" dirty="0"/>
          </a:p>
        </p:txBody>
      </p:sp>
      <p:sp>
        <p:nvSpPr>
          <p:cNvPr id="67" name="단계 3 메모"/>
          <p:cNvSpPr txBox="1"/>
          <p:nvPr/>
        </p:nvSpPr>
        <p:spPr>
          <a:xfrm>
            <a:off x="3246120" y="3470148"/>
            <a:ext cx="1188720" cy="228600"/>
          </a:xfrm>
          <a:prstGeom prst="rect">
            <a:avLst/>
          </a:prstGeom>
          <a:noFill/>
          <a:ln/>
        </p:spPr>
        <p:txBody>
          <a:bodyPr wrap="square" lIns="0" tIns="0" rIns="0" bIns="0" rtlCol="0" anchor="t"/>
          <a:lstStyle/>
          <a:p>
            <a:pPr algn="l" indent="0" marL="0">
              <a:lnSpc>
                <a:spcPct val="90000"/>
              </a:lnSpc>
              <a:buNone/>
            </a:pPr>
            <a:r>
              <a:rPr lang="en-US" sz="650" dirty="0">
                <a:solidFill>
                  <a:srgbClr val="64748B"/>
                </a:solidFill>
                <a:latin typeface="Noto Sans KR" pitchFamily="34" charset="0"/>
                <a:ea typeface="Noto Sans KR" pitchFamily="34" charset="-122"/>
                <a:cs typeface="Noto Sans KR" pitchFamily="34" charset="-120"/>
              </a:rPr>
              <a:t>프라우덴 고객: 컬럼비아·</a:t>
            </a:r>
            <a:endParaRPr lang="en-US" sz="650" dirty="0"/>
          </a:p>
          <a:p>
            <a:pPr algn="l" indent="0" marL="0">
              <a:lnSpc>
                <a:spcPct val="90000"/>
              </a:lnSpc>
              <a:buNone/>
            </a:pPr>
            <a:r>
              <a:rPr lang="en-US" sz="650" dirty="0">
                <a:solidFill>
                  <a:srgbClr val="64748B"/>
                </a:solidFill>
                <a:latin typeface="Noto Sans KR" pitchFamily="34" charset="0"/>
                <a:ea typeface="Noto Sans KR" pitchFamily="34" charset="-122"/>
                <a:cs typeface="Noto Sans KR" pitchFamily="34" charset="-120"/>
              </a:rPr>
              <a:t>몽벨·아디다스 등</a:t>
            </a:r>
            <a:endParaRPr lang="en-US" sz="650" dirty="0"/>
          </a:p>
        </p:txBody>
      </p:sp>
      <p:sp>
        <p:nvSpPr>
          <p:cNvPr id="68" name="단계 4 의류 OEM · 기능성"/>
          <p:cNvSpPr txBox="1"/>
          <p:nvPr/>
        </p:nvSpPr>
        <p:spPr>
          <a:xfrm>
            <a:off x="4654296" y="2148840"/>
            <a:ext cx="1408176" cy="137160"/>
          </a:xfrm>
          <a:prstGeom prst="rect">
            <a:avLst/>
          </a:prstGeom>
          <a:noFill/>
          <a:ln/>
        </p:spPr>
        <p:txBody>
          <a:bodyPr wrap="square" lIns="0" tIns="0" rIns="0" bIns="0" rtlCol="0" anchor="t"/>
          <a:lstStyle/>
          <a:p>
            <a:pPr algn="l" indent="0" marL="0">
              <a:lnSpc>
                <a:spcPct val="90000"/>
              </a:lnSpc>
              <a:buNone/>
            </a:pPr>
            <a:r>
              <a:rPr lang="en-US" sz="680" b="1" dirty="0">
                <a:solidFill>
                  <a:srgbClr val="267D86"/>
                </a:solidFill>
                <a:latin typeface="Noto Sans KR" pitchFamily="34" charset="0"/>
                <a:ea typeface="Noto Sans KR" pitchFamily="34" charset="-122"/>
                <a:cs typeface="Noto Sans KR" pitchFamily="34" charset="-120"/>
              </a:rPr>
              <a:t>의류 OEM · 기능성</a:t>
            </a:r>
            <a:endParaRPr lang="en-US" sz="680" dirty="0"/>
          </a:p>
        </p:txBody>
      </p:sp>
      <p:sp>
        <p:nvSpPr>
          <p:cNvPr id="69" name="배지 영원무역"/>
          <p:cNvSpPr/>
          <p:nvPr/>
        </p:nvSpPr>
        <p:spPr>
          <a:xfrm>
            <a:off x="4654296" y="2295144"/>
            <a:ext cx="418592" cy="164592"/>
          </a:xfrm>
          <a:prstGeom prst="roundRect">
            <a:avLst>
              <a:gd name="adj" fmla="val 22222"/>
            </a:avLst>
          </a:prstGeom>
          <a:solidFill>
            <a:srgbClr val="E6F2F3"/>
          </a:solidFill>
          <a:ln/>
        </p:spPr>
        <p:txBody>
          <a:bodyPr wrap="square" lIns="0" tIns="0" rIns="0" bIns="0" rtlCol="0" anchor="ctr"/>
          <a:lstStyle/>
          <a:p>
            <a:pPr algn="ctr" indent="0" marL="0">
              <a:buNone/>
            </a:pPr>
            <a:r>
              <a:rPr lang="en-US" sz="700" dirty="0">
                <a:solidFill>
                  <a:srgbClr val="182F48"/>
                </a:solidFill>
                <a:latin typeface="Noto Sans KR" pitchFamily="34" charset="0"/>
                <a:ea typeface="Noto Sans KR" pitchFamily="34" charset="-122"/>
                <a:cs typeface="Noto Sans KR" pitchFamily="34" charset="-120"/>
              </a:rPr>
              <a:t>영원무역</a:t>
            </a:r>
            <a:endParaRPr lang="en-US" sz="700" dirty="0"/>
          </a:p>
        </p:txBody>
      </p:sp>
      <p:sp>
        <p:nvSpPr>
          <p:cNvPr id="70" name="배지 기도산업"/>
          <p:cNvSpPr/>
          <p:nvPr/>
        </p:nvSpPr>
        <p:spPr>
          <a:xfrm>
            <a:off x="5109464" y="2295144"/>
            <a:ext cx="418592" cy="164592"/>
          </a:xfrm>
          <a:prstGeom prst="roundRect">
            <a:avLst>
              <a:gd name="adj" fmla="val 22222"/>
            </a:avLst>
          </a:prstGeom>
          <a:solidFill>
            <a:srgbClr val="E6F2F3"/>
          </a:solidFill>
          <a:ln/>
        </p:spPr>
        <p:txBody>
          <a:bodyPr wrap="square" lIns="0" tIns="0" rIns="0" bIns="0" rtlCol="0" anchor="ctr"/>
          <a:lstStyle/>
          <a:p>
            <a:pPr algn="ctr" indent="0" marL="0">
              <a:buNone/>
            </a:pPr>
            <a:r>
              <a:rPr lang="en-US" sz="700" dirty="0">
                <a:solidFill>
                  <a:srgbClr val="182F48"/>
                </a:solidFill>
                <a:latin typeface="Noto Sans KR" pitchFamily="34" charset="0"/>
                <a:ea typeface="Noto Sans KR" pitchFamily="34" charset="-122"/>
                <a:cs typeface="Noto Sans KR" pitchFamily="34" charset="-120"/>
              </a:rPr>
              <a:t>기도산업</a:t>
            </a:r>
            <a:endParaRPr lang="en-US" sz="700" dirty="0"/>
          </a:p>
        </p:txBody>
      </p:sp>
      <p:sp>
        <p:nvSpPr>
          <p:cNvPr id="71" name="배지 한세실업"/>
          <p:cNvSpPr/>
          <p:nvPr/>
        </p:nvSpPr>
        <p:spPr>
          <a:xfrm>
            <a:off x="5564632" y="2295144"/>
            <a:ext cx="418592" cy="164592"/>
          </a:xfrm>
          <a:prstGeom prst="roundRect">
            <a:avLst>
              <a:gd name="adj" fmla="val 22222"/>
            </a:avLst>
          </a:prstGeom>
          <a:solidFill>
            <a:srgbClr val="E6F2F3"/>
          </a:solidFill>
          <a:ln/>
        </p:spPr>
        <p:txBody>
          <a:bodyPr wrap="square" lIns="0" tIns="0" rIns="0" bIns="0" rtlCol="0" anchor="ctr"/>
          <a:lstStyle/>
          <a:p>
            <a:pPr algn="ctr" indent="0" marL="0">
              <a:buNone/>
            </a:pPr>
            <a:r>
              <a:rPr lang="en-US" sz="700" dirty="0">
                <a:solidFill>
                  <a:srgbClr val="182F48"/>
                </a:solidFill>
                <a:latin typeface="Noto Sans KR" pitchFamily="34" charset="0"/>
                <a:ea typeface="Noto Sans KR" pitchFamily="34" charset="-122"/>
                <a:cs typeface="Noto Sans KR" pitchFamily="34" charset="-120"/>
              </a:rPr>
              <a:t>한세실업</a:t>
            </a:r>
            <a:endParaRPr lang="en-US" sz="700" dirty="0"/>
          </a:p>
        </p:txBody>
      </p:sp>
      <p:sp>
        <p:nvSpPr>
          <p:cNvPr id="72" name="배지 세아상역"/>
          <p:cNvSpPr/>
          <p:nvPr/>
        </p:nvSpPr>
        <p:spPr>
          <a:xfrm>
            <a:off x="4654296" y="2491740"/>
            <a:ext cx="418592" cy="164592"/>
          </a:xfrm>
          <a:prstGeom prst="roundRect">
            <a:avLst>
              <a:gd name="adj" fmla="val 22222"/>
            </a:avLst>
          </a:prstGeom>
          <a:solidFill>
            <a:srgbClr val="E6F2F3"/>
          </a:solidFill>
          <a:ln/>
        </p:spPr>
        <p:txBody>
          <a:bodyPr wrap="square" lIns="0" tIns="0" rIns="0" bIns="0" rtlCol="0" anchor="ctr"/>
          <a:lstStyle/>
          <a:p>
            <a:pPr algn="ctr" indent="0" marL="0">
              <a:buNone/>
            </a:pPr>
            <a:r>
              <a:rPr lang="en-US" sz="700" dirty="0">
                <a:solidFill>
                  <a:srgbClr val="182F48"/>
                </a:solidFill>
                <a:latin typeface="Noto Sans KR" pitchFamily="34" charset="0"/>
                <a:ea typeface="Noto Sans KR" pitchFamily="34" charset="-122"/>
                <a:cs typeface="Noto Sans KR" pitchFamily="34" charset="-120"/>
              </a:rPr>
              <a:t>세아상역</a:t>
            </a:r>
            <a:endParaRPr lang="en-US" sz="700" dirty="0"/>
          </a:p>
        </p:txBody>
      </p:sp>
      <p:sp>
        <p:nvSpPr>
          <p:cNvPr id="73" name="단계 4 메모"/>
          <p:cNvSpPr txBox="1"/>
          <p:nvPr/>
        </p:nvSpPr>
        <p:spPr>
          <a:xfrm>
            <a:off x="4654296" y="2711196"/>
            <a:ext cx="1408176" cy="228600"/>
          </a:xfrm>
          <a:prstGeom prst="rect">
            <a:avLst/>
          </a:prstGeom>
          <a:noFill/>
          <a:ln/>
        </p:spPr>
        <p:txBody>
          <a:bodyPr wrap="square" lIns="0" tIns="0" rIns="0" bIns="0" rtlCol="0" anchor="t"/>
          <a:lstStyle/>
          <a:p>
            <a:pPr algn="l" indent="0" marL="0">
              <a:lnSpc>
                <a:spcPct val="90000"/>
              </a:lnSpc>
              <a:buNone/>
            </a:pPr>
            <a:r>
              <a:rPr lang="en-US" sz="650" b="1" dirty="0">
                <a:solidFill>
                  <a:srgbClr val="C2410C"/>
                </a:solidFill>
                <a:latin typeface="Noto Sans KR" pitchFamily="34" charset="0"/>
                <a:ea typeface="Noto Sans KR" pitchFamily="34" charset="-122"/>
                <a:cs typeface="Noto Sans KR" pitchFamily="34" charset="-120"/>
              </a:rPr>
              <a:t>영원무역 고객 40여 곳:</a:t>
            </a:r>
            <a:endParaRPr lang="en-US" sz="650" dirty="0"/>
          </a:p>
          <a:p>
            <a:pPr algn="l" indent="0" marL="0">
              <a:lnSpc>
                <a:spcPct val="90000"/>
              </a:lnSpc>
              <a:buNone/>
            </a:pPr>
            <a:r>
              <a:rPr lang="en-US" sz="650" b="1" dirty="0">
                <a:solidFill>
                  <a:srgbClr val="C2410C"/>
                </a:solidFill>
                <a:latin typeface="Noto Sans KR" pitchFamily="34" charset="0"/>
                <a:ea typeface="Noto Sans KR" pitchFamily="34" charset="-122"/>
                <a:cs typeface="Noto Sans KR" pitchFamily="34" charset="-120"/>
              </a:rPr>
              <a:t>아크테릭스·노스페이스 등</a:t>
            </a:r>
            <a:endParaRPr lang="en-US" sz="650" dirty="0"/>
          </a:p>
        </p:txBody>
      </p:sp>
      <p:sp>
        <p:nvSpPr>
          <p:cNvPr id="74" name="단계 4 소량 · 샘플 봉제"/>
          <p:cNvSpPr txBox="1"/>
          <p:nvPr/>
        </p:nvSpPr>
        <p:spPr>
          <a:xfrm>
            <a:off x="4654296" y="2967228"/>
            <a:ext cx="1408176" cy="137160"/>
          </a:xfrm>
          <a:prstGeom prst="rect">
            <a:avLst/>
          </a:prstGeom>
          <a:noFill/>
          <a:ln/>
        </p:spPr>
        <p:txBody>
          <a:bodyPr wrap="square" lIns="0" tIns="0" rIns="0" bIns="0" rtlCol="0" anchor="t"/>
          <a:lstStyle/>
          <a:p>
            <a:pPr algn="l" indent="0" marL="0">
              <a:lnSpc>
                <a:spcPct val="90000"/>
              </a:lnSpc>
              <a:buNone/>
            </a:pPr>
            <a:r>
              <a:rPr lang="en-US" sz="680" b="1" dirty="0">
                <a:solidFill>
                  <a:srgbClr val="267D86"/>
                </a:solidFill>
                <a:latin typeface="Noto Sans KR" pitchFamily="34" charset="0"/>
                <a:ea typeface="Noto Sans KR" pitchFamily="34" charset="-122"/>
                <a:cs typeface="Noto Sans KR" pitchFamily="34" charset="-120"/>
              </a:rPr>
              <a:t>소량 · 샘플 봉제</a:t>
            </a:r>
            <a:endParaRPr lang="en-US" sz="680" dirty="0"/>
          </a:p>
        </p:txBody>
      </p:sp>
      <p:sp>
        <p:nvSpPr>
          <p:cNvPr id="75" name="배지 서울 도심 봉제 1.8만 곳"/>
          <p:cNvSpPr/>
          <p:nvPr/>
        </p:nvSpPr>
        <p:spPr>
          <a:xfrm>
            <a:off x="4654296" y="3113532"/>
            <a:ext cx="990397" cy="164592"/>
          </a:xfrm>
          <a:prstGeom prst="roundRect">
            <a:avLst>
              <a:gd name="adj" fmla="val 22222"/>
            </a:avLst>
          </a:prstGeom>
          <a:solidFill>
            <a:srgbClr val="E6F2F3"/>
          </a:solidFill>
          <a:ln/>
        </p:spPr>
        <p:txBody>
          <a:bodyPr wrap="square" lIns="0" tIns="0" rIns="0" bIns="0" rtlCol="0" anchor="ctr"/>
          <a:lstStyle/>
          <a:p>
            <a:pPr algn="ctr" indent="0" marL="0">
              <a:buNone/>
            </a:pPr>
            <a:r>
              <a:rPr lang="en-US" sz="700" dirty="0">
                <a:solidFill>
                  <a:srgbClr val="182F48"/>
                </a:solidFill>
                <a:latin typeface="Noto Sans KR" pitchFamily="34" charset="0"/>
                <a:ea typeface="Noto Sans KR" pitchFamily="34" charset="-122"/>
                <a:cs typeface="Noto Sans KR" pitchFamily="34" charset="-120"/>
              </a:rPr>
              <a:t>서울 도심 봉제 1.8만 곳</a:t>
            </a:r>
            <a:endParaRPr lang="en-US" sz="700" dirty="0"/>
          </a:p>
        </p:txBody>
      </p:sp>
      <p:sp>
        <p:nvSpPr>
          <p:cNvPr id="76" name="배지 대구 봉제 맵 20곳"/>
          <p:cNvSpPr/>
          <p:nvPr/>
        </p:nvSpPr>
        <p:spPr>
          <a:xfrm>
            <a:off x="4654296" y="3310128"/>
            <a:ext cx="782193" cy="164592"/>
          </a:xfrm>
          <a:prstGeom prst="roundRect">
            <a:avLst>
              <a:gd name="adj" fmla="val 22222"/>
            </a:avLst>
          </a:prstGeom>
          <a:solidFill>
            <a:srgbClr val="E6F2F3"/>
          </a:solidFill>
          <a:ln/>
        </p:spPr>
        <p:txBody>
          <a:bodyPr wrap="square" lIns="0" tIns="0" rIns="0" bIns="0" rtlCol="0" anchor="ctr"/>
          <a:lstStyle/>
          <a:p>
            <a:pPr algn="ctr" indent="0" marL="0">
              <a:buNone/>
            </a:pPr>
            <a:r>
              <a:rPr lang="en-US" sz="700" dirty="0">
                <a:solidFill>
                  <a:srgbClr val="182F48"/>
                </a:solidFill>
                <a:latin typeface="Noto Sans KR" pitchFamily="34" charset="0"/>
                <a:ea typeface="Noto Sans KR" pitchFamily="34" charset="-122"/>
                <a:cs typeface="Noto Sans KR" pitchFamily="34" charset="-120"/>
              </a:rPr>
              <a:t>대구 봉제 맵 20곳</a:t>
            </a:r>
            <a:endParaRPr lang="en-US" sz="700" dirty="0"/>
          </a:p>
        </p:txBody>
      </p:sp>
      <p:sp>
        <p:nvSpPr>
          <p:cNvPr id="77" name="단계 4 신발"/>
          <p:cNvSpPr txBox="1"/>
          <p:nvPr/>
        </p:nvSpPr>
        <p:spPr>
          <a:xfrm>
            <a:off x="4654296" y="3529584"/>
            <a:ext cx="1408176" cy="137160"/>
          </a:xfrm>
          <a:prstGeom prst="rect">
            <a:avLst/>
          </a:prstGeom>
          <a:noFill/>
          <a:ln/>
        </p:spPr>
        <p:txBody>
          <a:bodyPr wrap="square" lIns="0" tIns="0" rIns="0" bIns="0" rtlCol="0" anchor="t"/>
          <a:lstStyle/>
          <a:p>
            <a:pPr algn="l" indent="0" marL="0">
              <a:lnSpc>
                <a:spcPct val="90000"/>
              </a:lnSpc>
              <a:buNone/>
            </a:pPr>
            <a:r>
              <a:rPr lang="en-US" sz="680" b="1" dirty="0">
                <a:solidFill>
                  <a:srgbClr val="267D86"/>
                </a:solidFill>
                <a:latin typeface="Noto Sans KR" pitchFamily="34" charset="0"/>
                <a:ea typeface="Noto Sans KR" pitchFamily="34" charset="-122"/>
                <a:cs typeface="Noto Sans KR" pitchFamily="34" charset="-120"/>
              </a:rPr>
              <a:t>신발</a:t>
            </a:r>
            <a:endParaRPr lang="en-US" sz="680" dirty="0"/>
          </a:p>
        </p:txBody>
      </p:sp>
      <p:sp>
        <p:nvSpPr>
          <p:cNvPr id="78" name="배지 태광실업"/>
          <p:cNvSpPr/>
          <p:nvPr/>
        </p:nvSpPr>
        <p:spPr>
          <a:xfrm>
            <a:off x="4654296" y="3675888"/>
            <a:ext cx="418592" cy="164592"/>
          </a:xfrm>
          <a:prstGeom prst="roundRect">
            <a:avLst>
              <a:gd name="adj" fmla="val 22222"/>
            </a:avLst>
          </a:prstGeom>
          <a:solidFill>
            <a:srgbClr val="E6F2F3"/>
          </a:solidFill>
          <a:ln/>
        </p:spPr>
        <p:txBody>
          <a:bodyPr wrap="square" lIns="0" tIns="0" rIns="0" bIns="0" rtlCol="0" anchor="ctr"/>
          <a:lstStyle/>
          <a:p>
            <a:pPr algn="ctr" indent="0" marL="0">
              <a:buNone/>
            </a:pPr>
            <a:r>
              <a:rPr lang="en-US" sz="700" dirty="0">
                <a:solidFill>
                  <a:srgbClr val="182F48"/>
                </a:solidFill>
                <a:latin typeface="Noto Sans KR" pitchFamily="34" charset="0"/>
                <a:ea typeface="Noto Sans KR" pitchFamily="34" charset="-122"/>
                <a:cs typeface="Noto Sans KR" pitchFamily="34" charset="-120"/>
              </a:rPr>
              <a:t>태광실업</a:t>
            </a:r>
            <a:endParaRPr lang="en-US" sz="700" dirty="0"/>
          </a:p>
        </p:txBody>
      </p:sp>
      <p:sp>
        <p:nvSpPr>
          <p:cNvPr id="79" name="배지 창신INC"/>
          <p:cNvSpPr/>
          <p:nvPr/>
        </p:nvSpPr>
        <p:spPr>
          <a:xfrm>
            <a:off x="5109464" y="3675888"/>
            <a:ext cx="422859" cy="164592"/>
          </a:xfrm>
          <a:prstGeom prst="roundRect">
            <a:avLst>
              <a:gd name="adj" fmla="val 22222"/>
            </a:avLst>
          </a:prstGeom>
          <a:solidFill>
            <a:srgbClr val="E6F2F3"/>
          </a:solidFill>
          <a:ln/>
        </p:spPr>
        <p:txBody>
          <a:bodyPr wrap="square" lIns="0" tIns="0" rIns="0" bIns="0" rtlCol="0" anchor="ctr"/>
          <a:lstStyle/>
          <a:p>
            <a:pPr algn="ctr" indent="0" marL="0">
              <a:buNone/>
            </a:pPr>
            <a:r>
              <a:rPr lang="en-US" sz="700" dirty="0">
                <a:solidFill>
                  <a:srgbClr val="182F48"/>
                </a:solidFill>
                <a:latin typeface="Noto Sans KR" pitchFamily="34" charset="0"/>
                <a:ea typeface="Noto Sans KR" pitchFamily="34" charset="-122"/>
                <a:cs typeface="Noto Sans KR" pitchFamily="34" charset="-120"/>
              </a:rPr>
              <a:t>창신INC</a:t>
            </a:r>
            <a:endParaRPr lang="en-US" sz="700" dirty="0"/>
          </a:p>
        </p:txBody>
      </p:sp>
      <p:sp>
        <p:nvSpPr>
          <p:cNvPr id="80" name="배지 트렉스타"/>
          <p:cNvSpPr/>
          <p:nvPr/>
        </p:nvSpPr>
        <p:spPr>
          <a:xfrm>
            <a:off x="5568899" y="3675888"/>
            <a:ext cx="418592" cy="164592"/>
          </a:xfrm>
          <a:prstGeom prst="roundRect">
            <a:avLst>
              <a:gd name="adj" fmla="val 22222"/>
            </a:avLst>
          </a:prstGeom>
          <a:solidFill>
            <a:srgbClr val="E6F2F3"/>
          </a:solidFill>
          <a:ln/>
        </p:spPr>
        <p:txBody>
          <a:bodyPr wrap="square" lIns="0" tIns="0" rIns="0" bIns="0" rtlCol="0" anchor="ctr"/>
          <a:lstStyle/>
          <a:p>
            <a:pPr algn="ctr" indent="0" marL="0">
              <a:buNone/>
            </a:pPr>
            <a:r>
              <a:rPr lang="en-US" sz="700" dirty="0">
                <a:solidFill>
                  <a:srgbClr val="182F48"/>
                </a:solidFill>
                <a:latin typeface="Noto Sans KR" pitchFamily="34" charset="0"/>
                <a:ea typeface="Noto Sans KR" pitchFamily="34" charset="-122"/>
                <a:cs typeface="Noto Sans KR" pitchFamily="34" charset="-120"/>
              </a:rPr>
              <a:t>트렉스타</a:t>
            </a:r>
            <a:endParaRPr lang="en-US" sz="700" dirty="0"/>
          </a:p>
        </p:txBody>
      </p:sp>
      <p:sp>
        <p:nvSpPr>
          <p:cNvPr id="81" name="단계 5 해외 직진출"/>
          <p:cNvSpPr txBox="1"/>
          <p:nvPr/>
        </p:nvSpPr>
        <p:spPr>
          <a:xfrm>
            <a:off x="6281928" y="2148840"/>
            <a:ext cx="1993392" cy="137160"/>
          </a:xfrm>
          <a:prstGeom prst="rect">
            <a:avLst/>
          </a:prstGeom>
          <a:noFill/>
          <a:ln/>
        </p:spPr>
        <p:txBody>
          <a:bodyPr wrap="square" lIns="0" tIns="0" rIns="0" bIns="0" rtlCol="0" anchor="t"/>
          <a:lstStyle/>
          <a:p>
            <a:pPr algn="l" indent="0" marL="0">
              <a:lnSpc>
                <a:spcPct val="90000"/>
              </a:lnSpc>
              <a:buNone/>
            </a:pPr>
            <a:r>
              <a:rPr lang="en-US" sz="680" b="1" dirty="0">
                <a:solidFill>
                  <a:srgbClr val="267D86"/>
                </a:solidFill>
                <a:latin typeface="Noto Sans KR" pitchFamily="34" charset="0"/>
                <a:ea typeface="Noto Sans KR" pitchFamily="34" charset="-122"/>
                <a:cs typeface="Noto Sans KR" pitchFamily="34" charset="-120"/>
              </a:rPr>
              <a:t>해외 직진출</a:t>
            </a:r>
            <a:endParaRPr lang="en-US" sz="680" dirty="0"/>
          </a:p>
        </p:txBody>
      </p:sp>
      <p:sp>
        <p:nvSpPr>
          <p:cNvPr id="82" name="배지 아크테릭스"/>
          <p:cNvSpPr/>
          <p:nvPr/>
        </p:nvSpPr>
        <p:spPr>
          <a:xfrm>
            <a:off x="6281928" y="2295144"/>
            <a:ext cx="500380" cy="164592"/>
          </a:xfrm>
          <a:prstGeom prst="roundRect">
            <a:avLst>
              <a:gd name="adj" fmla="val 22222"/>
            </a:avLst>
          </a:prstGeom>
          <a:solidFill>
            <a:srgbClr val="EEF0F3"/>
          </a:solidFill>
          <a:ln/>
        </p:spPr>
        <p:txBody>
          <a:bodyPr wrap="square" lIns="0" tIns="0" rIns="0" bIns="0" rtlCol="0" anchor="ctr"/>
          <a:lstStyle/>
          <a:p>
            <a:pPr algn="ctr" indent="0" marL="0">
              <a:buNone/>
            </a:pPr>
            <a:r>
              <a:rPr lang="en-US" sz="700" dirty="0">
                <a:solidFill>
                  <a:srgbClr val="475569"/>
                </a:solidFill>
                <a:latin typeface="Noto Sans KR" pitchFamily="34" charset="0"/>
                <a:ea typeface="Noto Sans KR" pitchFamily="34" charset="-122"/>
                <a:cs typeface="Noto Sans KR" pitchFamily="34" charset="-120"/>
              </a:rPr>
              <a:t>아크테릭스</a:t>
            </a:r>
            <a:endParaRPr lang="en-US" sz="700" dirty="0"/>
          </a:p>
        </p:txBody>
      </p:sp>
      <p:sp>
        <p:nvSpPr>
          <p:cNvPr id="83" name="배지 살로몬"/>
          <p:cNvSpPr/>
          <p:nvPr/>
        </p:nvSpPr>
        <p:spPr>
          <a:xfrm>
            <a:off x="6818884" y="2295144"/>
            <a:ext cx="336804" cy="164592"/>
          </a:xfrm>
          <a:prstGeom prst="roundRect">
            <a:avLst>
              <a:gd name="adj" fmla="val 22222"/>
            </a:avLst>
          </a:prstGeom>
          <a:solidFill>
            <a:srgbClr val="EEF0F3"/>
          </a:solidFill>
          <a:ln/>
        </p:spPr>
        <p:txBody>
          <a:bodyPr wrap="square" lIns="0" tIns="0" rIns="0" bIns="0" rtlCol="0" anchor="ctr"/>
          <a:lstStyle/>
          <a:p>
            <a:pPr algn="ctr" indent="0" marL="0">
              <a:buNone/>
            </a:pPr>
            <a:r>
              <a:rPr lang="en-US" sz="700" dirty="0">
                <a:solidFill>
                  <a:srgbClr val="475569"/>
                </a:solidFill>
                <a:latin typeface="Noto Sans KR" pitchFamily="34" charset="0"/>
                <a:ea typeface="Noto Sans KR" pitchFamily="34" charset="-122"/>
                <a:cs typeface="Noto Sans KR" pitchFamily="34" charset="-120"/>
              </a:rPr>
              <a:t>살로몬</a:t>
            </a:r>
            <a:endParaRPr lang="en-US" sz="700" dirty="0"/>
          </a:p>
        </p:txBody>
      </p:sp>
      <p:sp>
        <p:nvSpPr>
          <p:cNvPr id="84" name="배지 파타고니아"/>
          <p:cNvSpPr/>
          <p:nvPr/>
        </p:nvSpPr>
        <p:spPr>
          <a:xfrm>
            <a:off x="7192264" y="2295144"/>
            <a:ext cx="500380" cy="164592"/>
          </a:xfrm>
          <a:prstGeom prst="roundRect">
            <a:avLst>
              <a:gd name="adj" fmla="val 22222"/>
            </a:avLst>
          </a:prstGeom>
          <a:solidFill>
            <a:srgbClr val="EEF0F3"/>
          </a:solidFill>
          <a:ln/>
        </p:spPr>
        <p:txBody>
          <a:bodyPr wrap="square" lIns="0" tIns="0" rIns="0" bIns="0" rtlCol="0" anchor="ctr"/>
          <a:lstStyle/>
          <a:p>
            <a:pPr algn="ctr" indent="0" marL="0">
              <a:buNone/>
            </a:pPr>
            <a:r>
              <a:rPr lang="en-US" sz="700" dirty="0">
                <a:solidFill>
                  <a:srgbClr val="475569"/>
                </a:solidFill>
                <a:latin typeface="Noto Sans KR" pitchFamily="34" charset="0"/>
                <a:ea typeface="Noto Sans KR" pitchFamily="34" charset="-122"/>
                <a:cs typeface="Noto Sans KR" pitchFamily="34" charset="-120"/>
              </a:rPr>
              <a:t>파타고니아</a:t>
            </a:r>
            <a:endParaRPr lang="en-US" sz="700" dirty="0"/>
          </a:p>
        </p:txBody>
      </p:sp>
      <p:sp>
        <p:nvSpPr>
          <p:cNvPr id="85" name="배지 마무트"/>
          <p:cNvSpPr/>
          <p:nvPr/>
        </p:nvSpPr>
        <p:spPr>
          <a:xfrm>
            <a:off x="7729220" y="2295144"/>
            <a:ext cx="336804" cy="164592"/>
          </a:xfrm>
          <a:prstGeom prst="roundRect">
            <a:avLst>
              <a:gd name="adj" fmla="val 22222"/>
            </a:avLst>
          </a:prstGeom>
          <a:solidFill>
            <a:srgbClr val="EEF0F3"/>
          </a:solidFill>
          <a:ln/>
        </p:spPr>
        <p:txBody>
          <a:bodyPr wrap="square" lIns="0" tIns="0" rIns="0" bIns="0" rtlCol="0" anchor="ctr"/>
          <a:lstStyle/>
          <a:p>
            <a:pPr algn="ctr" indent="0" marL="0">
              <a:buNone/>
            </a:pPr>
            <a:r>
              <a:rPr lang="en-US" sz="700" dirty="0">
                <a:solidFill>
                  <a:srgbClr val="475569"/>
                </a:solidFill>
                <a:latin typeface="Noto Sans KR" pitchFamily="34" charset="0"/>
                <a:ea typeface="Noto Sans KR" pitchFamily="34" charset="-122"/>
                <a:cs typeface="Noto Sans KR" pitchFamily="34" charset="-120"/>
              </a:rPr>
              <a:t>마무트</a:t>
            </a:r>
            <a:endParaRPr lang="en-US" sz="700" dirty="0"/>
          </a:p>
        </p:txBody>
      </p:sp>
      <p:sp>
        <p:nvSpPr>
          <p:cNvPr id="86" name="배지 살레와"/>
          <p:cNvSpPr/>
          <p:nvPr/>
        </p:nvSpPr>
        <p:spPr>
          <a:xfrm>
            <a:off x="6281928" y="2491740"/>
            <a:ext cx="336804" cy="164592"/>
          </a:xfrm>
          <a:prstGeom prst="roundRect">
            <a:avLst>
              <a:gd name="adj" fmla="val 22222"/>
            </a:avLst>
          </a:prstGeom>
          <a:solidFill>
            <a:srgbClr val="EEF0F3"/>
          </a:solidFill>
          <a:ln/>
        </p:spPr>
        <p:txBody>
          <a:bodyPr wrap="square" lIns="0" tIns="0" rIns="0" bIns="0" rtlCol="0" anchor="ctr"/>
          <a:lstStyle/>
          <a:p>
            <a:pPr algn="ctr" indent="0" marL="0">
              <a:buNone/>
            </a:pPr>
            <a:r>
              <a:rPr lang="en-US" sz="700" dirty="0">
                <a:solidFill>
                  <a:srgbClr val="475569"/>
                </a:solidFill>
                <a:latin typeface="Noto Sans KR" pitchFamily="34" charset="0"/>
                <a:ea typeface="Noto Sans KR" pitchFamily="34" charset="-122"/>
                <a:cs typeface="Noto Sans KR" pitchFamily="34" charset="-120"/>
              </a:rPr>
              <a:t>살레와</a:t>
            </a:r>
            <a:endParaRPr lang="en-US" sz="700" dirty="0"/>
          </a:p>
        </p:txBody>
      </p:sp>
      <p:sp>
        <p:nvSpPr>
          <p:cNvPr id="87" name="단계 5 해외 IP 라이선스"/>
          <p:cNvSpPr txBox="1"/>
          <p:nvPr/>
        </p:nvSpPr>
        <p:spPr>
          <a:xfrm>
            <a:off x="6281928" y="2711196"/>
            <a:ext cx="1993392" cy="137160"/>
          </a:xfrm>
          <a:prstGeom prst="rect">
            <a:avLst/>
          </a:prstGeom>
          <a:noFill/>
          <a:ln/>
        </p:spPr>
        <p:txBody>
          <a:bodyPr wrap="square" lIns="0" tIns="0" rIns="0" bIns="0" rtlCol="0" anchor="t"/>
          <a:lstStyle/>
          <a:p>
            <a:pPr algn="l" indent="0" marL="0">
              <a:lnSpc>
                <a:spcPct val="90000"/>
              </a:lnSpc>
              <a:buNone/>
            </a:pPr>
            <a:r>
              <a:rPr lang="en-US" sz="680" b="1" dirty="0">
                <a:solidFill>
                  <a:srgbClr val="267D86"/>
                </a:solidFill>
                <a:latin typeface="Noto Sans KR" pitchFamily="34" charset="0"/>
                <a:ea typeface="Noto Sans KR" pitchFamily="34" charset="-122"/>
                <a:cs typeface="Noto Sans KR" pitchFamily="34" charset="-120"/>
              </a:rPr>
              <a:t>해외 IP 라이선스</a:t>
            </a:r>
            <a:endParaRPr lang="en-US" sz="680" dirty="0"/>
          </a:p>
        </p:txBody>
      </p:sp>
      <p:sp>
        <p:nvSpPr>
          <p:cNvPr id="88" name="배지 노스페이스"/>
          <p:cNvSpPr/>
          <p:nvPr/>
        </p:nvSpPr>
        <p:spPr>
          <a:xfrm>
            <a:off x="6281928" y="2857500"/>
            <a:ext cx="500380" cy="164592"/>
          </a:xfrm>
          <a:prstGeom prst="roundRect">
            <a:avLst>
              <a:gd name="adj" fmla="val 22222"/>
            </a:avLst>
          </a:prstGeom>
          <a:solidFill>
            <a:srgbClr val="FDEDE3"/>
          </a:solidFill>
          <a:ln/>
        </p:spPr>
        <p:txBody>
          <a:bodyPr wrap="square" lIns="0" tIns="0" rIns="0" bIns="0" rtlCol="0" anchor="ctr"/>
          <a:lstStyle/>
          <a:p>
            <a:pPr algn="ctr" indent="0" marL="0">
              <a:buNone/>
            </a:pPr>
            <a:r>
              <a:rPr lang="en-US" sz="700" dirty="0">
                <a:solidFill>
                  <a:srgbClr val="9A3412"/>
                </a:solidFill>
                <a:latin typeface="Noto Sans KR" pitchFamily="34" charset="0"/>
                <a:ea typeface="Noto Sans KR" pitchFamily="34" charset="-122"/>
                <a:cs typeface="Noto Sans KR" pitchFamily="34" charset="-120"/>
              </a:rPr>
              <a:t>노스페이스</a:t>
            </a:r>
            <a:endParaRPr lang="en-US" sz="700" dirty="0"/>
          </a:p>
        </p:txBody>
      </p:sp>
      <p:sp>
        <p:nvSpPr>
          <p:cNvPr id="89" name="배지 디스커버리"/>
          <p:cNvSpPr/>
          <p:nvPr/>
        </p:nvSpPr>
        <p:spPr>
          <a:xfrm>
            <a:off x="6818884" y="2857500"/>
            <a:ext cx="500380" cy="164592"/>
          </a:xfrm>
          <a:prstGeom prst="roundRect">
            <a:avLst>
              <a:gd name="adj" fmla="val 22222"/>
            </a:avLst>
          </a:prstGeom>
          <a:solidFill>
            <a:srgbClr val="FDEDE3"/>
          </a:solidFill>
          <a:ln/>
        </p:spPr>
        <p:txBody>
          <a:bodyPr wrap="square" lIns="0" tIns="0" rIns="0" bIns="0" rtlCol="0" anchor="ctr"/>
          <a:lstStyle/>
          <a:p>
            <a:pPr algn="ctr" indent="0" marL="0">
              <a:buNone/>
            </a:pPr>
            <a:r>
              <a:rPr lang="en-US" sz="700" dirty="0">
                <a:solidFill>
                  <a:srgbClr val="9A3412"/>
                </a:solidFill>
                <a:latin typeface="Noto Sans KR" pitchFamily="34" charset="0"/>
                <a:ea typeface="Noto Sans KR" pitchFamily="34" charset="-122"/>
                <a:cs typeface="Noto Sans KR" pitchFamily="34" charset="-120"/>
              </a:rPr>
              <a:t>디스커버리</a:t>
            </a:r>
            <a:endParaRPr lang="en-US" sz="700" dirty="0"/>
          </a:p>
        </p:txBody>
      </p:sp>
      <p:sp>
        <p:nvSpPr>
          <p:cNvPr id="90" name="배지 내셔널지오그래픽"/>
          <p:cNvSpPr/>
          <p:nvPr/>
        </p:nvSpPr>
        <p:spPr>
          <a:xfrm>
            <a:off x="7355840" y="2857500"/>
            <a:ext cx="745744" cy="164592"/>
          </a:xfrm>
          <a:prstGeom prst="roundRect">
            <a:avLst>
              <a:gd name="adj" fmla="val 22222"/>
            </a:avLst>
          </a:prstGeom>
          <a:solidFill>
            <a:srgbClr val="FDEDE3"/>
          </a:solidFill>
          <a:ln/>
        </p:spPr>
        <p:txBody>
          <a:bodyPr wrap="square" lIns="0" tIns="0" rIns="0" bIns="0" rtlCol="0" anchor="ctr"/>
          <a:lstStyle/>
          <a:p>
            <a:pPr algn="ctr" indent="0" marL="0">
              <a:buNone/>
            </a:pPr>
            <a:r>
              <a:rPr lang="en-US" sz="700" dirty="0">
                <a:solidFill>
                  <a:srgbClr val="9A3412"/>
                </a:solidFill>
                <a:latin typeface="Noto Sans KR" pitchFamily="34" charset="0"/>
                <a:ea typeface="Noto Sans KR" pitchFamily="34" charset="-122"/>
                <a:cs typeface="Noto Sans KR" pitchFamily="34" charset="-120"/>
              </a:rPr>
              <a:t>내셔널지오그래픽</a:t>
            </a:r>
            <a:endParaRPr lang="en-US" sz="700" dirty="0"/>
          </a:p>
        </p:txBody>
      </p:sp>
      <p:sp>
        <p:nvSpPr>
          <p:cNvPr id="91" name="배지 스노우피크어패럴"/>
          <p:cNvSpPr/>
          <p:nvPr/>
        </p:nvSpPr>
        <p:spPr>
          <a:xfrm>
            <a:off x="6281928" y="3054096"/>
            <a:ext cx="745744" cy="164592"/>
          </a:xfrm>
          <a:prstGeom prst="roundRect">
            <a:avLst>
              <a:gd name="adj" fmla="val 22222"/>
            </a:avLst>
          </a:prstGeom>
          <a:solidFill>
            <a:srgbClr val="FDEDE3"/>
          </a:solidFill>
          <a:ln/>
        </p:spPr>
        <p:txBody>
          <a:bodyPr wrap="square" lIns="0" tIns="0" rIns="0" bIns="0" rtlCol="0" anchor="ctr"/>
          <a:lstStyle/>
          <a:p>
            <a:pPr algn="ctr" indent="0" marL="0">
              <a:buNone/>
            </a:pPr>
            <a:r>
              <a:rPr lang="en-US" sz="700" dirty="0">
                <a:solidFill>
                  <a:srgbClr val="9A3412"/>
                </a:solidFill>
                <a:latin typeface="Noto Sans KR" pitchFamily="34" charset="0"/>
                <a:ea typeface="Noto Sans KR" pitchFamily="34" charset="-122"/>
                <a:cs typeface="Noto Sans KR" pitchFamily="34" charset="-120"/>
              </a:rPr>
              <a:t>스노우피크어패럴</a:t>
            </a:r>
            <a:endParaRPr lang="en-US" sz="700" dirty="0"/>
          </a:p>
        </p:txBody>
      </p:sp>
      <p:sp>
        <p:nvSpPr>
          <p:cNvPr id="92" name="로열티 유출"/>
          <p:cNvSpPr txBox="1"/>
          <p:nvPr/>
        </p:nvSpPr>
        <p:spPr>
          <a:xfrm>
            <a:off x="7082536" y="3054096"/>
            <a:ext cx="868801" cy="164592"/>
          </a:xfrm>
          <a:prstGeom prst="rect">
            <a:avLst/>
          </a:prstGeom>
          <a:noFill/>
          <a:ln/>
        </p:spPr>
        <p:txBody>
          <a:bodyPr wrap="square" lIns="0" tIns="0" rIns="0" bIns="0" rtlCol="0" anchor="ctr"/>
          <a:lstStyle/>
          <a:p>
            <a:pPr algn="l" indent="0" marL="0">
              <a:lnSpc>
                <a:spcPct val="90000"/>
              </a:lnSpc>
              <a:buNone/>
            </a:pPr>
            <a:r>
              <a:rPr lang="en-US" sz="650" b="1" dirty="0">
                <a:solidFill>
                  <a:srgbClr val="C2410C"/>
                </a:solidFill>
                <a:latin typeface="Noto Sans KR" pitchFamily="34" charset="0"/>
                <a:ea typeface="Noto Sans KR" pitchFamily="34" charset="-122"/>
                <a:cs typeface="Noto Sans KR" pitchFamily="34" charset="-120"/>
              </a:rPr>
              <a:t>로열티 151억→337억</a:t>
            </a:r>
            <a:endParaRPr lang="en-US" sz="650" dirty="0"/>
          </a:p>
        </p:txBody>
      </p:sp>
      <p:sp>
        <p:nvSpPr>
          <p:cNvPr id="93" name="단계 5 국내 오리지널 (2024 모두 역성장)"/>
          <p:cNvSpPr txBox="1"/>
          <p:nvPr/>
        </p:nvSpPr>
        <p:spPr>
          <a:xfrm>
            <a:off x="6281928" y="3273552"/>
            <a:ext cx="1993392" cy="137160"/>
          </a:xfrm>
          <a:prstGeom prst="rect">
            <a:avLst/>
          </a:prstGeom>
          <a:noFill/>
          <a:ln/>
        </p:spPr>
        <p:txBody>
          <a:bodyPr wrap="square" lIns="0" tIns="0" rIns="0" bIns="0" rtlCol="0" anchor="t"/>
          <a:lstStyle/>
          <a:p>
            <a:pPr algn="l" indent="0" marL="0">
              <a:lnSpc>
                <a:spcPct val="90000"/>
              </a:lnSpc>
              <a:buNone/>
            </a:pPr>
            <a:r>
              <a:rPr lang="en-US" sz="680" b="1" dirty="0">
                <a:solidFill>
                  <a:srgbClr val="267D86"/>
                </a:solidFill>
                <a:latin typeface="Noto Sans KR" pitchFamily="34" charset="0"/>
                <a:ea typeface="Noto Sans KR" pitchFamily="34" charset="-122"/>
                <a:cs typeface="Noto Sans KR" pitchFamily="34" charset="-120"/>
              </a:rPr>
              <a:t>국내 오리지널 (2024 모두 역성장)</a:t>
            </a:r>
            <a:endParaRPr lang="en-US" sz="680" dirty="0"/>
          </a:p>
        </p:txBody>
      </p:sp>
      <p:sp>
        <p:nvSpPr>
          <p:cNvPr id="94" name="배지 코오롱스포츠"/>
          <p:cNvSpPr/>
          <p:nvPr/>
        </p:nvSpPr>
        <p:spPr>
          <a:xfrm>
            <a:off x="6281928" y="3419856"/>
            <a:ext cx="582168" cy="164592"/>
          </a:xfrm>
          <a:prstGeom prst="roundRect">
            <a:avLst>
              <a:gd name="adj" fmla="val 22222"/>
            </a:avLst>
          </a:prstGeom>
          <a:solidFill>
            <a:srgbClr val="E6F2F3"/>
          </a:solidFill>
          <a:ln/>
        </p:spPr>
        <p:txBody>
          <a:bodyPr wrap="square" lIns="0" tIns="0" rIns="0" bIns="0" rtlCol="0" anchor="ctr"/>
          <a:lstStyle/>
          <a:p>
            <a:pPr algn="ctr" indent="0" marL="0">
              <a:buNone/>
            </a:pPr>
            <a:r>
              <a:rPr lang="en-US" sz="700" dirty="0">
                <a:solidFill>
                  <a:srgbClr val="182F48"/>
                </a:solidFill>
                <a:latin typeface="Noto Sans KR" pitchFamily="34" charset="0"/>
                <a:ea typeface="Noto Sans KR" pitchFamily="34" charset="-122"/>
                <a:cs typeface="Noto Sans KR" pitchFamily="34" charset="-120"/>
              </a:rPr>
              <a:t>코오롱스포츠</a:t>
            </a:r>
            <a:endParaRPr lang="en-US" sz="700" dirty="0"/>
          </a:p>
        </p:txBody>
      </p:sp>
      <p:sp>
        <p:nvSpPr>
          <p:cNvPr id="95" name="배지 K2"/>
          <p:cNvSpPr/>
          <p:nvPr/>
        </p:nvSpPr>
        <p:spPr>
          <a:xfrm>
            <a:off x="6900672" y="3419856"/>
            <a:ext cx="198209" cy="164592"/>
          </a:xfrm>
          <a:prstGeom prst="roundRect">
            <a:avLst>
              <a:gd name="adj" fmla="val 22222"/>
            </a:avLst>
          </a:prstGeom>
          <a:solidFill>
            <a:srgbClr val="E6F2F3"/>
          </a:solidFill>
          <a:ln/>
        </p:spPr>
        <p:txBody>
          <a:bodyPr wrap="square" lIns="0" tIns="0" rIns="0" bIns="0" rtlCol="0" anchor="ctr"/>
          <a:lstStyle/>
          <a:p>
            <a:pPr algn="ctr" indent="0" marL="0">
              <a:buNone/>
            </a:pPr>
            <a:r>
              <a:rPr lang="en-US" sz="700" dirty="0">
                <a:solidFill>
                  <a:srgbClr val="182F48"/>
                </a:solidFill>
                <a:latin typeface="Noto Sans KR" pitchFamily="34" charset="0"/>
                <a:ea typeface="Noto Sans KR" pitchFamily="34" charset="-122"/>
                <a:cs typeface="Noto Sans KR" pitchFamily="34" charset="-120"/>
              </a:rPr>
              <a:t>K2</a:t>
            </a:r>
            <a:endParaRPr lang="en-US" sz="700" dirty="0"/>
          </a:p>
        </p:txBody>
      </p:sp>
      <p:sp>
        <p:nvSpPr>
          <p:cNvPr id="96" name="배지 블랙야크"/>
          <p:cNvSpPr/>
          <p:nvPr/>
        </p:nvSpPr>
        <p:spPr>
          <a:xfrm>
            <a:off x="7135457" y="3419856"/>
            <a:ext cx="418592" cy="164592"/>
          </a:xfrm>
          <a:prstGeom prst="roundRect">
            <a:avLst>
              <a:gd name="adj" fmla="val 22222"/>
            </a:avLst>
          </a:prstGeom>
          <a:solidFill>
            <a:srgbClr val="E6F2F3"/>
          </a:solidFill>
          <a:ln/>
        </p:spPr>
        <p:txBody>
          <a:bodyPr wrap="square" lIns="0" tIns="0" rIns="0" bIns="0" rtlCol="0" anchor="ctr"/>
          <a:lstStyle/>
          <a:p>
            <a:pPr algn="ctr" indent="0" marL="0">
              <a:buNone/>
            </a:pPr>
            <a:r>
              <a:rPr lang="en-US" sz="700" dirty="0">
                <a:solidFill>
                  <a:srgbClr val="182F48"/>
                </a:solidFill>
                <a:latin typeface="Noto Sans KR" pitchFamily="34" charset="0"/>
                <a:ea typeface="Noto Sans KR" pitchFamily="34" charset="-122"/>
                <a:cs typeface="Noto Sans KR" pitchFamily="34" charset="-120"/>
              </a:rPr>
              <a:t>블랙야크</a:t>
            </a:r>
            <a:endParaRPr lang="en-US" sz="700" dirty="0"/>
          </a:p>
        </p:txBody>
      </p:sp>
      <p:sp>
        <p:nvSpPr>
          <p:cNvPr id="97" name="배지 네파"/>
          <p:cNvSpPr/>
          <p:nvPr/>
        </p:nvSpPr>
        <p:spPr>
          <a:xfrm>
            <a:off x="7590625" y="3419856"/>
            <a:ext cx="255016" cy="164592"/>
          </a:xfrm>
          <a:prstGeom prst="roundRect">
            <a:avLst>
              <a:gd name="adj" fmla="val 22222"/>
            </a:avLst>
          </a:prstGeom>
          <a:solidFill>
            <a:srgbClr val="E6F2F3"/>
          </a:solidFill>
          <a:ln/>
        </p:spPr>
        <p:txBody>
          <a:bodyPr wrap="square" lIns="0" tIns="0" rIns="0" bIns="0" rtlCol="0" anchor="ctr"/>
          <a:lstStyle/>
          <a:p>
            <a:pPr algn="ctr" indent="0" marL="0">
              <a:buNone/>
            </a:pPr>
            <a:r>
              <a:rPr lang="en-US" sz="700" dirty="0">
                <a:solidFill>
                  <a:srgbClr val="182F48"/>
                </a:solidFill>
                <a:latin typeface="Noto Sans KR" pitchFamily="34" charset="0"/>
                <a:ea typeface="Noto Sans KR" pitchFamily="34" charset="-122"/>
                <a:cs typeface="Noto Sans KR" pitchFamily="34" charset="-120"/>
              </a:rPr>
              <a:t>네파</a:t>
            </a:r>
            <a:endParaRPr lang="en-US" sz="700" dirty="0"/>
          </a:p>
        </p:txBody>
      </p:sp>
      <p:sp>
        <p:nvSpPr>
          <p:cNvPr id="98" name="단계 5 K-고프코어 신진"/>
          <p:cNvSpPr txBox="1"/>
          <p:nvPr/>
        </p:nvSpPr>
        <p:spPr>
          <a:xfrm>
            <a:off x="6281928" y="3639312"/>
            <a:ext cx="1993392" cy="137160"/>
          </a:xfrm>
          <a:prstGeom prst="rect">
            <a:avLst/>
          </a:prstGeom>
          <a:noFill/>
          <a:ln/>
        </p:spPr>
        <p:txBody>
          <a:bodyPr wrap="square" lIns="0" tIns="0" rIns="0" bIns="0" rtlCol="0" anchor="t"/>
          <a:lstStyle/>
          <a:p>
            <a:pPr algn="l" indent="0" marL="0">
              <a:lnSpc>
                <a:spcPct val="90000"/>
              </a:lnSpc>
              <a:buNone/>
            </a:pPr>
            <a:r>
              <a:rPr lang="en-US" sz="680" b="1" dirty="0">
                <a:solidFill>
                  <a:srgbClr val="267D86"/>
                </a:solidFill>
                <a:latin typeface="Noto Sans KR" pitchFamily="34" charset="0"/>
                <a:ea typeface="Noto Sans KR" pitchFamily="34" charset="-122"/>
                <a:cs typeface="Noto Sans KR" pitchFamily="34" charset="-120"/>
              </a:rPr>
              <a:t>K-고프코어 신진</a:t>
            </a:r>
            <a:endParaRPr lang="en-US" sz="680" dirty="0"/>
          </a:p>
        </p:txBody>
      </p:sp>
      <p:sp>
        <p:nvSpPr>
          <p:cNvPr id="99" name="배지 케일"/>
          <p:cNvSpPr/>
          <p:nvPr/>
        </p:nvSpPr>
        <p:spPr>
          <a:xfrm>
            <a:off x="6281928" y="3785616"/>
            <a:ext cx="255016" cy="164592"/>
          </a:xfrm>
          <a:prstGeom prst="roundRect">
            <a:avLst>
              <a:gd name="adj" fmla="val 22222"/>
            </a:avLst>
          </a:prstGeom>
          <a:solidFill>
            <a:srgbClr val="E6F2F3"/>
          </a:solidFill>
          <a:ln/>
        </p:spPr>
        <p:txBody>
          <a:bodyPr wrap="square" lIns="0" tIns="0" rIns="0" bIns="0" rtlCol="0" anchor="ctr"/>
          <a:lstStyle/>
          <a:p>
            <a:pPr algn="ctr" indent="0" marL="0">
              <a:buNone/>
            </a:pPr>
            <a:r>
              <a:rPr lang="en-US" sz="700" dirty="0">
                <a:solidFill>
                  <a:srgbClr val="182F48"/>
                </a:solidFill>
                <a:latin typeface="Noto Sans KR" pitchFamily="34" charset="0"/>
                <a:ea typeface="Noto Sans KR" pitchFamily="34" charset="-122"/>
                <a:cs typeface="Noto Sans KR" pitchFamily="34" charset="-120"/>
              </a:rPr>
              <a:t>케일</a:t>
            </a:r>
            <a:endParaRPr lang="en-US" sz="700" dirty="0"/>
          </a:p>
        </p:txBody>
      </p:sp>
      <p:sp>
        <p:nvSpPr>
          <p:cNvPr id="100" name="배지 산산기어"/>
          <p:cNvSpPr/>
          <p:nvPr/>
        </p:nvSpPr>
        <p:spPr>
          <a:xfrm>
            <a:off x="6573520" y="3785616"/>
            <a:ext cx="418592" cy="164592"/>
          </a:xfrm>
          <a:prstGeom prst="roundRect">
            <a:avLst>
              <a:gd name="adj" fmla="val 22222"/>
            </a:avLst>
          </a:prstGeom>
          <a:solidFill>
            <a:srgbClr val="E6F2F3"/>
          </a:solidFill>
          <a:ln/>
        </p:spPr>
        <p:txBody>
          <a:bodyPr wrap="square" lIns="0" tIns="0" rIns="0" bIns="0" rtlCol="0" anchor="ctr"/>
          <a:lstStyle/>
          <a:p>
            <a:pPr algn="ctr" indent="0" marL="0">
              <a:buNone/>
            </a:pPr>
            <a:r>
              <a:rPr lang="en-US" sz="700" dirty="0">
                <a:solidFill>
                  <a:srgbClr val="182F48"/>
                </a:solidFill>
                <a:latin typeface="Noto Sans KR" pitchFamily="34" charset="0"/>
                <a:ea typeface="Noto Sans KR" pitchFamily="34" charset="-122"/>
                <a:cs typeface="Noto Sans KR" pitchFamily="34" charset="-120"/>
              </a:rPr>
              <a:t>산산기어</a:t>
            </a:r>
            <a:endParaRPr lang="en-US" sz="700" dirty="0"/>
          </a:p>
        </p:txBody>
      </p:sp>
      <p:sp>
        <p:nvSpPr>
          <p:cNvPr id="101" name="배지 고요웨어"/>
          <p:cNvSpPr/>
          <p:nvPr/>
        </p:nvSpPr>
        <p:spPr>
          <a:xfrm>
            <a:off x="7028688" y="3785616"/>
            <a:ext cx="418592" cy="164592"/>
          </a:xfrm>
          <a:prstGeom prst="roundRect">
            <a:avLst>
              <a:gd name="adj" fmla="val 22222"/>
            </a:avLst>
          </a:prstGeom>
          <a:solidFill>
            <a:srgbClr val="E6F2F3"/>
          </a:solidFill>
          <a:ln/>
        </p:spPr>
        <p:txBody>
          <a:bodyPr wrap="square" lIns="0" tIns="0" rIns="0" bIns="0" rtlCol="0" anchor="ctr"/>
          <a:lstStyle/>
          <a:p>
            <a:pPr algn="ctr" indent="0" marL="0">
              <a:buNone/>
            </a:pPr>
            <a:r>
              <a:rPr lang="en-US" sz="700" dirty="0">
                <a:solidFill>
                  <a:srgbClr val="182F48"/>
                </a:solidFill>
                <a:latin typeface="Noto Sans KR" pitchFamily="34" charset="0"/>
                <a:ea typeface="Noto Sans KR" pitchFamily="34" charset="-122"/>
                <a:cs typeface="Noto Sans KR" pitchFamily="34" charset="-120"/>
              </a:rPr>
              <a:t>고요웨어</a:t>
            </a:r>
            <a:endParaRPr lang="en-US" sz="700" dirty="0"/>
          </a:p>
        </p:txBody>
      </p:sp>
      <p:sp>
        <p:nvSpPr>
          <p:cNvPr id="102" name="배지 그레일즈"/>
          <p:cNvSpPr/>
          <p:nvPr/>
        </p:nvSpPr>
        <p:spPr>
          <a:xfrm>
            <a:off x="7483856" y="3785616"/>
            <a:ext cx="418592" cy="164592"/>
          </a:xfrm>
          <a:prstGeom prst="roundRect">
            <a:avLst>
              <a:gd name="adj" fmla="val 22222"/>
            </a:avLst>
          </a:prstGeom>
          <a:solidFill>
            <a:srgbClr val="E6F2F3"/>
          </a:solidFill>
          <a:ln/>
        </p:spPr>
        <p:txBody>
          <a:bodyPr wrap="square" lIns="0" tIns="0" rIns="0" bIns="0" rtlCol="0" anchor="ctr"/>
          <a:lstStyle/>
          <a:p>
            <a:pPr algn="ctr" indent="0" marL="0">
              <a:buNone/>
            </a:pPr>
            <a:r>
              <a:rPr lang="en-US" sz="700" dirty="0">
                <a:solidFill>
                  <a:srgbClr val="182F48"/>
                </a:solidFill>
                <a:latin typeface="Noto Sans KR" pitchFamily="34" charset="0"/>
                <a:ea typeface="Noto Sans KR" pitchFamily="34" charset="-122"/>
                <a:cs typeface="Noto Sans KR" pitchFamily="34" charset="-120"/>
              </a:rPr>
              <a:t>그레일즈</a:t>
            </a:r>
            <a:endParaRPr lang="en-US" sz="700" dirty="0"/>
          </a:p>
        </p:txBody>
      </p:sp>
      <p:sp>
        <p:nvSpPr>
          <p:cNvPr id="103" name="배지 제로그램"/>
          <p:cNvSpPr/>
          <p:nvPr/>
        </p:nvSpPr>
        <p:spPr>
          <a:xfrm>
            <a:off x="6281928" y="3982212"/>
            <a:ext cx="418592" cy="164592"/>
          </a:xfrm>
          <a:prstGeom prst="roundRect">
            <a:avLst>
              <a:gd name="adj" fmla="val 22222"/>
            </a:avLst>
          </a:prstGeom>
          <a:solidFill>
            <a:srgbClr val="E6F2F3"/>
          </a:solidFill>
          <a:ln/>
        </p:spPr>
        <p:txBody>
          <a:bodyPr wrap="square" lIns="0" tIns="0" rIns="0" bIns="0" rtlCol="0" anchor="ctr"/>
          <a:lstStyle/>
          <a:p>
            <a:pPr algn="ctr" indent="0" marL="0">
              <a:buNone/>
            </a:pPr>
            <a:r>
              <a:rPr lang="en-US" sz="700" dirty="0">
                <a:solidFill>
                  <a:srgbClr val="182F48"/>
                </a:solidFill>
                <a:latin typeface="Noto Sans KR" pitchFamily="34" charset="0"/>
                <a:ea typeface="Noto Sans KR" pitchFamily="34" charset="-122"/>
                <a:cs typeface="Noto Sans KR" pitchFamily="34" charset="-120"/>
              </a:rPr>
              <a:t>제로그램</a:t>
            </a:r>
            <a:endParaRPr lang="en-US" sz="700" dirty="0"/>
          </a:p>
        </p:txBody>
      </p:sp>
      <p:sp>
        <p:nvSpPr>
          <p:cNvPr id="104" name="단계 6 국내 플랫폼 (수수료 27.8%)"/>
          <p:cNvSpPr txBox="1"/>
          <p:nvPr/>
        </p:nvSpPr>
        <p:spPr>
          <a:xfrm>
            <a:off x="8494776" y="2148840"/>
            <a:ext cx="1947672" cy="137160"/>
          </a:xfrm>
          <a:prstGeom prst="rect">
            <a:avLst/>
          </a:prstGeom>
          <a:noFill/>
          <a:ln/>
        </p:spPr>
        <p:txBody>
          <a:bodyPr wrap="square" lIns="0" tIns="0" rIns="0" bIns="0" rtlCol="0" anchor="t"/>
          <a:lstStyle/>
          <a:p>
            <a:pPr algn="l" indent="0" marL="0">
              <a:lnSpc>
                <a:spcPct val="90000"/>
              </a:lnSpc>
              <a:buNone/>
            </a:pPr>
            <a:r>
              <a:rPr lang="en-US" sz="680" b="1" dirty="0">
                <a:solidFill>
                  <a:srgbClr val="267D86"/>
                </a:solidFill>
                <a:latin typeface="Noto Sans KR" pitchFamily="34" charset="0"/>
                <a:ea typeface="Noto Sans KR" pitchFamily="34" charset="-122"/>
                <a:cs typeface="Noto Sans KR" pitchFamily="34" charset="-120"/>
              </a:rPr>
              <a:t>국내 플랫폼 (수수료 27.8%)</a:t>
            </a:r>
            <a:endParaRPr lang="en-US" sz="680" dirty="0"/>
          </a:p>
        </p:txBody>
      </p:sp>
      <p:sp>
        <p:nvSpPr>
          <p:cNvPr id="105" name="배지 무신사"/>
          <p:cNvSpPr/>
          <p:nvPr/>
        </p:nvSpPr>
        <p:spPr>
          <a:xfrm>
            <a:off x="8494776" y="2295144"/>
            <a:ext cx="336804" cy="164592"/>
          </a:xfrm>
          <a:prstGeom prst="roundRect">
            <a:avLst>
              <a:gd name="adj" fmla="val 22222"/>
            </a:avLst>
          </a:prstGeom>
          <a:solidFill>
            <a:srgbClr val="E6F2F3"/>
          </a:solidFill>
          <a:ln/>
        </p:spPr>
        <p:txBody>
          <a:bodyPr wrap="square" lIns="0" tIns="0" rIns="0" bIns="0" rtlCol="0" anchor="ctr"/>
          <a:lstStyle/>
          <a:p>
            <a:pPr algn="ctr" indent="0" marL="0">
              <a:buNone/>
            </a:pPr>
            <a:r>
              <a:rPr lang="en-US" sz="700" dirty="0">
                <a:solidFill>
                  <a:srgbClr val="182F48"/>
                </a:solidFill>
                <a:latin typeface="Noto Sans KR" pitchFamily="34" charset="0"/>
                <a:ea typeface="Noto Sans KR" pitchFamily="34" charset="-122"/>
                <a:cs typeface="Noto Sans KR" pitchFamily="34" charset="-120"/>
              </a:rPr>
              <a:t>무신사</a:t>
            </a:r>
            <a:endParaRPr lang="en-US" sz="700" dirty="0"/>
          </a:p>
        </p:txBody>
      </p:sp>
      <p:sp>
        <p:nvSpPr>
          <p:cNvPr id="106" name="배지 29CM"/>
          <p:cNvSpPr/>
          <p:nvPr/>
        </p:nvSpPr>
        <p:spPr>
          <a:xfrm>
            <a:off x="8868156" y="2295144"/>
            <a:ext cx="319024" cy="164592"/>
          </a:xfrm>
          <a:prstGeom prst="roundRect">
            <a:avLst>
              <a:gd name="adj" fmla="val 22222"/>
            </a:avLst>
          </a:prstGeom>
          <a:solidFill>
            <a:srgbClr val="E6F2F3"/>
          </a:solidFill>
          <a:ln/>
        </p:spPr>
        <p:txBody>
          <a:bodyPr wrap="square" lIns="0" tIns="0" rIns="0" bIns="0" rtlCol="0" anchor="ctr"/>
          <a:lstStyle/>
          <a:p>
            <a:pPr algn="ctr" indent="0" marL="0">
              <a:buNone/>
            </a:pPr>
            <a:r>
              <a:rPr lang="en-US" sz="700" dirty="0">
                <a:solidFill>
                  <a:srgbClr val="182F48"/>
                </a:solidFill>
                <a:latin typeface="Noto Sans KR" pitchFamily="34" charset="0"/>
                <a:ea typeface="Noto Sans KR" pitchFamily="34" charset="-122"/>
                <a:cs typeface="Noto Sans KR" pitchFamily="34" charset="-120"/>
              </a:rPr>
              <a:t>29CM</a:t>
            </a:r>
            <a:endParaRPr lang="en-US" sz="700" dirty="0"/>
          </a:p>
        </p:txBody>
      </p:sp>
      <p:sp>
        <p:nvSpPr>
          <p:cNvPr id="107" name="배지 W컨셉"/>
          <p:cNvSpPr/>
          <p:nvPr/>
        </p:nvSpPr>
        <p:spPr>
          <a:xfrm>
            <a:off x="9223756" y="2295144"/>
            <a:ext cx="353873" cy="164592"/>
          </a:xfrm>
          <a:prstGeom prst="roundRect">
            <a:avLst>
              <a:gd name="adj" fmla="val 22222"/>
            </a:avLst>
          </a:prstGeom>
          <a:solidFill>
            <a:srgbClr val="E6F2F3"/>
          </a:solidFill>
          <a:ln/>
        </p:spPr>
        <p:txBody>
          <a:bodyPr wrap="square" lIns="0" tIns="0" rIns="0" bIns="0" rtlCol="0" anchor="ctr"/>
          <a:lstStyle/>
          <a:p>
            <a:pPr algn="ctr" indent="0" marL="0">
              <a:buNone/>
            </a:pPr>
            <a:r>
              <a:rPr lang="en-US" sz="700" dirty="0">
                <a:solidFill>
                  <a:srgbClr val="182F48"/>
                </a:solidFill>
                <a:latin typeface="Noto Sans KR" pitchFamily="34" charset="0"/>
                <a:ea typeface="Noto Sans KR" pitchFamily="34" charset="-122"/>
                <a:cs typeface="Noto Sans KR" pitchFamily="34" charset="-120"/>
              </a:rPr>
              <a:t>W컨셉</a:t>
            </a:r>
            <a:endParaRPr lang="en-US" sz="700" dirty="0"/>
          </a:p>
        </p:txBody>
      </p:sp>
      <p:sp>
        <p:nvSpPr>
          <p:cNvPr id="108" name="배지 KREAM"/>
          <p:cNvSpPr/>
          <p:nvPr/>
        </p:nvSpPr>
        <p:spPr>
          <a:xfrm>
            <a:off x="9614205" y="2295144"/>
            <a:ext cx="383921" cy="164592"/>
          </a:xfrm>
          <a:prstGeom prst="roundRect">
            <a:avLst>
              <a:gd name="adj" fmla="val 22222"/>
            </a:avLst>
          </a:prstGeom>
          <a:solidFill>
            <a:srgbClr val="E6F2F3"/>
          </a:solidFill>
          <a:ln/>
        </p:spPr>
        <p:txBody>
          <a:bodyPr wrap="square" lIns="0" tIns="0" rIns="0" bIns="0" rtlCol="0" anchor="ctr"/>
          <a:lstStyle/>
          <a:p>
            <a:pPr algn="ctr" indent="0" marL="0">
              <a:buNone/>
            </a:pPr>
            <a:r>
              <a:rPr lang="en-US" sz="700" dirty="0">
                <a:solidFill>
                  <a:srgbClr val="182F48"/>
                </a:solidFill>
                <a:latin typeface="Noto Sans KR" pitchFamily="34" charset="0"/>
                <a:ea typeface="Noto Sans KR" pitchFamily="34" charset="-122"/>
                <a:cs typeface="Noto Sans KR" pitchFamily="34" charset="-120"/>
              </a:rPr>
              <a:t>KREAM</a:t>
            </a:r>
            <a:endParaRPr lang="en-US" sz="700" dirty="0"/>
          </a:p>
        </p:txBody>
      </p:sp>
      <p:sp>
        <p:nvSpPr>
          <p:cNvPr id="109" name="단계 6 백화점 · 편집숍 (최고 38%)"/>
          <p:cNvSpPr txBox="1"/>
          <p:nvPr/>
        </p:nvSpPr>
        <p:spPr>
          <a:xfrm>
            <a:off x="8494776" y="2514600"/>
            <a:ext cx="1947672" cy="137160"/>
          </a:xfrm>
          <a:prstGeom prst="rect">
            <a:avLst/>
          </a:prstGeom>
          <a:noFill/>
          <a:ln/>
        </p:spPr>
        <p:txBody>
          <a:bodyPr wrap="square" lIns="0" tIns="0" rIns="0" bIns="0" rtlCol="0" anchor="t"/>
          <a:lstStyle/>
          <a:p>
            <a:pPr algn="l" indent="0" marL="0">
              <a:lnSpc>
                <a:spcPct val="90000"/>
              </a:lnSpc>
              <a:buNone/>
            </a:pPr>
            <a:r>
              <a:rPr lang="en-US" sz="680" b="1" dirty="0">
                <a:solidFill>
                  <a:srgbClr val="267D86"/>
                </a:solidFill>
                <a:latin typeface="Noto Sans KR" pitchFamily="34" charset="0"/>
                <a:ea typeface="Noto Sans KR" pitchFamily="34" charset="-122"/>
                <a:cs typeface="Noto Sans KR" pitchFamily="34" charset="-120"/>
              </a:rPr>
              <a:t>백화점 · 편집숍 (최고 38%)</a:t>
            </a:r>
            <a:endParaRPr lang="en-US" sz="680" dirty="0"/>
          </a:p>
        </p:txBody>
      </p:sp>
      <p:sp>
        <p:nvSpPr>
          <p:cNvPr id="110" name="배지 현대"/>
          <p:cNvSpPr/>
          <p:nvPr/>
        </p:nvSpPr>
        <p:spPr>
          <a:xfrm>
            <a:off x="8494776" y="2660904"/>
            <a:ext cx="255016" cy="164592"/>
          </a:xfrm>
          <a:prstGeom prst="roundRect">
            <a:avLst>
              <a:gd name="adj" fmla="val 22222"/>
            </a:avLst>
          </a:prstGeom>
          <a:solidFill>
            <a:srgbClr val="E6F2F3"/>
          </a:solidFill>
          <a:ln/>
        </p:spPr>
        <p:txBody>
          <a:bodyPr wrap="square" lIns="0" tIns="0" rIns="0" bIns="0" rtlCol="0" anchor="ctr"/>
          <a:lstStyle/>
          <a:p>
            <a:pPr algn="ctr" indent="0" marL="0">
              <a:buNone/>
            </a:pPr>
            <a:r>
              <a:rPr lang="en-US" sz="700" dirty="0">
                <a:solidFill>
                  <a:srgbClr val="182F48"/>
                </a:solidFill>
                <a:latin typeface="Noto Sans KR" pitchFamily="34" charset="0"/>
                <a:ea typeface="Noto Sans KR" pitchFamily="34" charset="-122"/>
                <a:cs typeface="Noto Sans KR" pitchFamily="34" charset="-120"/>
              </a:rPr>
              <a:t>현대</a:t>
            </a:r>
            <a:endParaRPr lang="en-US" sz="700" dirty="0"/>
          </a:p>
        </p:txBody>
      </p:sp>
      <p:sp>
        <p:nvSpPr>
          <p:cNvPr id="111" name="배지 신세계"/>
          <p:cNvSpPr/>
          <p:nvPr/>
        </p:nvSpPr>
        <p:spPr>
          <a:xfrm>
            <a:off x="8786368" y="2660904"/>
            <a:ext cx="336804" cy="164592"/>
          </a:xfrm>
          <a:prstGeom prst="roundRect">
            <a:avLst>
              <a:gd name="adj" fmla="val 22222"/>
            </a:avLst>
          </a:prstGeom>
          <a:solidFill>
            <a:srgbClr val="E6F2F3"/>
          </a:solidFill>
          <a:ln/>
        </p:spPr>
        <p:txBody>
          <a:bodyPr wrap="square" lIns="0" tIns="0" rIns="0" bIns="0" rtlCol="0" anchor="ctr"/>
          <a:lstStyle/>
          <a:p>
            <a:pPr algn="ctr" indent="0" marL="0">
              <a:buNone/>
            </a:pPr>
            <a:r>
              <a:rPr lang="en-US" sz="700" dirty="0">
                <a:solidFill>
                  <a:srgbClr val="182F48"/>
                </a:solidFill>
                <a:latin typeface="Noto Sans KR" pitchFamily="34" charset="0"/>
                <a:ea typeface="Noto Sans KR" pitchFamily="34" charset="-122"/>
                <a:cs typeface="Noto Sans KR" pitchFamily="34" charset="-120"/>
              </a:rPr>
              <a:t>신세계</a:t>
            </a:r>
            <a:endParaRPr lang="en-US" sz="700" dirty="0"/>
          </a:p>
        </p:txBody>
      </p:sp>
      <p:sp>
        <p:nvSpPr>
          <p:cNvPr id="112" name="배지 롯데"/>
          <p:cNvSpPr/>
          <p:nvPr/>
        </p:nvSpPr>
        <p:spPr>
          <a:xfrm>
            <a:off x="9159748" y="2660904"/>
            <a:ext cx="255016" cy="164592"/>
          </a:xfrm>
          <a:prstGeom prst="roundRect">
            <a:avLst>
              <a:gd name="adj" fmla="val 22222"/>
            </a:avLst>
          </a:prstGeom>
          <a:solidFill>
            <a:srgbClr val="E6F2F3"/>
          </a:solidFill>
          <a:ln/>
        </p:spPr>
        <p:txBody>
          <a:bodyPr wrap="square" lIns="0" tIns="0" rIns="0" bIns="0" rtlCol="0" anchor="ctr"/>
          <a:lstStyle/>
          <a:p>
            <a:pPr algn="ctr" indent="0" marL="0">
              <a:buNone/>
            </a:pPr>
            <a:r>
              <a:rPr lang="en-US" sz="700" dirty="0">
                <a:solidFill>
                  <a:srgbClr val="182F48"/>
                </a:solidFill>
                <a:latin typeface="Noto Sans KR" pitchFamily="34" charset="0"/>
                <a:ea typeface="Noto Sans KR" pitchFamily="34" charset="-122"/>
                <a:cs typeface="Noto Sans KR" pitchFamily="34" charset="-120"/>
              </a:rPr>
              <a:t>롯데</a:t>
            </a:r>
            <a:endParaRPr lang="en-US" sz="700" dirty="0"/>
          </a:p>
        </p:txBody>
      </p:sp>
      <p:sp>
        <p:nvSpPr>
          <p:cNvPr id="113" name="배지 웍스아웃"/>
          <p:cNvSpPr/>
          <p:nvPr/>
        </p:nvSpPr>
        <p:spPr>
          <a:xfrm>
            <a:off x="9451340" y="2660904"/>
            <a:ext cx="418592" cy="164592"/>
          </a:xfrm>
          <a:prstGeom prst="roundRect">
            <a:avLst>
              <a:gd name="adj" fmla="val 22222"/>
            </a:avLst>
          </a:prstGeom>
          <a:solidFill>
            <a:srgbClr val="E6F2F3"/>
          </a:solidFill>
          <a:ln/>
        </p:spPr>
        <p:txBody>
          <a:bodyPr wrap="square" lIns="0" tIns="0" rIns="0" bIns="0" rtlCol="0" anchor="ctr"/>
          <a:lstStyle/>
          <a:p>
            <a:pPr algn="ctr" indent="0" marL="0">
              <a:buNone/>
            </a:pPr>
            <a:r>
              <a:rPr lang="en-US" sz="700" dirty="0">
                <a:solidFill>
                  <a:srgbClr val="182F48"/>
                </a:solidFill>
                <a:latin typeface="Noto Sans KR" pitchFamily="34" charset="0"/>
                <a:ea typeface="Noto Sans KR" pitchFamily="34" charset="-122"/>
                <a:cs typeface="Noto Sans KR" pitchFamily="34" charset="-120"/>
              </a:rPr>
              <a:t>웍스아웃</a:t>
            </a:r>
            <a:endParaRPr lang="en-US" sz="700" dirty="0"/>
          </a:p>
        </p:txBody>
      </p:sp>
      <p:sp>
        <p:nvSpPr>
          <p:cNvPr id="114" name="단계 6 해외 편집숍 · 온라인"/>
          <p:cNvSpPr txBox="1"/>
          <p:nvPr/>
        </p:nvSpPr>
        <p:spPr>
          <a:xfrm>
            <a:off x="8494776" y="2880360"/>
            <a:ext cx="1947672" cy="137160"/>
          </a:xfrm>
          <a:prstGeom prst="rect">
            <a:avLst/>
          </a:prstGeom>
          <a:noFill/>
          <a:ln/>
        </p:spPr>
        <p:txBody>
          <a:bodyPr wrap="square" lIns="0" tIns="0" rIns="0" bIns="0" rtlCol="0" anchor="t"/>
          <a:lstStyle/>
          <a:p>
            <a:pPr algn="l" indent="0" marL="0">
              <a:lnSpc>
                <a:spcPct val="90000"/>
              </a:lnSpc>
              <a:buNone/>
            </a:pPr>
            <a:r>
              <a:rPr lang="en-US" sz="680" b="1" dirty="0">
                <a:solidFill>
                  <a:srgbClr val="267D86"/>
                </a:solidFill>
                <a:latin typeface="Noto Sans KR" pitchFamily="34" charset="0"/>
                <a:ea typeface="Noto Sans KR" pitchFamily="34" charset="-122"/>
                <a:cs typeface="Noto Sans KR" pitchFamily="34" charset="-120"/>
              </a:rPr>
              <a:t>해외 편집숍 · 온라인</a:t>
            </a:r>
            <a:endParaRPr lang="en-US" sz="680" dirty="0"/>
          </a:p>
        </p:txBody>
      </p:sp>
      <p:sp>
        <p:nvSpPr>
          <p:cNvPr id="115" name="배지 빔즈"/>
          <p:cNvSpPr/>
          <p:nvPr/>
        </p:nvSpPr>
        <p:spPr>
          <a:xfrm>
            <a:off x="8494776" y="3026664"/>
            <a:ext cx="255016" cy="164592"/>
          </a:xfrm>
          <a:prstGeom prst="roundRect">
            <a:avLst>
              <a:gd name="adj" fmla="val 22222"/>
            </a:avLst>
          </a:prstGeom>
          <a:solidFill>
            <a:srgbClr val="EEF0F3"/>
          </a:solidFill>
          <a:ln/>
        </p:spPr>
        <p:txBody>
          <a:bodyPr wrap="square" lIns="0" tIns="0" rIns="0" bIns="0" rtlCol="0" anchor="ctr"/>
          <a:lstStyle/>
          <a:p>
            <a:pPr algn="ctr" indent="0" marL="0">
              <a:buNone/>
            </a:pPr>
            <a:r>
              <a:rPr lang="en-US" sz="700" dirty="0">
                <a:solidFill>
                  <a:srgbClr val="475569"/>
                </a:solidFill>
                <a:latin typeface="Noto Sans KR" pitchFamily="34" charset="0"/>
                <a:ea typeface="Noto Sans KR" pitchFamily="34" charset="-122"/>
                <a:cs typeface="Noto Sans KR" pitchFamily="34" charset="-120"/>
              </a:rPr>
              <a:t>빔즈</a:t>
            </a:r>
            <a:endParaRPr lang="en-US" sz="700" dirty="0"/>
          </a:p>
        </p:txBody>
      </p:sp>
      <p:sp>
        <p:nvSpPr>
          <p:cNvPr id="116" name="배지 유나이티드애로우즈"/>
          <p:cNvSpPr/>
          <p:nvPr/>
        </p:nvSpPr>
        <p:spPr>
          <a:xfrm>
            <a:off x="8786368" y="3026664"/>
            <a:ext cx="827532" cy="164592"/>
          </a:xfrm>
          <a:prstGeom prst="roundRect">
            <a:avLst>
              <a:gd name="adj" fmla="val 22222"/>
            </a:avLst>
          </a:prstGeom>
          <a:solidFill>
            <a:srgbClr val="EEF0F3"/>
          </a:solidFill>
          <a:ln/>
        </p:spPr>
        <p:txBody>
          <a:bodyPr wrap="square" lIns="0" tIns="0" rIns="0" bIns="0" rtlCol="0" anchor="ctr"/>
          <a:lstStyle/>
          <a:p>
            <a:pPr algn="ctr" indent="0" marL="0">
              <a:buNone/>
            </a:pPr>
            <a:r>
              <a:rPr lang="en-US" sz="700" dirty="0">
                <a:solidFill>
                  <a:srgbClr val="475569"/>
                </a:solidFill>
                <a:latin typeface="Noto Sans KR" pitchFamily="34" charset="0"/>
                <a:ea typeface="Noto Sans KR" pitchFamily="34" charset="-122"/>
                <a:cs typeface="Noto Sans KR" pitchFamily="34" charset="-120"/>
              </a:rPr>
              <a:t>유나이티드애로우즈</a:t>
            </a:r>
            <a:endParaRPr lang="en-US" sz="700" dirty="0"/>
          </a:p>
        </p:txBody>
      </p:sp>
      <p:sp>
        <p:nvSpPr>
          <p:cNvPr id="117" name="배지 1LDK"/>
          <p:cNvSpPr/>
          <p:nvPr/>
        </p:nvSpPr>
        <p:spPr>
          <a:xfrm>
            <a:off x="9650476" y="3026664"/>
            <a:ext cx="307645" cy="164592"/>
          </a:xfrm>
          <a:prstGeom prst="roundRect">
            <a:avLst>
              <a:gd name="adj" fmla="val 22222"/>
            </a:avLst>
          </a:prstGeom>
          <a:solidFill>
            <a:srgbClr val="EEF0F3"/>
          </a:solidFill>
          <a:ln/>
        </p:spPr>
        <p:txBody>
          <a:bodyPr wrap="square" lIns="0" tIns="0" rIns="0" bIns="0" rtlCol="0" anchor="ctr"/>
          <a:lstStyle/>
          <a:p>
            <a:pPr algn="ctr" indent="0" marL="0">
              <a:buNone/>
            </a:pPr>
            <a:r>
              <a:rPr lang="en-US" sz="700" dirty="0">
                <a:solidFill>
                  <a:srgbClr val="475569"/>
                </a:solidFill>
                <a:latin typeface="Noto Sans KR" pitchFamily="34" charset="0"/>
                <a:ea typeface="Noto Sans KR" pitchFamily="34" charset="-122"/>
                <a:cs typeface="Noto Sans KR" pitchFamily="34" charset="-120"/>
              </a:rPr>
              <a:t>1LDK</a:t>
            </a:r>
            <a:endParaRPr lang="en-US" sz="700" dirty="0"/>
          </a:p>
        </p:txBody>
      </p:sp>
      <p:sp>
        <p:nvSpPr>
          <p:cNvPr id="118" name="배지 END."/>
          <p:cNvSpPr/>
          <p:nvPr/>
        </p:nvSpPr>
        <p:spPr>
          <a:xfrm>
            <a:off x="9994697" y="3026664"/>
            <a:ext cx="293954" cy="164592"/>
          </a:xfrm>
          <a:prstGeom prst="roundRect">
            <a:avLst>
              <a:gd name="adj" fmla="val 22222"/>
            </a:avLst>
          </a:prstGeom>
          <a:solidFill>
            <a:srgbClr val="EEF0F3"/>
          </a:solidFill>
          <a:ln/>
        </p:spPr>
        <p:txBody>
          <a:bodyPr wrap="square" lIns="0" tIns="0" rIns="0" bIns="0" rtlCol="0" anchor="ctr"/>
          <a:lstStyle/>
          <a:p>
            <a:pPr algn="ctr" indent="0" marL="0">
              <a:buNone/>
            </a:pPr>
            <a:r>
              <a:rPr lang="en-US" sz="700" dirty="0">
                <a:solidFill>
                  <a:srgbClr val="475569"/>
                </a:solidFill>
                <a:latin typeface="Noto Sans KR" pitchFamily="34" charset="0"/>
                <a:ea typeface="Noto Sans KR" pitchFamily="34" charset="-122"/>
                <a:cs typeface="Noto Sans KR" pitchFamily="34" charset="-120"/>
              </a:rPr>
              <a:t>END.</a:t>
            </a:r>
            <a:endParaRPr lang="en-US" sz="700" dirty="0"/>
          </a:p>
        </p:txBody>
      </p:sp>
      <p:sp>
        <p:nvSpPr>
          <p:cNvPr id="119" name="배지 ZOZOTOWN"/>
          <p:cNvSpPr/>
          <p:nvPr/>
        </p:nvSpPr>
        <p:spPr>
          <a:xfrm>
            <a:off x="8494776" y="3223260"/>
            <a:ext cx="592125" cy="164592"/>
          </a:xfrm>
          <a:prstGeom prst="roundRect">
            <a:avLst>
              <a:gd name="adj" fmla="val 22222"/>
            </a:avLst>
          </a:prstGeom>
          <a:solidFill>
            <a:srgbClr val="EEF0F3"/>
          </a:solidFill>
          <a:ln/>
        </p:spPr>
        <p:txBody>
          <a:bodyPr wrap="square" lIns="0" tIns="0" rIns="0" bIns="0" rtlCol="0" anchor="ctr"/>
          <a:lstStyle/>
          <a:p>
            <a:pPr algn="ctr" indent="0" marL="0">
              <a:buNone/>
            </a:pPr>
            <a:r>
              <a:rPr lang="en-US" sz="700" dirty="0">
                <a:solidFill>
                  <a:srgbClr val="475569"/>
                </a:solidFill>
                <a:latin typeface="Noto Sans KR" pitchFamily="34" charset="0"/>
                <a:ea typeface="Noto Sans KR" pitchFamily="34" charset="-122"/>
                <a:cs typeface="Noto Sans KR" pitchFamily="34" charset="-120"/>
              </a:rPr>
              <a:t>ZOZOTOWN</a:t>
            </a:r>
            <a:endParaRPr lang="en-US" sz="700" dirty="0"/>
          </a:p>
        </p:txBody>
      </p:sp>
      <p:sp>
        <p:nvSpPr>
          <p:cNvPr id="120" name="단계 6 해외 유통 파트너"/>
          <p:cNvSpPr txBox="1"/>
          <p:nvPr/>
        </p:nvSpPr>
        <p:spPr>
          <a:xfrm>
            <a:off x="8494776" y="3442716"/>
            <a:ext cx="1947672" cy="137160"/>
          </a:xfrm>
          <a:prstGeom prst="rect">
            <a:avLst/>
          </a:prstGeom>
          <a:noFill/>
          <a:ln/>
        </p:spPr>
        <p:txBody>
          <a:bodyPr wrap="square" lIns="0" tIns="0" rIns="0" bIns="0" rtlCol="0" anchor="t"/>
          <a:lstStyle/>
          <a:p>
            <a:pPr algn="l" indent="0" marL="0">
              <a:lnSpc>
                <a:spcPct val="90000"/>
              </a:lnSpc>
              <a:buNone/>
            </a:pPr>
            <a:r>
              <a:rPr lang="en-US" sz="680" b="1" dirty="0">
                <a:solidFill>
                  <a:srgbClr val="267D86"/>
                </a:solidFill>
                <a:latin typeface="Noto Sans KR" pitchFamily="34" charset="0"/>
                <a:ea typeface="Noto Sans KR" pitchFamily="34" charset="-122"/>
                <a:cs typeface="Noto Sans KR" pitchFamily="34" charset="-120"/>
              </a:rPr>
              <a:t>해외 유통 파트너</a:t>
            </a:r>
            <a:endParaRPr lang="en-US" sz="680" dirty="0"/>
          </a:p>
        </p:txBody>
      </p:sp>
      <p:sp>
        <p:nvSpPr>
          <p:cNvPr id="121" name="배지 안타(중국)"/>
          <p:cNvSpPr/>
          <p:nvPr/>
        </p:nvSpPr>
        <p:spPr>
          <a:xfrm>
            <a:off x="8494776" y="3589020"/>
            <a:ext cx="541096" cy="164592"/>
          </a:xfrm>
          <a:prstGeom prst="roundRect">
            <a:avLst>
              <a:gd name="adj" fmla="val 22222"/>
            </a:avLst>
          </a:prstGeom>
          <a:solidFill>
            <a:srgbClr val="EEF0F3"/>
          </a:solidFill>
          <a:ln/>
        </p:spPr>
        <p:txBody>
          <a:bodyPr wrap="square" lIns="0" tIns="0" rIns="0" bIns="0" rtlCol="0" anchor="ctr"/>
          <a:lstStyle/>
          <a:p>
            <a:pPr algn="ctr" indent="0" marL="0">
              <a:buNone/>
            </a:pPr>
            <a:r>
              <a:rPr lang="en-US" sz="700" dirty="0">
                <a:solidFill>
                  <a:srgbClr val="475569"/>
                </a:solidFill>
                <a:latin typeface="Noto Sans KR" pitchFamily="34" charset="0"/>
                <a:ea typeface="Noto Sans KR" pitchFamily="34" charset="-122"/>
                <a:cs typeface="Noto Sans KR" pitchFamily="34" charset="-120"/>
              </a:rPr>
              <a:t>안타(중국)</a:t>
            </a:r>
            <a:endParaRPr lang="en-US" sz="700" dirty="0"/>
          </a:p>
        </p:txBody>
      </p:sp>
      <p:sp>
        <p:nvSpPr>
          <p:cNvPr id="122" name="배지 이토추(일본)"/>
          <p:cNvSpPr/>
          <p:nvPr/>
        </p:nvSpPr>
        <p:spPr>
          <a:xfrm>
            <a:off x="9072448" y="3589020"/>
            <a:ext cx="622884" cy="164592"/>
          </a:xfrm>
          <a:prstGeom prst="roundRect">
            <a:avLst>
              <a:gd name="adj" fmla="val 22222"/>
            </a:avLst>
          </a:prstGeom>
          <a:solidFill>
            <a:srgbClr val="EEF0F3"/>
          </a:solidFill>
          <a:ln/>
        </p:spPr>
        <p:txBody>
          <a:bodyPr wrap="square" lIns="0" tIns="0" rIns="0" bIns="0" rtlCol="0" anchor="ctr"/>
          <a:lstStyle/>
          <a:p>
            <a:pPr algn="ctr" indent="0" marL="0">
              <a:buNone/>
            </a:pPr>
            <a:r>
              <a:rPr lang="en-US" sz="700" dirty="0">
                <a:solidFill>
                  <a:srgbClr val="475569"/>
                </a:solidFill>
                <a:latin typeface="Noto Sans KR" pitchFamily="34" charset="0"/>
                <a:ea typeface="Noto Sans KR" pitchFamily="34" charset="-122"/>
                <a:cs typeface="Noto Sans KR" pitchFamily="34" charset="-120"/>
              </a:rPr>
              <a:t>이토추(일본)</a:t>
            </a:r>
            <a:endParaRPr lang="en-US" sz="700" dirty="0"/>
          </a:p>
        </p:txBody>
      </p:sp>
      <p:sp>
        <p:nvSpPr>
          <p:cNvPr id="123" name="배지 티몰(중국)"/>
          <p:cNvSpPr/>
          <p:nvPr/>
        </p:nvSpPr>
        <p:spPr>
          <a:xfrm>
            <a:off x="9731908" y="3589020"/>
            <a:ext cx="541096" cy="164592"/>
          </a:xfrm>
          <a:prstGeom prst="roundRect">
            <a:avLst>
              <a:gd name="adj" fmla="val 22222"/>
            </a:avLst>
          </a:prstGeom>
          <a:solidFill>
            <a:srgbClr val="EEF0F3"/>
          </a:solidFill>
          <a:ln/>
        </p:spPr>
        <p:txBody>
          <a:bodyPr wrap="square" lIns="0" tIns="0" rIns="0" bIns="0" rtlCol="0" anchor="ctr"/>
          <a:lstStyle/>
          <a:p>
            <a:pPr algn="ctr" indent="0" marL="0">
              <a:buNone/>
            </a:pPr>
            <a:r>
              <a:rPr lang="en-US" sz="700" dirty="0">
                <a:solidFill>
                  <a:srgbClr val="475569"/>
                </a:solidFill>
                <a:latin typeface="Noto Sans KR" pitchFamily="34" charset="0"/>
                <a:ea typeface="Noto Sans KR" pitchFamily="34" charset="-122"/>
                <a:cs typeface="Noto Sans KR" pitchFamily="34" charset="-120"/>
              </a:rPr>
              <a:t>티몰(중국)</a:t>
            </a:r>
            <a:endParaRPr lang="en-US" sz="700" dirty="0"/>
          </a:p>
        </p:txBody>
      </p:sp>
      <p:sp>
        <p:nvSpPr>
          <p:cNvPr id="124" name="단계 7 소비자"/>
          <p:cNvSpPr txBox="1"/>
          <p:nvPr/>
        </p:nvSpPr>
        <p:spPr>
          <a:xfrm>
            <a:off x="10661904" y="2148840"/>
            <a:ext cx="987552" cy="137160"/>
          </a:xfrm>
          <a:prstGeom prst="rect">
            <a:avLst/>
          </a:prstGeom>
          <a:noFill/>
          <a:ln/>
        </p:spPr>
        <p:txBody>
          <a:bodyPr wrap="square" lIns="0" tIns="0" rIns="0" bIns="0" rtlCol="0" anchor="t"/>
          <a:lstStyle/>
          <a:p>
            <a:pPr algn="l" indent="0" marL="0">
              <a:lnSpc>
                <a:spcPct val="90000"/>
              </a:lnSpc>
              <a:buNone/>
            </a:pPr>
            <a:r>
              <a:rPr lang="en-US" sz="680" b="1" dirty="0">
                <a:solidFill>
                  <a:srgbClr val="267D86"/>
                </a:solidFill>
                <a:latin typeface="Noto Sans KR" pitchFamily="34" charset="0"/>
                <a:ea typeface="Noto Sans KR" pitchFamily="34" charset="-122"/>
                <a:cs typeface="Noto Sans KR" pitchFamily="34" charset="-120"/>
              </a:rPr>
              <a:t>소비자</a:t>
            </a:r>
            <a:endParaRPr lang="en-US" sz="680" dirty="0"/>
          </a:p>
        </p:txBody>
      </p:sp>
      <p:sp>
        <p:nvSpPr>
          <p:cNvPr id="125" name="배지 2030 도시 소비자"/>
          <p:cNvSpPr/>
          <p:nvPr/>
        </p:nvSpPr>
        <p:spPr>
          <a:xfrm>
            <a:off x="10661904" y="2295144"/>
            <a:ext cx="758368" cy="164592"/>
          </a:xfrm>
          <a:prstGeom prst="roundRect">
            <a:avLst>
              <a:gd name="adj" fmla="val 22222"/>
            </a:avLst>
          </a:prstGeom>
          <a:solidFill>
            <a:srgbClr val="FFFFFF"/>
          </a:solidFill>
          <a:ln w="6350">
            <a:solidFill>
              <a:srgbClr val="CBD5E1"/>
            </a:solidFill>
          </a:ln>
        </p:spPr>
        <p:txBody>
          <a:bodyPr wrap="square" lIns="0" tIns="0" rIns="0" bIns="0" rtlCol="0" anchor="ctr"/>
          <a:lstStyle/>
          <a:p>
            <a:pPr algn="ctr" indent="0" marL="0">
              <a:buNone/>
            </a:pPr>
            <a:r>
              <a:rPr lang="en-US" sz="700" dirty="0">
                <a:solidFill>
                  <a:srgbClr val="334155"/>
                </a:solidFill>
                <a:latin typeface="Noto Sans KR" pitchFamily="34" charset="0"/>
                <a:ea typeface="Noto Sans KR" pitchFamily="34" charset="-122"/>
                <a:cs typeface="Noto Sans KR" pitchFamily="34" charset="-120"/>
              </a:rPr>
              <a:t>2030 도시 소비자</a:t>
            </a:r>
            <a:endParaRPr lang="en-US" sz="700" dirty="0"/>
          </a:p>
        </p:txBody>
      </p:sp>
      <p:sp>
        <p:nvSpPr>
          <p:cNvPr id="126" name="배지 하이킹 · 러닝 크루"/>
          <p:cNvSpPr/>
          <p:nvPr/>
        </p:nvSpPr>
        <p:spPr>
          <a:xfrm>
            <a:off x="10661904" y="2491740"/>
            <a:ext cx="815175" cy="164592"/>
          </a:xfrm>
          <a:prstGeom prst="roundRect">
            <a:avLst>
              <a:gd name="adj" fmla="val 22222"/>
            </a:avLst>
          </a:prstGeom>
          <a:solidFill>
            <a:srgbClr val="FFFFFF"/>
          </a:solidFill>
          <a:ln w="6350">
            <a:solidFill>
              <a:srgbClr val="CBD5E1"/>
            </a:solidFill>
          </a:ln>
        </p:spPr>
        <p:txBody>
          <a:bodyPr wrap="square" lIns="0" tIns="0" rIns="0" bIns="0" rtlCol="0" anchor="ctr"/>
          <a:lstStyle/>
          <a:p>
            <a:pPr algn="ctr" indent="0" marL="0">
              <a:buNone/>
            </a:pPr>
            <a:r>
              <a:rPr lang="en-US" sz="700" dirty="0">
                <a:solidFill>
                  <a:srgbClr val="334155"/>
                </a:solidFill>
                <a:latin typeface="Noto Sans KR" pitchFamily="34" charset="0"/>
                <a:ea typeface="Noto Sans KR" pitchFamily="34" charset="-122"/>
                <a:cs typeface="Noto Sans KR" pitchFamily="34" charset="-120"/>
              </a:rPr>
              <a:t>하이킹 · 러닝 크루</a:t>
            </a:r>
            <a:endParaRPr lang="en-US" sz="700" dirty="0"/>
          </a:p>
        </p:txBody>
      </p:sp>
      <p:sp>
        <p:nvSpPr>
          <p:cNvPr id="127" name="단계 7 리세일"/>
          <p:cNvSpPr txBox="1"/>
          <p:nvPr/>
        </p:nvSpPr>
        <p:spPr>
          <a:xfrm>
            <a:off x="10661904" y="2711196"/>
            <a:ext cx="987552" cy="137160"/>
          </a:xfrm>
          <a:prstGeom prst="rect">
            <a:avLst/>
          </a:prstGeom>
          <a:noFill/>
          <a:ln/>
        </p:spPr>
        <p:txBody>
          <a:bodyPr wrap="square" lIns="0" tIns="0" rIns="0" bIns="0" rtlCol="0" anchor="t"/>
          <a:lstStyle/>
          <a:p>
            <a:pPr algn="l" indent="0" marL="0">
              <a:lnSpc>
                <a:spcPct val="90000"/>
              </a:lnSpc>
              <a:buNone/>
            </a:pPr>
            <a:r>
              <a:rPr lang="en-US" sz="680" b="1" dirty="0">
                <a:solidFill>
                  <a:srgbClr val="267D86"/>
                </a:solidFill>
                <a:latin typeface="Noto Sans KR" pitchFamily="34" charset="0"/>
                <a:ea typeface="Noto Sans KR" pitchFamily="34" charset="-122"/>
                <a:cs typeface="Noto Sans KR" pitchFamily="34" charset="-120"/>
              </a:rPr>
              <a:t>리세일</a:t>
            </a:r>
            <a:endParaRPr lang="en-US" sz="680" dirty="0"/>
          </a:p>
        </p:txBody>
      </p:sp>
      <p:sp>
        <p:nvSpPr>
          <p:cNvPr id="128" name="배지 KREAM"/>
          <p:cNvSpPr/>
          <p:nvPr/>
        </p:nvSpPr>
        <p:spPr>
          <a:xfrm>
            <a:off x="10661904" y="2857500"/>
            <a:ext cx="383921" cy="164592"/>
          </a:xfrm>
          <a:prstGeom prst="roundRect">
            <a:avLst>
              <a:gd name="adj" fmla="val 22222"/>
            </a:avLst>
          </a:prstGeom>
          <a:solidFill>
            <a:srgbClr val="E6F2F3"/>
          </a:solidFill>
          <a:ln/>
        </p:spPr>
        <p:txBody>
          <a:bodyPr wrap="square" lIns="0" tIns="0" rIns="0" bIns="0" rtlCol="0" anchor="ctr"/>
          <a:lstStyle/>
          <a:p>
            <a:pPr algn="ctr" indent="0" marL="0">
              <a:buNone/>
            </a:pPr>
            <a:r>
              <a:rPr lang="en-US" sz="700" dirty="0">
                <a:solidFill>
                  <a:srgbClr val="182F48"/>
                </a:solidFill>
                <a:latin typeface="Noto Sans KR" pitchFamily="34" charset="0"/>
                <a:ea typeface="Noto Sans KR" pitchFamily="34" charset="-122"/>
                <a:cs typeface="Noto Sans KR" pitchFamily="34" charset="-120"/>
              </a:rPr>
              <a:t>KREAM</a:t>
            </a:r>
            <a:endParaRPr lang="en-US" sz="700" dirty="0"/>
          </a:p>
        </p:txBody>
      </p:sp>
      <p:sp>
        <p:nvSpPr>
          <p:cNvPr id="129" name="배지 후루츠패밀리"/>
          <p:cNvSpPr/>
          <p:nvPr/>
        </p:nvSpPr>
        <p:spPr>
          <a:xfrm>
            <a:off x="10661904" y="3054096"/>
            <a:ext cx="582168" cy="164592"/>
          </a:xfrm>
          <a:prstGeom prst="roundRect">
            <a:avLst>
              <a:gd name="adj" fmla="val 22222"/>
            </a:avLst>
          </a:prstGeom>
          <a:solidFill>
            <a:srgbClr val="E6F2F3"/>
          </a:solidFill>
          <a:ln/>
        </p:spPr>
        <p:txBody>
          <a:bodyPr wrap="square" lIns="0" tIns="0" rIns="0" bIns="0" rtlCol="0" anchor="ctr"/>
          <a:lstStyle/>
          <a:p>
            <a:pPr algn="ctr" indent="0" marL="0">
              <a:buNone/>
            </a:pPr>
            <a:r>
              <a:rPr lang="en-US" sz="700" dirty="0">
                <a:solidFill>
                  <a:srgbClr val="182F48"/>
                </a:solidFill>
                <a:latin typeface="Noto Sans KR" pitchFamily="34" charset="0"/>
                <a:ea typeface="Noto Sans KR" pitchFamily="34" charset="-122"/>
                <a:cs typeface="Noto Sans KR" pitchFamily="34" charset="-120"/>
              </a:rPr>
              <a:t>후루츠패밀리</a:t>
            </a:r>
            <a:endParaRPr lang="en-US" sz="700" dirty="0"/>
          </a:p>
        </p:txBody>
      </p:sp>
      <p:sp>
        <p:nvSpPr>
          <p:cNvPr id="130" name="배지 번개장터"/>
          <p:cNvSpPr/>
          <p:nvPr/>
        </p:nvSpPr>
        <p:spPr>
          <a:xfrm>
            <a:off x="10661904" y="3250692"/>
            <a:ext cx="418592" cy="164592"/>
          </a:xfrm>
          <a:prstGeom prst="roundRect">
            <a:avLst>
              <a:gd name="adj" fmla="val 22222"/>
            </a:avLst>
          </a:prstGeom>
          <a:solidFill>
            <a:srgbClr val="E6F2F3"/>
          </a:solidFill>
          <a:ln/>
        </p:spPr>
        <p:txBody>
          <a:bodyPr wrap="square" lIns="0" tIns="0" rIns="0" bIns="0" rtlCol="0" anchor="ctr"/>
          <a:lstStyle/>
          <a:p>
            <a:pPr algn="ctr" indent="0" marL="0">
              <a:buNone/>
            </a:pPr>
            <a:r>
              <a:rPr lang="en-US" sz="700" dirty="0">
                <a:solidFill>
                  <a:srgbClr val="182F48"/>
                </a:solidFill>
                <a:latin typeface="Noto Sans KR" pitchFamily="34" charset="0"/>
                <a:ea typeface="Noto Sans KR" pitchFamily="34" charset="-122"/>
                <a:cs typeface="Noto Sans KR" pitchFamily="34" charset="-120"/>
              </a:rPr>
              <a:t>번개장터</a:t>
            </a:r>
            <a:endParaRPr lang="en-US" sz="700" dirty="0"/>
          </a:p>
        </p:txBody>
      </p:sp>
      <p:sp>
        <p:nvSpPr>
          <p:cNvPr id="131" name="단계 7 재활용"/>
          <p:cNvSpPr txBox="1"/>
          <p:nvPr/>
        </p:nvSpPr>
        <p:spPr>
          <a:xfrm>
            <a:off x="10661904" y="3470148"/>
            <a:ext cx="987552" cy="137160"/>
          </a:xfrm>
          <a:prstGeom prst="rect">
            <a:avLst/>
          </a:prstGeom>
          <a:noFill/>
          <a:ln/>
        </p:spPr>
        <p:txBody>
          <a:bodyPr wrap="square" lIns="0" tIns="0" rIns="0" bIns="0" rtlCol="0" anchor="t"/>
          <a:lstStyle/>
          <a:p>
            <a:pPr algn="l" indent="0" marL="0">
              <a:lnSpc>
                <a:spcPct val="90000"/>
              </a:lnSpc>
              <a:buNone/>
            </a:pPr>
            <a:r>
              <a:rPr lang="en-US" sz="680" b="1" dirty="0">
                <a:solidFill>
                  <a:srgbClr val="267D86"/>
                </a:solidFill>
                <a:latin typeface="Noto Sans KR" pitchFamily="34" charset="0"/>
                <a:ea typeface="Noto Sans KR" pitchFamily="34" charset="-122"/>
                <a:cs typeface="Noto Sans KR" pitchFamily="34" charset="-120"/>
              </a:rPr>
              <a:t>재활용</a:t>
            </a:r>
            <a:endParaRPr lang="en-US" sz="680" dirty="0"/>
          </a:p>
        </p:txBody>
      </p:sp>
      <p:sp>
        <p:nvSpPr>
          <p:cNvPr id="132" name="배지 프라우덴 리사이클"/>
          <p:cNvSpPr/>
          <p:nvPr/>
        </p:nvSpPr>
        <p:spPr>
          <a:xfrm>
            <a:off x="10661904" y="3616452"/>
            <a:ext cx="765658" cy="164592"/>
          </a:xfrm>
          <a:prstGeom prst="roundRect">
            <a:avLst>
              <a:gd name="adj" fmla="val 22222"/>
            </a:avLst>
          </a:prstGeom>
          <a:solidFill>
            <a:srgbClr val="E6F2F3"/>
          </a:solidFill>
          <a:ln/>
        </p:spPr>
        <p:txBody>
          <a:bodyPr wrap="square" lIns="0" tIns="0" rIns="0" bIns="0" rtlCol="0" anchor="ctr"/>
          <a:lstStyle/>
          <a:p>
            <a:pPr algn="ctr" indent="0" marL="0">
              <a:buNone/>
            </a:pPr>
            <a:r>
              <a:rPr lang="en-US" sz="700" dirty="0">
                <a:solidFill>
                  <a:srgbClr val="182F48"/>
                </a:solidFill>
                <a:latin typeface="Noto Sans KR" pitchFamily="34" charset="0"/>
                <a:ea typeface="Noto Sans KR" pitchFamily="34" charset="-122"/>
                <a:cs typeface="Noto Sans KR" pitchFamily="34" charset="-120"/>
              </a:rPr>
              <a:t>프라우덴 리사이클</a:t>
            </a:r>
            <a:endParaRPr lang="en-US" sz="700" dirty="0"/>
          </a:p>
        </p:txBody>
      </p:sp>
      <p:sp>
        <p:nvSpPr>
          <p:cNvPr id="133" name="단계 7 관리 · 세탁"/>
          <p:cNvSpPr txBox="1"/>
          <p:nvPr/>
        </p:nvSpPr>
        <p:spPr>
          <a:xfrm>
            <a:off x="10661904" y="3835908"/>
            <a:ext cx="987552" cy="137160"/>
          </a:xfrm>
          <a:prstGeom prst="rect">
            <a:avLst/>
          </a:prstGeom>
          <a:noFill/>
          <a:ln/>
        </p:spPr>
        <p:txBody>
          <a:bodyPr wrap="square" lIns="0" tIns="0" rIns="0" bIns="0" rtlCol="0" anchor="t"/>
          <a:lstStyle/>
          <a:p>
            <a:pPr algn="l" indent="0" marL="0">
              <a:lnSpc>
                <a:spcPct val="90000"/>
              </a:lnSpc>
              <a:buNone/>
            </a:pPr>
            <a:r>
              <a:rPr lang="en-US" sz="680" b="1" dirty="0">
                <a:solidFill>
                  <a:srgbClr val="267D86"/>
                </a:solidFill>
                <a:latin typeface="Noto Sans KR" pitchFamily="34" charset="0"/>
                <a:ea typeface="Noto Sans KR" pitchFamily="34" charset="-122"/>
                <a:cs typeface="Noto Sans KR" pitchFamily="34" charset="-120"/>
              </a:rPr>
              <a:t>관리 · 세탁</a:t>
            </a:r>
            <a:endParaRPr lang="en-US" sz="680" dirty="0"/>
          </a:p>
        </p:txBody>
      </p:sp>
      <p:sp>
        <p:nvSpPr>
          <p:cNvPr id="134" name="배지 크린토피아"/>
          <p:cNvSpPr/>
          <p:nvPr/>
        </p:nvSpPr>
        <p:spPr>
          <a:xfrm>
            <a:off x="10661904" y="3982212"/>
            <a:ext cx="500380" cy="164592"/>
          </a:xfrm>
          <a:prstGeom prst="roundRect">
            <a:avLst>
              <a:gd name="adj" fmla="val 22222"/>
            </a:avLst>
          </a:prstGeom>
          <a:solidFill>
            <a:srgbClr val="E6F2F3"/>
          </a:solidFill>
          <a:ln/>
        </p:spPr>
        <p:txBody>
          <a:bodyPr wrap="square" lIns="0" tIns="0" rIns="0" bIns="0" rtlCol="0" anchor="ctr"/>
          <a:lstStyle/>
          <a:p>
            <a:pPr algn="ctr" indent="0" marL="0">
              <a:buNone/>
            </a:pPr>
            <a:r>
              <a:rPr lang="en-US" sz="700" dirty="0">
                <a:solidFill>
                  <a:srgbClr val="182F48"/>
                </a:solidFill>
                <a:latin typeface="Noto Sans KR" pitchFamily="34" charset="0"/>
                <a:ea typeface="Noto Sans KR" pitchFamily="34" charset="-122"/>
                <a:cs typeface="Noto Sans KR" pitchFamily="34" charset="-120"/>
              </a:rPr>
              <a:t>크린토피아</a:t>
            </a:r>
            <a:endParaRPr lang="en-US" sz="700" dirty="0"/>
          </a:p>
        </p:txBody>
      </p:sp>
      <p:sp>
        <p:nvSpPr>
          <p:cNvPr id="135" name="표시 ①"/>
          <p:cNvSpPr/>
          <p:nvPr/>
        </p:nvSpPr>
        <p:spPr>
          <a:xfrm>
            <a:off x="6076188" y="2779776"/>
            <a:ext cx="192024" cy="192024"/>
          </a:xfrm>
          <a:prstGeom prst="ellipse">
            <a:avLst/>
          </a:prstGeom>
          <a:solidFill>
            <a:srgbClr val="C2410C"/>
          </a:solidFill>
          <a:ln w="12700">
            <a:solidFill>
              <a:srgbClr val="FFFFFF"/>
            </a:solidFill>
          </a:ln>
        </p:spPr>
        <p:txBody>
          <a:bodyPr wrap="square" lIns="0" tIns="0" rIns="0" bIns="0" rtlCol="0" anchor="ctr"/>
          <a:lstStyle/>
          <a:p>
            <a:pPr algn="ctr" indent="0" marL="0">
              <a:buNone/>
            </a:pPr>
            <a:r>
              <a:rPr lang="en-US" sz="750" b="1" dirty="0">
                <a:solidFill>
                  <a:srgbClr val="FFFFFF"/>
                </a:solidFill>
                <a:latin typeface="Noto Sans KR" pitchFamily="34" charset="0"/>
                <a:ea typeface="Noto Sans KR" pitchFamily="34" charset="-122"/>
                <a:cs typeface="Noto Sans KR" pitchFamily="34" charset="-120"/>
              </a:rPr>
              <a:t>①</a:t>
            </a:r>
            <a:endParaRPr lang="en-US" sz="750" dirty="0"/>
          </a:p>
        </p:txBody>
      </p:sp>
      <p:sp>
        <p:nvSpPr>
          <p:cNvPr id="136" name="표시 ②"/>
          <p:cNvSpPr/>
          <p:nvPr/>
        </p:nvSpPr>
        <p:spPr>
          <a:xfrm>
            <a:off x="8289036" y="2281428"/>
            <a:ext cx="192024" cy="192024"/>
          </a:xfrm>
          <a:prstGeom prst="ellipse">
            <a:avLst/>
          </a:prstGeom>
          <a:solidFill>
            <a:srgbClr val="C2410C"/>
          </a:solidFill>
          <a:ln w="12700">
            <a:solidFill>
              <a:srgbClr val="FFFFFF"/>
            </a:solidFill>
          </a:ln>
        </p:spPr>
        <p:txBody>
          <a:bodyPr wrap="square" lIns="0" tIns="0" rIns="0" bIns="0" rtlCol="0" anchor="ctr"/>
          <a:lstStyle/>
          <a:p>
            <a:pPr algn="ctr" indent="0" marL="0">
              <a:buNone/>
            </a:pPr>
            <a:r>
              <a:rPr lang="en-US" sz="750" b="1" dirty="0">
                <a:solidFill>
                  <a:srgbClr val="FFFFFF"/>
                </a:solidFill>
                <a:latin typeface="Noto Sans KR" pitchFamily="34" charset="0"/>
                <a:ea typeface="Noto Sans KR" pitchFamily="34" charset="-122"/>
                <a:cs typeface="Noto Sans KR" pitchFamily="34" charset="-120"/>
              </a:rPr>
              <a:t>②</a:t>
            </a:r>
            <a:endParaRPr lang="en-US" sz="750" dirty="0"/>
          </a:p>
        </p:txBody>
      </p:sp>
      <p:sp>
        <p:nvSpPr>
          <p:cNvPr id="137" name="표시 ③"/>
          <p:cNvSpPr/>
          <p:nvPr/>
        </p:nvSpPr>
        <p:spPr>
          <a:xfrm>
            <a:off x="8289036" y="3111246"/>
            <a:ext cx="192024" cy="192024"/>
          </a:xfrm>
          <a:prstGeom prst="ellipse">
            <a:avLst/>
          </a:prstGeom>
          <a:solidFill>
            <a:srgbClr val="C2410C"/>
          </a:solidFill>
          <a:ln w="12700">
            <a:solidFill>
              <a:srgbClr val="FFFFFF"/>
            </a:solidFill>
          </a:ln>
        </p:spPr>
        <p:txBody>
          <a:bodyPr wrap="square" lIns="0" tIns="0" rIns="0" bIns="0" rtlCol="0" anchor="ctr"/>
          <a:lstStyle/>
          <a:p>
            <a:pPr algn="ctr" indent="0" marL="0">
              <a:buNone/>
            </a:pPr>
            <a:r>
              <a:rPr lang="en-US" sz="750" b="1" dirty="0">
                <a:solidFill>
                  <a:srgbClr val="FFFFFF"/>
                </a:solidFill>
                <a:latin typeface="Noto Sans KR" pitchFamily="34" charset="0"/>
                <a:ea typeface="Noto Sans KR" pitchFamily="34" charset="-122"/>
                <a:cs typeface="Noto Sans KR" pitchFamily="34" charset="-120"/>
              </a:rPr>
              <a:t>③</a:t>
            </a:r>
            <a:endParaRPr lang="en-US" sz="750" dirty="0"/>
          </a:p>
        </p:txBody>
      </p:sp>
      <p:sp>
        <p:nvSpPr>
          <p:cNvPr id="138" name="돈의 흐름"/>
          <p:cNvSpPr/>
          <p:nvPr/>
        </p:nvSpPr>
        <p:spPr>
          <a:xfrm>
            <a:off x="530352" y="4425696"/>
            <a:ext cx="11128248" cy="0"/>
          </a:xfrm>
          <a:prstGeom prst="line">
            <a:avLst/>
          </a:prstGeom>
          <a:noFill/>
          <a:ln w="22225">
            <a:solidFill>
              <a:srgbClr val="C2410C"/>
            </a:solidFill>
            <a:prstDash val="solid"/>
            <a:headEnd type="triangle"/>
          </a:ln>
        </p:spPr>
      </p:sp>
      <p:sp>
        <p:nvSpPr>
          <p:cNvPr id="139" name="돈 1"/>
          <p:cNvSpPr txBox="1"/>
          <p:nvPr/>
        </p:nvSpPr>
        <p:spPr>
          <a:xfrm>
            <a:off x="484632" y="4242816"/>
            <a:ext cx="1005840" cy="155448"/>
          </a:xfrm>
          <a:prstGeom prst="rect">
            <a:avLst/>
          </a:prstGeom>
          <a:noFill/>
          <a:ln/>
        </p:spPr>
        <p:txBody>
          <a:bodyPr wrap="square" lIns="0" tIns="0" rIns="0" bIns="0" rtlCol="0" anchor="ctr"/>
          <a:lstStyle/>
          <a:p>
            <a:pPr algn="ctr" indent="0" marL="0">
              <a:lnSpc>
                <a:spcPct val="90000"/>
              </a:lnSpc>
              <a:buNone/>
            </a:pPr>
            <a:r>
              <a:rPr lang="en-US" sz="680" b="1" dirty="0">
                <a:solidFill>
                  <a:srgbClr val="C2410C"/>
                </a:solidFill>
                <a:latin typeface="Noto Sans KR" pitchFamily="34" charset="0"/>
                <a:ea typeface="Noto Sans KR" pitchFamily="34" charset="-122"/>
                <a:cs typeface="Noto Sans KR" pitchFamily="34" charset="-120"/>
              </a:rPr>
              <a:t>원사 대금</a:t>
            </a:r>
            <a:endParaRPr lang="en-US" sz="680" dirty="0"/>
          </a:p>
        </p:txBody>
      </p:sp>
      <p:sp>
        <p:nvSpPr>
          <p:cNvPr id="140" name="돈 2"/>
          <p:cNvSpPr txBox="1"/>
          <p:nvPr/>
        </p:nvSpPr>
        <p:spPr>
          <a:xfrm>
            <a:off x="1600200" y="4242816"/>
            <a:ext cx="1481328" cy="155448"/>
          </a:xfrm>
          <a:prstGeom prst="rect">
            <a:avLst/>
          </a:prstGeom>
          <a:noFill/>
          <a:ln/>
        </p:spPr>
        <p:txBody>
          <a:bodyPr wrap="square" lIns="0" tIns="0" rIns="0" bIns="0" rtlCol="0" anchor="ctr"/>
          <a:lstStyle/>
          <a:p>
            <a:pPr algn="ctr" indent="0" marL="0">
              <a:lnSpc>
                <a:spcPct val="90000"/>
              </a:lnSpc>
              <a:buNone/>
            </a:pPr>
            <a:r>
              <a:rPr lang="en-US" sz="680" b="1" dirty="0">
                <a:solidFill>
                  <a:srgbClr val="C2410C"/>
                </a:solidFill>
                <a:latin typeface="Noto Sans KR" pitchFamily="34" charset="0"/>
                <a:ea typeface="Noto Sans KR" pitchFamily="34" charset="-122"/>
                <a:cs typeface="Noto Sans KR" pitchFamily="34" charset="-120"/>
              </a:rPr>
              <a:t>원단 대금</a:t>
            </a:r>
            <a:endParaRPr lang="en-US" sz="680" dirty="0"/>
          </a:p>
        </p:txBody>
      </p:sp>
      <p:sp>
        <p:nvSpPr>
          <p:cNvPr id="141" name="돈 3"/>
          <p:cNvSpPr txBox="1"/>
          <p:nvPr/>
        </p:nvSpPr>
        <p:spPr>
          <a:xfrm>
            <a:off x="3191256" y="4242816"/>
            <a:ext cx="1298448" cy="155448"/>
          </a:xfrm>
          <a:prstGeom prst="rect">
            <a:avLst/>
          </a:prstGeom>
          <a:noFill/>
          <a:ln/>
        </p:spPr>
        <p:txBody>
          <a:bodyPr wrap="square" lIns="0" tIns="0" rIns="0" bIns="0" rtlCol="0" anchor="ctr"/>
          <a:lstStyle/>
          <a:p>
            <a:pPr algn="ctr" indent="0" marL="0">
              <a:lnSpc>
                <a:spcPct val="90000"/>
              </a:lnSpc>
              <a:buNone/>
            </a:pPr>
            <a:r>
              <a:rPr lang="en-US" sz="680" b="1" dirty="0">
                <a:solidFill>
                  <a:srgbClr val="C2410C"/>
                </a:solidFill>
                <a:latin typeface="Noto Sans KR" pitchFamily="34" charset="0"/>
                <a:ea typeface="Noto Sans KR" pitchFamily="34" charset="-122"/>
                <a:cs typeface="Noto Sans KR" pitchFamily="34" charset="-120"/>
              </a:rPr>
              <a:t>부자재 대금</a:t>
            </a:r>
            <a:endParaRPr lang="en-US" sz="680" dirty="0"/>
          </a:p>
        </p:txBody>
      </p:sp>
      <p:sp>
        <p:nvSpPr>
          <p:cNvPr id="142" name="돈 4"/>
          <p:cNvSpPr txBox="1"/>
          <p:nvPr/>
        </p:nvSpPr>
        <p:spPr>
          <a:xfrm>
            <a:off x="4599432" y="4242816"/>
            <a:ext cx="1517904" cy="155448"/>
          </a:xfrm>
          <a:prstGeom prst="rect">
            <a:avLst/>
          </a:prstGeom>
          <a:noFill/>
          <a:ln/>
        </p:spPr>
        <p:txBody>
          <a:bodyPr wrap="square" lIns="0" tIns="0" rIns="0" bIns="0" rtlCol="0" anchor="ctr"/>
          <a:lstStyle/>
          <a:p>
            <a:pPr algn="ctr" indent="0" marL="0">
              <a:lnSpc>
                <a:spcPct val="90000"/>
              </a:lnSpc>
              <a:buNone/>
            </a:pPr>
            <a:r>
              <a:rPr lang="en-US" sz="680" b="1" dirty="0">
                <a:solidFill>
                  <a:srgbClr val="C2410C"/>
                </a:solidFill>
                <a:latin typeface="Noto Sans KR" pitchFamily="34" charset="0"/>
                <a:ea typeface="Noto Sans KR" pitchFamily="34" charset="-122"/>
                <a:cs typeface="Noto Sans KR" pitchFamily="34" charset="-120"/>
              </a:rPr>
              <a:t>생산비 · 공임</a:t>
            </a:r>
            <a:endParaRPr lang="en-US" sz="680" dirty="0"/>
          </a:p>
        </p:txBody>
      </p:sp>
      <p:sp>
        <p:nvSpPr>
          <p:cNvPr id="143" name="돈 5"/>
          <p:cNvSpPr txBox="1"/>
          <p:nvPr/>
        </p:nvSpPr>
        <p:spPr>
          <a:xfrm>
            <a:off x="6227064" y="4242816"/>
            <a:ext cx="2103120" cy="155448"/>
          </a:xfrm>
          <a:prstGeom prst="rect">
            <a:avLst/>
          </a:prstGeom>
          <a:noFill/>
          <a:ln/>
        </p:spPr>
        <p:txBody>
          <a:bodyPr wrap="square" lIns="0" tIns="0" rIns="0" bIns="0" rtlCol="0" anchor="ctr"/>
          <a:lstStyle/>
          <a:p>
            <a:pPr algn="ctr" indent="0" marL="0">
              <a:lnSpc>
                <a:spcPct val="90000"/>
              </a:lnSpc>
              <a:buNone/>
            </a:pPr>
            <a:r>
              <a:rPr lang="en-US" sz="680" b="1" dirty="0">
                <a:solidFill>
                  <a:srgbClr val="C2410C"/>
                </a:solidFill>
                <a:latin typeface="Noto Sans KR" pitchFamily="34" charset="0"/>
                <a:ea typeface="Noto Sans KR" pitchFamily="34" charset="-122"/>
                <a:cs typeface="Noto Sans KR" pitchFamily="34" charset="-120"/>
              </a:rPr>
              <a:t>브랜드 매출 → 로열티 · 생산비</a:t>
            </a:r>
            <a:endParaRPr lang="en-US" sz="680" dirty="0"/>
          </a:p>
        </p:txBody>
      </p:sp>
      <p:sp>
        <p:nvSpPr>
          <p:cNvPr id="144" name="돈 6"/>
          <p:cNvSpPr txBox="1"/>
          <p:nvPr/>
        </p:nvSpPr>
        <p:spPr>
          <a:xfrm>
            <a:off x="8439912" y="4242816"/>
            <a:ext cx="2057400" cy="155448"/>
          </a:xfrm>
          <a:prstGeom prst="rect">
            <a:avLst/>
          </a:prstGeom>
          <a:noFill/>
          <a:ln/>
        </p:spPr>
        <p:txBody>
          <a:bodyPr wrap="square" lIns="0" tIns="0" rIns="0" bIns="0" rtlCol="0" anchor="ctr"/>
          <a:lstStyle/>
          <a:p>
            <a:pPr algn="ctr" indent="0" marL="0">
              <a:lnSpc>
                <a:spcPct val="90000"/>
              </a:lnSpc>
              <a:buNone/>
            </a:pPr>
            <a:r>
              <a:rPr lang="en-US" sz="680" b="1" dirty="0">
                <a:solidFill>
                  <a:srgbClr val="C2410C"/>
                </a:solidFill>
                <a:latin typeface="Noto Sans KR" pitchFamily="34" charset="0"/>
                <a:ea typeface="Noto Sans KR" pitchFamily="34" charset="-122"/>
                <a:cs typeface="Noto Sans KR" pitchFamily="34" charset="-120"/>
              </a:rPr>
              <a:t>유통 수수료 23~28% 차감</a:t>
            </a:r>
            <a:endParaRPr lang="en-US" sz="680" dirty="0"/>
          </a:p>
        </p:txBody>
      </p:sp>
      <p:sp>
        <p:nvSpPr>
          <p:cNvPr id="145" name="돈 7"/>
          <p:cNvSpPr txBox="1"/>
          <p:nvPr/>
        </p:nvSpPr>
        <p:spPr>
          <a:xfrm>
            <a:off x="10607040" y="4242816"/>
            <a:ext cx="1097280" cy="155448"/>
          </a:xfrm>
          <a:prstGeom prst="rect">
            <a:avLst/>
          </a:prstGeom>
          <a:noFill/>
          <a:ln/>
        </p:spPr>
        <p:txBody>
          <a:bodyPr wrap="square" lIns="0" tIns="0" rIns="0" bIns="0" rtlCol="0" anchor="ctr"/>
          <a:lstStyle/>
          <a:p>
            <a:pPr algn="ctr" indent="0" marL="0">
              <a:lnSpc>
                <a:spcPct val="90000"/>
              </a:lnSpc>
              <a:buNone/>
            </a:pPr>
            <a:r>
              <a:rPr lang="en-US" sz="680" b="1" dirty="0">
                <a:solidFill>
                  <a:srgbClr val="C2410C"/>
                </a:solidFill>
                <a:latin typeface="Noto Sans KR" pitchFamily="34" charset="0"/>
                <a:ea typeface="Noto Sans KR" pitchFamily="34" charset="-122"/>
                <a:cs typeface="Noto Sans KR" pitchFamily="34" charset="-120"/>
              </a:rPr>
              <a:t>소비자 결제</a:t>
            </a:r>
            <a:endParaRPr lang="en-US" sz="680" dirty="0"/>
          </a:p>
        </p:txBody>
      </p:sp>
      <p:sp>
        <p:nvSpPr>
          <p:cNvPr id="146" name="지원 기능 표시"/>
          <p:cNvSpPr txBox="1"/>
          <p:nvPr/>
        </p:nvSpPr>
        <p:spPr>
          <a:xfrm>
            <a:off x="484632" y="4498848"/>
            <a:ext cx="1005840" cy="274320"/>
          </a:xfrm>
          <a:prstGeom prst="rect">
            <a:avLst/>
          </a:prstGeom>
          <a:noFill/>
          <a:ln/>
        </p:spPr>
        <p:txBody>
          <a:bodyPr wrap="square" lIns="0" tIns="0" rIns="0" bIns="0" rtlCol="0" anchor="ctr"/>
          <a:lstStyle/>
          <a:p>
            <a:pPr algn="ctr" indent="0" marL="0">
              <a:lnSpc>
                <a:spcPct val="90000"/>
              </a:lnSpc>
              <a:buNone/>
            </a:pPr>
            <a:r>
              <a:rPr lang="en-US" sz="800" b="1" dirty="0">
                <a:solidFill>
                  <a:srgbClr val="182F48"/>
                </a:solidFill>
                <a:latin typeface="Noto Sans KR" pitchFamily="34" charset="0"/>
                <a:ea typeface="Noto Sans KR" pitchFamily="34" charset="-122"/>
                <a:cs typeface="Noto Sans KR" pitchFamily="34" charset="-120"/>
              </a:rPr>
              <a:t>지원</a:t>
            </a:r>
            <a:endParaRPr lang="en-US" sz="800" dirty="0"/>
          </a:p>
          <a:p>
            <a:pPr algn="ctr" indent="0" marL="0">
              <a:lnSpc>
                <a:spcPct val="90000"/>
              </a:lnSpc>
              <a:buNone/>
            </a:pPr>
            <a:r>
              <a:rPr lang="en-US" sz="800" b="1" dirty="0">
                <a:solidFill>
                  <a:srgbClr val="182F48"/>
                </a:solidFill>
                <a:latin typeface="Noto Sans KR" pitchFamily="34" charset="0"/>
                <a:ea typeface="Noto Sans KR" pitchFamily="34" charset="-122"/>
                <a:cs typeface="Noto Sans KR" pitchFamily="34" charset="-120"/>
              </a:rPr>
              <a:t>기능</a:t>
            </a:r>
            <a:endParaRPr lang="en-US" sz="800" dirty="0"/>
          </a:p>
        </p:txBody>
      </p:sp>
      <p:sp>
        <p:nvSpPr>
          <p:cNvPr id="147" name="지원 시험 인증"/>
          <p:cNvSpPr txBox="1"/>
          <p:nvPr/>
        </p:nvSpPr>
        <p:spPr>
          <a:xfrm>
            <a:off x="1600200" y="4498848"/>
            <a:ext cx="4517136" cy="274320"/>
          </a:xfrm>
          <a:prstGeom prst="roundRect">
            <a:avLst>
              <a:gd name="adj" fmla="val 16667"/>
            </a:avLst>
          </a:prstGeom>
          <a:solidFill>
            <a:srgbClr val="E6F2F3"/>
          </a:solidFill>
          <a:ln/>
        </p:spPr>
        <p:txBody>
          <a:bodyPr wrap="square" lIns="73152" tIns="0" rIns="73152" bIns="0" rtlCol="0" anchor="ctr"/>
          <a:lstStyle/>
          <a:p>
            <a:pPr algn="l" indent="0" marL="0">
              <a:lnSpc>
                <a:spcPct val="90000"/>
              </a:lnSpc>
              <a:buNone/>
            </a:pPr>
            <a:r>
              <a:rPr lang="en-US" sz="700" b="1" dirty="0">
                <a:solidFill>
                  <a:srgbClr val="182F48"/>
                </a:solidFill>
                <a:latin typeface="Noto Sans KR" pitchFamily="34" charset="0"/>
                <a:ea typeface="Noto Sans KR" pitchFamily="34" charset="-122"/>
                <a:cs typeface="Noto Sans KR" pitchFamily="34" charset="-120"/>
              </a:rPr>
              <a:t>시험 · 인증  </a:t>
            </a:r>
            <a:pPr algn="l" indent="0" marL="0">
              <a:lnSpc>
                <a:spcPct val="90000"/>
              </a:lnSpc>
              <a:buNone/>
            </a:pPr>
            <a:r>
              <a:rPr lang="en-US" sz="700" dirty="0">
                <a:solidFill>
                  <a:srgbClr val="334155"/>
                </a:solidFill>
                <a:latin typeface="Noto Sans KR" pitchFamily="34" charset="0"/>
                <a:ea typeface="Noto Sans KR" pitchFamily="34" charset="-122"/>
                <a:cs typeface="Noto Sans KR" pitchFamily="34" charset="-120"/>
              </a:rPr>
              <a:t>FITI시험연구원 · 한국섬유개발연구원 · bluesign · RDS 인증</a:t>
            </a:r>
            <a:pPr algn="l" indent="0" marL="0">
              <a:lnSpc>
                <a:spcPct val="90000"/>
              </a:lnSpc>
              <a:buNone/>
            </a:pPr>
            <a:r>
              <a:rPr lang="en-US" sz="700" b="1" dirty="0">
                <a:solidFill>
                  <a:srgbClr val="267D86"/>
                </a:solidFill>
                <a:latin typeface="Noto Sans KR" pitchFamily="34" charset="0"/>
                <a:ea typeface="Noto Sans KR" pitchFamily="34" charset="-122"/>
                <a:cs typeface="Noto Sans KR" pitchFamily="34" charset="-120"/>
              </a:rPr>
              <a:t>  ★ 서비스관 참가</a:t>
            </a:r>
            <a:endParaRPr lang="en-US" sz="700" dirty="0"/>
          </a:p>
        </p:txBody>
      </p:sp>
      <p:sp>
        <p:nvSpPr>
          <p:cNvPr id="148" name="지원 물류"/>
          <p:cNvSpPr txBox="1"/>
          <p:nvPr/>
        </p:nvSpPr>
        <p:spPr>
          <a:xfrm>
            <a:off x="6227064" y="4498848"/>
            <a:ext cx="4270248" cy="274320"/>
          </a:xfrm>
          <a:prstGeom prst="roundRect">
            <a:avLst>
              <a:gd name="adj" fmla="val 16667"/>
            </a:avLst>
          </a:prstGeom>
          <a:solidFill>
            <a:srgbClr val="E6F2F3"/>
          </a:solidFill>
          <a:ln/>
        </p:spPr>
        <p:txBody>
          <a:bodyPr wrap="square" lIns="73152" tIns="0" rIns="73152" bIns="0" rtlCol="0" anchor="ctr"/>
          <a:lstStyle/>
          <a:p>
            <a:pPr algn="l" indent="0" marL="0">
              <a:lnSpc>
                <a:spcPct val="90000"/>
              </a:lnSpc>
              <a:buNone/>
            </a:pPr>
            <a:r>
              <a:rPr lang="en-US" sz="700" b="1" dirty="0">
                <a:solidFill>
                  <a:srgbClr val="182F48"/>
                </a:solidFill>
                <a:latin typeface="Noto Sans KR" pitchFamily="34" charset="0"/>
                <a:ea typeface="Noto Sans KR" pitchFamily="34" charset="-122"/>
                <a:cs typeface="Noto Sans KR" pitchFamily="34" charset="-120"/>
              </a:rPr>
              <a:t>물류 · 풀필먼트  </a:t>
            </a:r>
            <a:pPr algn="l" indent="0" marL="0">
              <a:lnSpc>
                <a:spcPct val="90000"/>
              </a:lnSpc>
              <a:buNone/>
            </a:pPr>
            <a:r>
              <a:rPr lang="en-US" sz="700" dirty="0">
                <a:solidFill>
                  <a:srgbClr val="334155"/>
                </a:solidFill>
                <a:latin typeface="Noto Sans KR" pitchFamily="34" charset="0"/>
                <a:ea typeface="Noto Sans KR" pitchFamily="34" charset="-122"/>
                <a:cs typeface="Noto Sans KR" pitchFamily="34" charset="-120"/>
              </a:rPr>
              <a:t>CJ대한통운(더 풀필) · 무신사 로지스틱스(700여 브랜드)</a:t>
            </a:r>
            <a:pPr algn="l" indent="0" marL="0">
              <a:lnSpc>
                <a:spcPct val="90000"/>
              </a:lnSpc>
              <a:buNone/>
            </a:pPr>
            <a:r>
              <a:rPr lang="en-US" sz="700" b="1" dirty="0">
                <a:solidFill>
                  <a:srgbClr val="267D86"/>
                </a:solidFill>
                <a:latin typeface="Noto Sans KR" pitchFamily="34" charset="0"/>
                <a:ea typeface="Noto Sans KR" pitchFamily="34" charset="-122"/>
                <a:cs typeface="Noto Sans KR" pitchFamily="34" charset="-120"/>
              </a:rPr>
              <a:t>  ★ 서비스관 참가</a:t>
            </a:r>
            <a:endParaRPr lang="en-US" sz="700" dirty="0"/>
          </a:p>
        </p:txBody>
      </p:sp>
      <p:sp>
        <p:nvSpPr>
          <p:cNvPr id="149" name="지원 미디어"/>
          <p:cNvSpPr txBox="1"/>
          <p:nvPr/>
        </p:nvSpPr>
        <p:spPr>
          <a:xfrm>
            <a:off x="10607040" y="4498848"/>
            <a:ext cx="1097280" cy="274320"/>
          </a:xfrm>
          <a:prstGeom prst="roundRect">
            <a:avLst>
              <a:gd name="adj" fmla="val 16667"/>
            </a:avLst>
          </a:prstGeom>
          <a:solidFill>
            <a:srgbClr val="EEF0F3"/>
          </a:solidFill>
          <a:ln/>
        </p:spPr>
        <p:txBody>
          <a:bodyPr wrap="square" lIns="0" tIns="0" rIns="0" bIns="0" rtlCol="0" anchor="ctr"/>
          <a:lstStyle/>
          <a:p>
            <a:pPr algn="ctr" indent="0" marL="0">
              <a:lnSpc>
                <a:spcPct val="85000"/>
              </a:lnSpc>
              <a:buNone/>
            </a:pPr>
            <a:r>
              <a:rPr lang="en-US" sz="680" b="1" dirty="0">
                <a:solidFill>
                  <a:srgbClr val="182F48"/>
                </a:solidFill>
                <a:latin typeface="Noto Sans KR" pitchFamily="34" charset="0"/>
                <a:ea typeface="Noto Sans KR" pitchFamily="34" charset="-122"/>
                <a:cs typeface="Noto Sans KR" pitchFamily="34" charset="-120"/>
              </a:rPr>
              <a:t>미디어</a:t>
            </a:r>
            <a:endParaRPr lang="en-US" sz="680" dirty="0"/>
          </a:p>
          <a:p>
            <a:pPr algn="ctr" indent="0" marL="0">
              <a:lnSpc>
                <a:spcPct val="85000"/>
              </a:lnSpc>
              <a:buNone/>
            </a:pPr>
            <a:r>
              <a:rPr lang="en-US" sz="680" dirty="0">
                <a:solidFill>
                  <a:srgbClr val="334155"/>
                </a:solidFill>
                <a:latin typeface="Noto Sans KR" pitchFamily="34" charset="0"/>
                <a:ea typeface="Noto Sans KR" pitchFamily="34" charset="-122"/>
                <a:cs typeface="Noto Sans KR" pitchFamily="34" charset="-120"/>
              </a:rPr>
              <a:t>GO OUT KOREA 외</a:t>
            </a:r>
            <a:endParaRPr lang="en-US" sz="680" dirty="0"/>
          </a:p>
        </p:txBody>
      </p:sp>
      <p:sp>
        <p:nvSpPr>
          <p:cNvPr id="150" name="지원 정책"/>
          <p:cNvSpPr txBox="1"/>
          <p:nvPr/>
        </p:nvSpPr>
        <p:spPr>
          <a:xfrm>
            <a:off x="484632" y="4818888"/>
            <a:ext cx="11219688" cy="274320"/>
          </a:xfrm>
          <a:prstGeom prst="roundRect">
            <a:avLst>
              <a:gd name="adj" fmla="val 16667"/>
            </a:avLst>
          </a:prstGeom>
          <a:solidFill>
            <a:srgbClr val="EEF0F3"/>
          </a:solidFill>
          <a:ln/>
        </p:spPr>
        <p:txBody>
          <a:bodyPr wrap="square" lIns="73152" tIns="0" rIns="73152" bIns="0" rtlCol="0" anchor="ctr"/>
          <a:lstStyle/>
          <a:p>
            <a:pPr algn="l" indent="0" marL="0">
              <a:lnSpc>
                <a:spcPct val="90000"/>
              </a:lnSpc>
              <a:buNone/>
            </a:pPr>
            <a:r>
              <a:rPr lang="en-US" sz="700" b="1" dirty="0">
                <a:solidFill>
                  <a:srgbClr val="182F48"/>
                </a:solidFill>
                <a:latin typeface="Noto Sans KR" pitchFamily="34" charset="0"/>
                <a:ea typeface="Noto Sans KR" pitchFamily="34" charset="-122"/>
                <a:cs typeface="Noto Sans KR" pitchFamily="34" charset="-120"/>
              </a:rPr>
              <a:t>정책 · 협회  </a:t>
            </a:r>
            <a:pPr algn="l" indent="0" marL="0">
              <a:lnSpc>
                <a:spcPct val="90000"/>
              </a:lnSpc>
              <a:buNone/>
            </a:pPr>
            <a:r>
              <a:rPr lang="en-US" sz="700" dirty="0">
                <a:solidFill>
                  <a:srgbClr val="334155"/>
                </a:solidFill>
                <a:latin typeface="Noto Sans KR" pitchFamily="34" charset="0"/>
                <a:ea typeface="Noto Sans KR" pitchFamily="34" charset="-122"/>
                <a:cs typeface="Noto Sans KR" pitchFamily="34" charset="-120"/>
              </a:rPr>
              <a:t>산업통상부(All in Korea 230억) · KOTRA(해외 바이어) · 한국패션협회 · 한국섬유산업연합회(프리뷰 인 서울) · 한국아웃도어스포츠산업협회 · 산림청</a:t>
            </a:r>
            <a:endParaRPr lang="en-US" sz="700" dirty="0"/>
          </a:p>
        </p:txBody>
      </p:sp>
      <p:sp>
        <p:nvSpPr>
          <p:cNvPr id="151" name="범위 이유 제목"/>
          <p:cNvSpPr txBox="1"/>
          <p:nvPr/>
        </p:nvSpPr>
        <p:spPr>
          <a:xfrm>
            <a:off x="411480" y="5285232"/>
            <a:ext cx="1828800" cy="457200"/>
          </a:xfrm>
          <a:prstGeom prst="rect">
            <a:avLst/>
          </a:prstGeom>
          <a:noFill/>
          <a:ln/>
        </p:spPr>
        <p:txBody>
          <a:bodyPr wrap="square" lIns="0" tIns="0" rIns="0" bIns="0" rtlCol="0" anchor="t"/>
          <a:lstStyle/>
          <a:p>
            <a:pPr algn="l" indent="0" marL="0">
              <a:lnSpc>
                <a:spcPct val="100000"/>
              </a:lnSpc>
              <a:buNone/>
            </a:pPr>
            <a:r>
              <a:rPr lang="en-US" sz="1000" b="1" dirty="0">
                <a:solidFill>
                  <a:srgbClr val="182F48"/>
                </a:solidFill>
                <a:latin typeface="Noto Sans KR" pitchFamily="34" charset="0"/>
                <a:ea typeface="Noto Sans KR" pitchFamily="34" charset="-122"/>
                <a:cs typeface="Noto Sans KR" pitchFamily="34" charset="-120"/>
              </a:rPr>
              <a:t>전시회가 다룰</a:t>
            </a:r>
            <a:endParaRPr lang="en-US" sz="1000" dirty="0"/>
          </a:p>
          <a:p>
            <a:pPr algn="l" indent="0" marL="0">
              <a:lnSpc>
                <a:spcPct val="100000"/>
              </a:lnSpc>
              <a:buNone/>
            </a:pPr>
            <a:r>
              <a:rPr lang="en-US" sz="1000" b="1" dirty="0">
                <a:solidFill>
                  <a:srgbClr val="182F48"/>
                </a:solidFill>
                <a:latin typeface="Noto Sans KR" pitchFamily="34" charset="0"/>
                <a:ea typeface="Noto Sans KR" pitchFamily="34" charset="-122"/>
                <a:cs typeface="Noto Sans KR" pitchFamily="34" charset="-120"/>
              </a:rPr>
              <a:t>범위와 선정 이유</a:t>
            </a:r>
            <a:endParaRPr lang="en-US" sz="1000" dirty="0"/>
          </a:p>
        </p:txBody>
      </p:sp>
      <p:sp>
        <p:nvSpPr>
          <p:cNvPr id="152" name="범위 이유"/>
          <p:cNvSpPr txBox="1"/>
          <p:nvPr/>
        </p:nvSpPr>
        <p:spPr>
          <a:xfrm>
            <a:off x="2331720" y="5285232"/>
            <a:ext cx="9445752" cy="1024128"/>
          </a:xfrm>
          <a:prstGeom prst="rect">
            <a:avLst/>
          </a:prstGeom>
          <a:noFill/>
          <a:ln/>
        </p:spPr>
        <p:txBody>
          <a:bodyPr wrap="square" lIns="0" tIns="0" rIns="0" bIns="0" rtlCol="0" anchor="t"/>
          <a:lstStyle/>
          <a:p>
            <a:pPr algn="l" indent="0" marL="0">
              <a:lnSpc>
                <a:spcPct val="92000"/>
              </a:lnSpc>
              <a:spcAft>
                <a:spcPts val="200"/>
              </a:spcAft>
              <a:buNone/>
            </a:pPr>
            <a:r>
              <a:rPr lang="en-US" sz="800" b="1" dirty="0">
                <a:solidFill>
                  <a:srgbClr val="C2410C"/>
                </a:solidFill>
                <a:latin typeface="Noto Sans KR" pitchFamily="34" charset="0"/>
                <a:ea typeface="Noto Sans KR" pitchFamily="34" charset="-122"/>
                <a:cs typeface="Noto Sans KR" pitchFamily="34" charset="-120"/>
              </a:rPr>
              <a:t>①  </a:t>
            </a:r>
            <a:pPr algn="l" indent="0" marL="0">
              <a:lnSpc>
                <a:spcPct val="92000"/>
              </a:lnSpc>
              <a:spcAft>
                <a:spcPts val="200"/>
              </a:spcAft>
              <a:buNone/>
            </a:pPr>
            <a:r>
              <a:rPr lang="en-US" sz="800" b="1" dirty="0">
                <a:solidFill>
                  <a:srgbClr val="182F48"/>
                </a:solidFill>
                <a:latin typeface="Noto Sans KR" pitchFamily="34" charset="0"/>
                <a:ea typeface="Noto Sans KR" pitchFamily="34" charset="-122"/>
                <a:cs typeface="Noto Sans KR" pitchFamily="34" charset="-120"/>
              </a:rPr>
              <a:t>소재·제조 ↔ 브랜드 단절 → 소재관·제조관  </a:t>
            </a:r>
            <a:pPr algn="l" indent="0" marL="0">
              <a:lnSpc>
                <a:spcPct val="92000"/>
              </a:lnSpc>
              <a:spcAft>
                <a:spcPts val="200"/>
              </a:spcAft>
              <a:buNone/>
            </a:pPr>
            <a:r>
              <a:rPr lang="en-US" sz="800" dirty="0">
                <a:solidFill>
                  <a:srgbClr val="334155"/>
                </a:solidFill>
                <a:latin typeface="Noto Sans KR" pitchFamily="34" charset="0"/>
                <a:ea typeface="Noto Sans KR" pitchFamily="34" charset="-122"/>
                <a:cs typeface="Noto Sans KR" pitchFamily="34" charset="-120"/>
              </a:rPr>
              <a:t>원단 최소주문량·심실링 공정·PFAS 전환(2027·2028) 문제를 브랜드와 공급사의 사전 매칭으로 푼다.</a:t>
            </a:r>
            <a:endParaRPr lang="en-US" sz="800" dirty="0"/>
          </a:p>
          <a:p>
            <a:pPr algn="l" indent="0" marL="0">
              <a:lnSpc>
                <a:spcPct val="92000"/>
              </a:lnSpc>
              <a:spcAft>
                <a:spcPts val="200"/>
              </a:spcAft>
              <a:buNone/>
            </a:pPr>
            <a:r>
              <a:rPr lang="en-US" sz="800" b="1" dirty="0">
                <a:solidFill>
                  <a:srgbClr val="C2410C"/>
                </a:solidFill>
                <a:latin typeface="Noto Sans KR" pitchFamily="34" charset="0"/>
                <a:ea typeface="Noto Sans KR" pitchFamily="34" charset="-122"/>
                <a:cs typeface="Noto Sans KR" pitchFamily="34" charset="-120"/>
              </a:rPr>
              <a:t>②  </a:t>
            </a:r>
            <a:pPr algn="l" indent="0" marL="0">
              <a:lnSpc>
                <a:spcPct val="92000"/>
              </a:lnSpc>
              <a:spcAft>
                <a:spcPts val="200"/>
              </a:spcAft>
              <a:buNone/>
            </a:pPr>
            <a:r>
              <a:rPr lang="en-US" sz="800" b="1" dirty="0">
                <a:solidFill>
                  <a:srgbClr val="182F48"/>
                </a:solidFill>
                <a:latin typeface="Noto Sans KR" pitchFamily="34" charset="0"/>
                <a:ea typeface="Noto Sans KR" pitchFamily="34" charset="-122"/>
                <a:cs typeface="Noto Sans KR" pitchFamily="34" charset="-120"/>
              </a:rPr>
              <a:t>고비용 국내 유통 → 트레이드 데이(국내)  </a:t>
            </a:r>
            <a:pPr algn="l" indent="0" marL="0">
              <a:lnSpc>
                <a:spcPct val="92000"/>
              </a:lnSpc>
              <a:spcAft>
                <a:spcPts val="200"/>
              </a:spcAft>
              <a:buNone/>
            </a:pPr>
            <a:r>
              <a:rPr lang="en-US" sz="800" dirty="0">
                <a:solidFill>
                  <a:srgbClr val="334155"/>
                </a:solidFill>
                <a:latin typeface="Noto Sans KR" pitchFamily="34" charset="0"/>
                <a:ea typeface="Noto Sans KR" pitchFamily="34" charset="-122"/>
                <a:cs typeface="Noto Sans KR" pitchFamily="34" charset="-120"/>
              </a:rPr>
              <a:t>수수료 27.8%·특약매입 구조 대신, 플랫폼·백화점·편집숍 바이어와 직거래로 잇는다.</a:t>
            </a:r>
            <a:endParaRPr lang="en-US" sz="800" dirty="0"/>
          </a:p>
          <a:p>
            <a:pPr algn="l" indent="0" marL="0">
              <a:lnSpc>
                <a:spcPct val="92000"/>
              </a:lnSpc>
              <a:spcAft>
                <a:spcPts val="200"/>
              </a:spcAft>
              <a:buNone/>
            </a:pPr>
            <a:r>
              <a:rPr lang="en-US" sz="800" b="1" dirty="0">
                <a:solidFill>
                  <a:srgbClr val="C2410C"/>
                </a:solidFill>
                <a:latin typeface="Noto Sans KR" pitchFamily="34" charset="0"/>
                <a:ea typeface="Noto Sans KR" pitchFamily="34" charset="-122"/>
                <a:cs typeface="Noto Sans KR" pitchFamily="34" charset="-120"/>
              </a:rPr>
              <a:t>③  </a:t>
            </a:r>
            <a:pPr algn="l" indent="0" marL="0">
              <a:lnSpc>
                <a:spcPct val="92000"/>
              </a:lnSpc>
              <a:spcAft>
                <a:spcPts val="200"/>
              </a:spcAft>
              <a:buNone/>
            </a:pPr>
            <a:r>
              <a:rPr lang="en-US" sz="800" b="1" dirty="0">
                <a:solidFill>
                  <a:srgbClr val="182F48"/>
                </a:solidFill>
                <a:latin typeface="Noto Sans KR" pitchFamily="34" charset="0"/>
                <a:ea typeface="Noto Sans KR" pitchFamily="34" charset="-122"/>
                <a:cs typeface="Noto Sans KR" pitchFamily="34" charset="-120"/>
              </a:rPr>
              <a:t>해외 접점 부재 → 트레이드 데이(해외)  </a:t>
            </a:r>
            <a:pPr algn="l" indent="0" marL="0">
              <a:lnSpc>
                <a:spcPct val="92000"/>
              </a:lnSpc>
              <a:spcAft>
                <a:spcPts val="200"/>
              </a:spcAft>
              <a:buNone/>
            </a:pPr>
            <a:r>
              <a:rPr lang="en-US" sz="800" dirty="0">
                <a:solidFill>
                  <a:srgbClr val="334155"/>
                </a:solidFill>
                <a:latin typeface="Noto Sans KR" pitchFamily="34" charset="0"/>
                <a:ea typeface="Noto Sans KR" pitchFamily="34" charset="-122"/>
                <a:cs typeface="Noto Sans KR" pitchFamily="34" charset="-120"/>
              </a:rPr>
              <a:t>수출 이력이 없어도 KOTRA 초청 바이어와 1:1로 만나 코오롱스포츠-안타형 파트너십을 만든다.</a:t>
            </a:r>
            <a:endParaRPr lang="en-US" sz="800" dirty="0"/>
          </a:p>
          <a:p>
            <a:pPr algn="l" indent="0" marL="0">
              <a:lnSpc>
                <a:spcPct val="92000"/>
              </a:lnSpc>
              <a:spcAft>
                <a:spcPts val="200"/>
              </a:spcAft>
              <a:buNone/>
            </a:pPr>
            <a:r>
              <a:rPr lang="en-US" sz="800" b="1" dirty="0">
                <a:solidFill>
                  <a:srgbClr val="267D86"/>
                </a:solidFill>
                <a:latin typeface="Noto Sans KR" pitchFamily="34" charset="0"/>
                <a:ea typeface="Noto Sans KR" pitchFamily="34" charset="-122"/>
                <a:cs typeface="Noto Sans KR" pitchFamily="34" charset="-120"/>
              </a:rPr>
              <a:t>부분 포함  </a:t>
            </a:r>
            <a:pPr algn="l" indent="0" marL="0">
              <a:lnSpc>
                <a:spcPct val="92000"/>
              </a:lnSpc>
              <a:spcAft>
                <a:spcPts val="200"/>
              </a:spcAft>
              <a:buNone/>
            </a:pPr>
            <a:r>
              <a:rPr lang="en-US" sz="800" dirty="0">
                <a:solidFill>
                  <a:srgbClr val="334155"/>
                </a:solidFill>
                <a:latin typeface="Noto Sans KR" pitchFamily="34" charset="0"/>
                <a:ea typeface="Noto Sans KR" pitchFamily="34" charset="-122"/>
                <a:cs typeface="Noto Sans KR" pitchFamily="34" charset="-120"/>
              </a:rPr>
              <a:t>시험·인증과 물류는 브랜드 수출에 필요한 서비스라 서비스관으로 들이고, ⑦ 소비자는 퍼블릭 랩 데이로 기능 신뢰를 만든다.</a:t>
            </a:r>
            <a:endParaRPr lang="en-US" sz="800" dirty="0"/>
          </a:p>
          <a:p>
            <a:pPr algn="l" indent="0" marL="0">
              <a:lnSpc>
                <a:spcPct val="92000"/>
              </a:lnSpc>
              <a:spcAft>
                <a:spcPts val="200"/>
              </a:spcAft>
              <a:buNone/>
            </a:pPr>
            <a:r>
              <a:rPr lang="en-US" sz="800" b="1" dirty="0">
                <a:solidFill>
                  <a:srgbClr val="64748B"/>
                </a:solidFill>
                <a:latin typeface="Noto Sans KR" pitchFamily="34" charset="0"/>
                <a:ea typeface="Noto Sans KR" pitchFamily="34" charset="-122"/>
                <a:cs typeface="Noto Sans KR" pitchFamily="34" charset="-120"/>
              </a:rPr>
              <a:t>제외  </a:t>
            </a:r>
            <a:pPr algn="l" indent="0" marL="0">
              <a:lnSpc>
                <a:spcPct val="92000"/>
              </a:lnSpc>
              <a:spcAft>
                <a:spcPts val="200"/>
              </a:spcAft>
              <a:buNone/>
            </a:pPr>
            <a:r>
              <a:rPr lang="en-US" sz="800" dirty="0">
                <a:solidFill>
                  <a:srgbClr val="334155"/>
                </a:solidFill>
                <a:latin typeface="Noto Sans KR" pitchFamily="34" charset="0"/>
                <a:ea typeface="Noto Sans KR" pitchFamily="34" charset="-122"/>
                <a:cs typeface="Noto Sans KR" pitchFamily="34" charset="-120"/>
              </a:rPr>
              <a:t>① 원사·원료는 K-브랜드와 직접 거래하지 않고, 원사·원단 B2B는 프리뷰 인 서울(섬산련)이 이미 다룬다.</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과제 표기"/>
          <p:cNvSpPr txBox="1"/>
          <p:nvPr/>
        </p:nvSpPr>
        <p:spPr>
          <a:xfrm>
            <a:off x="612648" y="274320"/>
            <a:ext cx="5486400" cy="237744"/>
          </a:xfrm>
          <a:prstGeom prst="rect">
            <a:avLst/>
          </a:prstGeom>
          <a:noFill/>
          <a:ln/>
        </p:spPr>
        <p:txBody>
          <a:bodyPr wrap="square" lIns="0" tIns="0" rIns="0" bIns="0" rtlCol="0" anchor="t"/>
          <a:lstStyle/>
          <a:p>
            <a:pPr algn="l" indent="0" marL="0">
              <a:lnSpc>
                <a:spcPct val="92000"/>
              </a:lnSpc>
              <a:buNone/>
            </a:pPr>
            <a:r>
              <a:rPr lang="en-US" sz="1100" dirty="0">
                <a:solidFill>
                  <a:srgbClr val="64748B"/>
                </a:solidFill>
                <a:latin typeface="Noto Sans KR" pitchFamily="34" charset="0"/>
                <a:ea typeface="Noto Sans KR" pitchFamily="34" charset="-122"/>
                <a:cs typeface="Noto Sans KR" pitchFamily="34" charset="-120"/>
              </a:rPr>
              <a:t>전시산업론 중간고사 개인 과제   5/6</a:t>
            </a:r>
            <a:endParaRPr lang="en-US" sz="1100" dirty="0"/>
          </a:p>
        </p:txBody>
      </p:sp>
      <p:sp>
        <p:nvSpPr>
          <p:cNvPr id="3" name="Text 1"/>
          <p:cNvSpPr/>
          <p:nvPr>
            <p:ph idx="101" type="title" hasCustomPrompt="1"/>
          </p:nvPr>
        </p:nvSpPr>
        <p:spPr>
          <a:xfrm>
            <a:off x="612648" y="548640"/>
            <a:ext cx="10963656" cy="512064"/>
          </a:xfrm>
          <a:prstGeom prst="rect">
            <a:avLst/>
          </a:prstGeom>
          <a:noFill/>
          <a:ln/>
        </p:spPr>
        <p:txBody>
          <a:bodyPr wrap="square" lIns="0" tIns="0" rIns="0" bIns="0" rtlCol="0" anchor="ctr"/>
          <a:lstStyle/>
          <a:p>
            <a:pPr algn="l" indent="0" marL="0">
              <a:buNone/>
            </a:pPr>
            <a:r>
              <a:rPr lang="en-US" sz="3000" b="1" dirty="0">
                <a:solidFill>
                  <a:srgbClr val="182F48"/>
                </a:solidFill>
                <a:latin typeface="Noto Sans KR" pitchFamily="34" charset="0"/>
                <a:ea typeface="Noto Sans KR" pitchFamily="34" charset="-122"/>
                <a:cs typeface="Noto Sans KR" pitchFamily="34" charset="-120"/>
              </a:rPr>
              <a:t>참가업체 · 바이어 연결표</a:t>
            </a:r>
            <a:endParaRPr lang="en-US" sz="3000" dirty="0"/>
          </a:p>
        </p:txBody>
      </p:sp>
      <p:sp>
        <p:nvSpPr>
          <p:cNvPr id="4" name="Text 1"/>
          <p:cNvSpPr/>
          <p:nvPr>
            <p:ph idx="102" type="body" hasCustomPrompt="1"/>
          </p:nvPr>
        </p:nvSpPr>
        <p:spPr>
          <a:xfrm>
            <a:off x="612648" y="1060704"/>
            <a:ext cx="10963656" cy="310896"/>
          </a:xfrm>
          <a:prstGeom prst="rect">
            <a:avLst/>
          </a:prstGeom>
          <a:noFill/>
          <a:ln/>
        </p:spPr>
        <p:txBody>
          <a:bodyPr wrap="square" lIns="0" tIns="0" rIns="0" bIns="0" rtlCol="0" anchor="ctr"/>
          <a:lstStyle/>
          <a:p>
            <a:pPr algn="l" indent="0" marL="0">
              <a:buNone/>
            </a:pPr>
            <a:r>
              <a:rPr lang="en-US" sz="1500" dirty="0">
                <a:solidFill>
                  <a:srgbClr val="267D86"/>
                </a:solidFill>
                <a:latin typeface="Noto Sans KR" pitchFamily="34" charset="0"/>
                <a:ea typeface="Noto Sans KR" pitchFamily="34" charset="-122"/>
                <a:cs typeface="Noto Sans KR" pitchFamily="34" charset="-120"/>
              </a:rPr>
              <a:t>누가 무엇을 제공하고, 누가 왜 구매하는가?</a:t>
            </a:r>
            <a:endParaRPr lang="en-US" sz="1500" dirty="0"/>
          </a:p>
        </p:txBody>
      </p:sp>
      <p:sp>
        <p:nvSpPr>
          <p:cNvPr id="5" name="출처"/>
          <p:cNvSpPr txBox="1"/>
          <p:nvPr/>
        </p:nvSpPr>
        <p:spPr>
          <a:xfrm>
            <a:off x="612648" y="6355080"/>
            <a:ext cx="10963656" cy="457200"/>
          </a:xfrm>
          <a:prstGeom prst="rect">
            <a:avLst/>
          </a:prstGeom>
          <a:noFill/>
          <a:ln/>
        </p:spPr>
        <p:txBody>
          <a:bodyPr wrap="square" lIns="0" tIns="0" rIns="0" bIns="0" rtlCol="0" anchor="t"/>
          <a:lstStyle/>
          <a:p>
            <a:pPr algn="l" indent="0" marL="0">
              <a:lnSpc>
                <a:spcPct val="90000"/>
              </a:lnSpc>
              <a:buNone/>
            </a:pPr>
            <a:r>
              <a:rPr lang="en-US" sz="700" dirty="0">
                <a:solidFill>
                  <a:srgbClr val="64748B"/>
                </a:solidFill>
                <a:latin typeface="Noto Sans KR" pitchFamily="34" charset="0"/>
                <a:ea typeface="Noto Sans KR" pitchFamily="34" charset="-122"/>
                <a:cs typeface="Noto Sans KR" pitchFamily="34" charset="-120"/>
              </a:rPr>
              <a:t>출처: 무신사 뉴스룸(2022.10.13 그레일즈 · 2024.7.17 도쿄 쇼룸) · 스마트투데이(2026.8, 무신사 스탠다드 글로벌 수주회) · 데일리안(2026, 무신사 아우터 거래액) · 이데일리(무신사 스탠다드 고프코어 확장) · 중소기업중앙회(2024.7.3)</a:t>
            </a:r>
            <a:endParaRPr lang="en-US" sz="700" dirty="0"/>
          </a:p>
          <a:p>
            <a:pPr algn="l" indent="0" marL="0">
              <a:lnSpc>
                <a:spcPct val="90000"/>
              </a:lnSpc>
              <a:buNone/>
            </a:pPr>
            <a:r>
              <a:rPr lang="en-US" sz="700" dirty="0">
                <a:solidFill>
                  <a:srgbClr val="64748B"/>
                </a:solidFill>
                <a:latin typeface="Noto Sans KR" pitchFamily="34" charset="0"/>
                <a:ea typeface="Noto Sans KR" pitchFamily="34" charset="-122"/>
                <a:cs typeface="Noto Sans KR" pitchFamily="34" charset="-120"/>
              </a:rPr>
              <a:t>아시아경제(2026.7.29, 코오롱스포츠 차이나) · 국제섬유신문(코오롱스포츠 일본 진출) · 연세춘추(2021 봉제업체 실태조사) · Morgan Lewis·Certivo(PFAS) · 파이낸셜뉴스(2024.2.1 신한산업 · 2025.6.10 무신사 풀필먼트)</a:t>
            </a:r>
            <a:endParaRPr lang="en-US" sz="700" dirty="0"/>
          </a:p>
          <a:p>
            <a:pPr algn="l" indent="0" marL="0">
              <a:lnSpc>
                <a:spcPct val="90000"/>
              </a:lnSpc>
              <a:buNone/>
            </a:pPr>
            <a:r>
              <a:rPr lang="en-US" sz="700" dirty="0">
                <a:solidFill>
                  <a:srgbClr val="64748B"/>
                </a:solidFill>
                <a:latin typeface="Noto Sans KR" pitchFamily="34" charset="0"/>
                <a:ea typeface="Noto Sans KR" pitchFamily="34" charset="-122"/>
                <a:cs typeface="Noto Sans KR" pitchFamily="34" charset="-120"/>
              </a:rPr>
              <a:t>innoforest(기도산업) · BUYMA·프루츠패밀리(고요웨어 · 산산기어) · Houyhnhnm·END.(케일) · 이투데이(2025, 더 풀필) · 참가업체 측 인터뷰(2026.10.17)</a:t>
            </a:r>
            <a:endParaRPr lang="en-US" sz="700" dirty="0"/>
          </a:p>
        </p:txBody>
      </p:sp>
      <p:sp>
        <p:nvSpPr>
          <p:cNvPr id="7" name="라벨"/>
          <p:cNvSpPr txBox="1"/>
          <p:nvPr/>
        </p:nvSpPr>
        <p:spPr>
          <a:xfrm>
            <a:off x="612648" y="1499616"/>
            <a:ext cx="1417320" cy="475488"/>
          </a:xfrm>
          <a:prstGeom prst="rect">
            <a:avLst/>
          </a:prstGeom>
          <a:noFill/>
          <a:ln/>
        </p:spPr>
        <p:txBody>
          <a:bodyPr wrap="square" lIns="0" tIns="0" rIns="0" bIns="0" rtlCol="0" anchor="t"/>
          <a:lstStyle/>
          <a:p>
            <a:pPr algn="l" indent="0" marL="0">
              <a:lnSpc>
                <a:spcPct val="100000"/>
              </a:lnSpc>
              <a:buNone/>
            </a:pPr>
            <a:r>
              <a:rPr lang="en-US" sz="1200" b="1" dirty="0">
                <a:solidFill>
                  <a:srgbClr val="182F48"/>
                </a:solidFill>
                <a:latin typeface="Noto Sans KR" pitchFamily="34" charset="0"/>
                <a:ea typeface="Noto Sans KR" pitchFamily="34" charset="-122"/>
                <a:cs typeface="Noto Sans KR" pitchFamily="34" charset="-120"/>
              </a:rPr>
              <a:t>참가업체</a:t>
            </a:r>
            <a:endParaRPr lang="en-US" sz="1200" dirty="0"/>
          </a:p>
          <a:p>
            <a:pPr algn="l" indent="0" marL="0">
              <a:lnSpc>
                <a:spcPct val="100000"/>
              </a:lnSpc>
              <a:buNone/>
            </a:pPr>
            <a:r>
              <a:rPr lang="en-US" sz="1200" b="1" dirty="0">
                <a:solidFill>
                  <a:srgbClr val="182F48"/>
                </a:solidFill>
                <a:latin typeface="Noto Sans KR" pitchFamily="34" charset="0"/>
                <a:ea typeface="Noto Sans KR" pitchFamily="34" charset="-122"/>
                <a:cs typeface="Noto Sans KR" pitchFamily="34" charset="-120"/>
              </a:rPr>
              <a:t>카테고리</a:t>
            </a:r>
            <a:endParaRPr lang="en-US" sz="1200" dirty="0"/>
          </a:p>
        </p:txBody>
      </p:sp>
      <p:sp>
        <p:nvSpPr>
          <p:cNvPr id="8" name="라벨 안내"/>
          <p:cNvSpPr txBox="1"/>
          <p:nvPr/>
        </p:nvSpPr>
        <p:spPr>
          <a:xfrm>
            <a:off x="612648" y="2011680"/>
            <a:ext cx="1417320" cy="548640"/>
          </a:xfrm>
          <a:prstGeom prst="rect">
            <a:avLst/>
          </a:prstGeom>
          <a:noFill/>
          <a:ln/>
        </p:spPr>
        <p:txBody>
          <a:bodyPr wrap="square" lIns="0" tIns="0" rIns="0" bIns="0" rtlCol="0" anchor="t"/>
          <a:lstStyle/>
          <a:p>
            <a:pPr algn="l" indent="0" marL="0">
              <a:lnSpc>
                <a:spcPct val="92000"/>
              </a:lnSpc>
              <a:buNone/>
            </a:pPr>
            <a:r>
              <a:rPr lang="en-US" sz="800" dirty="0">
                <a:solidFill>
                  <a:srgbClr val="64748B"/>
                </a:solidFill>
                <a:latin typeface="Noto Sans KR" pitchFamily="34" charset="0"/>
                <a:ea typeface="Noto Sans KR" pitchFamily="34" charset="-122"/>
                <a:cs typeface="Noto Sans KR" pitchFamily="34" charset="-120"/>
              </a:rPr>
              <a:t>업종·제품·서비스 유형</a:t>
            </a:r>
            <a:endParaRPr lang="en-US" sz="800" dirty="0"/>
          </a:p>
          <a:p>
            <a:pPr algn="l" indent="0" marL="0">
              <a:lnSpc>
                <a:spcPct val="92000"/>
              </a:lnSpc>
              <a:buNone/>
            </a:pPr>
            <a:r>
              <a:rPr lang="en-US" sz="800" dirty="0">
                <a:solidFill>
                  <a:srgbClr val="64748B"/>
                </a:solidFill>
                <a:latin typeface="Noto Sans KR" pitchFamily="34" charset="0"/>
                <a:ea typeface="Noto Sans KR" pitchFamily="34" charset="-122"/>
                <a:cs typeface="Noto Sans KR" pitchFamily="34" charset="-120"/>
              </a:rPr>
              <a:t>/ 실제 기업 예시</a:t>
            </a:r>
            <a:endParaRPr lang="en-US" sz="800" dirty="0"/>
          </a:p>
          <a:p>
            <a:pPr algn="l" indent="0" marL="0">
              <a:lnSpc>
                <a:spcPct val="92000"/>
              </a:lnSpc>
              <a:buNone/>
            </a:pPr>
            <a:r>
              <a:rPr lang="en-US" sz="800" dirty="0">
                <a:solidFill>
                  <a:srgbClr val="64748B"/>
                </a:solidFill>
                <a:latin typeface="Noto Sans KR" pitchFamily="34" charset="0"/>
                <a:ea typeface="Noto Sans KR" pitchFamily="34" charset="-122"/>
                <a:cs typeface="Noto Sans KR" pitchFamily="34" charset="-120"/>
              </a:rPr>
              <a:t>6개 그룹이 곧 전시관</a:t>
            </a:r>
            <a:endParaRPr lang="en-US" sz="800" dirty="0"/>
          </a:p>
        </p:txBody>
      </p:sp>
      <p:sp>
        <p:nvSpPr>
          <p:cNvPr id="9" name="참가업체 E1"/>
          <p:cNvSpPr txBox="1"/>
          <p:nvPr/>
        </p:nvSpPr>
        <p:spPr>
          <a:xfrm>
            <a:off x="2121408" y="1481328"/>
            <a:ext cx="1514856" cy="365760"/>
          </a:xfrm>
          <a:prstGeom prst="rect">
            <a:avLst/>
          </a:prstGeom>
          <a:solidFill>
            <a:srgbClr val="182F48"/>
          </a:solidFill>
          <a:ln/>
        </p:spPr>
        <p:txBody>
          <a:bodyPr wrap="square" lIns="73152" tIns="0" rIns="73152" bIns="0" rtlCol="0" anchor="ctr"/>
          <a:lstStyle/>
          <a:p>
            <a:pPr algn="l" indent="0" marL="0">
              <a:lnSpc>
                <a:spcPct val="95000"/>
              </a:lnSpc>
              <a:buNone/>
            </a:pPr>
            <a:r>
              <a:rPr lang="en-US" sz="850" b="1" dirty="0">
                <a:solidFill>
                  <a:srgbClr val="FFFFFF"/>
                </a:solidFill>
                <a:latin typeface="Noto Sans KR" pitchFamily="34" charset="0"/>
                <a:ea typeface="Noto Sans KR" pitchFamily="34" charset="-122"/>
                <a:cs typeface="Noto Sans KR" pitchFamily="34" charset="-120"/>
              </a:rPr>
              <a:t>E1  기능성 소재</a:t>
            </a:r>
            <a:endParaRPr lang="en-US" sz="850" dirty="0"/>
          </a:p>
          <a:p>
            <a:pPr algn="l" indent="0" marL="0">
              <a:lnSpc>
                <a:spcPct val="95000"/>
              </a:lnSpc>
              <a:buNone/>
            </a:pPr>
            <a:r>
              <a:rPr lang="en-US" sz="680" dirty="0">
                <a:solidFill>
                  <a:srgbClr val="9FE0E6"/>
                </a:solidFill>
                <a:latin typeface="Noto Sans KR" pitchFamily="34" charset="0"/>
                <a:ea typeface="Noto Sans KR" pitchFamily="34" charset="-122"/>
                <a:cs typeface="Noto Sans KR" pitchFamily="34" charset="-120"/>
              </a:rPr>
              <a:t>소재관 · 원단 · 충전재 · 부자재</a:t>
            </a:r>
            <a:endParaRPr lang="en-US" sz="850" dirty="0"/>
          </a:p>
        </p:txBody>
      </p:sp>
      <p:sp>
        <p:nvSpPr>
          <p:cNvPr id="10" name="참가업체 E1 본문"/>
          <p:cNvSpPr/>
          <p:nvPr/>
        </p:nvSpPr>
        <p:spPr>
          <a:xfrm>
            <a:off x="2121408" y="1847088"/>
            <a:ext cx="1514856" cy="914400"/>
          </a:xfrm>
          <a:prstGeom prst="rect">
            <a:avLst/>
          </a:prstGeom>
          <a:solidFill>
            <a:srgbClr val="FFFFFF"/>
          </a:solidFill>
          <a:ln w="9525">
            <a:solidFill>
              <a:srgbClr val="CBD5E1"/>
            </a:solidFill>
            <a:prstDash val="solid"/>
          </a:ln>
        </p:spPr>
      </p:sp>
      <p:sp>
        <p:nvSpPr>
          <p:cNvPr id="11" name="참가업체 E1 제공"/>
          <p:cNvSpPr txBox="1"/>
          <p:nvPr/>
        </p:nvSpPr>
        <p:spPr>
          <a:xfrm>
            <a:off x="2185416" y="1892808"/>
            <a:ext cx="1386840" cy="256032"/>
          </a:xfrm>
          <a:prstGeom prst="rect">
            <a:avLst/>
          </a:prstGeom>
          <a:noFill/>
          <a:ln/>
        </p:spPr>
        <p:txBody>
          <a:bodyPr wrap="square" lIns="0" tIns="0" rIns="0" bIns="0" rtlCol="0" anchor="t"/>
          <a:lstStyle/>
          <a:p>
            <a:pPr algn="l" indent="0" marL="0">
              <a:lnSpc>
                <a:spcPct val="95000"/>
              </a:lnSpc>
              <a:buNone/>
            </a:pPr>
            <a:r>
              <a:rPr lang="en-US" sz="680" dirty="0">
                <a:solidFill>
                  <a:srgbClr val="334155"/>
                </a:solidFill>
                <a:latin typeface="Noto Sans KR" pitchFamily="34" charset="0"/>
                <a:ea typeface="Noto Sans KR" pitchFamily="34" charset="-122"/>
                <a:cs typeface="Noto Sans KR" pitchFamily="34" charset="-120"/>
              </a:rPr>
              <a:t>소량(저MOQ) 원단 · 비불소 발수</a:t>
            </a:r>
            <a:endParaRPr lang="en-US" sz="680" dirty="0"/>
          </a:p>
          <a:p>
            <a:pPr algn="l" indent="0" marL="0">
              <a:lnSpc>
                <a:spcPct val="95000"/>
              </a:lnSpc>
              <a:buNone/>
            </a:pPr>
            <a:r>
              <a:rPr lang="en-US" sz="680" dirty="0">
                <a:solidFill>
                  <a:srgbClr val="334155"/>
                </a:solidFill>
                <a:latin typeface="Noto Sans KR" pitchFamily="34" charset="0"/>
                <a:ea typeface="Noto Sans KR" pitchFamily="34" charset="-122"/>
                <a:cs typeface="Noto Sans KR" pitchFamily="34" charset="-120"/>
              </a:rPr>
              <a:t>투습방수 멤브레인 · 충전재 · 지퍼</a:t>
            </a:r>
            <a:endParaRPr lang="en-US" sz="680" dirty="0"/>
          </a:p>
        </p:txBody>
      </p:sp>
      <p:sp>
        <p:nvSpPr>
          <p:cNvPr id="12" name="배지 코오롱인더스트리"/>
          <p:cNvSpPr/>
          <p:nvPr/>
        </p:nvSpPr>
        <p:spPr>
          <a:xfrm>
            <a:off x="2185416" y="2185416"/>
            <a:ext cx="727050" cy="155448"/>
          </a:xfrm>
          <a:prstGeom prst="roundRect">
            <a:avLst>
              <a:gd name="adj" fmla="val 23529"/>
            </a:avLst>
          </a:prstGeom>
          <a:solidFill>
            <a:srgbClr val="E6F2F3"/>
          </a:solidFill>
          <a:ln/>
        </p:spPr>
        <p:txBody>
          <a:bodyPr wrap="square" lIns="0" tIns="0" rIns="0" bIns="0" rtlCol="0" anchor="ctr"/>
          <a:lstStyle/>
          <a:p>
            <a:pPr algn="ctr" indent="0" marL="0">
              <a:buNone/>
            </a:pPr>
            <a:r>
              <a:rPr lang="en-US" sz="680" dirty="0">
                <a:solidFill>
                  <a:srgbClr val="182F48"/>
                </a:solidFill>
                <a:latin typeface="Noto Sans KR" pitchFamily="34" charset="0"/>
                <a:ea typeface="Noto Sans KR" pitchFamily="34" charset="-122"/>
                <a:cs typeface="Noto Sans KR" pitchFamily="34" charset="-120"/>
              </a:rPr>
              <a:t>코오롱인더스트리</a:t>
            </a:r>
            <a:endParaRPr lang="en-US" sz="680" dirty="0"/>
          </a:p>
        </p:txBody>
      </p:sp>
      <p:sp>
        <p:nvSpPr>
          <p:cNvPr id="13" name="배지 효성티앤씨"/>
          <p:cNvSpPr/>
          <p:nvPr/>
        </p:nvSpPr>
        <p:spPr>
          <a:xfrm>
            <a:off x="2949042" y="2185416"/>
            <a:ext cx="488696" cy="155448"/>
          </a:xfrm>
          <a:prstGeom prst="roundRect">
            <a:avLst>
              <a:gd name="adj" fmla="val 23529"/>
            </a:avLst>
          </a:prstGeom>
          <a:solidFill>
            <a:srgbClr val="E6F2F3"/>
          </a:solidFill>
          <a:ln/>
        </p:spPr>
        <p:txBody>
          <a:bodyPr wrap="square" lIns="0" tIns="0" rIns="0" bIns="0" rtlCol="0" anchor="ctr"/>
          <a:lstStyle/>
          <a:p>
            <a:pPr algn="ctr" indent="0" marL="0">
              <a:buNone/>
            </a:pPr>
            <a:r>
              <a:rPr lang="en-US" sz="680" dirty="0">
                <a:solidFill>
                  <a:srgbClr val="182F48"/>
                </a:solidFill>
                <a:latin typeface="Noto Sans KR" pitchFamily="34" charset="0"/>
                <a:ea typeface="Noto Sans KR" pitchFamily="34" charset="-122"/>
                <a:cs typeface="Noto Sans KR" pitchFamily="34" charset="-120"/>
              </a:rPr>
              <a:t>효성티앤씨</a:t>
            </a:r>
            <a:endParaRPr lang="en-US" sz="680" dirty="0"/>
          </a:p>
        </p:txBody>
      </p:sp>
      <p:sp>
        <p:nvSpPr>
          <p:cNvPr id="14" name="배지 벤텍스"/>
          <p:cNvSpPr/>
          <p:nvPr/>
        </p:nvSpPr>
        <p:spPr>
          <a:xfrm>
            <a:off x="2185416" y="2368296"/>
            <a:ext cx="329794" cy="155448"/>
          </a:xfrm>
          <a:prstGeom prst="roundRect">
            <a:avLst>
              <a:gd name="adj" fmla="val 23529"/>
            </a:avLst>
          </a:prstGeom>
          <a:solidFill>
            <a:srgbClr val="E6F2F3"/>
          </a:solidFill>
          <a:ln/>
        </p:spPr>
        <p:txBody>
          <a:bodyPr wrap="square" lIns="0" tIns="0" rIns="0" bIns="0" rtlCol="0" anchor="ctr"/>
          <a:lstStyle/>
          <a:p>
            <a:pPr algn="ctr" indent="0" marL="0">
              <a:buNone/>
            </a:pPr>
            <a:r>
              <a:rPr lang="en-US" sz="680" dirty="0">
                <a:solidFill>
                  <a:srgbClr val="182F48"/>
                </a:solidFill>
                <a:latin typeface="Noto Sans KR" pitchFamily="34" charset="0"/>
                <a:ea typeface="Noto Sans KR" pitchFamily="34" charset="-122"/>
                <a:cs typeface="Noto Sans KR" pitchFamily="34" charset="-120"/>
              </a:rPr>
              <a:t>벤텍스</a:t>
            </a:r>
            <a:endParaRPr lang="en-US" sz="680" dirty="0"/>
          </a:p>
        </p:txBody>
      </p:sp>
      <p:sp>
        <p:nvSpPr>
          <p:cNvPr id="15" name="배지 신한산업"/>
          <p:cNvSpPr/>
          <p:nvPr/>
        </p:nvSpPr>
        <p:spPr>
          <a:xfrm>
            <a:off x="2551786" y="2368296"/>
            <a:ext cx="409245" cy="155448"/>
          </a:xfrm>
          <a:prstGeom prst="roundRect">
            <a:avLst>
              <a:gd name="adj" fmla="val 23529"/>
            </a:avLst>
          </a:prstGeom>
          <a:solidFill>
            <a:srgbClr val="E6F2F3"/>
          </a:solidFill>
          <a:ln/>
        </p:spPr>
        <p:txBody>
          <a:bodyPr wrap="square" lIns="0" tIns="0" rIns="0" bIns="0" rtlCol="0" anchor="ctr"/>
          <a:lstStyle/>
          <a:p>
            <a:pPr algn="ctr" indent="0" marL="0">
              <a:buNone/>
            </a:pPr>
            <a:r>
              <a:rPr lang="en-US" sz="680" dirty="0">
                <a:solidFill>
                  <a:srgbClr val="182F48"/>
                </a:solidFill>
                <a:latin typeface="Noto Sans KR" pitchFamily="34" charset="0"/>
                <a:ea typeface="Noto Sans KR" pitchFamily="34" charset="-122"/>
                <a:cs typeface="Noto Sans KR" pitchFamily="34" charset="-120"/>
              </a:rPr>
              <a:t>신한산업</a:t>
            </a:r>
            <a:endParaRPr lang="en-US" sz="680" dirty="0"/>
          </a:p>
        </p:txBody>
      </p:sp>
      <p:sp>
        <p:nvSpPr>
          <p:cNvPr id="16" name="배지 프라우덴"/>
          <p:cNvSpPr/>
          <p:nvPr/>
        </p:nvSpPr>
        <p:spPr>
          <a:xfrm>
            <a:off x="2997606" y="2368296"/>
            <a:ext cx="409245" cy="155448"/>
          </a:xfrm>
          <a:prstGeom prst="roundRect">
            <a:avLst>
              <a:gd name="adj" fmla="val 23529"/>
            </a:avLst>
          </a:prstGeom>
          <a:solidFill>
            <a:srgbClr val="E6F2F3"/>
          </a:solidFill>
          <a:ln/>
        </p:spPr>
        <p:txBody>
          <a:bodyPr wrap="square" lIns="0" tIns="0" rIns="0" bIns="0" rtlCol="0" anchor="ctr"/>
          <a:lstStyle/>
          <a:p>
            <a:pPr algn="ctr" indent="0" marL="0">
              <a:buNone/>
            </a:pPr>
            <a:r>
              <a:rPr lang="en-US" sz="680" dirty="0">
                <a:solidFill>
                  <a:srgbClr val="182F48"/>
                </a:solidFill>
                <a:latin typeface="Noto Sans KR" pitchFamily="34" charset="0"/>
                <a:ea typeface="Noto Sans KR" pitchFamily="34" charset="-122"/>
                <a:cs typeface="Noto Sans KR" pitchFamily="34" charset="-120"/>
              </a:rPr>
              <a:t>프라우덴</a:t>
            </a:r>
            <a:endParaRPr lang="en-US" sz="680" dirty="0"/>
          </a:p>
        </p:txBody>
      </p:sp>
      <p:sp>
        <p:nvSpPr>
          <p:cNvPr id="17" name="배지 고어텍스"/>
          <p:cNvSpPr/>
          <p:nvPr/>
        </p:nvSpPr>
        <p:spPr>
          <a:xfrm>
            <a:off x="2185416" y="2551176"/>
            <a:ext cx="409245" cy="155448"/>
          </a:xfrm>
          <a:prstGeom prst="roundRect">
            <a:avLst>
              <a:gd name="adj" fmla="val 23529"/>
            </a:avLst>
          </a:prstGeom>
          <a:solidFill>
            <a:srgbClr val="EEF0F3"/>
          </a:solidFill>
          <a:ln/>
        </p:spPr>
        <p:txBody>
          <a:bodyPr wrap="square" lIns="0" tIns="0" rIns="0" bIns="0" rtlCol="0" anchor="ctr"/>
          <a:lstStyle/>
          <a:p>
            <a:pPr algn="ctr" indent="0" marL="0">
              <a:buNone/>
            </a:pPr>
            <a:r>
              <a:rPr lang="en-US" sz="680" dirty="0">
                <a:solidFill>
                  <a:srgbClr val="475569"/>
                </a:solidFill>
                <a:latin typeface="Noto Sans KR" pitchFamily="34" charset="0"/>
                <a:ea typeface="Noto Sans KR" pitchFamily="34" charset="-122"/>
                <a:cs typeface="Noto Sans KR" pitchFamily="34" charset="-120"/>
              </a:rPr>
              <a:t>고어텍스</a:t>
            </a:r>
            <a:endParaRPr lang="en-US" sz="680" dirty="0"/>
          </a:p>
        </p:txBody>
      </p:sp>
      <p:sp>
        <p:nvSpPr>
          <p:cNvPr id="18" name="배지 폴라텍"/>
          <p:cNvSpPr/>
          <p:nvPr/>
        </p:nvSpPr>
        <p:spPr>
          <a:xfrm>
            <a:off x="2631237" y="2551176"/>
            <a:ext cx="329794" cy="155448"/>
          </a:xfrm>
          <a:prstGeom prst="roundRect">
            <a:avLst>
              <a:gd name="adj" fmla="val 23529"/>
            </a:avLst>
          </a:prstGeom>
          <a:solidFill>
            <a:srgbClr val="EEF0F3"/>
          </a:solidFill>
          <a:ln/>
        </p:spPr>
        <p:txBody>
          <a:bodyPr wrap="square" lIns="0" tIns="0" rIns="0" bIns="0" rtlCol="0" anchor="ctr"/>
          <a:lstStyle/>
          <a:p>
            <a:pPr algn="ctr" indent="0" marL="0">
              <a:buNone/>
            </a:pPr>
            <a:r>
              <a:rPr lang="en-US" sz="680" dirty="0">
                <a:solidFill>
                  <a:srgbClr val="475569"/>
                </a:solidFill>
                <a:latin typeface="Noto Sans KR" pitchFamily="34" charset="0"/>
                <a:ea typeface="Noto Sans KR" pitchFamily="34" charset="-122"/>
                <a:cs typeface="Noto Sans KR" pitchFamily="34" charset="-120"/>
              </a:rPr>
              <a:t>폴라텍</a:t>
            </a:r>
            <a:endParaRPr lang="en-US" sz="680" dirty="0"/>
          </a:p>
        </p:txBody>
      </p:sp>
      <p:sp>
        <p:nvSpPr>
          <p:cNvPr id="19" name="배지 YKK코리아"/>
          <p:cNvSpPr/>
          <p:nvPr/>
        </p:nvSpPr>
        <p:spPr>
          <a:xfrm>
            <a:off x="2997606" y="2551176"/>
            <a:ext cx="507436" cy="155448"/>
          </a:xfrm>
          <a:prstGeom prst="roundRect">
            <a:avLst>
              <a:gd name="adj" fmla="val 23529"/>
            </a:avLst>
          </a:prstGeom>
          <a:solidFill>
            <a:srgbClr val="EEF0F3"/>
          </a:solidFill>
          <a:ln/>
        </p:spPr>
        <p:txBody>
          <a:bodyPr wrap="square" lIns="0" tIns="0" rIns="0" bIns="0" rtlCol="0" anchor="ctr"/>
          <a:lstStyle/>
          <a:p>
            <a:pPr algn="ctr" indent="0" marL="0">
              <a:buNone/>
            </a:pPr>
            <a:r>
              <a:rPr lang="en-US" sz="680" dirty="0">
                <a:solidFill>
                  <a:srgbClr val="475569"/>
                </a:solidFill>
                <a:latin typeface="Noto Sans KR" pitchFamily="34" charset="0"/>
                <a:ea typeface="Noto Sans KR" pitchFamily="34" charset="-122"/>
                <a:cs typeface="Noto Sans KR" pitchFamily="34" charset="-120"/>
              </a:rPr>
              <a:t>YKK코리아</a:t>
            </a:r>
            <a:endParaRPr lang="en-US" sz="680" dirty="0"/>
          </a:p>
        </p:txBody>
      </p:sp>
      <p:sp>
        <p:nvSpPr>
          <p:cNvPr id="20" name="참가업체 E2"/>
          <p:cNvSpPr txBox="1"/>
          <p:nvPr/>
        </p:nvSpPr>
        <p:spPr>
          <a:xfrm>
            <a:off x="3709416" y="1481328"/>
            <a:ext cx="1514856" cy="365760"/>
          </a:xfrm>
          <a:prstGeom prst="rect">
            <a:avLst/>
          </a:prstGeom>
          <a:solidFill>
            <a:srgbClr val="182F48"/>
          </a:solidFill>
          <a:ln/>
        </p:spPr>
        <p:txBody>
          <a:bodyPr wrap="square" lIns="73152" tIns="0" rIns="73152" bIns="0" rtlCol="0" anchor="ctr"/>
          <a:lstStyle/>
          <a:p>
            <a:pPr algn="l" indent="0" marL="0">
              <a:lnSpc>
                <a:spcPct val="95000"/>
              </a:lnSpc>
              <a:buNone/>
            </a:pPr>
            <a:r>
              <a:rPr lang="en-US" sz="850" b="1" dirty="0">
                <a:solidFill>
                  <a:srgbClr val="FFFFFF"/>
                </a:solidFill>
                <a:latin typeface="Noto Sans KR" pitchFamily="34" charset="0"/>
                <a:ea typeface="Noto Sans KR" pitchFamily="34" charset="-122"/>
                <a:cs typeface="Noto Sans KR" pitchFamily="34" charset="-120"/>
              </a:rPr>
              <a:t>E2  생산 · 봉제</a:t>
            </a:r>
            <a:endParaRPr lang="en-US" sz="850" dirty="0"/>
          </a:p>
          <a:p>
            <a:pPr algn="l" indent="0" marL="0">
              <a:lnSpc>
                <a:spcPct val="95000"/>
              </a:lnSpc>
              <a:buNone/>
            </a:pPr>
            <a:r>
              <a:rPr lang="en-US" sz="680" dirty="0">
                <a:solidFill>
                  <a:srgbClr val="9FE0E6"/>
                </a:solidFill>
                <a:latin typeface="Noto Sans KR" pitchFamily="34" charset="0"/>
                <a:ea typeface="Noto Sans KR" pitchFamily="34" charset="-122"/>
                <a:cs typeface="Noto Sans KR" pitchFamily="34" charset="-120"/>
              </a:rPr>
              <a:t>제조관 · OEM · ODM · 신발</a:t>
            </a:r>
            <a:endParaRPr lang="en-US" sz="850" dirty="0"/>
          </a:p>
        </p:txBody>
      </p:sp>
      <p:sp>
        <p:nvSpPr>
          <p:cNvPr id="21" name="참가업체 E2 본문"/>
          <p:cNvSpPr/>
          <p:nvPr/>
        </p:nvSpPr>
        <p:spPr>
          <a:xfrm>
            <a:off x="3709416" y="1847088"/>
            <a:ext cx="1514856" cy="914400"/>
          </a:xfrm>
          <a:prstGeom prst="rect">
            <a:avLst/>
          </a:prstGeom>
          <a:solidFill>
            <a:srgbClr val="FFFFFF"/>
          </a:solidFill>
          <a:ln w="9525">
            <a:solidFill>
              <a:srgbClr val="CBD5E1"/>
            </a:solidFill>
            <a:prstDash val="solid"/>
          </a:ln>
        </p:spPr>
      </p:sp>
      <p:sp>
        <p:nvSpPr>
          <p:cNvPr id="22" name="참가업체 E2 제공"/>
          <p:cNvSpPr txBox="1"/>
          <p:nvPr/>
        </p:nvSpPr>
        <p:spPr>
          <a:xfrm>
            <a:off x="3773424" y="1892808"/>
            <a:ext cx="1386840" cy="256032"/>
          </a:xfrm>
          <a:prstGeom prst="rect">
            <a:avLst/>
          </a:prstGeom>
          <a:noFill/>
          <a:ln/>
        </p:spPr>
        <p:txBody>
          <a:bodyPr wrap="square" lIns="0" tIns="0" rIns="0" bIns="0" rtlCol="0" anchor="t"/>
          <a:lstStyle/>
          <a:p>
            <a:pPr algn="l" indent="0" marL="0">
              <a:lnSpc>
                <a:spcPct val="95000"/>
              </a:lnSpc>
              <a:buNone/>
            </a:pPr>
            <a:r>
              <a:rPr lang="en-US" sz="680" dirty="0">
                <a:solidFill>
                  <a:srgbClr val="334155"/>
                </a:solidFill>
                <a:latin typeface="Noto Sans KR" pitchFamily="34" charset="0"/>
                <a:ea typeface="Noto Sans KR" pitchFamily="34" charset="-122"/>
                <a:cs typeface="Noto Sans KR" pitchFamily="34" charset="-120"/>
              </a:rPr>
              <a:t>소량 · 샘플 생산 · 심실링 봉제</a:t>
            </a:r>
            <a:endParaRPr lang="en-US" sz="680" dirty="0"/>
          </a:p>
          <a:p>
            <a:pPr algn="l" indent="0" marL="0">
              <a:lnSpc>
                <a:spcPct val="95000"/>
              </a:lnSpc>
              <a:buNone/>
            </a:pPr>
            <a:r>
              <a:rPr lang="en-US" sz="680" dirty="0">
                <a:solidFill>
                  <a:srgbClr val="334155"/>
                </a:solidFill>
                <a:latin typeface="Noto Sans KR" pitchFamily="34" charset="0"/>
                <a:ea typeface="Noto Sans KR" pitchFamily="34" charset="-122"/>
                <a:cs typeface="Noto Sans KR" pitchFamily="34" charset="-120"/>
              </a:rPr>
              <a:t>투습방수 의류 OEM · 신발 개발</a:t>
            </a:r>
            <a:endParaRPr lang="en-US" sz="680" dirty="0"/>
          </a:p>
        </p:txBody>
      </p:sp>
      <p:sp>
        <p:nvSpPr>
          <p:cNvPr id="23" name="배지 영원무역"/>
          <p:cNvSpPr/>
          <p:nvPr/>
        </p:nvSpPr>
        <p:spPr>
          <a:xfrm>
            <a:off x="3773424" y="2185416"/>
            <a:ext cx="409245" cy="155448"/>
          </a:xfrm>
          <a:prstGeom prst="roundRect">
            <a:avLst>
              <a:gd name="adj" fmla="val 23529"/>
            </a:avLst>
          </a:prstGeom>
          <a:solidFill>
            <a:srgbClr val="E6F2F3"/>
          </a:solidFill>
          <a:ln/>
        </p:spPr>
        <p:txBody>
          <a:bodyPr wrap="square" lIns="0" tIns="0" rIns="0" bIns="0" rtlCol="0" anchor="ctr"/>
          <a:lstStyle/>
          <a:p>
            <a:pPr algn="ctr" indent="0" marL="0">
              <a:buNone/>
            </a:pPr>
            <a:r>
              <a:rPr lang="en-US" sz="680" dirty="0">
                <a:solidFill>
                  <a:srgbClr val="182F48"/>
                </a:solidFill>
                <a:latin typeface="Noto Sans KR" pitchFamily="34" charset="0"/>
                <a:ea typeface="Noto Sans KR" pitchFamily="34" charset="-122"/>
                <a:cs typeface="Noto Sans KR" pitchFamily="34" charset="-120"/>
              </a:rPr>
              <a:t>영원무역</a:t>
            </a:r>
            <a:endParaRPr lang="en-US" sz="680" dirty="0"/>
          </a:p>
        </p:txBody>
      </p:sp>
      <p:sp>
        <p:nvSpPr>
          <p:cNvPr id="24" name="배지 기도산업"/>
          <p:cNvSpPr/>
          <p:nvPr/>
        </p:nvSpPr>
        <p:spPr>
          <a:xfrm>
            <a:off x="4219245" y="2185416"/>
            <a:ext cx="409245" cy="155448"/>
          </a:xfrm>
          <a:prstGeom prst="roundRect">
            <a:avLst>
              <a:gd name="adj" fmla="val 23529"/>
            </a:avLst>
          </a:prstGeom>
          <a:solidFill>
            <a:srgbClr val="E6F2F3"/>
          </a:solidFill>
          <a:ln/>
        </p:spPr>
        <p:txBody>
          <a:bodyPr wrap="square" lIns="0" tIns="0" rIns="0" bIns="0" rtlCol="0" anchor="ctr"/>
          <a:lstStyle/>
          <a:p>
            <a:pPr algn="ctr" indent="0" marL="0">
              <a:buNone/>
            </a:pPr>
            <a:r>
              <a:rPr lang="en-US" sz="680" dirty="0">
                <a:solidFill>
                  <a:srgbClr val="182F48"/>
                </a:solidFill>
                <a:latin typeface="Noto Sans KR" pitchFamily="34" charset="0"/>
                <a:ea typeface="Noto Sans KR" pitchFamily="34" charset="-122"/>
                <a:cs typeface="Noto Sans KR" pitchFamily="34" charset="-120"/>
              </a:rPr>
              <a:t>기도산업</a:t>
            </a:r>
            <a:endParaRPr lang="en-US" sz="680" dirty="0"/>
          </a:p>
        </p:txBody>
      </p:sp>
      <p:sp>
        <p:nvSpPr>
          <p:cNvPr id="25" name="배지 트렉스타"/>
          <p:cNvSpPr/>
          <p:nvPr/>
        </p:nvSpPr>
        <p:spPr>
          <a:xfrm>
            <a:off x="4665066" y="2185416"/>
            <a:ext cx="409245" cy="155448"/>
          </a:xfrm>
          <a:prstGeom prst="roundRect">
            <a:avLst>
              <a:gd name="adj" fmla="val 23529"/>
            </a:avLst>
          </a:prstGeom>
          <a:solidFill>
            <a:srgbClr val="E6F2F3"/>
          </a:solidFill>
          <a:ln/>
        </p:spPr>
        <p:txBody>
          <a:bodyPr wrap="square" lIns="0" tIns="0" rIns="0" bIns="0" rtlCol="0" anchor="ctr"/>
          <a:lstStyle/>
          <a:p>
            <a:pPr algn="ctr" indent="0" marL="0">
              <a:buNone/>
            </a:pPr>
            <a:r>
              <a:rPr lang="en-US" sz="680" dirty="0">
                <a:solidFill>
                  <a:srgbClr val="182F48"/>
                </a:solidFill>
                <a:latin typeface="Noto Sans KR" pitchFamily="34" charset="0"/>
                <a:ea typeface="Noto Sans KR" pitchFamily="34" charset="-122"/>
                <a:cs typeface="Noto Sans KR" pitchFamily="34" charset="-120"/>
              </a:rPr>
              <a:t>트렉스타</a:t>
            </a:r>
            <a:endParaRPr lang="en-US" sz="680" dirty="0"/>
          </a:p>
        </p:txBody>
      </p:sp>
      <p:sp>
        <p:nvSpPr>
          <p:cNvPr id="26" name="배지 서울 도심 봉제업체"/>
          <p:cNvSpPr/>
          <p:nvPr/>
        </p:nvSpPr>
        <p:spPr>
          <a:xfrm>
            <a:off x="3773424" y="2368296"/>
            <a:ext cx="765739" cy="155448"/>
          </a:xfrm>
          <a:prstGeom prst="roundRect">
            <a:avLst>
              <a:gd name="adj" fmla="val 23529"/>
            </a:avLst>
          </a:prstGeom>
          <a:solidFill>
            <a:srgbClr val="E6F2F3"/>
          </a:solidFill>
          <a:ln/>
        </p:spPr>
        <p:txBody>
          <a:bodyPr wrap="square" lIns="0" tIns="0" rIns="0" bIns="0" rtlCol="0" anchor="ctr"/>
          <a:lstStyle/>
          <a:p>
            <a:pPr algn="ctr" indent="0" marL="0">
              <a:buNone/>
            </a:pPr>
            <a:r>
              <a:rPr lang="en-US" sz="680" dirty="0">
                <a:solidFill>
                  <a:srgbClr val="182F48"/>
                </a:solidFill>
                <a:latin typeface="Noto Sans KR" pitchFamily="34" charset="0"/>
                <a:ea typeface="Noto Sans KR" pitchFamily="34" charset="-122"/>
                <a:cs typeface="Noto Sans KR" pitchFamily="34" charset="-120"/>
              </a:rPr>
              <a:t>서울 도심 봉제업체</a:t>
            </a:r>
            <a:endParaRPr lang="en-US" sz="680" dirty="0"/>
          </a:p>
        </p:txBody>
      </p:sp>
      <p:sp>
        <p:nvSpPr>
          <p:cNvPr id="27" name="배지 대구 봉제 맵"/>
          <p:cNvSpPr/>
          <p:nvPr/>
        </p:nvSpPr>
        <p:spPr>
          <a:xfrm>
            <a:off x="4575739" y="2368296"/>
            <a:ext cx="527385" cy="155448"/>
          </a:xfrm>
          <a:prstGeom prst="roundRect">
            <a:avLst>
              <a:gd name="adj" fmla="val 23529"/>
            </a:avLst>
          </a:prstGeom>
          <a:solidFill>
            <a:srgbClr val="E6F2F3"/>
          </a:solidFill>
          <a:ln/>
        </p:spPr>
        <p:txBody>
          <a:bodyPr wrap="square" lIns="0" tIns="0" rIns="0" bIns="0" rtlCol="0" anchor="ctr"/>
          <a:lstStyle/>
          <a:p>
            <a:pPr algn="ctr" indent="0" marL="0">
              <a:buNone/>
            </a:pPr>
            <a:r>
              <a:rPr lang="en-US" sz="680" dirty="0">
                <a:solidFill>
                  <a:srgbClr val="182F48"/>
                </a:solidFill>
                <a:latin typeface="Noto Sans KR" pitchFamily="34" charset="0"/>
                <a:ea typeface="Noto Sans KR" pitchFamily="34" charset="-122"/>
                <a:cs typeface="Noto Sans KR" pitchFamily="34" charset="-120"/>
              </a:rPr>
              <a:t>대구 봉제 맵</a:t>
            </a:r>
            <a:endParaRPr lang="en-US" sz="680" dirty="0"/>
          </a:p>
        </p:txBody>
      </p:sp>
      <p:sp>
        <p:nvSpPr>
          <p:cNvPr id="28" name="참가업체 E3"/>
          <p:cNvSpPr txBox="1"/>
          <p:nvPr/>
        </p:nvSpPr>
        <p:spPr>
          <a:xfrm>
            <a:off x="5297424" y="1481328"/>
            <a:ext cx="1514856" cy="365760"/>
          </a:xfrm>
          <a:prstGeom prst="rect">
            <a:avLst/>
          </a:prstGeom>
          <a:solidFill>
            <a:srgbClr val="267D86"/>
          </a:solidFill>
          <a:ln/>
        </p:spPr>
        <p:txBody>
          <a:bodyPr wrap="square" lIns="73152" tIns="0" rIns="73152" bIns="0" rtlCol="0" anchor="ctr"/>
          <a:lstStyle/>
          <a:p>
            <a:pPr algn="l" indent="0" marL="0">
              <a:lnSpc>
                <a:spcPct val="95000"/>
              </a:lnSpc>
              <a:buNone/>
            </a:pPr>
            <a:r>
              <a:rPr lang="en-US" sz="850" b="1" dirty="0">
                <a:solidFill>
                  <a:srgbClr val="FFFFFF"/>
                </a:solidFill>
                <a:latin typeface="Noto Sans KR" pitchFamily="34" charset="0"/>
                <a:ea typeface="Noto Sans KR" pitchFamily="34" charset="-122"/>
                <a:cs typeface="Noto Sans KR" pitchFamily="34" charset="-120"/>
              </a:rPr>
              <a:t>E3  K-고프코어 신진</a:t>
            </a:r>
            <a:endParaRPr lang="en-US" sz="850" dirty="0"/>
          </a:p>
          <a:p>
            <a:pPr algn="l" indent="0" marL="0">
              <a:lnSpc>
                <a:spcPct val="95000"/>
              </a:lnSpc>
              <a:buNone/>
            </a:pPr>
            <a:r>
              <a:rPr lang="en-US" sz="680" dirty="0">
                <a:solidFill>
                  <a:srgbClr val="D5F0F2"/>
                </a:solidFill>
                <a:latin typeface="Noto Sans KR" pitchFamily="34" charset="0"/>
                <a:ea typeface="Noto Sans KR" pitchFamily="34" charset="-122"/>
                <a:cs typeface="Noto Sans KR" pitchFamily="34" charset="-120"/>
              </a:rPr>
              <a:t>브랜드관 · 독립 브랜드</a:t>
            </a:r>
            <a:endParaRPr lang="en-US" sz="850" dirty="0"/>
          </a:p>
        </p:txBody>
      </p:sp>
      <p:sp>
        <p:nvSpPr>
          <p:cNvPr id="29" name="참가업체 E3 본문"/>
          <p:cNvSpPr/>
          <p:nvPr/>
        </p:nvSpPr>
        <p:spPr>
          <a:xfrm>
            <a:off x="5297424" y="1847088"/>
            <a:ext cx="1514856" cy="914400"/>
          </a:xfrm>
          <a:prstGeom prst="rect">
            <a:avLst/>
          </a:prstGeom>
          <a:solidFill>
            <a:srgbClr val="FFFFFF"/>
          </a:solidFill>
          <a:ln w="9525">
            <a:solidFill>
              <a:srgbClr val="CBD5E1"/>
            </a:solidFill>
            <a:prstDash val="solid"/>
          </a:ln>
        </p:spPr>
      </p:sp>
      <p:sp>
        <p:nvSpPr>
          <p:cNvPr id="30" name="참가업체 E3 제공"/>
          <p:cNvSpPr txBox="1"/>
          <p:nvPr/>
        </p:nvSpPr>
        <p:spPr>
          <a:xfrm>
            <a:off x="5361432" y="1892808"/>
            <a:ext cx="1386840" cy="256032"/>
          </a:xfrm>
          <a:prstGeom prst="rect">
            <a:avLst/>
          </a:prstGeom>
          <a:noFill/>
          <a:ln/>
        </p:spPr>
        <p:txBody>
          <a:bodyPr wrap="square" lIns="0" tIns="0" rIns="0" bIns="0" rtlCol="0" anchor="t"/>
          <a:lstStyle/>
          <a:p>
            <a:pPr algn="l" indent="0" marL="0">
              <a:lnSpc>
                <a:spcPct val="95000"/>
              </a:lnSpc>
              <a:buNone/>
            </a:pPr>
            <a:r>
              <a:rPr lang="en-US" sz="680" dirty="0">
                <a:solidFill>
                  <a:srgbClr val="334155"/>
                </a:solidFill>
                <a:latin typeface="Noto Sans KR" pitchFamily="34" charset="0"/>
                <a:ea typeface="Noto Sans KR" pitchFamily="34" charset="-122"/>
                <a:cs typeface="Noto Sans KR" pitchFamily="34" charset="-120"/>
              </a:rPr>
              <a:t>다음 시즌(2028 S/S) 컬렉션</a:t>
            </a:r>
            <a:endParaRPr lang="en-US" sz="680" dirty="0"/>
          </a:p>
          <a:p>
            <a:pPr algn="l" indent="0" marL="0">
              <a:lnSpc>
                <a:spcPct val="95000"/>
              </a:lnSpc>
              <a:buNone/>
            </a:pPr>
            <a:r>
              <a:rPr lang="en-US" sz="680" dirty="0">
                <a:solidFill>
                  <a:srgbClr val="334155"/>
                </a:solidFill>
                <a:latin typeface="Noto Sans KR" pitchFamily="34" charset="0"/>
                <a:ea typeface="Noto Sans KR" pitchFamily="34" charset="-122"/>
                <a:cs typeface="Noto Sans KR" pitchFamily="34" charset="-120"/>
              </a:rPr>
              <a:t>홀세일 · 해외 독점 판매권</a:t>
            </a:r>
            <a:endParaRPr lang="en-US" sz="680" dirty="0"/>
          </a:p>
        </p:txBody>
      </p:sp>
      <p:sp>
        <p:nvSpPr>
          <p:cNvPr id="31" name="배지 케일"/>
          <p:cNvSpPr/>
          <p:nvPr/>
        </p:nvSpPr>
        <p:spPr>
          <a:xfrm>
            <a:off x="5361432" y="2185416"/>
            <a:ext cx="250342" cy="155448"/>
          </a:xfrm>
          <a:prstGeom prst="roundRect">
            <a:avLst>
              <a:gd name="adj" fmla="val 23529"/>
            </a:avLst>
          </a:prstGeom>
          <a:solidFill>
            <a:srgbClr val="E6F2F3"/>
          </a:solidFill>
          <a:ln/>
        </p:spPr>
        <p:txBody>
          <a:bodyPr wrap="square" lIns="0" tIns="0" rIns="0" bIns="0" rtlCol="0" anchor="ctr"/>
          <a:lstStyle/>
          <a:p>
            <a:pPr algn="ctr" indent="0" marL="0">
              <a:buNone/>
            </a:pPr>
            <a:r>
              <a:rPr lang="en-US" sz="680" dirty="0">
                <a:solidFill>
                  <a:srgbClr val="182F48"/>
                </a:solidFill>
                <a:latin typeface="Noto Sans KR" pitchFamily="34" charset="0"/>
                <a:ea typeface="Noto Sans KR" pitchFamily="34" charset="-122"/>
                <a:cs typeface="Noto Sans KR" pitchFamily="34" charset="-120"/>
              </a:rPr>
              <a:t>케일</a:t>
            </a:r>
            <a:endParaRPr lang="en-US" sz="680" dirty="0"/>
          </a:p>
        </p:txBody>
      </p:sp>
      <p:sp>
        <p:nvSpPr>
          <p:cNvPr id="32" name="배지 산산기어"/>
          <p:cNvSpPr/>
          <p:nvPr/>
        </p:nvSpPr>
        <p:spPr>
          <a:xfrm>
            <a:off x="5648350" y="2185416"/>
            <a:ext cx="409245" cy="155448"/>
          </a:xfrm>
          <a:prstGeom prst="roundRect">
            <a:avLst>
              <a:gd name="adj" fmla="val 23529"/>
            </a:avLst>
          </a:prstGeom>
          <a:solidFill>
            <a:srgbClr val="E6F2F3"/>
          </a:solidFill>
          <a:ln/>
        </p:spPr>
        <p:txBody>
          <a:bodyPr wrap="square" lIns="0" tIns="0" rIns="0" bIns="0" rtlCol="0" anchor="ctr"/>
          <a:lstStyle/>
          <a:p>
            <a:pPr algn="ctr" indent="0" marL="0">
              <a:buNone/>
            </a:pPr>
            <a:r>
              <a:rPr lang="en-US" sz="680" dirty="0">
                <a:solidFill>
                  <a:srgbClr val="182F48"/>
                </a:solidFill>
                <a:latin typeface="Noto Sans KR" pitchFamily="34" charset="0"/>
                <a:ea typeface="Noto Sans KR" pitchFamily="34" charset="-122"/>
                <a:cs typeface="Noto Sans KR" pitchFamily="34" charset="-120"/>
              </a:rPr>
              <a:t>산산기어</a:t>
            </a:r>
            <a:endParaRPr lang="en-US" sz="680" dirty="0"/>
          </a:p>
        </p:txBody>
      </p:sp>
      <p:sp>
        <p:nvSpPr>
          <p:cNvPr id="33" name="배지 고요웨어"/>
          <p:cNvSpPr/>
          <p:nvPr/>
        </p:nvSpPr>
        <p:spPr>
          <a:xfrm>
            <a:off x="6094171" y="2185416"/>
            <a:ext cx="409245" cy="155448"/>
          </a:xfrm>
          <a:prstGeom prst="roundRect">
            <a:avLst>
              <a:gd name="adj" fmla="val 23529"/>
            </a:avLst>
          </a:prstGeom>
          <a:solidFill>
            <a:srgbClr val="E6F2F3"/>
          </a:solidFill>
          <a:ln/>
        </p:spPr>
        <p:txBody>
          <a:bodyPr wrap="square" lIns="0" tIns="0" rIns="0" bIns="0" rtlCol="0" anchor="ctr"/>
          <a:lstStyle/>
          <a:p>
            <a:pPr algn="ctr" indent="0" marL="0">
              <a:buNone/>
            </a:pPr>
            <a:r>
              <a:rPr lang="en-US" sz="680" dirty="0">
                <a:solidFill>
                  <a:srgbClr val="182F48"/>
                </a:solidFill>
                <a:latin typeface="Noto Sans KR" pitchFamily="34" charset="0"/>
                <a:ea typeface="Noto Sans KR" pitchFamily="34" charset="-122"/>
                <a:cs typeface="Noto Sans KR" pitchFamily="34" charset="-120"/>
              </a:rPr>
              <a:t>고요웨어</a:t>
            </a:r>
            <a:endParaRPr lang="en-US" sz="680" dirty="0"/>
          </a:p>
        </p:txBody>
      </p:sp>
      <p:sp>
        <p:nvSpPr>
          <p:cNvPr id="34" name="배지 그레일즈"/>
          <p:cNvSpPr/>
          <p:nvPr/>
        </p:nvSpPr>
        <p:spPr>
          <a:xfrm>
            <a:off x="5361432" y="2368296"/>
            <a:ext cx="409245" cy="155448"/>
          </a:xfrm>
          <a:prstGeom prst="roundRect">
            <a:avLst>
              <a:gd name="adj" fmla="val 23529"/>
            </a:avLst>
          </a:prstGeom>
          <a:solidFill>
            <a:srgbClr val="E6F2F3"/>
          </a:solidFill>
          <a:ln/>
        </p:spPr>
        <p:txBody>
          <a:bodyPr wrap="square" lIns="0" tIns="0" rIns="0" bIns="0" rtlCol="0" anchor="ctr"/>
          <a:lstStyle/>
          <a:p>
            <a:pPr algn="ctr" indent="0" marL="0">
              <a:buNone/>
            </a:pPr>
            <a:r>
              <a:rPr lang="en-US" sz="680" dirty="0">
                <a:solidFill>
                  <a:srgbClr val="182F48"/>
                </a:solidFill>
                <a:latin typeface="Noto Sans KR" pitchFamily="34" charset="0"/>
                <a:ea typeface="Noto Sans KR" pitchFamily="34" charset="-122"/>
                <a:cs typeface="Noto Sans KR" pitchFamily="34" charset="-120"/>
              </a:rPr>
              <a:t>그레일즈</a:t>
            </a:r>
            <a:endParaRPr lang="en-US" sz="680" dirty="0"/>
          </a:p>
        </p:txBody>
      </p:sp>
      <p:sp>
        <p:nvSpPr>
          <p:cNvPr id="35" name="배지 제로그램"/>
          <p:cNvSpPr/>
          <p:nvPr/>
        </p:nvSpPr>
        <p:spPr>
          <a:xfrm>
            <a:off x="5807253" y="2368296"/>
            <a:ext cx="409245" cy="155448"/>
          </a:xfrm>
          <a:prstGeom prst="roundRect">
            <a:avLst>
              <a:gd name="adj" fmla="val 23529"/>
            </a:avLst>
          </a:prstGeom>
          <a:solidFill>
            <a:srgbClr val="E6F2F3"/>
          </a:solidFill>
          <a:ln/>
        </p:spPr>
        <p:txBody>
          <a:bodyPr wrap="square" lIns="0" tIns="0" rIns="0" bIns="0" rtlCol="0" anchor="ctr"/>
          <a:lstStyle/>
          <a:p>
            <a:pPr algn="ctr" indent="0" marL="0">
              <a:buNone/>
            </a:pPr>
            <a:r>
              <a:rPr lang="en-US" sz="680" dirty="0">
                <a:solidFill>
                  <a:srgbClr val="182F48"/>
                </a:solidFill>
                <a:latin typeface="Noto Sans KR" pitchFamily="34" charset="0"/>
                <a:ea typeface="Noto Sans KR" pitchFamily="34" charset="-122"/>
                <a:cs typeface="Noto Sans KR" pitchFamily="34" charset="-120"/>
              </a:rPr>
              <a:t>제로그램</a:t>
            </a:r>
            <a:endParaRPr lang="en-US" sz="680" dirty="0"/>
          </a:p>
        </p:txBody>
      </p:sp>
      <p:sp>
        <p:nvSpPr>
          <p:cNvPr id="36" name="참가업체 E4"/>
          <p:cNvSpPr txBox="1"/>
          <p:nvPr/>
        </p:nvSpPr>
        <p:spPr>
          <a:xfrm>
            <a:off x="6885432" y="1481328"/>
            <a:ext cx="1514856" cy="365760"/>
          </a:xfrm>
          <a:prstGeom prst="rect">
            <a:avLst/>
          </a:prstGeom>
          <a:solidFill>
            <a:srgbClr val="267D86"/>
          </a:solidFill>
          <a:ln/>
        </p:spPr>
        <p:txBody>
          <a:bodyPr wrap="square" lIns="73152" tIns="0" rIns="73152" bIns="0" rtlCol="0" anchor="ctr"/>
          <a:lstStyle/>
          <a:p>
            <a:pPr algn="l" indent="0" marL="0">
              <a:lnSpc>
                <a:spcPct val="95000"/>
              </a:lnSpc>
              <a:buNone/>
            </a:pPr>
            <a:r>
              <a:rPr lang="en-US" sz="850" b="1" dirty="0">
                <a:solidFill>
                  <a:srgbClr val="FFFFFF"/>
                </a:solidFill>
                <a:latin typeface="Noto Sans KR" pitchFamily="34" charset="0"/>
                <a:ea typeface="Noto Sans KR" pitchFamily="34" charset="-122"/>
                <a:cs typeface="Noto Sans KR" pitchFamily="34" charset="-120"/>
              </a:rPr>
              <a:t>E4  국내 아웃도어 대형사</a:t>
            </a:r>
            <a:endParaRPr lang="en-US" sz="850" dirty="0"/>
          </a:p>
          <a:p>
            <a:pPr algn="l" indent="0" marL="0">
              <a:lnSpc>
                <a:spcPct val="95000"/>
              </a:lnSpc>
              <a:buNone/>
            </a:pPr>
            <a:r>
              <a:rPr lang="en-US" sz="680" dirty="0">
                <a:solidFill>
                  <a:srgbClr val="D5F0F2"/>
                </a:solidFill>
                <a:latin typeface="Noto Sans KR" pitchFamily="34" charset="0"/>
                <a:ea typeface="Noto Sans KR" pitchFamily="34" charset="-122"/>
                <a:cs typeface="Noto Sans KR" pitchFamily="34" charset="-120"/>
              </a:rPr>
              <a:t>브랜드관 · 오리지널 브랜드</a:t>
            </a:r>
            <a:endParaRPr lang="en-US" sz="850" dirty="0"/>
          </a:p>
        </p:txBody>
      </p:sp>
      <p:sp>
        <p:nvSpPr>
          <p:cNvPr id="37" name="참가업체 E4 본문"/>
          <p:cNvSpPr/>
          <p:nvPr/>
        </p:nvSpPr>
        <p:spPr>
          <a:xfrm>
            <a:off x="6885432" y="1847088"/>
            <a:ext cx="1514856" cy="914400"/>
          </a:xfrm>
          <a:prstGeom prst="rect">
            <a:avLst/>
          </a:prstGeom>
          <a:solidFill>
            <a:srgbClr val="FFFFFF"/>
          </a:solidFill>
          <a:ln w="9525">
            <a:solidFill>
              <a:srgbClr val="CBD5E1"/>
            </a:solidFill>
            <a:prstDash val="solid"/>
          </a:ln>
        </p:spPr>
      </p:sp>
      <p:sp>
        <p:nvSpPr>
          <p:cNvPr id="38" name="참가업체 E4 제공"/>
          <p:cNvSpPr txBox="1"/>
          <p:nvPr/>
        </p:nvSpPr>
        <p:spPr>
          <a:xfrm>
            <a:off x="6949440" y="1892808"/>
            <a:ext cx="1386840" cy="256032"/>
          </a:xfrm>
          <a:prstGeom prst="rect">
            <a:avLst/>
          </a:prstGeom>
          <a:noFill/>
          <a:ln/>
        </p:spPr>
        <p:txBody>
          <a:bodyPr wrap="square" lIns="0" tIns="0" rIns="0" bIns="0" rtlCol="0" anchor="t"/>
          <a:lstStyle/>
          <a:p>
            <a:pPr algn="l" indent="0" marL="0">
              <a:lnSpc>
                <a:spcPct val="95000"/>
              </a:lnSpc>
              <a:buNone/>
            </a:pPr>
            <a:r>
              <a:rPr lang="en-US" sz="680" dirty="0">
                <a:solidFill>
                  <a:srgbClr val="334155"/>
                </a:solidFill>
                <a:latin typeface="Noto Sans KR" pitchFamily="34" charset="0"/>
                <a:ea typeface="Noto Sans KR" pitchFamily="34" charset="-122"/>
                <a:cs typeface="Noto Sans KR" pitchFamily="34" charset="-120"/>
              </a:rPr>
              <a:t>고프코어 라인 · 아시아 라이선스</a:t>
            </a:r>
            <a:endParaRPr lang="en-US" sz="680" dirty="0"/>
          </a:p>
          <a:p>
            <a:pPr algn="l" indent="0" marL="0">
              <a:lnSpc>
                <a:spcPct val="95000"/>
              </a:lnSpc>
              <a:buNone/>
            </a:pPr>
            <a:r>
              <a:rPr lang="en-US" sz="680" dirty="0">
                <a:solidFill>
                  <a:srgbClr val="334155"/>
                </a:solidFill>
                <a:latin typeface="Noto Sans KR" pitchFamily="34" charset="0"/>
                <a:ea typeface="Noto Sans KR" pitchFamily="34" charset="-122"/>
                <a:cs typeface="Noto Sans KR" pitchFamily="34" charset="-120"/>
              </a:rPr>
              <a:t>합작 · 유통 사업권</a:t>
            </a:r>
            <a:endParaRPr lang="en-US" sz="680" dirty="0"/>
          </a:p>
        </p:txBody>
      </p:sp>
      <p:sp>
        <p:nvSpPr>
          <p:cNvPr id="39" name="배지 코오롱스포츠"/>
          <p:cNvSpPr/>
          <p:nvPr/>
        </p:nvSpPr>
        <p:spPr>
          <a:xfrm>
            <a:off x="6949440" y="2185416"/>
            <a:ext cx="568147" cy="155448"/>
          </a:xfrm>
          <a:prstGeom prst="roundRect">
            <a:avLst>
              <a:gd name="adj" fmla="val 23529"/>
            </a:avLst>
          </a:prstGeom>
          <a:solidFill>
            <a:srgbClr val="E6F2F3"/>
          </a:solidFill>
          <a:ln/>
        </p:spPr>
        <p:txBody>
          <a:bodyPr wrap="square" lIns="0" tIns="0" rIns="0" bIns="0" rtlCol="0" anchor="ctr"/>
          <a:lstStyle/>
          <a:p>
            <a:pPr algn="ctr" indent="0" marL="0">
              <a:buNone/>
            </a:pPr>
            <a:r>
              <a:rPr lang="en-US" sz="680" dirty="0">
                <a:solidFill>
                  <a:srgbClr val="182F48"/>
                </a:solidFill>
                <a:latin typeface="Noto Sans KR" pitchFamily="34" charset="0"/>
                <a:ea typeface="Noto Sans KR" pitchFamily="34" charset="-122"/>
                <a:cs typeface="Noto Sans KR" pitchFamily="34" charset="-120"/>
              </a:rPr>
              <a:t>코오롱스포츠</a:t>
            </a:r>
            <a:endParaRPr lang="en-US" sz="680" dirty="0"/>
          </a:p>
        </p:txBody>
      </p:sp>
      <p:sp>
        <p:nvSpPr>
          <p:cNvPr id="40" name="배지 K2"/>
          <p:cNvSpPr/>
          <p:nvPr/>
        </p:nvSpPr>
        <p:spPr>
          <a:xfrm>
            <a:off x="7554163" y="2185416"/>
            <a:ext cx="195158" cy="155448"/>
          </a:xfrm>
          <a:prstGeom prst="roundRect">
            <a:avLst>
              <a:gd name="adj" fmla="val 23529"/>
            </a:avLst>
          </a:prstGeom>
          <a:solidFill>
            <a:srgbClr val="E6F2F3"/>
          </a:solidFill>
          <a:ln/>
        </p:spPr>
        <p:txBody>
          <a:bodyPr wrap="square" lIns="0" tIns="0" rIns="0" bIns="0" rtlCol="0" anchor="ctr"/>
          <a:lstStyle/>
          <a:p>
            <a:pPr algn="ctr" indent="0" marL="0">
              <a:buNone/>
            </a:pPr>
            <a:r>
              <a:rPr lang="en-US" sz="680" dirty="0">
                <a:solidFill>
                  <a:srgbClr val="182F48"/>
                </a:solidFill>
                <a:latin typeface="Noto Sans KR" pitchFamily="34" charset="0"/>
                <a:ea typeface="Noto Sans KR" pitchFamily="34" charset="-122"/>
                <a:cs typeface="Noto Sans KR" pitchFamily="34" charset="-120"/>
              </a:rPr>
              <a:t>K2</a:t>
            </a:r>
            <a:endParaRPr lang="en-US" sz="680" dirty="0"/>
          </a:p>
        </p:txBody>
      </p:sp>
      <p:sp>
        <p:nvSpPr>
          <p:cNvPr id="41" name="배지 블랙야크"/>
          <p:cNvSpPr/>
          <p:nvPr/>
        </p:nvSpPr>
        <p:spPr>
          <a:xfrm>
            <a:off x="7785898" y="2185416"/>
            <a:ext cx="409245" cy="155448"/>
          </a:xfrm>
          <a:prstGeom prst="roundRect">
            <a:avLst>
              <a:gd name="adj" fmla="val 23529"/>
            </a:avLst>
          </a:prstGeom>
          <a:solidFill>
            <a:srgbClr val="E6F2F3"/>
          </a:solidFill>
          <a:ln/>
        </p:spPr>
        <p:txBody>
          <a:bodyPr wrap="square" lIns="0" tIns="0" rIns="0" bIns="0" rtlCol="0" anchor="ctr"/>
          <a:lstStyle/>
          <a:p>
            <a:pPr algn="ctr" indent="0" marL="0">
              <a:buNone/>
            </a:pPr>
            <a:r>
              <a:rPr lang="en-US" sz="680" dirty="0">
                <a:solidFill>
                  <a:srgbClr val="182F48"/>
                </a:solidFill>
                <a:latin typeface="Noto Sans KR" pitchFamily="34" charset="0"/>
                <a:ea typeface="Noto Sans KR" pitchFamily="34" charset="-122"/>
                <a:cs typeface="Noto Sans KR" pitchFamily="34" charset="-120"/>
              </a:rPr>
              <a:t>블랙야크</a:t>
            </a:r>
            <a:endParaRPr lang="en-US" sz="680" dirty="0"/>
          </a:p>
        </p:txBody>
      </p:sp>
      <p:sp>
        <p:nvSpPr>
          <p:cNvPr id="42" name="배지 네파"/>
          <p:cNvSpPr/>
          <p:nvPr/>
        </p:nvSpPr>
        <p:spPr>
          <a:xfrm>
            <a:off x="6949440" y="2368296"/>
            <a:ext cx="250342" cy="155448"/>
          </a:xfrm>
          <a:prstGeom prst="roundRect">
            <a:avLst>
              <a:gd name="adj" fmla="val 23529"/>
            </a:avLst>
          </a:prstGeom>
          <a:solidFill>
            <a:srgbClr val="E6F2F3"/>
          </a:solidFill>
          <a:ln/>
        </p:spPr>
        <p:txBody>
          <a:bodyPr wrap="square" lIns="0" tIns="0" rIns="0" bIns="0" rtlCol="0" anchor="ctr"/>
          <a:lstStyle/>
          <a:p>
            <a:pPr algn="ctr" indent="0" marL="0">
              <a:buNone/>
            </a:pPr>
            <a:r>
              <a:rPr lang="en-US" sz="680" dirty="0">
                <a:solidFill>
                  <a:srgbClr val="182F48"/>
                </a:solidFill>
                <a:latin typeface="Noto Sans KR" pitchFamily="34" charset="0"/>
                <a:ea typeface="Noto Sans KR" pitchFamily="34" charset="-122"/>
                <a:cs typeface="Noto Sans KR" pitchFamily="34" charset="-120"/>
              </a:rPr>
              <a:t>네파</a:t>
            </a:r>
            <a:endParaRPr lang="en-US" sz="680" dirty="0"/>
          </a:p>
        </p:txBody>
      </p:sp>
      <p:sp>
        <p:nvSpPr>
          <p:cNvPr id="43" name="배지 아이더"/>
          <p:cNvSpPr/>
          <p:nvPr/>
        </p:nvSpPr>
        <p:spPr>
          <a:xfrm>
            <a:off x="7236358" y="2368296"/>
            <a:ext cx="329794" cy="155448"/>
          </a:xfrm>
          <a:prstGeom prst="roundRect">
            <a:avLst>
              <a:gd name="adj" fmla="val 23529"/>
            </a:avLst>
          </a:prstGeom>
          <a:solidFill>
            <a:srgbClr val="E6F2F3"/>
          </a:solidFill>
          <a:ln/>
        </p:spPr>
        <p:txBody>
          <a:bodyPr wrap="square" lIns="0" tIns="0" rIns="0" bIns="0" rtlCol="0" anchor="ctr"/>
          <a:lstStyle/>
          <a:p>
            <a:pPr algn="ctr" indent="0" marL="0">
              <a:buNone/>
            </a:pPr>
            <a:r>
              <a:rPr lang="en-US" sz="680" dirty="0">
                <a:solidFill>
                  <a:srgbClr val="182F48"/>
                </a:solidFill>
                <a:latin typeface="Noto Sans KR" pitchFamily="34" charset="0"/>
                <a:ea typeface="Noto Sans KR" pitchFamily="34" charset="-122"/>
                <a:cs typeface="Noto Sans KR" pitchFamily="34" charset="-120"/>
              </a:rPr>
              <a:t>아이더</a:t>
            </a:r>
            <a:endParaRPr lang="en-US" sz="680" dirty="0"/>
          </a:p>
        </p:txBody>
      </p:sp>
      <p:sp>
        <p:nvSpPr>
          <p:cNvPr id="44" name="참가업체 E5"/>
          <p:cNvSpPr txBox="1"/>
          <p:nvPr/>
        </p:nvSpPr>
        <p:spPr>
          <a:xfrm>
            <a:off x="8473440" y="1481328"/>
            <a:ext cx="1514856" cy="365760"/>
          </a:xfrm>
          <a:prstGeom prst="rect">
            <a:avLst/>
          </a:prstGeom>
          <a:solidFill>
            <a:srgbClr val="64748B"/>
          </a:solidFill>
          <a:ln/>
        </p:spPr>
        <p:txBody>
          <a:bodyPr wrap="square" lIns="73152" tIns="0" rIns="73152" bIns="0" rtlCol="0" anchor="ctr"/>
          <a:lstStyle/>
          <a:p>
            <a:pPr algn="l" indent="0" marL="0">
              <a:lnSpc>
                <a:spcPct val="95000"/>
              </a:lnSpc>
              <a:buNone/>
            </a:pPr>
            <a:r>
              <a:rPr lang="en-US" sz="850" b="1" dirty="0">
                <a:solidFill>
                  <a:srgbClr val="FFFFFF"/>
                </a:solidFill>
                <a:latin typeface="Noto Sans KR" pitchFamily="34" charset="0"/>
                <a:ea typeface="Noto Sans KR" pitchFamily="34" charset="-122"/>
                <a:cs typeface="Noto Sans KR" pitchFamily="34" charset="-120"/>
              </a:rPr>
              <a:t>E5  해외 프리미엄 앵커</a:t>
            </a:r>
            <a:endParaRPr lang="en-US" sz="850" dirty="0"/>
          </a:p>
          <a:p>
            <a:pPr algn="l" indent="0" marL="0">
              <a:lnSpc>
                <a:spcPct val="95000"/>
              </a:lnSpc>
              <a:buNone/>
            </a:pPr>
            <a:r>
              <a:rPr lang="en-US" sz="680" dirty="0">
                <a:solidFill>
                  <a:srgbClr val="E2E8F0"/>
                </a:solidFill>
                <a:latin typeface="Noto Sans KR" pitchFamily="34" charset="0"/>
                <a:ea typeface="Noto Sans KR" pitchFamily="34" charset="-122"/>
                <a:cs typeface="Noto Sans KR" pitchFamily="34" charset="-120"/>
              </a:rPr>
              <a:t>퍼블릭 랩 데이 중심</a:t>
            </a:r>
            <a:endParaRPr lang="en-US" sz="850" dirty="0"/>
          </a:p>
        </p:txBody>
      </p:sp>
      <p:sp>
        <p:nvSpPr>
          <p:cNvPr id="45" name="참가업체 E5 본문"/>
          <p:cNvSpPr/>
          <p:nvPr/>
        </p:nvSpPr>
        <p:spPr>
          <a:xfrm>
            <a:off x="8473440" y="1847088"/>
            <a:ext cx="1514856" cy="914400"/>
          </a:xfrm>
          <a:prstGeom prst="rect">
            <a:avLst/>
          </a:prstGeom>
          <a:solidFill>
            <a:srgbClr val="FFFFFF"/>
          </a:solidFill>
          <a:ln w="9525">
            <a:solidFill>
              <a:srgbClr val="CBD5E1"/>
            </a:solidFill>
            <a:prstDash val="solid"/>
          </a:ln>
        </p:spPr>
      </p:sp>
      <p:sp>
        <p:nvSpPr>
          <p:cNvPr id="46" name="참가업체 E5 제공"/>
          <p:cNvSpPr txBox="1"/>
          <p:nvPr/>
        </p:nvSpPr>
        <p:spPr>
          <a:xfrm>
            <a:off x="8537448" y="1892808"/>
            <a:ext cx="1386840" cy="256032"/>
          </a:xfrm>
          <a:prstGeom prst="rect">
            <a:avLst/>
          </a:prstGeom>
          <a:noFill/>
          <a:ln/>
        </p:spPr>
        <p:txBody>
          <a:bodyPr wrap="square" lIns="0" tIns="0" rIns="0" bIns="0" rtlCol="0" anchor="t"/>
          <a:lstStyle/>
          <a:p>
            <a:pPr algn="l" indent="0" marL="0">
              <a:lnSpc>
                <a:spcPct val="95000"/>
              </a:lnSpc>
              <a:buNone/>
            </a:pPr>
            <a:r>
              <a:rPr lang="en-US" sz="680" dirty="0">
                <a:solidFill>
                  <a:srgbClr val="334155"/>
                </a:solidFill>
                <a:latin typeface="Noto Sans KR" pitchFamily="34" charset="0"/>
                <a:ea typeface="Noto Sans KR" pitchFamily="34" charset="-122"/>
                <a:cs typeface="Noto Sans KR" pitchFamily="34" charset="-120"/>
              </a:rPr>
              <a:t>신제품 기능 시연 · 브랜드 체험</a:t>
            </a:r>
            <a:endParaRPr lang="en-US" sz="680" dirty="0"/>
          </a:p>
          <a:p>
            <a:pPr algn="l" indent="0" marL="0">
              <a:lnSpc>
                <a:spcPct val="95000"/>
              </a:lnSpc>
              <a:buNone/>
            </a:pPr>
            <a:r>
              <a:rPr lang="en-US" sz="680" dirty="0">
                <a:solidFill>
                  <a:srgbClr val="334155"/>
                </a:solidFill>
                <a:latin typeface="Noto Sans KR" pitchFamily="34" charset="0"/>
                <a:ea typeface="Noto Sans KR" pitchFamily="34" charset="-122"/>
                <a:cs typeface="Noto Sans KR" pitchFamily="34" charset="-120"/>
              </a:rPr>
              <a:t>관람객을 모으는 집객 역할</a:t>
            </a:r>
            <a:endParaRPr lang="en-US" sz="680" dirty="0"/>
          </a:p>
        </p:txBody>
      </p:sp>
      <p:sp>
        <p:nvSpPr>
          <p:cNvPr id="47" name="배지 아크테릭스"/>
          <p:cNvSpPr/>
          <p:nvPr/>
        </p:nvSpPr>
        <p:spPr>
          <a:xfrm>
            <a:off x="8537448" y="2185416"/>
            <a:ext cx="488696" cy="155448"/>
          </a:xfrm>
          <a:prstGeom prst="roundRect">
            <a:avLst>
              <a:gd name="adj" fmla="val 23529"/>
            </a:avLst>
          </a:prstGeom>
          <a:solidFill>
            <a:srgbClr val="EEF0F3"/>
          </a:solidFill>
          <a:ln/>
        </p:spPr>
        <p:txBody>
          <a:bodyPr wrap="square" lIns="0" tIns="0" rIns="0" bIns="0" rtlCol="0" anchor="ctr"/>
          <a:lstStyle/>
          <a:p>
            <a:pPr algn="ctr" indent="0" marL="0">
              <a:buNone/>
            </a:pPr>
            <a:r>
              <a:rPr lang="en-US" sz="680" dirty="0">
                <a:solidFill>
                  <a:srgbClr val="475569"/>
                </a:solidFill>
                <a:latin typeface="Noto Sans KR" pitchFamily="34" charset="0"/>
                <a:ea typeface="Noto Sans KR" pitchFamily="34" charset="-122"/>
                <a:cs typeface="Noto Sans KR" pitchFamily="34" charset="-120"/>
              </a:rPr>
              <a:t>아크테릭스</a:t>
            </a:r>
            <a:endParaRPr lang="en-US" sz="680" dirty="0"/>
          </a:p>
        </p:txBody>
      </p:sp>
      <p:sp>
        <p:nvSpPr>
          <p:cNvPr id="48" name="배지 살로몬"/>
          <p:cNvSpPr/>
          <p:nvPr/>
        </p:nvSpPr>
        <p:spPr>
          <a:xfrm>
            <a:off x="9062720" y="2185416"/>
            <a:ext cx="329794" cy="155448"/>
          </a:xfrm>
          <a:prstGeom prst="roundRect">
            <a:avLst>
              <a:gd name="adj" fmla="val 23529"/>
            </a:avLst>
          </a:prstGeom>
          <a:solidFill>
            <a:srgbClr val="EEF0F3"/>
          </a:solidFill>
          <a:ln/>
        </p:spPr>
        <p:txBody>
          <a:bodyPr wrap="square" lIns="0" tIns="0" rIns="0" bIns="0" rtlCol="0" anchor="ctr"/>
          <a:lstStyle/>
          <a:p>
            <a:pPr algn="ctr" indent="0" marL="0">
              <a:buNone/>
            </a:pPr>
            <a:r>
              <a:rPr lang="en-US" sz="680" dirty="0">
                <a:solidFill>
                  <a:srgbClr val="475569"/>
                </a:solidFill>
                <a:latin typeface="Noto Sans KR" pitchFamily="34" charset="0"/>
                <a:ea typeface="Noto Sans KR" pitchFamily="34" charset="-122"/>
                <a:cs typeface="Noto Sans KR" pitchFamily="34" charset="-120"/>
              </a:rPr>
              <a:t>살로몬</a:t>
            </a:r>
            <a:endParaRPr lang="en-US" sz="680" dirty="0"/>
          </a:p>
        </p:txBody>
      </p:sp>
      <p:sp>
        <p:nvSpPr>
          <p:cNvPr id="49" name="배지 마무트"/>
          <p:cNvSpPr/>
          <p:nvPr/>
        </p:nvSpPr>
        <p:spPr>
          <a:xfrm>
            <a:off x="9429090" y="2185416"/>
            <a:ext cx="329794" cy="155448"/>
          </a:xfrm>
          <a:prstGeom prst="roundRect">
            <a:avLst>
              <a:gd name="adj" fmla="val 23529"/>
            </a:avLst>
          </a:prstGeom>
          <a:solidFill>
            <a:srgbClr val="EEF0F3"/>
          </a:solidFill>
          <a:ln/>
        </p:spPr>
        <p:txBody>
          <a:bodyPr wrap="square" lIns="0" tIns="0" rIns="0" bIns="0" rtlCol="0" anchor="ctr"/>
          <a:lstStyle/>
          <a:p>
            <a:pPr algn="ctr" indent="0" marL="0">
              <a:buNone/>
            </a:pPr>
            <a:r>
              <a:rPr lang="en-US" sz="680" dirty="0">
                <a:solidFill>
                  <a:srgbClr val="475569"/>
                </a:solidFill>
                <a:latin typeface="Noto Sans KR" pitchFamily="34" charset="0"/>
                <a:ea typeface="Noto Sans KR" pitchFamily="34" charset="-122"/>
                <a:cs typeface="Noto Sans KR" pitchFamily="34" charset="-120"/>
              </a:rPr>
              <a:t>마무트</a:t>
            </a:r>
            <a:endParaRPr lang="en-US" sz="680" dirty="0"/>
          </a:p>
        </p:txBody>
      </p:sp>
      <p:sp>
        <p:nvSpPr>
          <p:cNvPr id="50" name="배지 살레와"/>
          <p:cNvSpPr/>
          <p:nvPr/>
        </p:nvSpPr>
        <p:spPr>
          <a:xfrm>
            <a:off x="8537448" y="2368296"/>
            <a:ext cx="329794" cy="155448"/>
          </a:xfrm>
          <a:prstGeom prst="roundRect">
            <a:avLst>
              <a:gd name="adj" fmla="val 23529"/>
            </a:avLst>
          </a:prstGeom>
          <a:solidFill>
            <a:srgbClr val="EEF0F3"/>
          </a:solidFill>
          <a:ln/>
        </p:spPr>
        <p:txBody>
          <a:bodyPr wrap="square" lIns="0" tIns="0" rIns="0" bIns="0" rtlCol="0" anchor="ctr"/>
          <a:lstStyle/>
          <a:p>
            <a:pPr algn="ctr" indent="0" marL="0">
              <a:buNone/>
            </a:pPr>
            <a:r>
              <a:rPr lang="en-US" sz="680" dirty="0">
                <a:solidFill>
                  <a:srgbClr val="475569"/>
                </a:solidFill>
                <a:latin typeface="Noto Sans KR" pitchFamily="34" charset="0"/>
                <a:ea typeface="Noto Sans KR" pitchFamily="34" charset="-122"/>
                <a:cs typeface="Noto Sans KR" pitchFamily="34" charset="-120"/>
              </a:rPr>
              <a:t>살레와</a:t>
            </a:r>
            <a:endParaRPr lang="en-US" sz="680" dirty="0"/>
          </a:p>
        </p:txBody>
      </p:sp>
      <p:sp>
        <p:nvSpPr>
          <p:cNvPr id="51" name="배지 파타고니아"/>
          <p:cNvSpPr/>
          <p:nvPr/>
        </p:nvSpPr>
        <p:spPr>
          <a:xfrm>
            <a:off x="8903818" y="2368296"/>
            <a:ext cx="488696" cy="155448"/>
          </a:xfrm>
          <a:prstGeom prst="roundRect">
            <a:avLst>
              <a:gd name="adj" fmla="val 23529"/>
            </a:avLst>
          </a:prstGeom>
          <a:solidFill>
            <a:srgbClr val="EEF0F3"/>
          </a:solidFill>
          <a:ln/>
        </p:spPr>
        <p:txBody>
          <a:bodyPr wrap="square" lIns="0" tIns="0" rIns="0" bIns="0" rtlCol="0" anchor="ctr"/>
          <a:lstStyle/>
          <a:p>
            <a:pPr algn="ctr" indent="0" marL="0">
              <a:buNone/>
            </a:pPr>
            <a:r>
              <a:rPr lang="en-US" sz="680" dirty="0">
                <a:solidFill>
                  <a:srgbClr val="475569"/>
                </a:solidFill>
                <a:latin typeface="Noto Sans KR" pitchFamily="34" charset="0"/>
                <a:ea typeface="Noto Sans KR" pitchFamily="34" charset="-122"/>
                <a:cs typeface="Noto Sans KR" pitchFamily="34" charset="-120"/>
              </a:rPr>
              <a:t>파타고니아</a:t>
            </a:r>
            <a:endParaRPr lang="en-US" sz="680" dirty="0"/>
          </a:p>
        </p:txBody>
      </p:sp>
      <p:sp>
        <p:nvSpPr>
          <p:cNvPr id="52" name="참가업체 E6"/>
          <p:cNvSpPr txBox="1"/>
          <p:nvPr/>
        </p:nvSpPr>
        <p:spPr>
          <a:xfrm>
            <a:off x="10061448" y="1481328"/>
            <a:ext cx="1514856" cy="365760"/>
          </a:xfrm>
          <a:prstGeom prst="rect">
            <a:avLst/>
          </a:prstGeom>
          <a:solidFill>
            <a:srgbClr val="475569"/>
          </a:solidFill>
          <a:ln/>
        </p:spPr>
        <p:txBody>
          <a:bodyPr wrap="square" lIns="73152" tIns="0" rIns="73152" bIns="0" rtlCol="0" anchor="ctr"/>
          <a:lstStyle/>
          <a:p>
            <a:pPr algn="l" indent="0" marL="0">
              <a:lnSpc>
                <a:spcPct val="95000"/>
              </a:lnSpc>
              <a:buNone/>
            </a:pPr>
            <a:r>
              <a:rPr lang="en-US" sz="850" b="1" dirty="0">
                <a:solidFill>
                  <a:srgbClr val="FFFFFF"/>
                </a:solidFill>
                <a:latin typeface="Noto Sans KR" pitchFamily="34" charset="0"/>
                <a:ea typeface="Noto Sans KR" pitchFamily="34" charset="-122"/>
                <a:cs typeface="Noto Sans KR" pitchFamily="34" charset="-120"/>
              </a:rPr>
              <a:t>E6  성장 서비스</a:t>
            </a:r>
            <a:endParaRPr lang="en-US" sz="850" dirty="0"/>
          </a:p>
          <a:p>
            <a:pPr algn="l" indent="0" marL="0">
              <a:lnSpc>
                <a:spcPct val="95000"/>
              </a:lnSpc>
              <a:buNone/>
            </a:pPr>
            <a:r>
              <a:rPr lang="en-US" sz="680" dirty="0">
                <a:solidFill>
                  <a:srgbClr val="E2E8F0"/>
                </a:solidFill>
                <a:latin typeface="Noto Sans KR" pitchFamily="34" charset="0"/>
                <a:ea typeface="Noto Sans KR" pitchFamily="34" charset="-122"/>
                <a:cs typeface="Noto Sans KR" pitchFamily="34" charset="-120"/>
              </a:rPr>
              <a:t>서비스관 · 시험 · 물류 · 판매</a:t>
            </a:r>
            <a:endParaRPr lang="en-US" sz="850" dirty="0"/>
          </a:p>
        </p:txBody>
      </p:sp>
      <p:sp>
        <p:nvSpPr>
          <p:cNvPr id="53" name="참가업체 E6 본문"/>
          <p:cNvSpPr/>
          <p:nvPr/>
        </p:nvSpPr>
        <p:spPr>
          <a:xfrm>
            <a:off x="10061448" y="1847088"/>
            <a:ext cx="1514856" cy="914400"/>
          </a:xfrm>
          <a:prstGeom prst="rect">
            <a:avLst/>
          </a:prstGeom>
          <a:solidFill>
            <a:srgbClr val="FFFFFF"/>
          </a:solidFill>
          <a:ln w="9525">
            <a:solidFill>
              <a:srgbClr val="CBD5E1"/>
            </a:solidFill>
            <a:prstDash val="solid"/>
          </a:ln>
        </p:spPr>
      </p:sp>
      <p:sp>
        <p:nvSpPr>
          <p:cNvPr id="54" name="참가업체 E6 제공"/>
          <p:cNvSpPr txBox="1"/>
          <p:nvPr/>
        </p:nvSpPr>
        <p:spPr>
          <a:xfrm>
            <a:off x="10125456" y="1892808"/>
            <a:ext cx="1386840" cy="256032"/>
          </a:xfrm>
          <a:prstGeom prst="rect">
            <a:avLst/>
          </a:prstGeom>
          <a:noFill/>
          <a:ln/>
        </p:spPr>
        <p:txBody>
          <a:bodyPr wrap="square" lIns="0" tIns="0" rIns="0" bIns="0" rtlCol="0" anchor="t"/>
          <a:lstStyle/>
          <a:p>
            <a:pPr algn="l" indent="0" marL="0">
              <a:lnSpc>
                <a:spcPct val="95000"/>
              </a:lnSpc>
              <a:buNone/>
            </a:pPr>
            <a:r>
              <a:rPr lang="en-US" sz="680" dirty="0">
                <a:solidFill>
                  <a:srgbClr val="334155"/>
                </a:solidFill>
                <a:latin typeface="Noto Sans KR" pitchFamily="34" charset="0"/>
                <a:ea typeface="Noto Sans KR" pitchFamily="34" charset="-122"/>
                <a:cs typeface="Noto Sans KR" pitchFamily="34" charset="-120"/>
              </a:rPr>
              <a:t>기능 시험성적서 · 해외 인증</a:t>
            </a:r>
            <a:endParaRPr lang="en-US" sz="680" dirty="0"/>
          </a:p>
          <a:p>
            <a:pPr algn="l" indent="0" marL="0">
              <a:lnSpc>
                <a:spcPct val="95000"/>
              </a:lnSpc>
              <a:buNone/>
            </a:pPr>
            <a:r>
              <a:rPr lang="en-US" sz="680" dirty="0">
                <a:solidFill>
                  <a:srgbClr val="334155"/>
                </a:solidFill>
                <a:latin typeface="Noto Sans KR" pitchFamily="34" charset="0"/>
                <a:ea typeface="Noto Sans KR" pitchFamily="34" charset="-122"/>
                <a:cs typeface="Noto Sans KR" pitchFamily="34" charset="-120"/>
              </a:rPr>
              <a:t>수출 풀필먼트 · 해외 자사몰</a:t>
            </a:r>
            <a:endParaRPr lang="en-US" sz="680" dirty="0"/>
          </a:p>
        </p:txBody>
      </p:sp>
      <p:sp>
        <p:nvSpPr>
          <p:cNvPr id="55" name="배지 FITI시험연구원"/>
          <p:cNvSpPr/>
          <p:nvPr/>
        </p:nvSpPr>
        <p:spPr>
          <a:xfrm>
            <a:off x="10125456" y="2185416"/>
            <a:ext cx="658912" cy="155448"/>
          </a:xfrm>
          <a:prstGeom prst="roundRect">
            <a:avLst>
              <a:gd name="adj" fmla="val 23529"/>
            </a:avLst>
          </a:prstGeom>
          <a:solidFill>
            <a:srgbClr val="E6F2F3"/>
          </a:solidFill>
          <a:ln/>
        </p:spPr>
        <p:txBody>
          <a:bodyPr wrap="square" lIns="0" tIns="0" rIns="0" bIns="0" rtlCol="0" anchor="ctr"/>
          <a:lstStyle/>
          <a:p>
            <a:pPr algn="ctr" indent="0" marL="0">
              <a:buNone/>
            </a:pPr>
            <a:r>
              <a:rPr lang="en-US" sz="680" dirty="0">
                <a:solidFill>
                  <a:srgbClr val="182F48"/>
                </a:solidFill>
                <a:latin typeface="Noto Sans KR" pitchFamily="34" charset="0"/>
                <a:ea typeface="Noto Sans KR" pitchFamily="34" charset="-122"/>
                <a:cs typeface="Noto Sans KR" pitchFamily="34" charset="-120"/>
              </a:rPr>
              <a:t>FITI시험연구원</a:t>
            </a:r>
            <a:endParaRPr lang="en-US" sz="680" dirty="0"/>
          </a:p>
        </p:txBody>
      </p:sp>
      <p:sp>
        <p:nvSpPr>
          <p:cNvPr id="56" name="배지 CJ대한통운"/>
          <p:cNvSpPr/>
          <p:nvPr/>
        </p:nvSpPr>
        <p:spPr>
          <a:xfrm>
            <a:off x="10820944" y="2185416"/>
            <a:ext cx="530753" cy="155448"/>
          </a:xfrm>
          <a:prstGeom prst="roundRect">
            <a:avLst>
              <a:gd name="adj" fmla="val 23529"/>
            </a:avLst>
          </a:prstGeom>
          <a:solidFill>
            <a:srgbClr val="E6F2F3"/>
          </a:solidFill>
          <a:ln/>
        </p:spPr>
        <p:txBody>
          <a:bodyPr wrap="square" lIns="0" tIns="0" rIns="0" bIns="0" rtlCol="0" anchor="ctr"/>
          <a:lstStyle/>
          <a:p>
            <a:pPr algn="ctr" indent="0" marL="0">
              <a:buNone/>
            </a:pPr>
            <a:r>
              <a:rPr lang="en-US" sz="680" dirty="0">
                <a:solidFill>
                  <a:srgbClr val="182F48"/>
                </a:solidFill>
                <a:latin typeface="Noto Sans KR" pitchFamily="34" charset="0"/>
                <a:ea typeface="Noto Sans KR" pitchFamily="34" charset="-122"/>
                <a:cs typeface="Noto Sans KR" pitchFamily="34" charset="-120"/>
              </a:rPr>
              <a:t>CJ대한통운</a:t>
            </a:r>
            <a:endParaRPr lang="en-US" sz="680" dirty="0"/>
          </a:p>
        </p:txBody>
      </p:sp>
      <p:sp>
        <p:nvSpPr>
          <p:cNvPr id="57" name="배지 KATRI시험연구원"/>
          <p:cNvSpPr/>
          <p:nvPr/>
        </p:nvSpPr>
        <p:spPr>
          <a:xfrm>
            <a:off x="10125456" y="2368296"/>
            <a:ext cx="749071" cy="155448"/>
          </a:xfrm>
          <a:prstGeom prst="roundRect">
            <a:avLst>
              <a:gd name="adj" fmla="val 23529"/>
            </a:avLst>
          </a:prstGeom>
          <a:solidFill>
            <a:srgbClr val="E6F2F3"/>
          </a:solidFill>
          <a:ln/>
        </p:spPr>
        <p:txBody>
          <a:bodyPr wrap="square" lIns="0" tIns="0" rIns="0" bIns="0" rtlCol="0" anchor="ctr"/>
          <a:lstStyle/>
          <a:p>
            <a:pPr algn="ctr" indent="0" marL="0">
              <a:buNone/>
            </a:pPr>
            <a:r>
              <a:rPr lang="en-US" sz="680" dirty="0">
                <a:solidFill>
                  <a:srgbClr val="182F48"/>
                </a:solidFill>
                <a:latin typeface="Noto Sans KR" pitchFamily="34" charset="0"/>
                <a:ea typeface="Noto Sans KR" pitchFamily="34" charset="-122"/>
                <a:cs typeface="Noto Sans KR" pitchFamily="34" charset="-120"/>
              </a:rPr>
              <a:t>KATRI시험연구원</a:t>
            </a:r>
            <a:endParaRPr lang="en-US" sz="680" dirty="0"/>
          </a:p>
        </p:txBody>
      </p:sp>
      <p:sp>
        <p:nvSpPr>
          <p:cNvPr id="58" name="배지 카페24"/>
          <p:cNvSpPr/>
          <p:nvPr/>
        </p:nvSpPr>
        <p:spPr>
          <a:xfrm>
            <a:off x="10911103" y="2368296"/>
            <a:ext cx="366410" cy="155448"/>
          </a:xfrm>
          <a:prstGeom prst="roundRect">
            <a:avLst>
              <a:gd name="adj" fmla="val 23529"/>
            </a:avLst>
          </a:prstGeom>
          <a:solidFill>
            <a:srgbClr val="E6F2F3"/>
          </a:solidFill>
          <a:ln/>
        </p:spPr>
        <p:txBody>
          <a:bodyPr wrap="square" lIns="0" tIns="0" rIns="0" bIns="0" rtlCol="0" anchor="ctr"/>
          <a:lstStyle/>
          <a:p>
            <a:pPr algn="ctr" indent="0" marL="0">
              <a:buNone/>
            </a:pPr>
            <a:r>
              <a:rPr lang="en-US" sz="680" dirty="0">
                <a:solidFill>
                  <a:srgbClr val="182F48"/>
                </a:solidFill>
                <a:latin typeface="Noto Sans KR" pitchFamily="34" charset="0"/>
                <a:ea typeface="Noto Sans KR" pitchFamily="34" charset="-122"/>
                <a:cs typeface="Noto Sans KR" pitchFamily="34" charset="-120"/>
              </a:rPr>
              <a:t>카페24</a:t>
            </a:r>
            <a:endParaRPr lang="en-US" sz="680" dirty="0"/>
          </a:p>
        </p:txBody>
      </p:sp>
      <p:sp>
        <p:nvSpPr>
          <p:cNvPr id="59" name="배지 무신사 로지스틱스"/>
          <p:cNvSpPr/>
          <p:nvPr/>
        </p:nvSpPr>
        <p:spPr>
          <a:xfrm>
            <a:off x="10125456" y="2551176"/>
            <a:ext cx="746394" cy="155448"/>
          </a:xfrm>
          <a:prstGeom prst="roundRect">
            <a:avLst>
              <a:gd name="adj" fmla="val 23529"/>
            </a:avLst>
          </a:prstGeom>
          <a:solidFill>
            <a:srgbClr val="E6F2F3"/>
          </a:solidFill>
          <a:ln/>
        </p:spPr>
        <p:txBody>
          <a:bodyPr wrap="square" lIns="0" tIns="0" rIns="0" bIns="0" rtlCol="0" anchor="ctr"/>
          <a:lstStyle/>
          <a:p>
            <a:pPr algn="ctr" indent="0" marL="0">
              <a:buNone/>
            </a:pPr>
            <a:r>
              <a:rPr lang="en-US" sz="680" dirty="0">
                <a:solidFill>
                  <a:srgbClr val="182F48"/>
                </a:solidFill>
                <a:latin typeface="Noto Sans KR" pitchFamily="34" charset="0"/>
                <a:ea typeface="Noto Sans KR" pitchFamily="34" charset="-122"/>
                <a:cs typeface="Noto Sans KR" pitchFamily="34" charset="-120"/>
              </a:rPr>
              <a:t>무신사 로지스틱스</a:t>
            </a:r>
            <a:endParaRPr lang="en-US" sz="680" dirty="0"/>
          </a:p>
        </p:txBody>
      </p:sp>
      <p:sp>
        <p:nvSpPr>
          <p:cNvPr id="60" name="라벨"/>
          <p:cNvSpPr txBox="1"/>
          <p:nvPr/>
        </p:nvSpPr>
        <p:spPr>
          <a:xfrm>
            <a:off x="612648" y="2871216"/>
            <a:ext cx="1417320" cy="475488"/>
          </a:xfrm>
          <a:prstGeom prst="rect">
            <a:avLst/>
          </a:prstGeom>
          <a:noFill/>
          <a:ln/>
        </p:spPr>
        <p:txBody>
          <a:bodyPr wrap="square" lIns="0" tIns="0" rIns="0" bIns="0" rtlCol="0" anchor="t"/>
          <a:lstStyle/>
          <a:p>
            <a:pPr algn="l" indent="0" marL="0">
              <a:lnSpc>
                <a:spcPct val="100000"/>
              </a:lnSpc>
              <a:buNone/>
            </a:pPr>
            <a:r>
              <a:rPr lang="en-US" sz="1200" b="1" dirty="0">
                <a:solidFill>
                  <a:srgbClr val="182F48"/>
                </a:solidFill>
                <a:latin typeface="Noto Sans KR" pitchFamily="34" charset="0"/>
                <a:ea typeface="Noto Sans KR" pitchFamily="34" charset="-122"/>
                <a:cs typeface="Noto Sans KR" pitchFamily="34" charset="-120"/>
              </a:rPr>
              <a:t>바이어</a:t>
            </a:r>
            <a:endParaRPr lang="en-US" sz="1200" dirty="0"/>
          </a:p>
          <a:p>
            <a:pPr algn="l" indent="0" marL="0">
              <a:lnSpc>
                <a:spcPct val="100000"/>
              </a:lnSpc>
              <a:buNone/>
            </a:pPr>
            <a:r>
              <a:rPr lang="en-US" sz="1200" b="1" dirty="0">
                <a:solidFill>
                  <a:srgbClr val="182F48"/>
                </a:solidFill>
                <a:latin typeface="Noto Sans KR" pitchFamily="34" charset="0"/>
                <a:ea typeface="Noto Sans KR" pitchFamily="34" charset="-122"/>
                <a:cs typeface="Noto Sans KR" pitchFamily="34" charset="-120"/>
              </a:rPr>
              <a:t>카테고리</a:t>
            </a:r>
            <a:endParaRPr lang="en-US" sz="1200" dirty="0"/>
          </a:p>
        </p:txBody>
      </p:sp>
      <p:sp>
        <p:nvSpPr>
          <p:cNvPr id="61" name="라벨 안내"/>
          <p:cNvSpPr txBox="1"/>
          <p:nvPr/>
        </p:nvSpPr>
        <p:spPr>
          <a:xfrm>
            <a:off x="612648" y="3383280"/>
            <a:ext cx="1417320" cy="548640"/>
          </a:xfrm>
          <a:prstGeom prst="rect">
            <a:avLst/>
          </a:prstGeom>
          <a:noFill/>
          <a:ln/>
        </p:spPr>
        <p:txBody>
          <a:bodyPr wrap="square" lIns="0" tIns="0" rIns="0" bIns="0" rtlCol="0" anchor="t"/>
          <a:lstStyle/>
          <a:p>
            <a:pPr algn="l" indent="0" marL="0">
              <a:lnSpc>
                <a:spcPct val="92000"/>
              </a:lnSpc>
              <a:buNone/>
            </a:pPr>
            <a:r>
              <a:rPr lang="en-US" sz="800" dirty="0">
                <a:solidFill>
                  <a:srgbClr val="64748B"/>
                </a:solidFill>
                <a:latin typeface="Noto Sans KR" pitchFamily="34" charset="0"/>
                <a:ea typeface="Noto Sans KR" pitchFamily="34" charset="-122"/>
                <a:cs typeface="Noto Sans KR" pitchFamily="34" charset="-120"/>
              </a:rPr>
              <a:t>구매 조직·업종·직무</a:t>
            </a:r>
            <a:endParaRPr lang="en-US" sz="800" dirty="0"/>
          </a:p>
          <a:p>
            <a:pPr algn="l" indent="0" marL="0">
              <a:lnSpc>
                <a:spcPct val="92000"/>
              </a:lnSpc>
              <a:buNone/>
            </a:pPr>
            <a:r>
              <a:rPr lang="en-US" sz="800" dirty="0">
                <a:solidFill>
                  <a:srgbClr val="64748B"/>
                </a:solidFill>
                <a:latin typeface="Noto Sans KR" pitchFamily="34" charset="0"/>
                <a:ea typeface="Noto Sans KR" pitchFamily="34" charset="-122"/>
                <a:cs typeface="Noto Sans KR" pitchFamily="34" charset="-120"/>
              </a:rPr>
              <a:t>/ 실제 기업·기관 예시</a:t>
            </a:r>
            <a:endParaRPr lang="en-US" sz="800" dirty="0"/>
          </a:p>
        </p:txBody>
      </p:sp>
      <p:sp>
        <p:nvSpPr>
          <p:cNvPr id="62" name="바이어 B1"/>
          <p:cNvSpPr txBox="1"/>
          <p:nvPr/>
        </p:nvSpPr>
        <p:spPr>
          <a:xfrm>
            <a:off x="2121408" y="2852928"/>
            <a:ext cx="1295835" cy="219456"/>
          </a:xfrm>
          <a:prstGeom prst="rect">
            <a:avLst/>
          </a:prstGeom>
          <a:solidFill>
            <a:srgbClr val="E6F2F3"/>
          </a:solidFill>
          <a:ln/>
        </p:spPr>
        <p:txBody>
          <a:bodyPr wrap="square" lIns="64008" tIns="0" rIns="64008" bIns="0" rtlCol="0" anchor="ctr"/>
          <a:lstStyle/>
          <a:p>
            <a:pPr algn="l" indent="0" marL="0">
              <a:lnSpc>
                <a:spcPct val="100000"/>
              </a:lnSpc>
              <a:buNone/>
            </a:pPr>
            <a:r>
              <a:rPr lang="en-US" sz="780" b="1" dirty="0">
                <a:solidFill>
                  <a:srgbClr val="267D86"/>
                </a:solidFill>
                <a:latin typeface="Noto Sans KR" pitchFamily="34" charset="0"/>
                <a:ea typeface="Noto Sans KR" pitchFamily="34" charset="-122"/>
                <a:cs typeface="Noto Sans KR" pitchFamily="34" charset="-120"/>
              </a:rPr>
              <a:t>B1  </a:t>
            </a:r>
            <a:pPr algn="l" indent="0" marL="0">
              <a:lnSpc>
                <a:spcPct val="100000"/>
              </a:lnSpc>
              <a:buNone/>
            </a:pPr>
            <a:r>
              <a:rPr lang="en-US" sz="780" b="1" dirty="0">
                <a:solidFill>
                  <a:srgbClr val="182F48"/>
                </a:solidFill>
                <a:latin typeface="Noto Sans KR" pitchFamily="34" charset="0"/>
                <a:ea typeface="Noto Sans KR" pitchFamily="34" charset="-122"/>
                <a:cs typeface="Noto Sans KR" pitchFamily="34" charset="-120"/>
              </a:rPr>
              <a:t>국내 플랫폼 MD</a:t>
            </a:r>
            <a:endParaRPr lang="en-US" sz="780" dirty="0"/>
          </a:p>
        </p:txBody>
      </p:sp>
      <p:sp>
        <p:nvSpPr>
          <p:cNvPr id="63" name="바이어 B1 본문"/>
          <p:cNvSpPr/>
          <p:nvPr/>
        </p:nvSpPr>
        <p:spPr>
          <a:xfrm>
            <a:off x="2121408" y="3072384"/>
            <a:ext cx="1295835" cy="603504"/>
          </a:xfrm>
          <a:prstGeom prst="rect">
            <a:avLst/>
          </a:prstGeom>
          <a:solidFill>
            <a:srgbClr val="FFFFFF"/>
          </a:solidFill>
          <a:ln w="9525">
            <a:solidFill>
              <a:srgbClr val="CBD5E1"/>
            </a:solidFill>
            <a:prstDash val="solid"/>
          </a:ln>
        </p:spPr>
      </p:sp>
      <p:sp>
        <p:nvSpPr>
          <p:cNvPr id="64" name="바이어 B1 직무"/>
          <p:cNvSpPr txBox="1"/>
          <p:nvPr/>
        </p:nvSpPr>
        <p:spPr>
          <a:xfrm>
            <a:off x="2185416" y="3108960"/>
            <a:ext cx="1167819" cy="137160"/>
          </a:xfrm>
          <a:prstGeom prst="rect">
            <a:avLst/>
          </a:prstGeom>
          <a:noFill/>
          <a:ln/>
        </p:spPr>
        <p:txBody>
          <a:bodyPr wrap="square" lIns="0" tIns="0" rIns="0" bIns="0" rtlCol="0" anchor="t"/>
          <a:lstStyle/>
          <a:p>
            <a:pPr algn="l" indent="0" marL="0">
              <a:lnSpc>
                <a:spcPct val="95000"/>
              </a:lnSpc>
              <a:buNone/>
            </a:pPr>
            <a:r>
              <a:rPr lang="en-US" sz="680" dirty="0">
                <a:solidFill>
                  <a:srgbClr val="64748B"/>
                </a:solidFill>
                <a:latin typeface="Noto Sans KR" pitchFamily="34" charset="0"/>
                <a:ea typeface="Noto Sans KR" pitchFamily="34" charset="-122"/>
                <a:cs typeface="Noto Sans KR" pitchFamily="34" charset="-120"/>
              </a:rPr>
              <a:t>아웃도어·스포츠 카테고리</a:t>
            </a:r>
            <a:endParaRPr lang="en-US" sz="680" dirty="0"/>
          </a:p>
        </p:txBody>
      </p:sp>
      <p:sp>
        <p:nvSpPr>
          <p:cNvPr id="65" name="배지 무신사"/>
          <p:cNvSpPr/>
          <p:nvPr/>
        </p:nvSpPr>
        <p:spPr>
          <a:xfrm>
            <a:off x="2185416" y="3273552"/>
            <a:ext cx="329794" cy="155448"/>
          </a:xfrm>
          <a:prstGeom prst="roundRect">
            <a:avLst>
              <a:gd name="adj" fmla="val 23529"/>
            </a:avLst>
          </a:prstGeom>
          <a:solidFill>
            <a:srgbClr val="E6F2F3"/>
          </a:solidFill>
          <a:ln/>
        </p:spPr>
        <p:txBody>
          <a:bodyPr wrap="square" lIns="0" tIns="0" rIns="0" bIns="0" rtlCol="0" anchor="ctr"/>
          <a:lstStyle/>
          <a:p>
            <a:pPr algn="ctr" indent="0" marL="0">
              <a:buNone/>
            </a:pPr>
            <a:r>
              <a:rPr lang="en-US" sz="680" dirty="0">
                <a:solidFill>
                  <a:srgbClr val="182F48"/>
                </a:solidFill>
                <a:latin typeface="Noto Sans KR" pitchFamily="34" charset="0"/>
                <a:ea typeface="Noto Sans KR" pitchFamily="34" charset="-122"/>
                <a:cs typeface="Noto Sans KR" pitchFamily="34" charset="-120"/>
              </a:rPr>
              <a:t>무신사</a:t>
            </a:r>
            <a:endParaRPr lang="en-US" sz="680" dirty="0"/>
          </a:p>
        </p:txBody>
      </p:sp>
      <p:sp>
        <p:nvSpPr>
          <p:cNvPr id="66" name="배지 29CM"/>
          <p:cNvSpPr/>
          <p:nvPr/>
        </p:nvSpPr>
        <p:spPr>
          <a:xfrm>
            <a:off x="2551786" y="3273552"/>
            <a:ext cx="312522" cy="155448"/>
          </a:xfrm>
          <a:prstGeom prst="roundRect">
            <a:avLst>
              <a:gd name="adj" fmla="val 23529"/>
            </a:avLst>
          </a:prstGeom>
          <a:solidFill>
            <a:srgbClr val="E6F2F3"/>
          </a:solidFill>
          <a:ln/>
        </p:spPr>
        <p:txBody>
          <a:bodyPr wrap="square" lIns="0" tIns="0" rIns="0" bIns="0" rtlCol="0" anchor="ctr"/>
          <a:lstStyle/>
          <a:p>
            <a:pPr algn="ctr" indent="0" marL="0">
              <a:buNone/>
            </a:pPr>
            <a:r>
              <a:rPr lang="en-US" sz="680" dirty="0">
                <a:solidFill>
                  <a:srgbClr val="182F48"/>
                </a:solidFill>
                <a:latin typeface="Noto Sans KR" pitchFamily="34" charset="0"/>
                <a:ea typeface="Noto Sans KR" pitchFamily="34" charset="-122"/>
                <a:cs typeface="Noto Sans KR" pitchFamily="34" charset="-120"/>
              </a:rPr>
              <a:t>29CM</a:t>
            </a:r>
            <a:endParaRPr lang="en-US" sz="680" dirty="0"/>
          </a:p>
        </p:txBody>
      </p:sp>
      <p:sp>
        <p:nvSpPr>
          <p:cNvPr id="67" name="배지 W컨셉"/>
          <p:cNvSpPr/>
          <p:nvPr/>
        </p:nvSpPr>
        <p:spPr>
          <a:xfrm>
            <a:off x="2900883" y="3273552"/>
            <a:ext cx="346375" cy="155448"/>
          </a:xfrm>
          <a:prstGeom prst="roundRect">
            <a:avLst>
              <a:gd name="adj" fmla="val 23529"/>
            </a:avLst>
          </a:prstGeom>
          <a:solidFill>
            <a:srgbClr val="E6F2F3"/>
          </a:solidFill>
          <a:ln/>
        </p:spPr>
        <p:txBody>
          <a:bodyPr wrap="square" lIns="0" tIns="0" rIns="0" bIns="0" rtlCol="0" anchor="ctr"/>
          <a:lstStyle/>
          <a:p>
            <a:pPr algn="ctr" indent="0" marL="0">
              <a:buNone/>
            </a:pPr>
            <a:r>
              <a:rPr lang="en-US" sz="680" dirty="0">
                <a:solidFill>
                  <a:srgbClr val="182F48"/>
                </a:solidFill>
                <a:latin typeface="Noto Sans KR" pitchFamily="34" charset="0"/>
                <a:ea typeface="Noto Sans KR" pitchFamily="34" charset="-122"/>
                <a:cs typeface="Noto Sans KR" pitchFamily="34" charset="-120"/>
              </a:rPr>
              <a:t>W컨셉</a:t>
            </a:r>
            <a:endParaRPr lang="en-US" sz="680" dirty="0"/>
          </a:p>
        </p:txBody>
      </p:sp>
      <p:sp>
        <p:nvSpPr>
          <p:cNvPr id="68" name="바이어 B2"/>
          <p:cNvSpPr txBox="1"/>
          <p:nvPr/>
        </p:nvSpPr>
        <p:spPr>
          <a:xfrm>
            <a:off x="3481251" y="2852928"/>
            <a:ext cx="1295835" cy="219456"/>
          </a:xfrm>
          <a:prstGeom prst="rect">
            <a:avLst/>
          </a:prstGeom>
          <a:solidFill>
            <a:srgbClr val="E6F2F3"/>
          </a:solidFill>
          <a:ln/>
        </p:spPr>
        <p:txBody>
          <a:bodyPr wrap="square" lIns="64008" tIns="0" rIns="64008" bIns="0" rtlCol="0" anchor="ctr"/>
          <a:lstStyle/>
          <a:p>
            <a:pPr algn="l" indent="0" marL="0">
              <a:lnSpc>
                <a:spcPct val="100000"/>
              </a:lnSpc>
              <a:buNone/>
            </a:pPr>
            <a:r>
              <a:rPr lang="en-US" sz="780" b="1" dirty="0">
                <a:solidFill>
                  <a:srgbClr val="267D86"/>
                </a:solidFill>
                <a:latin typeface="Noto Sans KR" pitchFamily="34" charset="0"/>
                <a:ea typeface="Noto Sans KR" pitchFamily="34" charset="-122"/>
                <a:cs typeface="Noto Sans KR" pitchFamily="34" charset="-120"/>
              </a:rPr>
              <a:t>B2  </a:t>
            </a:r>
            <a:pPr algn="l" indent="0" marL="0">
              <a:lnSpc>
                <a:spcPct val="100000"/>
              </a:lnSpc>
              <a:buNone/>
            </a:pPr>
            <a:r>
              <a:rPr lang="en-US" sz="780" b="1" dirty="0">
                <a:solidFill>
                  <a:srgbClr val="182F48"/>
                </a:solidFill>
                <a:latin typeface="Noto Sans KR" pitchFamily="34" charset="0"/>
                <a:ea typeface="Noto Sans KR" pitchFamily="34" charset="-122"/>
                <a:cs typeface="Noto Sans KR" pitchFamily="34" charset="-120"/>
              </a:rPr>
              <a:t>백화점 바이어</a:t>
            </a:r>
            <a:endParaRPr lang="en-US" sz="780" dirty="0"/>
          </a:p>
        </p:txBody>
      </p:sp>
      <p:sp>
        <p:nvSpPr>
          <p:cNvPr id="69" name="바이어 B2 본문"/>
          <p:cNvSpPr/>
          <p:nvPr/>
        </p:nvSpPr>
        <p:spPr>
          <a:xfrm>
            <a:off x="3481251" y="3072384"/>
            <a:ext cx="1295835" cy="603504"/>
          </a:xfrm>
          <a:prstGeom prst="rect">
            <a:avLst/>
          </a:prstGeom>
          <a:solidFill>
            <a:srgbClr val="FFFFFF"/>
          </a:solidFill>
          <a:ln w="9525">
            <a:solidFill>
              <a:srgbClr val="CBD5E1"/>
            </a:solidFill>
            <a:prstDash val="solid"/>
          </a:ln>
        </p:spPr>
      </p:sp>
      <p:sp>
        <p:nvSpPr>
          <p:cNvPr id="70" name="바이어 B2 직무"/>
          <p:cNvSpPr txBox="1"/>
          <p:nvPr/>
        </p:nvSpPr>
        <p:spPr>
          <a:xfrm>
            <a:off x="3545259" y="3108960"/>
            <a:ext cx="1167819" cy="137160"/>
          </a:xfrm>
          <a:prstGeom prst="rect">
            <a:avLst/>
          </a:prstGeom>
          <a:noFill/>
          <a:ln/>
        </p:spPr>
        <p:txBody>
          <a:bodyPr wrap="square" lIns="0" tIns="0" rIns="0" bIns="0" rtlCol="0" anchor="t"/>
          <a:lstStyle/>
          <a:p>
            <a:pPr algn="l" indent="0" marL="0">
              <a:lnSpc>
                <a:spcPct val="95000"/>
              </a:lnSpc>
              <a:buNone/>
            </a:pPr>
            <a:r>
              <a:rPr lang="en-US" sz="680" dirty="0">
                <a:solidFill>
                  <a:srgbClr val="64748B"/>
                </a:solidFill>
                <a:latin typeface="Noto Sans KR" pitchFamily="34" charset="0"/>
                <a:ea typeface="Noto Sans KR" pitchFamily="34" charset="-122"/>
                <a:cs typeface="Noto Sans KR" pitchFamily="34" charset="-120"/>
              </a:rPr>
              <a:t>아웃도어 바이어 · 팝업 기획</a:t>
            </a:r>
            <a:endParaRPr lang="en-US" sz="680" dirty="0"/>
          </a:p>
        </p:txBody>
      </p:sp>
      <p:sp>
        <p:nvSpPr>
          <p:cNvPr id="71" name="배지 현대백화점"/>
          <p:cNvSpPr/>
          <p:nvPr/>
        </p:nvSpPr>
        <p:spPr>
          <a:xfrm>
            <a:off x="3545259" y="3273552"/>
            <a:ext cx="488696" cy="155448"/>
          </a:xfrm>
          <a:prstGeom prst="roundRect">
            <a:avLst>
              <a:gd name="adj" fmla="val 23529"/>
            </a:avLst>
          </a:prstGeom>
          <a:solidFill>
            <a:srgbClr val="E6F2F3"/>
          </a:solidFill>
          <a:ln/>
        </p:spPr>
        <p:txBody>
          <a:bodyPr wrap="square" lIns="0" tIns="0" rIns="0" bIns="0" rtlCol="0" anchor="ctr"/>
          <a:lstStyle/>
          <a:p>
            <a:pPr algn="ctr" indent="0" marL="0">
              <a:buNone/>
            </a:pPr>
            <a:r>
              <a:rPr lang="en-US" sz="680" dirty="0">
                <a:solidFill>
                  <a:srgbClr val="182F48"/>
                </a:solidFill>
                <a:latin typeface="Noto Sans KR" pitchFamily="34" charset="0"/>
                <a:ea typeface="Noto Sans KR" pitchFamily="34" charset="-122"/>
                <a:cs typeface="Noto Sans KR" pitchFamily="34" charset="-120"/>
              </a:rPr>
              <a:t>현대백화점</a:t>
            </a:r>
            <a:endParaRPr lang="en-US" sz="680" dirty="0"/>
          </a:p>
        </p:txBody>
      </p:sp>
      <p:sp>
        <p:nvSpPr>
          <p:cNvPr id="72" name="배지 신세계"/>
          <p:cNvSpPr/>
          <p:nvPr/>
        </p:nvSpPr>
        <p:spPr>
          <a:xfrm>
            <a:off x="4070531" y="3273552"/>
            <a:ext cx="329794" cy="155448"/>
          </a:xfrm>
          <a:prstGeom prst="roundRect">
            <a:avLst>
              <a:gd name="adj" fmla="val 23529"/>
            </a:avLst>
          </a:prstGeom>
          <a:solidFill>
            <a:srgbClr val="E6F2F3"/>
          </a:solidFill>
          <a:ln/>
        </p:spPr>
        <p:txBody>
          <a:bodyPr wrap="square" lIns="0" tIns="0" rIns="0" bIns="0" rtlCol="0" anchor="ctr"/>
          <a:lstStyle/>
          <a:p>
            <a:pPr algn="ctr" indent="0" marL="0">
              <a:buNone/>
            </a:pPr>
            <a:r>
              <a:rPr lang="en-US" sz="680" dirty="0">
                <a:solidFill>
                  <a:srgbClr val="182F48"/>
                </a:solidFill>
                <a:latin typeface="Noto Sans KR" pitchFamily="34" charset="0"/>
                <a:ea typeface="Noto Sans KR" pitchFamily="34" charset="-122"/>
                <a:cs typeface="Noto Sans KR" pitchFamily="34" charset="-120"/>
              </a:rPr>
              <a:t>신세계</a:t>
            </a:r>
            <a:endParaRPr lang="en-US" sz="680" dirty="0"/>
          </a:p>
        </p:txBody>
      </p:sp>
      <p:sp>
        <p:nvSpPr>
          <p:cNvPr id="73" name="배지 롯데"/>
          <p:cNvSpPr/>
          <p:nvPr/>
        </p:nvSpPr>
        <p:spPr>
          <a:xfrm>
            <a:off x="4436901" y="3273552"/>
            <a:ext cx="250342" cy="155448"/>
          </a:xfrm>
          <a:prstGeom prst="roundRect">
            <a:avLst>
              <a:gd name="adj" fmla="val 23529"/>
            </a:avLst>
          </a:prstGeom>
          <a:solidFill>
            <a:srgbClr val="E6F2F3"/>
          </a:solidFill>
          <a:ln/>
        </p:spPr>
        <p:txBody>
          <a:bodyPr wrap="square" lIns="0" tIns="0" rIns="0" bIns="0" rtlCol="0" anchor="ctr"/>
          <a:lstStyle/>
          <a:p>
            <a:pPr algn="ctr" indent="0" marL="0">
              <a:buNone/>
            </a:pPr>
            <a:r>
              <a:rPr lang="en-US" sz="680" dirty="0">
                <a:solidFill>
                  <a:srgbClr val="182F48"/>
                </a:solidFill>
                <a:latin typeface="Noto Sans KR" pitchFamily="34" charset="0"/>
                <a:ea typeface="Noto Sans KR" pitchFamily="34" charset="-122"/>
                <a:cs typeface="Noto Sans KR" pitchFamily="34" charset="-120"/>
              </a:rPr>
              <a:t>롯데</a:t>
            </a:r>
            <a:endParaRPr lang="en-US" sz="680" dirty="0"/>
          </a:p>
        </p:txBody>
      </p:sp>
      <p:sp>
        <p:nvSpPr>
          <p:cNvPr id="74" name="바이어 B3"/>
          <p:cNvSpPr txBox="1"/>
          <p:nvPr/>
        </p:nvSpPr>
        <p:spPr>
          <a:xfrm>
            <a:off x="4841095" y="2852928"/>
            <a:ext cx="1295835" cy="219456"/>
          </a:xfrm>
          <a:prstGeom prst="rect">
            <a:avLst/>
          </a:prstGeom>
          <a:solidFill>
            <a:srgbClr val="E6F2F3"/>
          </a:solidFill>
          <a:ln/>
        </p:spPr>
        <p:txBody>
          <a:bodyPr wrap="square" lIns="64008" tIns="0" rIns="64008" bIns="0" rtlCol="0" anchor="ctr"/>
          <a:lstStyle/>
          <a:p>
            <a:pPr algn="l" indent="0" marL="0">
              <a:lnSpc>
                <a:spcPct val="100000"/>
              </a:lnSpc>
              <a:buNone/>
            </a:pPr>
            <a:r>
              <a:rPr lang="en-US" sz="780" b="1" dirty="0">
                <a:solidFill>
                  <a:srgbClr val="267D86"/>
                </a:solidFill>
                <a:latin typeface="Noto Sans KR" pitchFamily="34" charset="0"/>
                <a:ea typeface="Noto Sans KR" pitchFamily="34" charset="-122"/>
                <a:cs typeface="Noto Sans KR" pitchFamily="34" charset="-120"/>
              </a:rPr>
              <a:t>B3  </a:t>
            </a:r>
            <a:pPr algn="l" indent="0" marL="0">
              <a:lnSpc>
                <a:spcPct val="100000"/>
              </a:lnSpc>
              <a:buNone/>
            </a:pPr>
            <a:r>
              <a:rPr lang="en-US" sz="780" b="1" dirty="0">
                <a:solidFill>
                  <a:srgbClr val="182F48"/>
                </a:solidFill>
                <a:latin typeface="Noto Sans KR" pitchFamily="34" charset="0"/>
                <a:ea typeface="Noto Sans KR" pitchFamily="34" charset="-122"/>
                <a:cs typeface="Noto Sans KR" pitchFamily="34" charset="-120"/>
              </a:rPr>
              <a:t>국내 편집숍</a:t>
            </a:r>
            <a:endParaRPr lang="en-US" sz="780" dirty="0"/>
          </a:p>
        </p:txBody>
      </p:sp>
      <p:sp>
        <p:nvSpPr>
          <p:cNvPr id="75" name="바이어 B3 본문"/>
          <p:cNvSpPr/>
          <p:nvPr/>
        </p:nvSpPr>
        <p:spPr>
          <a:xfrm>
            <a:off x="4841095" y="3072384"/>
            <a:ext cx="1295835" cy="603504"/>
          </a:xfrm>
          <a:prstGeom prst="rect">
            <a:avLst/>
          </a:prstGeom>
          <a:solidFill>
            <a:srgbClr val="FFFFFF"/>
          </a:solidFill>
          <a:ln w="9525">
            <a:solidFill>
              <a:srgbClr val="CBD5E1"/>
            </a:solidFill>
            <a:prstDash val="solid"/>
          </a:ln>
        </p:spPr>
      </p:sp>
      <p:sp>
        <p:nvSpPr>
          <p:cNvPr id="76" name="바이어 B3 직무"/>
          <p:cNvSpPr txBox="1"/>
          <p:nvPr/>
        </p:nvSpPr>
        <p:spPr>
          <a:xfrm>
            <a:off x="4905103" y="3108960"/>
            <a:ext cx="1167819" cy="137160"/>
          </a:xfrm>
          <a:prstGeom prst="rect">
            <a:avLst/>
          </a:prstGeom>
          <a:noFill/>
          <a:ln/>
        </p:spPr>
        <p:txBody>
          <a:bodyPr wrap="square" lIns="0" tIns="0" rIns="0" bIns="0" rtlCol="0" anchor="t"/>
          <a:lstStyle/>
          <a:p>
            <a:pPr algn="l" indent="0" marL="0">
              <a:lnSpc>
                <a:spcPct val="95000"/>
              </a:lnSpc>
              <a:buNone/>
            </a:pPr>
            <a:r>
              <a:rPr lang="en-US" sz="680" dirty="0">
                <a:solidFill>
                  <a:srgbClr val="64748B"/>
                </a:solidFill>
                <a:latin typeface="Noto Sans KR" pitchFamily="34" charset="0"/>
                <a:ea typeface="Noto Sans KR" pitchFamily="34" charset="-122"/>
                <a:cs typeface="Noto Sans KR" pitchFamily="34" charset="-120"/>
              </a:rPr>
              <a:t>셀렉트숍 바잉 MD</a:t>
            </a:r>
            <a:endParaRPr lang="en-US" sz="680" dirty="0"/>
          </a:p>
        </p:txBody>
      </p:sp>
      <p:sp>
        <p:nvSpPr>
          <p:cNvPr id="77" name="배지 웍스아웃"/>
          <p:cNvSpPr/>
          <p:nvPr/>
        </p:nvSpPr>
        <p:spPr>
          <a:xfrm>
            <a:off x="4905103" y="3273552"/>
            <a:ext cx="409245" cy="155448"/>
          </a:xfrm>
          <a:prstGeom prst="roundRect">
            <a:avLst>
              <a:gd name="adj" fmla="val 23529"/>
            </a:avLst>
          </a:prstGeom>
          <a:solidFill>
            <a:srgbClr val="E6F2F3"/>
          </a:solidFill>
          <a:ln/>
        </p:spPr>
        <p:txBody>
          <a:bodyPr wrap="square" lIns="0" tIns="0" rIns="0" bIns="0" rtlCol="0" anchor="ctr"/>
          <a:lstStyle/>
          <a:p>
            <a:pPr algn="ctr" indent="0" marL="0">
              <a:buNone/>
            </a:pPr>
            <a:r>
              <a:rPr lang="en-US" sz="680" dirty="0">
                <a:solidFill>
                  <a:srgbClr val="182F48"/>
                </a:solidFill>
                <a:latin typeface="Noto Sans KR" pitchFamily="34" charset="0"/>
                <a:ea typeface="Noto Sans KR" pitchFamily="34" charset="-122"/>
                <a:cs typeface="Noto Sans KR" pitchFamily="34" charset="-120"/>
              </a:rPr>
              <a:t>웍스아웃</a:t>
            </a:r>
            <a:endParaRPr lang="en-US" sz="680" dirty="0"/>
          </a:p>
        </p:txBody>
      </p:sp>
      <p:sp>
        <p:nvSpPr>
          <p:cNvPr id="78" name="배지 비이커"/>
          <p:cNvSpPr/>
          <p:nvPr/>
        </p:nvSpPr>
        <p:spPr>
          <a:xfrm>
            <a:off x="5350924" y="3273552"/>
            <a:ext cx="329794" cy="155448"/>
          </a:xfrm>
          <a:prstGeom prst="roundRect">
            <a:avLst>
              <a:gd name="adj" fmla="val 23529"/>
            </a:avLst>
          </a:prstGeom>
          <a:solidFill>
            <a:srgbClr val="E6F2F3"/>
          </a:solidFill>
          <a:ln/>
        </p:spPr>
        <p:txBody>
          <a:bodyPr wrap="square" lIns="0" tIns="0" rIns="0" bIns="0" rtlCol="0" anchor="ctr"/>
          <a:lstStyle/>
          <a:p>
            <a:pPr algn="ctr" indent="0" marL="0">
              <a:buNone/>
            </a:pPr>
            <a:r>
              <a:rPr lang="en-US" sz="680" dirty="0">
                <a:solidFill>
                  <a:srgbClr val="182F48"/>
                </a:solidFill>
                <a:latin typeface="Noto Sans KR" pitchFamily="34" charset="0"/>
                <a:ea typeface="Noto Sans KR" pitchFamily="34" charset="-122"/>
                <a:cs typeface="Noto Sans KR" pitchFamily="34" charset="-120"/>
              </a:rPr>
              <a:t>비이커</a:t>
            </a:r>
            <a:endParaRPr lang="en-US" sz="680" dirty="0"/>
          </a:p>
        </p:txBody>
      </p:sp>
      <p:sp>
        <p:nvSpPr>
          <p:cNvPr id="79" name="바이어 B4"/>
          <p:cNvSpPr txBox="1"/>
          <p:nvPr/>
        </p:nvSpPr>
        <p:spPr>
          <a:xfrm>
            <a:off x="6200938" y="2852928"/>
            <a:ext cx="1295835" cy="219456"/>
          </a:xfrm>
          <a:prstGeom prst="rect">
            <a:avLst/>
          </a:prstGeom>
          <a:solidFill>
            <a:srgbClr val="E6F2F3"/>
          </a:solidFill>
          <a:ln/>
        </p:spPr>
        <p:txBody>
          <a:bodyPr wrap="square" lIns="64008" tIns="0" rIns="64008" bIns="0" rtlCol="0" anchor="ctr"/>
          <a:lstStyle/>
          <a:p>
            <a:pPr algn="l" indent="0" marL="0">
              <a:lnSpc>
                <a:spcPct val="100000"/>
              </a:lnSpc>
              <a:buNone/>
            </a:pPr>
            <a:r>
              <a:rPr lang="en-US" sz="780" b="1" dirty="0">
                <a:solidFill>
                  <a:srgbClr val="267D86"/>
                </a:solidFill>
                <a:latin typeface="Noto Sans KR" pitchFamily="34" charset="0"/>
                <a:ea typeface="Noto Sans KR" pitchFamily="34" charset="-122"/>
                <a:cs typeface="Noto Sans KR" pitchFamily="34" charset="-120"/>
              </a:rPr>
              <a:t>B4  </a:t>
            </a:r>
            <a:pPr algn="l" indent="0" marL="0">
              <a:lnSpc>
                <a:spcPct val="100000"/>
              </a:lnSpc>
              <a:buNone/>
            </a:pPr>
            <a:r>
              <a:rPr lang="en-US" sz="780" b="1" dirty="0">
                <a:solidFill>
                  <a:srgbClr val="182F48"/>
                </a:solidFill>
                <a:latin typeface="Noto Sans KR" pitchFamily="34" charset="0"/>
                <a:ea typeface="Noto Sans KR" pitchFamily="34" charset="-122"/>
                <a:cs typeface="Noto Sans KR" pitchFamily="34" charset="-120"/>
              </a:rPr>
              <a:t>해외 편집숍</a:t>
            </a:r>
            <a:endParaRPr lang="en-US" sz="780" dirty="0"/>
          </a:p>
        </p:txBody>
      </p:sp>
      <p:sp>
        <p:nvSpPr>
          <p:cNvPr id="80" name="바이어 B4 본문"/>
          <p:cNvSpPr/>
          <p:nvPr/>
        </p:nvSpPr>
        <p:spPr>
          <a:xfrm>
            <a:off x="6200938" y="3072384"/>
            <a:ext cx="1295835" cy="603504"/>
          </a:xfrm>
          <a:prstGeom prst="rect">
            <a:avLst/>
          </a:prstGeom>
          <a:solidFill>
            <a:srgbClr val="FFFFFF"/>
          </a:solidFill>
          <a:ln w="9525">
            <a:solidFill>
              <a:srgbClr val="CBD5E1"/>
            </a:solidFill>
            <a:prstDash val="solid"/>
          </a:ln>
        </p:spPr>
      </p:sp>
      <p:sp>
        <p:nvSpPr>
          <p:cNvPr id="81" name="바이어 B4 직무"/>
          <p:cNvSpPr txBox="1"/>
          <p:nvPr/>
        </p:nvSpPr>
        <p:spPr>
          <a:xfrm>
            <a:off x="6264946" y="3108960"/>
            <a:ext cx="1167819" cy="137160"/>
          </a:xfrm>
          <a:prstGeom prst="rect">
            <a:avLst/>
          </a:prstGeom>
          <a:noFill/>
          <a:ln/>
        </p:spPr>
        <p:txBody>
          <a:bodyPr wrap="square" lIns="0" tIns="0" rIns="0" bIns="0" rtlCol="0" anchor="t"/>
          <a:lstStyle/>
          <a:p>
            <a:pPr algn="l" indent="0" marL="0">
              <a:lnSpc>
                <a:spcPct val="95000"/>
              </a:lnSpc>
              <a:buNone/>
            </a:pPr>
            <a:r>
              <a:rPr lang="en-US" sz="680" dirty="0">
                <a:solidFill>
                  <a:srgbClr val="64748B"/>
                </a:solidFill>
                <a:latin typeface="Noto Sans KR" pitchFamily="34" charset="0"/>
                <a:ea typeface="Noto Sans KR" pitchFamily="34" charset="-122"/>
                <a:cs typeface="Noto Sans KR" pitchFamily="34" charset="-120"/>
              </a:rPr>
              <a:t>일본 · 영국 편집숍 바이어</a:t>
            </a:r>
            <a:endParaRPr lang="en-US" sz="680" dirty="0"/>
          </a:p>
        </p:txBody>
      </p:sp>
      <p:sp>
        <p:nvSpPr>
          <p:cNvPr id="82" name="배지 빔즈"/>
          <p:cNvSpPr/>
          <p:nvPr/>
        </p:nvSpPr>
        <p:spPr>
          <a:xfrm>
            <a:off x="6264946" y="3273552"/>
            <a:ext cx="250342" cy="155448"/>
          </a:xfrm>
          <a:prstGeom prst="roundRect">
            <a:avLst>
              <a:gd name="adj" fmla="val 23529"/>
            </a:avLst>
          </a:prstGeom>
          <a:solidFill>
            <a:srgbClr val="EEF0F3"/>
          </a:solidFill>
          <a:ln/>
        </p:spPr>
        <p:txBody>
          <a:bodyPr wrap="square" lIns="0" tIns="0" rIns="0" bIns="0" rtlCol="0" anchor="ctr"/>
          <a:lstStyle/>
          <a:p>
            <a:pPr algn="ctr" indent="0" marL="0">
              <a:buNone/>
            </a:pPr>
            <a:r>
              <a:rPr lang="en-US" sz="680" dirty="0">
                <a:solidFill>
                  <a:srgbClr val="475569"/>
                </a:solidFill>
                <a:latin typeface="Noto Sans KR" pitchFamily="34" charset="0"/>
                <a:ea typeface="Noto Sans KR" pitchFamily="34" charset="-122"/>
                <a:cs typeface="Noto Sans KR" pitchFamily="34" charset="-120"/>
              </a:rPr>
              <a:t>빔즈</a:t>
            </a:r>
            <a:endParaRPr lang="en-US" sz="680" dirty="0"/>
          </a:p>
        </p:txBody>
      </p:sp>
      <p:sp>
        <p:nvSpPr>
          <p:cNvPr id="83" name="배지 유나이티드애로우즈"/>
          <p:cNvSpPr/>
          <p:nvPr/>
        </p:nvSpPr>
        <p:spPr>
          <a:xfrm>
            <a:off x="6551865" y="3273552"/>
            <a:ext cx="806501" cy="155448"/>
          </a:xfrm>
          <a:prstGeom prst="roundRect">
            <a:avLst>
              <a:gd name="adj" fmla="val 23529"/>
            </a:avLst>
          </a:prstGeom>
          <a:solidFill>
            <a:srgbClr val="EEF0F3"/>
          </a:solidFill>
          <a:ln/>
        </p:spPr>
        <p:txBody>
          <a:bodyPr wrap="square" lIns="0" tIns="0" rIns="0" bIns="0" rtlCol="0" anchor="ctr"/>
          <a:lstStyle/>
          <a:p>
            <a:pPr algn="ctr" indent="0" marL="0">
              <a:buNone/>
            </a:pPr>
            <a:r>
              <a:rPr lang="en-US" sz="680" dirty="0">
                <a:solidFill>
                  <a:srgbClr val="475569"/>
                </a:solidFill>
                <a:latin typeface="Noto Sans KR" pitchFamily="34" charset="0"/>
                <a:ea typeface="Noto Sans KR" pitchFamily="34" charset="-122"/>
                <a:cs typeface="Noto Sans KR" pitchFamily="34" charset="-120"/>
              </a:rPr>
              <a:t>유나이티드애로우즈</a:t>
            </a:r>
            <a:endParaRPr lang="en-US" sz="680" dirty="0"/>
          </a:p>
        </p:txBody>
      </p:sp>
      <p:sp>
        <p:nvSpPr>
          <p:cNvPr id="84" name="배지 1LDK"/>
          <p:cNvSpPr/>
          <p:nvPr/>
        </p:nvSpPr>
        <p:spPr>
          <a:xfrm>
            <a:off x="6264946" y="3456432"/>
            <a:ext cx="301468" cy="155448"/>
          </a:xfrm>
          <a:prstGeom prst="roundRect">
            <a:avLst>
              <a:gd name="adj" fmla="val 23529"/>
            </a:avLst>
          </a:prstGeom>
          <a:solidFill>
            <a:srgbClr val="EEF0F3"/>
          </a:solidFill>
          <a:ln/>
        </p:spPr>
        <p:txBody>
          <a:bodyPr wrap="square" lIns="0" tIns="0" rIns="0" bIns="0" rtlCol="0" anchor="ctr"/>
          <a:lstStyle/>
          <a:p>
            <a:pPr algn="ctr" indent="0" marL="0">
              <a:buNone/>
            </a:pPr>
            <a:r>
              <a:rPr lang="en-US" sz="680" dirty="0">
                <a:solidFill>
                  <a:srgbClr val="475569"/>
                </a:solidFill>
                <a:latin typeface="Noto Sans KR" pitchFamily="34" charset="0"/>
                <a:ea typeface="Noto Sans KR" pitchFamily="34" charset="-122"/>
                <a:cs typeface="Noto Sans KR" pitchFamily="34" charset="-120"/>
              </a:rPr>
              <a:t>1LDK</a:t>
            </a:r>
            <a:endParaRPr lang="en-US" sz="680" dirty="0"/>
          </a:p>
        </p:txBody>
      </p:sp>
      <p:sp>
        <p:nvSpPr>
          <p:cNvPr id="85" name="배지 END."/>
          <p:cNvSpPr/>
          <p:nvPr/>
        </p:nvSpPr>
        <p:spPr>
          <a:xfrm>
            <a:off x="6602990" y="3456432"/>
            <a:ext cx="288168" cy="155448"/>
          </a:xfrm>
          <a:prstGeom prst="roundRect">
            <a:avLst>
              <a:gd name="adj" fmla="val 23529"/>
            </a:avLst>
          </a:prstGeom>
          <a:solidFill>
            <a:srgbClr val="EEF0F3"/>
          </a:solidFill>
          <a:ln/>
        </p:spPr>
        <p:txBody>
          <a:bodyPr wrap="square" lIns="0" tIns="0" rIns="0" bIns="0" rtlCol="0" anchor="ctr"/>
          <a:lstStyle/>
          <a:p>
            <a:pPr algn="ctr" indent="0" marL="0">
              <a:buNone/>
            </a:pPr>
            <a:r>
              <a:rPr lang="en-US" sz="680" dirty="0">
                <a:solidFill>
                  <a:srgbClr val="475569"/>
                </a:solidFill>
                <a:latin typeface="Noto Sans KR" pitchFamily="34" charset="0"/>
                <a:ea typeface="Noto Sans KR" pitchFamily="34" charset="-122"/>
                <a:cs typeface="Noto Sans KR" pitchFamily="34" charset="-120"/>
              </a:rPr>
              <a:t>END.</a:t>
            </a:r>
            <a:endParaRPr lang="en-US" sz="680" dirty="0"/>
          </a:p>
        </p:txBody>
      </p:sp>
      <p:sp>
        <p:nvSpPr>
          <p:cNvPr id="86" name="바이어 B5"/>
          <p:cNvSpPr txBox="1"/>
          <p:nvPr/>
        </p:nvSpPr>
        <p:spPr>
          <a:xfrm>
            <a:off x="7560782" y="2852928"/>
            <a:ext cx="1295835" cy="219456"/>
          </a:xfrm>
          <a:prstGeom prst="rect">
            <a:avLst/>
          </a:prstGeom>
          <a:solidFill>
            <a:srgbClr val="E6F2F3"/>
          </a:solidFill>
          <a:ln/>
        </p:spPr>
        <p:txBody>
          <a:bodyPr wrap="square" lIns="64008" tIns="0" rIns="64008" bIns="0" rtlCol="0" anchor="ctr"/>
          <a:lstStyle/>
          <a:p>
            <a:pPr algn="l" indent="0" marL="0">
              <a:lnSpc>
                <a:spcPct val="100000"/>
              </a:lnSpc>
              <a:buNone/>
            </a:pPr>
            <a:r>
              <a:rPr lang="en-US" sz="780" b="1" dirty="0">
                <a:solidFill>
                  <a:srgbClr val="267D86"/>
                </a:solidFill>
                <a:latin typeface="Noto Sans KR" pitchFamily="34" charset="0"/>
                <a:ea typeface="Noto Sans KR" pitchFamily="34" charset="-122"/>
                <a:cs typeface="Noto Sans KR" pitchFamily="34" charset="-120"/>
              </a:rPr>
              <a:t>B5  </a:t>
            </a:r>
            <a:pPr algn="l" indent="0" marL="0">
              <a:lnSpc>
                <a:spcPct val="100000"/>
              </a:lnSpc>
              <a:buNone/>
            </a:pPr>
            <a:r>
              <a:rPr lang="en-US" sz="780" b="1" dirty="0">
                <a:solidFill>
                  <a:srgbClr val="182F48"/>
                </a:solidFill>
                <a:latin typeface="Noto Sans KR" pitchFamily="34" charset="0"/>
                <a:ea typeface="Noto Sans KR" pitchFamily="34" charset="-122"/>
                <a:cs typeface="Noto Sans KR" pitchFamily="34" charset="-120"/>
              </a:rPr>
              <a:t>해외 유통 파트너</a:t>
            </a:r>
            <a:endParaRPr lang="en-US" sz="780" dirty="0"/>
          </a:p>
        </p:txBody>
      </p:sp>
      <p:sp>
        <p:nvSpPr>
          <p:cNvPr id="87" name="바이어 B5 본문"/>
          <p:cNvSpPr/>
          <p:nvPr/>
        </p:nvSpPr>
        <p:spPr>
          <a:xfrm>
            <a:off x="7560782" y="3072384"/>
            <a:ext cx="1295835" cy="603504"/>
          </a:xfrm>
          <a:prstGeom prst="rect">
            <a:avLst/>
          </a:prstGeom>
          <a:solidFill>
            <a:srgbClr val="FFFFFF"/>
          </a:solidFill>
          <a:ln w="9525">
            <a:solidFill>
              <a:srgbClr val="CBD5E1"/>
            </a:solidFill>
            <a:prstDash val="solid"/>
          </a:ln>
        </p:spPr>
      </p:sp>
      <p:sp>
        <p:nvSpPr>
          <p:cNvPr id="88" name="바이어 B5 직무"/>
          <p:cNvSpPr txBox="1"/>
          <p:nvPr/>
        </p:nvSpPr>
        <p:spPr>
          <a:xfrm>
            <a:off x="7624790" y="3108960"/>
            <a:ext cx="1167819" cy="137160"/>
          </a:xfrm>
          <a:prstGeom prst="rect">
            <a:avLst/>
          </a:prstGeom>
          <a:noFill/>
          <a:ln/>
        </p:spPr>
        <p:txBody>
          <a:bodyPr wrap="square" lIns="0" tIns="0" rIns="0" bIns="0" rtlCol="0" anchor="t"/>
          <a:lstStyle/>
          <a:p>
            <a:pPr algn="l" indent="0" marL="0">
              <a:lnSpc>
                <a:spcPct val="95000"/>
              </a:lnSpc>
              <a:buNone/>
            </a:pPr>
            <a:r>
              <a:rPr lang="en-US" sz="680" dirty="0">
                <a:solidFill>
                  <a:srgbClr val="64748B"/>
                </a:solidFill>
                <a:latin typeface="Noto Sans KR" pitchFamily="34" charset="0"/>
                <a:ea typeface="Noto Sans KR" pitchFamily="34" charset="-122"/>
                <a:cs typeface="Noto Sans KR" pitchFamily="34" charset="-120"/>
              </a:rPr>
              <a:t>라이선스 · 합작 사업 개발</a:t>
            </a:r>
            <a:endParaRPr lang="en-US" sz="680" dirty="0"/>
          </a:p>
        </p:txBody>
      </p:sp>
      <p:sp>
        <p:nvSpPr>
          <p:cNvPr id="89" name="배지 안타(중국)"/>
          <p:cNvSpPr/>
          <p:nvPr/>
        </p:nvSpPr>
        <p:spPr>
          <a:xfrm>
            <a:off x="7624790" y="3273552"/>
            <a:ext cx="528249" cy="155448"/>
          </a:xfrm>
          <a:prstGeom prst="roundRect">
            <a:avLst>
              <a:gd name="adj" fmla="val 23529"/>
            </a:avLst>
          </a:prstGeom>
          <a:solidFill>
            <a:srgbClr val="EEF0F3"/>
          </a:solidFill>
          <a:ln/>
        </p:spPr>
        <p:txBody>
          <a:bodyPr wrap="square" lIns="0" tIns="0" rIns="0" bIns="0" rtlCol="0" anchor="ctr"/>
          <a:lstStyle/>
          <a:p>
            <a:pPr algn="ctr" indent="0" marL="0">
              <a:buNone/>
            </a:pPr>
            <a:r>
              <a:rPr lang="en-US" sz="680" dirty="0">
                <a:solidFill>
                  <a:srgbClr val="475569"/>
                </a:solidFill>
                <a:latin typeface="Noto Sans KR" pitchFamily="34" charset="0"/>
                <a:ea typeface="Noto Sans KR" pitchFamily="34" charset="-122"/>
                <a:cs typeface="Noto Sans KR" pitchFamily="34" charset="-120"/>
              </a:rPr>
              <a:t>안타(중국)</a:t>
            </a:r>
            <a:endParaRPr lang="en-US" sz="680" dirty="0"/>
          </a:p>
        </p:txBody>
      </p:sp>
      <p:sp>
        <p:nvSpPr>
          <p:cNvPr id="90" name="배지 이토추상사(일본)"/>
          <p:cNvSpPr/>
          <p:nvPr/>
        </p:nvSpPr>
        <p:spPr>
          <a:xfrm>
            <a:off x="7624790" y="3456432"/>
            <a:ext cx="766602" cy="155448"/>
          </a:xfrm>
          <a:prstGeom prst="roundRect">
            <a:avLst>
              <a:gd name="adj" fmla="val 23529"/>
            </a:avLst>
          </a:prstGeom>
          <a:solidFill>
            <a:srgbClr val="EEF0F3"/>
          </a:solidFill>
          <a:ln/>
        </p:spPr>
        <p:txBody>
          <a:bodyPr wrap="square" lIns="0" tIns="0" rIns="0" bIns="0" rtlCol="0" anchor="ctr"/>
          <a:lstStyle/>
          <a:p>
            <a:pPr algn="ctr" indent="0" marL="0">
              <a:buNone/>
            </a:pPr>
            <a:r>
              <a:rPr lang="en-US" sz="680" dirty="0">
                <a:solidFill>
                  <a:srgbClr val="475569"/>
                </a:solidFill>
                <a:latin typeface="Noto Sans KR" pitchFamily="34" charset="0"/>
                <a:ea typeface="Noto Sans KR" pitchFamily="34" charset="-122"/>
                <a:cs typeface="Noto Sans KR" pitchFamily="34" charset="-120"/>
              </a:rPr>
              <a:t>이토추상사(일본)</a:t>
            </a:r>
            <a:endParaRPr lang="en-US" sz="680" dirty="0"/>
          </a:p>
        </p:txBody>
      </p:sp>
      <p:sp>
        <p:nvSpPr>
          <p:cNvPr id="91" name="바이어 B6"/>
          <p:cNvSpPr txBox="1"/>
          <p:nvPr/>
        </p:nvSpPr>
        <p:spPr>
          <a:xfrm>
            <a:off x="8920625" y="2852928"/>
            <a:ext cx="1295835" cy="219456"/>
          </a:xfrm>
          <a:prstGeom prst="rect">
            <a:avLst/>
          </a:prstGeom>
          <a:solidFill>
            <a:srgbClr val="FDEDE3"/>
          </a:solidFill>
          <a:ln/>
        </p:spPr>
        <p:txBody>
          <a:bodyPr wrap="square" lIns="64008" tIns="0" rIns="64008" bIns="0" rtlCol="0" anchor="ctr"/>
          <a:lstStyle/>
          <a:p>
            <a:pPr algn="l" indent="0" marL="0">
              <a:lnSpc>
                <a:spcPct val="100000"/>
              </a:lnSpc>
              <a:buNone/>
            </a:pPr>
            <a:r>
              <a:rPr lang="en-US" sz="780" b="1" dirty="0">
                <a:solidFill>
                  <a:srgbClr val="C2410C"/>
                </a:solidFill>
                <a:latin typeface="Noto Sans KR" pitchFamily="34" charset="0"/>
                <a:ea typeface="Noto Sans KR" pitchFamily="34" charset="-122"/>
                <a:cs typeface="Noto Sans KR" pitchFamily="34" charset="-120"/>
              </a:rPr>
              <a:t>B6  </a:t>
            </a:r>
            <a:pPr algn="l" indent="0" marL="0">
              <a:lnSpc>
                <a:spcPct val="100000"/>
              </a:lnSpc>
              <a:buNone/>
            </a:pPr>
            <a:r>
              <a:rPr lang="en-US" sz="780" b="1" dirty="0">
                <a:solidFill>
                  <a:srgbClr val="182F48"/>
                </a:solidFill>
                <a:latin typeface="Noto Sans KR" pitchFamily="34" charset="0"/>
                <a:ea typeface="Noto Sans KR" pitchFamily="34" charset="-122"/>
                <a:cs typeface="Noto Sans KR" pitchFamily="34" charset="-120"/>
              </a:rPr>
              <a:t>브랜드 소싱 · 운영팀</a:t>
            </a:r>
            <a:endParaRPr lang="en-US" sz="780" dirty="0"/>
          </a:p>
        </p:txBody>
      </p:sp>
      <p:sp>
        <p:nvSpPr>
          <p:cNvPr id="92" name="바이어 B6 본문"/>
          <p:cNvSpPr/>
          <p:nvPr/>
        </p:nvSpPr>
        <p:spPr>
          <a:xfrm>
            <a:off x="8920625" y="3072384"/>
            <a:ext cx="1295835" cy="603504"/>
          </a:xfrm>
          <a:prstGeom prst="rect">
            <a:avLst/>
          </a:prstGeom>
          <a:solidFill>
            <a:srgbClr val="FFFFFF"/>
          </a:solidFill>
          <a:ln w="9525">
            <a:solidFill>
              <a:srgbClr val="C2410C"/>
            </a:solidFill>
            <a:prstDash val="solid"/>
          </a:ln>
        </p:spPr>
      </p:sp>
      <p:sp>
        <p:nvSpPr>
          <p:cNvPr id="93" name="바이어 B6 직무"/>
          <p:cNvSpPr txBox="1"/>
          <p:nvPr/>
        </p:nvSpPr>
        <p:spPr>
          <a:xfrm>
            <a:off x="8984633" y="3108960"/>
            <a:ext cx="1167819" cy="137160"/>
          </a:xfrm>
          <a:prstGeom prst="rect">
            <a:avLst/>
          </a:prstGeom>
          <a:noFill/>
          <a:ln/>
        </p:spPr>
        <p:txBody>
          <a:bodyPr wrap="square" lIns="0" tIns="0" rIns="0" bIns="0" rtlCol="0" anchor="t"/>
          <a:lstStyle/>
          <a:p>
            <a:pPr algn="l" indent="0" marL="0">
              <a:lnSpc>
                <a:spcPct val="95000"/>
              </a:lnSpc>
              <a:buNone/>
            </a:pPr>
            <a:r>
              <a:rPr lang="en-US" sz="680" b="1" dirty="0">
                <a:solidFill>
                  <a:srgbClr val="C2410C"/>
                </a:solidFill>
                <a:latin typeface="Noto Sans KR" pitchFamily="34" charset="0"/>
                <a:ea typeface="Noto Sans KR" pitchFamily="34" charset="-122"/>
                <a:cs typeface="Noto Sans KR" pitchFamily="34" charset="-120"/>
              </a:rPr>
              <a:t>참가 브랜드가 구매자로</a:t>
            </a:r>
            <a:endParaRPr lang="en-US" sz="680" dirty="0"/>
          </a:p>
        </p:txBody>
      </p:sp>
      <p:sp>
        <p:nvSpPr>
          <p:cNvPr id="94" name="배지 E3 · E4 참가 브랜드"/>
          <p:cNvSpPr/>
          <p:nvPr/>
        </p:nvSpPr>
        <p:spPr>
          <a:xfrm>
            <a:off x="8984633" y="3273552"/>
            <a:ext cx="832322" cy="155448"/>
          </a:xfrm>
          <a:prstGeom prst="roundRect">
            <a:avLst>
              <a:gd name="adj" fmla="val 23529"/>
            </a:avLst>
          </a:prstGeom>
          <a:solidFill>
            <a:srgbClr val="FFFFFF"/>
          </a:solidFill>
          <a:ln w="6350">
            <a:solidFill>
              <a:srgbClr val="CBD5E1"/>
            </a:solidFill>
          </a:ln>
        </p:spPr>
        <p:txBody>
          <a:bodyPr wrap="square" lIns="0" tIns="0" rIns="0" bIns="0" rtlCol="0" anchor="ctr"/>
          <a:lstStyle/>
          <a:p>
            <a:pPr algn="ctr" indent="0" marL="0">
              <a:buNone/>
            </a:pPr>
            <a:r>
              <a:rPr lang="en-US" sz="680" dirty="0">
                <a:solidFill>
                  <a:srgbClr val="334155"/>
                </a:solidFill>
                <a:latin typeface="Noto Sans KR" pitchFamily="34" charset="0"/>
                <a:ea typeface="Noto Sans KR" pitchFamily="34" charset="-122"/>
                <a:cs typeface="Noto Sans KR" pitchFamily="34" charset="-120"/>
              </a:rPr>
              <a:t>E3 · E4 참가 브랜드</a:t>
            </a:r>
            <a:endParaRPr lang="en-US" sz="680" dirty="0"/>
          </a:p>
        </p:txBody>
      </p:sp>
      <p:sp>
        <p:nvSpPr>
          <p:cNvPr id="95" name="배지 무신사 스탠다드"/>
          <p:cNvSpPr/>
          <p:nvPr/>
        </p:nvSpPr>
        <p:spPr>
          <a:xfrm>
            <a:off x="8984633" y="3456432"/>
            <a:ext cx="666943" cy="155448"/>
          </a:xfrm>
          <a:prstGeom prst="roundRect">
            <a:avLst>
              <a:gd name="adj" fmla="val 23529"/>
            </a:avLst>
          </a:prstGeom>
          <a:solidFill>
            <a:srgbClr val="E6F2F3"/>
          </a:solidFill>
          <a:ln/>
        </p:spPr>
        <p:txBody>
          <a:bodyPr wrap="square" lIns="0" tIns="0" rIns="0" bIns="0" rtlCol="0" anchor="ctr"/>
          <a:lstStyle/>
          <a:p>
            <a:pPr algn="ctr" indent="0" marL="0">
              <a:buNone/>
            </a:pPr>
            <a:r>
              <a:rPr lang="en-US" sz="680" dirty="0">
                <a:solidFill>
                  <a:srgbClr val="182F48"/>
                </a:solidFill>
                <a:latin typeface="Noto Sans KR" pitchFamily="34" charset="0"/>
                <a:ea typeface="Noto Sans KR" pitchFamily="34" charset="-122"/>
                <a:cs typeface="Noto Sans KR" pitchFamily="34" charset="-120"/>
              </a:rPr>
              <a:t>무신사 스탠다드</a:t>
            </a:r>
            <a:endParaRPr lang="en-US" sz="680" dirty="0"/>
          </a:p>
        </p:txBody>
      </p:sp>
      <p:sp>
        <p:nvSpPr>
          <p:cNvPr id="96" name="바이어 B7"/>
          <p:cNvSpPr txBox="1"/>
          <p:nvPr/>
        </p:nvSpPr>
        <p:spPr>
          <a:xfrm>
            <a:off x="10280469" y="2852928"/>
            <a:ext cx="1295835" cy="219456"/>
          </a:xfrm>
          <a:prstGeom prst="rect">
            <a:avLst/>
          </a:prstGeom>
          <a:solidFill>
            <a:srgbClr val="E6F2F3"/>
          </a:solidFill>
          <a:ln/>
        </p:spPr>
        <p:txBody>
          <a:bodyPr wrap="square" lIns="64008" tIns="0" rIns="64008" bIns="0" rtlCol="0" anchor="ctr"/>
          <a:lstStyle/>
          <a:p>
            <a:pPr algn="l" indent="0" marL="0">
              <a:lnSpc>
                <a:spcPct val="100000"/>
              </a:lnSpc>
              <a:buNone/>
            </a:pPr>
            <a:r>
              <a:rPr lang="en-US" sz="780" b="1" dirty="0">
                <a:solidFill>
                  <a:srgbClr val="267D86"/>
                </a:solidFill>
                <a:latin typeface="Noto Sans KR" pitchFamily="34" charset="0"/>
                <a:ea typeface="Noto Sans KR" pitchFamily="34" charset="-122"/>
                <a:cs typeface="Noto Sans KR" pitchFamily="34" charset="-120"/>
              </a:rPr>
              <a:t>B7  </a:t>
            </a:r>
            <a:pPr algn="l" indent="0" marL="0">
              <a:lnSpc>
                <a:spcPct val="100000"/>
              </a:lnSpc>
              <a:buNone/>
            </a:pPr>
            <a:r>
              <a:rPr lang="en-US" sz="780" b="1" dirty="0">
                <a:solidFill>
                  <a:srgbClr val="182F48"/>
                </a:solidFill>
                <a:latin typeface="Noto Sans KR" pitchFamily="34" charset="0"/>
                <a:ea typeface="Noto Sans KR" pitchFamily="34" charset="-122"/>
                <a:cs typeface="Noto Sans KR" pitchFamily="34" charset="-120"/>
              </a:rPr>
              <a:t>관심 소비자</a:t>
            </a:r>
            <a:endParaRPr lang="en-US" sz="780" dirty="0"/>
          </a:p>
        </p:txBody>
      </p:sp>
      <p:sp>
        <p:nvSpPr>
          <p:cNvPr id="97" name="바이어 B7 본문"/>
          <p:cNvSpPr/>
          <p:nvPr/>
        </p:nvSpPr>
        <p:spPr>
          <a:xfrm>
            <a:off x="10280469" y="3072384"/>
            <a:ext cx="1295835" cy="603504"/>
          </a:xfrm>
          <a:prstGeom prst="rect">
            <a:avLst/>
          </a:prstGeom>
          <a:solidFill>
            <a:srgbClr val="FFFFFF"/>
          </a:solidFill>
          <a:ln w="9525">
            <a:solidFill>
              <a:srgbClr val="CBD5E1"/>
            </a:solidFill>
            <a:prstDash val="solid"/>
          </a:ln>
        </p:spPr>
      </p:sp>
      <p:sp>
        <p:nvSpPr>
          <p:cNvPr id="98" name="바이어 B7 직무"/>
          <p:cNvSpPr txBox="1"/>
          <p:nvPr/>
        </p:nvSpPr>
        <p:spPr>
          <a:xfrm>
            <a:off x="10344477" y="3108960"/>
            <a:ext cx="1167819" cy="137160"/>
          </a:xfrm>
          <a:prstGeom prst="rect">
            <a:avLst/>
          </a:prstGeom>
          <a:noFill/>
          <a:ln/>
        </p:spPr>
        <p:txBody>
          <a:bodyPr wrap="square" lIns="0" tIns="0" rIns="0" bIns="0" rtlCol="0" anchor="t"/>
          <a:lstStyle/>
          <a:p>
            <a:pPr algn="l" indent="0" marL="0">
              <a:lnSpc>
                <a:spcPct val="95000"/>
              </a:lnSpc>
              <a:buNone/>
            </a:pPr>
            <a:r>
              <a:rPr lang="en-US" sz="680" dirty="0">
                <a:solidFill>
                  <a:srgbClr val="64748B"/>
                </a:solidFill>
                <a:latin typeface="Noto Sans KR" pitchFamily="34" charset="0"/>
                <a:ea typeface="Noto Sans KR" pitchFamily="34" charset="-122"/>
                <a:cs typeface="Noto Sans KR" pitchFamily="34" charset="-120"/>
              </a:rPr>
              <a:t>퍼블릭 랩 데이 · B2C</a:t>
            </a:r>
            <a:endParaRPr lang="en-US" sz="680" dirty="0"/>
          </a:p>
        </p:txBody>
      </p:sp>
      <p:sp>
        <p:nvSpPr>
          <p:cNvPr id="99" name="배지 하이킹 · 러닝 크루"/>
          <p:cNvSpPr/>
          <p:nvPr/>
        </p:nvSpPr>
        <p:spPr>
          <a:xfrm>
            <a:off x="10344477" y="3273552"/>
            <a:ext cx="794497" cy="155448"/>
          </a:xfrm>
          <a:prstGeom prst="roundRect">
            <a:avLst>
              <a:gd name="adj" fmla="val 23529"/>
            </a:avLst>
          </a:prstGeom>
          <a:solidFill>
            <a:srgbClr val="FFFFFF"/>
          </a:solidFill>
          <a:ln w="6350">
            <a:solidFill>
              <a:srgbClr val="CBD5E1"/>
            </a:solidFill>
          </a:ln>
        </p:spPr>
        <p:txBody>
          <a:bodyPr wrap="square" lIns="0" tIns="0" rIns="0" bIns="0" rtlCol="0" anchor="ctr"/>
          <a:lstStyle/>
          <a:p>
            <a:pPr algn="ctr" indent="0" marL="0">
              <a:buNone/>
            </a:pPr>
            <a:r>
              <a:rPr lang="en-US" sz="680" dirty="0">
                <a:solidFill>
                  <a:srgbClr val="334155"/>
                </a:solidFill>
                <a:latin typeface="Noto Sans KR" pitchFamily="34" charset="0"/>
                <a:ea typeface="Noto Sans KR" pitchFamily="34" charset="-122"/>
                <a:cs typeface="Noto Sans KR" pitchFamily="34" charset="-120"/>
              </a:rPr>
              <a:t>하이킹 · 러닝 크루</a:t>
            </a:r>
            <a:endParaRPr lang="en-US" sz="680" dirty="0"/>
          </a:p>
        </p:txBody>
      </p:sp>
      <p:sp>
        <p:nvSpPr>
          <p:cNvPr id="100" name="배지 2030 도시 소비자"/>
          <p:cNvSpPr/>
          <p:nvPr/>
        </p:nvSpPr>
        <p:spPr>
          <a:xfrm>
            <a:off x="10344477" y="3456432"/>
            <a:ext cx="739313" cy="155448"/>
          </a:xfrm>
          <a:prstGeom prst="roundRect">
            <a:avLst>
              <a:gd name="adj" fmla="val 23529"/>
            </a:avLst>
          </a:prstGeom>
          <a:solidFill>
            <a:srgbClr val="FFFFFF"/>
          </a:solidFill>
          <a:ln w="6350">
            <a:solidFill>
              <a:srgbClr val="CBD5E1"/>
            </a:solidFill>
          </a:ln>
        </p:spPr>
        <p:txBody>
          <a:bodyPr wrap="square" lIns="0" tIns="0" rIns="0" bIns="0" rtlCol="0" anchor="ctr"/>
          <a:lstStyle/>
          <a:p>
            <a:pPr algn="ctr" indent="0" marL="0">
              <a:buNone/>
            </a:pPr>
            <a:r>
              <a:rPr lang="en-US" sz="680" dirty="0">
                <a:solidFill>
                  <a:srgbClr val="334155"/>
                </a:solidFill>
                <a:latin typeface="Noto Sans KR" pitchFamily="34" charset="0"/>
                <a:ea typeface="Noto Sans KR" pitchFamily="34" charset="-122"/>
                <a:cs typeface="Noto Sans KR" pitchFamily="34" charset="-120"/>
              </a:rPr>
              <a:t>2030 도시 소비자</a:t>
            </a:r>
            <a:endParaRPr lang="en-US" sz="680" dirty="0"/>
          </a:p>
        </p:txBody>
      </p:sp>
      <p:sp>
        <p:nvSpPr>
          <p:cNvPr id="101" name="라벨"/>
          <p:cNvSpPr txBox="1"/>
          <p:nvPr/>
        </p:nvSpPr>
        <p:spPr>
          <a:xfrm>
            <a:off x="612648" y="3803904"/>
            <a:ext cx="1417320" cy="475488"/>
          </a:xfrm>
          <a:prstGeom prst="rect">
            <a:avLst/>
          </a:prstGeom>
          <a:noFill/>
          <a:ln/>
        </p:spPr>
        <p:txBody>
          <a:bodyPr wrap="square" lIns="0" tIns="0" rIns="0" bIns="0" rtlCol="0" anchor="t"/>
          <a:lstStyle/>
          <a:p>
            <a:pPr algn="l" indent="0" marL="0">
              <a:lnSpc>
                <a:spcPct val="100000"/>
              </a:lnSpc>
              <a:buNone/>
            </a:pPr>
            <a:r>
              <a:rPr lang="en-US" sz="1200" b="1" dirty="0">
                <a:solidFill>
                  <a:srgbClr val="182F48"/>
                </a:solidFill>
                <a:latin typeface="Noto Sans KR" pitchFamily="34" charset="0"/>
                <a:ea typeface="Noto Sans KR" pitchFamily="34" charset="-122"/>
                <a:cs typeface="Noto Sans KR" pitchFamily="34" charset="-120"/>
              </a:rPr>
              <a:t>거래 연결</a:t>
            </a:r>
            <a:endParaRPr lang="en-US" sz="1200" dirty="0"/>
          </a:p>
          <a:p>
            <a:pPr algn="l" indent="0" marL="0">
              <a:lnSpc>
                <a:spcPct val="100000"/>
              </a:lnSpc>
              <a:buNone/>
            </a:pPr>
            <a:r>
              <a:rPr lang="en-US" sz="1200" b="1" dirty="0">
                <a:solidFill>
                  <a:srgbClr val="182F48"/>
                </a:solidFill>
                <a:latin typeface="Noto Sans KR" pitchFamily="34" charset="0"/>
                <a:ea typeface="Noto Sans KR" pitchFamily="34" charset="-122"/>
                <a:cs typeface="Noto Sans KR" pitchFamily="34" charset="-120"/>
              </a:rPr>
              <a:t>관계</a:t>
            </a:r>
            <a:endParaRPr lang="en-US" sz="1200" dirty="0"/>
          </a:p>
        </p:txBody>
      </p:sp>
      <p:sp>
        <p:nvSpPr>
          <p:cNvPr id="102" name="라벨 안내"/>
          <p:cNvSpPr txBox="1"/>
          <p:nvPr/>
        </p:nvSpPr>
        <p:spPr>
          <a:xfrm>
            <a:off x="612648" y="4315968"/>
            <a:ext cx="1417320" cy="857805"/>
          </a:xfrm>
          <a:prstGeom prst="rect">
            <a:avLst/>
          </a:prstGeom>
          <a:noFill/>
          <a:ln/>
        </p:spPr>
        <p:txBody>
          <a:bodyPr wrap="square" lIns="0" tIns="0" rIns="0" bIns="0" rtlCol="0" anchor="t"/>
          <a:lstStyle/>
          <a:p>
            <a:pPr algn="l" indent="0" marL="0">
              <a:lnSpc>
                <a:spcPct val="92000"/>
              </a:lnSpc>
              <a:buNone/>
            </a:pPr>
            <a:r>
              <a:rPr lang="en-US" sz="800" dirty="0">
                <a:solidFill>
                  <a:srgbClr val="64748B"/>
                </a:solidFill>
                <a:latin typeface="Noto Sans KR" pitchFamily="34" charset="0"/>
                <a:ea typeface="Noto Sans KR" pitchFamily="34" charset="-122"/>
                <a:cs typeface="Noto Sans KR" pitchFamily="34" charset="-120"/>
              </a:rPr>
              <a:t>참가업체 유형 →</a:t>
            </a:r>
            <a:endParaRPr lang="en-US" sz="800" dirty="0"/>
          </a:p>
          <a:p>
            <a:pPr algn="l" indent="0" marL="0">
              <a:lnSpc>
                <a:spcPct val="92000"/>
              </a:lnSpc>
              <a:buNone/>
            </a:pPr>
            <a:r>
              <a:rPr lang="en-US" sz="800" dirty="0">
                <a:solidFill>
                  <a:srgbClr val="64748B"/>
                </a:solidFill>
                <a:latin typeface="Noto Sans KR" pitchFamily="34" charset="0"/>
                <a:ea typeface="Noto Sans KR" pitchFamily="34" charset="-122"/>
                <a:cs typeface="Noto Sans KR" pitchFamily="34" charset="-120"/>
              </a:rPr>
              <a:t>제공 품목 →</a:t>
            </a:r>
            <a:endParaRPr lang="en-US" sz="800" dirty="0"/>
          </a:p>
          <a:p>
            <a:pPr algn="l" indent="0" marL="0">
              <a:lnSpc>
                <a:spcPct val="92000"/>
              </a:lnSpc>
              <a:buNone/>
            </a:pPr>
            <a:r>
              <a:rPr lang="en-US" sz="800" dirty="0">
                <a:solidFill>
                  <a:srgbClr val="64748B"/>
                </a:solidFill>
                <a:latin typeface="Noto Sans KR" pitchFamily="34" charset="0"/>
                <a:ea typeface="Noto Sans KR" pitchFamily="34" charset="-122"/>
                <a:cs typeface="Noto Sans KR" pitchFamily="34" charset="-120"/>
              </a:rPr>
              <a:t>바이어 유형 →</a:t>
            </a:r>
            <a:endParaRPr lang="en-US" sz="800" dirty="0"/>
          </a:p>
          <a:p>
            <a:pPr algn="l" indent="0" marL="0">
              <a:lnSpc>
                <a:spcPct val="92000"/>
              </a:lnSpc>
              <a:buNone/>
            </a:pPr>
            <a:r>
              <a:rPr lang="en-US" sz="800" dirty="0">
                <a:solidFill>
                  <a:srgbClr val="64748B"/>
                </a:solidFill>
                <a:latin typeface="Noto Sans KR" pitchFamily="34" charset="0"/>
                <a:ea typeface="Noto Sans KR" pitchFamily="34" charset="-122"/>
                <a:cs typeface="Noto Sans KR" pitchFamily="34" charset="-120"/>
              </a:rPr>
              <a:t>구매 이유</a:t>
            </a:r>
            <a:endParaRPr lang="en-US" sz="800" dirty="0"/>
          </a:p>
          <a:p>
            <a:pPr algn="l" indent="0" marL="0">
              <a:lnSpc>
                <a:spcPct val="92000"/>
              </a:lnSpc>
              <a:buNone/>
            </a:pPr>
            <a:endParaRPr lang="en-US" sz="800" dirty="0"/>
          </a:p>
          <a:p>
            <a:pPr algn="l" indent="0" marL="0">
              <a:lnSpc>
                <a:spcPct val="92000"/>
              </a:lnSpc>
              <a:buNone/>
            </a:pPr>
            <a:r>
              <a:rPr lang="en-US" sz="800" dirty="0">
                <a:solidFill>
                  <a:srgbClr val="64748B"/>
                </a:solidFill>
                <a:latin typeface="Noto Sans KR" pitchFamily="34" charset="0"/>
                <a:ea typeface="Noto Sans KR" pitchFamily="34" charset="-122"/>
                <a:cs typeface="Noto Sans KR" pitchFamily="34" charset="-120"/>
              </a:rPr>
              <a:t>①②③ = 1장의 세 병목</a:t>
            </a:r>
            <a:endParaRPr lang="en-US" sz="800" dirty="0"/>
          </a:p>
        </p:txBody>
      </p:sp>
      <p:graphicFrame>
        <p:nvGraphicFramePr>
          <p:cNvPr id="6" name="거래 연결표"/>
          <p:cNvGraphicFramePr>
            <a:graphicFrameLocks noGrp="1"/>
          </p:cNvGraphicFramePr>
          <p:nvPr>
            <p:extLst>
              <p:ext uri="{D42A27DB-BD31-4B8C-83A1-F6EECF244321}">
                <p14:modId xmlns:p14="http://schemas.microsoft.com/office/powerpoint/2010/main" val="1579011935"/>
              </p:ext>
            </p:extLst>
          </p:nvPr>
        </p:nvGraphicFramePr>
        <p:xfrm>
          <a:off x="2121408" y="3785616"/>
          <a:ext cx="9454896" cy="914400"/>
        </p:xfrm>
        <a:graphic>
          <a:graphicData uri="http://schemas.openxmlformats.org/drawingml/2006/table">
            <a:tbl>
              <a:tblPr/>
              <a:tblGrid>
                <a:gridCol w="1325880"/>
                <a:gridCol w="1600200"/>
                <a:gridCol w="1600200"/>
                <a:gridCol w="4928616"/>
              </a:tblGrid>
              <a:tr h="182880">
                <a:tc>
                  <a:txBody>
                    <a:bodyPr/>
                    <a:lstStyle/>
                    <a:p>
                      <a:pPr algn="l" indent="0" marL="0">
                        <a:buNone/>
                      </a:pPr>
                      <a:r>
                        <a:rPr lang="en-US" sz="750" b="1" dirty="0">
                          <a:solidFill>
                            <a:srgbClr val="FFFFFF"/>
                          </a:solidFill>
                          <a:latin typeface="Noto Sans KR" pitchFamily="34" charset="0"/>
                          <a:ea typeface="Noto Sans KR" pitchFamily="34" charset="-122"/>
                          <a:cs typeface="Noto Sans KR" pitchFamily="34" charset="-120"/>
                        </a:rPr>
                        <a:t>참가업체 유형 (E)</a:t>
                      </a:r>
                      <a:endParaRPr lang="en-US" sz="750" dirty="0">
                        <a:latin typeface="Noto Sans KR" charset="0"/>
                        <a:ea typeface="Noto Sans KR" charset="0"/>
                        <a:cs typeface="Noto Sans KR" charset="0"/>
                      </a:endParaRPr>
                    </a:p>
                  </a:txBody>
                  <a:tcPr marL="63500" marR="635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82F48"/>
                    </a:solidFill>
                  </a:tcPr>
                </a:tc>
                <a:tc>
                  <a:txBody>
                    <a:bodyPr/>
                    <a:lstStyle/>
                    <a:p>
                      <a:pPr algn="l" indent="0" marL="0">
                        <a:buNone/>
                      </a:pPr>
                      <a:r>
                        <a:rPr lang="en-US" sz="750" b="1" dirty="0">
                          <a:solidFill>
                            <a:srgbClr val="FFFFFF"/>
                          </a:solidFill>
                          <a:latin typeface="Noto Sans KR" pitchFamily="34" charset="0"/>
                          <a:ea typeface="Noto Sans KR" pitchFamily="34" charset="-122"/>
                          <a:cs typeface="Noto Sans KR" pitchFamily="34" charset="-120"/>
                        </a:rPr>
                        <a:t>제공 품목</a:t>
                      </a:r>
                      <a:endParaRPr lang="en-US" sz="750" dirty="0">
                        <a:latin typeface="Noto Sans KR" charset="0"/>
                        <a:ea typeface="Noto Sans KR" charset="0"/>
                        <a:cs typeface="Noto Sans KR" charset="0"/>
                      </a:endParaRPr>
                    </a:p>
                  </a:txBody>
                  <a:tcPr marL="63500" marR="635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82F48"/>
                    </a:solidFill>
                  </a:tcPr>
                </a:tc>
                <a:tc>
                  <a:txBody>
                    <a:bodyPr/>
                    <a:lstStyle/>
                    <a:p>
                      <a:pPr algn="l" indent="0" marL="0">
                        <a:buNone/>
                      </a:pPr>
                      <a:r>
                        <a:rPr lang="en-US" sz="750" b="1" dirty="0">
                          <a:solidFill>
                            <a:srgbClr val="FFFFFF"/>
                          </a:solidFill>
                          <a:latin typeface="Noto Sans KR" pitchFamily="34" charset="0"/>
                          <a:ea typeface="Noto Sans KR" pitchFamily="34" charset="-122"/>
                          <a:cs typeface="Noto Sans KR" pitchFamily="34" charset="-120"/>
                        </a:rPr>
                        <a:t>바이어 유형 (B)</a:t>
                      </a:r>
                      <a:endParaRPr lang="en-US" sz="750" dirty="0">
                        <a:latin typeface="Noto Sans KR" charset="0"/>
                        <a:ea typeface="Noto Sans KR" charset="0"/>
                        <a:cs typeface="Noto Sans KR" charset="0"/>
                      </a:endParaRPr>
                    </a:p>
                  </a:txBody>
                  <a:tcPr marL="63500" marR="635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82F48"/>
                    </a:solidFill>
                  </a:tcPr>
                </a:tc>
                <a:tc>
                  <a:txBody>
                    <a:bodyPr/>
                    <a:lstStyle/>
                    <a:p>
                      <a:pPr algn="l" indent="0" marL="0">
                        <a:buNone/>
                      </a:pPr>
                      <a:r>
                        <a:rPr lang="en-US" sz="750" b="1" dirty="0">
                          <a:solidFill>
                            <a:srgbClr val="FFFFFF"/>
                          </a:solidFill>
                          <a:latin typeface="Noto Sans KR" pitchFamily="34" charset="0"/>
                          <a:ea typeface="Noto Sans KR" pitchFamily="34" charset="-122"/>
                          <a:cs typeface="Noto Sans KR" pitchFamily="34" charset="-120"/>
                        </a:rPr>
                        <a:t>구매 이유 · 해소하는 병목</a:t>
                      </a:r>
                      <a:endParaRPr lang="en-US" sz="750" dirty="0">
                        <a:latin typeface="Noto Sans KR" charset="0"/>
                        <a:ea typeface="Noto Sans KR" charset="0"/>
                        <a:cs typeface="Noto Sans KR" charset="0"/>
                      </a:endParaRPr>
                    </a:p>
                  </a:txBody>
                  <a:tcPr marL="63500" marR="635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82F48"/>
                    </a:solidFill>
                  </a:tcPr>
                </a:tc>
              </a:tr>
              <a:tr h="297464">
                <a:tc>
                  <a:txBody>
                    <a:bodyPr/>
                    <a:lstStyle/>
                    <a:p>
                      <a:pPr algn="l" indent="0" marL="0">
                        <a:buNone/>
                      </a:pPr>
                      <a:r>
                        <a:rPr lang="en-US" sz="750" b="1" dirty="0">
                          <a:solidFill>
                            <a:srgbClr val="267D86"/>
                          </a:solidFill>
                          <a:latin typeface="Noto Sans KR" pitchFamily="34" charset="0"/>
                          <a:ea typeface="Noto Sans KR" pitchFamily="34" charset="-122"/>
                          <a:cs typeface="Noto Sans KR" pitchFamily="34" charset="-120"/>
                        </a:rPr>
                        <a:t>E1  </a:t>
                      </a:r>
                      <a:pPr algn="l" indent="0" marL="0">
                        <a:buNone/>
                      </a:pPr>
                      <a:r>
                        <a:rPr lang="en-US" sz="750" b="1" dirty="0">
                          <a:solidFill>
                            <a:srgbClr val="182F48"/>
                          </a:solidFill>
                          <a:latin typeface="Noto Sans KR" pitchFamily="34" charset="0"/>
                          <a:ea typeface="Noto Sans KR" pitchFamily="34" charset="-122"/>
                          <a:cs typeface="Noto Sans KR" pitchFamily="34" charset="-120"/>
                        </a:rPr>
                        <a:t>기능성 소재</a:t>
                      </a:r>
                      <a:endParaRPr lang="en-US" sz="750" dirty="0">
                        <a:latin typeface="Noto Sans KR" charset="0"/>
                        <a:ea typeface="Noto Sans KR" charset="0"/>
                        <a:cs typeface="Noto Sans KR" charset="0"/>
                      </a:endParaRPr>
                    </a:p>
                  </a:txBody>
                  <a:tcPr marL="63500" marR="635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750" dirty="0">
                          <a:solidFill>
                            <a:srgbClr val="334155"/>
                          </a:solidFill>
                          <a:latin typeface="Noto Sans KR" pitchFamily="34" charset="0"/>
                          <a:ea typeface="Noto Sans KR" pitchFamily="34" charset="-122"/>
                          <a:cs typeface="Noto Sans KR" pitchFamily="34" charset="-120"/>
                        </a:rPr>
                        <a:t>소량(저MOQ) 원단</a:t>
                      </a:r>
                      <a:endParaRPr lang="en-US" sz="750" dirty="0">
                        <a:latin typeface="Noto Sans KR" charset="0"/>
                        <a:ea typeface="Noto Sans KR" charset="0"/>
                        <a:cs typeface="Noto Sans KR" charset="0"/>
                      </a:endParaRPr>
                    </a:p>
                    <a:p>
                      <a:pPr algn="l" indent="0" marL="0">
                        <a:buNone/>
                      </a:pPr>
                      <a:r>
                        <a:rPr lang="en-US" sz="750" dirty="0">
                          <a:solidFill>
                            <a:srgbClr val="334155"/>
                          </a:solidFill>
                          <a:latin typeface="Noto Sans KR" pitchFamily="34" charset="0"/>
                          <a:ea typeface="Noto Sans KR" pitchFamily="34" charset="-122"/>
                          <a:cs typeface="Noto Sans KR" pitchFamily="34" charset="-120"/>
                        </a:rPr>
                        <a:t>PFAS-free 발수 · 멤브레인</a:t>
                      </a:r>
                      <a:endParaRPr lang="en-US" sz="750" dirty="0">
                        <a:latin typeface="Noto Sans KR" charset="0"/>
                        <a:ea typeface="Noto Sans KR" charset="0"/>
                        <a:cs typeface="Noto Sans KR" charset="0"/>
                      </a:endParaRPr>
                    </a:p>
                  </a:txBody>
                  <a:tcPr marL="63500" marR="635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750" b="1" dirty="0">
                          <a:solidFill>
                            <a:srgbClr val="267D86"/>
                          </a:solidFill>
                          <a:latin typeface="Noto Sans KR" pitchFamily="34" charset="0"/>
                          <a:ea typeface="Noto Sans KR" pitchFamily="34" charset="-122"/>
                          <a:cs typeface="Noto Sans KR" pitchFamily="34" charset="-120"/>
                        </a:rPr>
                        <a:t>B6 브랜드 소싱팀</a:t>
                      </a:r>
                      <a:endParaRPr lang="en-US" sz="750" dirty="0">
                        <a:latin typeface="Noto Sans KR" charset="0"/>
                        <a:ea typeface="Noto Sans KR" charset="0"/>
                        <a:cs typeface="Noto Sans KR" charset="0"/>
                      </a:endParaRPr>
                    </a:p>
                    <a:p>
                      <a:pPr algn="l" indent="0" marL="0">
                        <a:buNone/>
                      </a:pPr>
                      <a:r>
                        <a:rPr lang="en-US" sz="750" b="1" dirty="0">
                          <a:solidFill>
                            <a:srgbClr val="267D86"/>
                          </a:solidFill>
                          <a:latin typeface="Noto Sans KR" pitchFamily="34" charset="0"/>
                          <a:ea typeface="Noto Sans KR" pitchFamily="34" charset="-122"/>
                          <a:cs typeface="Noto Sans KR" pitchFamily="34" charset="-120"/>
                        </a:rPr>
                        <a:t>(신진 · 대형사)</a:t>
                      </a:r>
                      <a:endParaRPr lang="en-US" sz="750" dirty="0">
                        <a:latin typeface="Noto Sans KR" charset="0"/>
                        <a:ea typeface="Noto Sans KR" charset="0"/>
                        <a:cs typeface="Noto Sans KR" charset="0"/>
                      </a:endParaRPr>
                    </a:p>
                  </a:txBody>
                  <a:tcPr marL="63500" marR="635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750" b="1" dirty="0">
                          <a:solidFill>
                            <a:srgbClr val="C2410C"/>
                          </a:solidFill>
                          <a:latin typeface="Noto Sans KR" pitchFamily="34" charset="0"/>
                          <a:ea typeface="Noto Sans KR" pitchFamily="34" charset="-122"/>
                          <a:cs typeface="Noto Sans KR" pitchFamily="34" charset="-120"/>
                        </a:rPr>
                        <a:t>① </a:t>
                      </a:r>
                      <a:pPr algn="l" indent="0" marL="0">
                        <a:buNone/>
                      </a:pPr>
                      <a:r>
                        <a:rPr lang="en-US" sz="750" dirty="0">
                          <a:solidFill>
                            <a:srgbClr val="334155"/>
                          </a:solidFill>
                          <a:latin typeface="Noto Sans KR" pitchFamily="34" charset="0"/>
                          <a:ea typeface="Noto Sans KR" pitchFamily="34" charset="-122"/>
                          <a:cs typeface="Noto Sans KR" pitchFamily="34" charset="-120"/>
                        </a:rPr>
                        <a:t>신진 브랜드는 원단 최소주문량 때문에 기능성 원단을 쓰기 어렵다.</a:t>
                      </a:r>
                      <a:endParaRPr lang="en-US" sz="750" dirty="0">
                        <a:latin typeface="Noto Sans KR" charset="0"/>
                        <a:ea typeface="Noto Sans KR" charset="0"/>
                        <a:cs typeface="Noto Sans KR" charset="0"/>
                      </a:endParaRPr>
                    </a:p>
                    <a:p>
                      <a:pPr algn="l" indent="0" marL="0">
                        <a:buNone/>
                      </a:pPr>
                      <a:r>
                        <a:rPr lang="en-US" sz="750" dirty="0">
                          <a:solidFill>
                            <a:srgbClr val="334155"/>
                          </a:solidFill>
                          <a:latin typeface="Noto Sans KR" pitchFamily="34" charset="0"/>
                          <a:ea typeface="Noto Sans KR" pitchFamily="34" charset="-122"/>
                          <a:cs typeface="Noto Sans KR" pitchFamily="34" charset="-120"/>
                        </a:rPr>
                        <a:t>대형사는 PFAS 기준 강화(2027 · 2028)에 맞춘 소재 전환이 급하다.</a:t>
                      </a:r>
                      <a:endParaRPr lang="en-US" sz="750" dirty="0">
                        <a:latin typeface="Noto Sans KR" charset="0"/>
                        <a:ea typeface="Noto Sans KR" charset="0"/>
                        <a:cs typeface="Noto Sans KR" charset="0"/>
                      </a:endParaRPr>
                    </a:p>
                  </a:txBody>
                  <a:tcPr marL="63500" marR="635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297464">
                <a:tc>
                  <a:txBody>
                    <a:bodyPr/>
                    <a:lstStyle/>
                    <a:p>
                      <a:pPr algn="l" indent="0" marL="0">
                        <a:buNone/>
                      </a:pPr>
                      <a:r>
                        <a:rPr lang="en-US" sz="750" b="1" dirty="0">
                          <a:solidFill>
                            <a:srgbClr val="267D86"/>
                          </a:solidFill>
                          <a:latin typeface="Noto Sans KR" pitchFamily="34" charset="0"/>
                          <a:ea typeface="Noto Sans KR" pitchFamily="34" charset="-122"/>
                          <a:cs typeface="Noto Sans KR" pitchFamily="34" charset="-120"/>
                        </a:rPr>
                        <a:t>E2  </a:t>
                      </a:r>
                      <a:pPr algn="l" indent="0" marL="0">
                        <a:buNone/>
                      </a:pPr>
                      <a:r>
                        <a:rPr lang="en-US" sz="750" b="1" dirty="0">
                          <a:solidFill>
                            <a:srgbClr val="182F48"/>
                          </a:solidFill>
                          <a:latin typeface="Noto Sans KR" pitchFamily="34" charset="0"/>
                          <a:ea typeface="Noto Sans KR" pitchFamily="34" charset="-122"/>
                          <a:cs typeface="Noto Sans KR" pitchFamily="34" charset="-120"/>
                        </a:rPr>
                        <a:t>생산 · 봉제</a:t>
                      </a:r>
                      <a:endParaRPr lang="en-US" sz="750" dirty="0">
                        <a:latin typeface="Noto Sans KR" charset="0"/>
                        <a:ea typeface="Noto Sans KR" charset="0"/>
                        <a:cs typeface="Noto Sans KR" charset="0"/>
                      </a:endParaRPr>
                    </a:p>
                  </a:txBody>
                  <a:tcPr marL="63500" marR="635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750" dirty="0">
                          <a:solidFill>
                            <a:srgbClr val="334155"/>
                          </a:solidFill>
                          <a:latin typeface="Noto Sans KR" pitchFamily="34" charset="0"/>
                          <a:ea typeface="Noto Sans KR" pitchFamily="34" charset="-122"/>
                          <a:cs typeface="Noto Sans KR" pitchFamily="34" charset="-120"/>
                        </a:rPr>
                        <a:t>소량 · 샘플 생산</a:t>
                      </a:r>
                      <a:endParaRPr lang="en-US" sz="750" dirty="0">
                        <a:latin typeface="Noto Sans KR" charset="0"/>
                        <a:ea typeface="Noto Sans KR" charset="0"/>
                        <a:cs typeface="Noto Sans KR" charset="0"/>
                      </a:endParaRPr>
                    </a:p>
                    <a:p>
                      <a:pPr algn="l" indent="0" marL="0">
                        <a:buNone/>
                      </a:pPr>
                      <a:r>
                        <a:rPr lang="en-US" sz="750" dirty="0">
                          <a:solidFill>
                            <a:srgbClr val="334155"/>
                          </a:solidFill>
                          <a:latin typeface="Noto Sans KR" pitchFamily="34" charset="0"/>
                          <a:ea typeface="Noto Sans KR" pitchFamily="34" charset="-122"/>
                          <a:cs typeface="Noto Sans KR" pitchFamily="34" charset="-120"/>
                        </a:rPr>
                        <a:t>심실링 · 투습방수 봉제</a:t>
                      </a:r>
                      <a:endParaRPr lang="en-US" sz="750" dirty="0">
                        <a:latin typeface="Noto Sans KR" charset="0"/>
                        <a:ea typeface="Noto Sans KR" charset="0"/>
                        <a:cs typeface="Noto Sans KR" charset="0"/>
                      </a:endParaRPr>
                    </a:p>
                  </a:txBody>
                  <a:tcPr marL="63500" marR="635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750" b="1" dirty="0">
                          <a:solidFill>
                            <a:srgbClr val="267D86"/>
                          </a:solidFill>
                          <a:latin typeface="Noto Sans KR" pitchFamily="34" charset="0"/>
                          <a:ea typeface="Noto Sans KR" pitchFamily="34" charset="-122"/>
                          <a:cs typeface="Noto Sans KR" pitchFamily="34" charset="-120"/>
                        </a:rPr>
                        <a:t>B6 브랜드 소싱팀</a:t>
                      </a:r>
                      <a:endParaRPr lang="en-US" sz="750" dirty="0">
                        <a:latin typeface="Noto Sans KR" charset="0"/>
                        <a:ea typeface="Noto Sans KR" charset="0"/>
                        <a:cs typeface="Noto Sans KR" charset="0"/>
                      </a:endParaRPr>
                    </a:p>
                  </a:txBody>
                  <a:tcPr marL="63500" marR="635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750" b="1" dirty="0">
                          <a:solidFill>
                            <a:srgbClr val="C2410C"/>
                          </a:solidFill>
                          <a:latin typeface="Noto Sans KR" pitchFamily="34" charset="0"/>
                          <a:ea typeface="Noto Sans KR" pitchFamily="34" charset="-122"/>
                          <a:cs typeface="Noto Sans KR" pitchFamily="34" charset="-120"/>
                        </a:rPr>
                        <a:t>① </a:t>
                      </a:r>
                      <a:pPr algn="l" indent="0" marL="0">
                        <a:buNone/>
                      </a:pPr>
                      <a:r>
                        <a:rPr lang="en-US" sz="750" dirty="0">
                          <a:solidFill>
                            <a:srgbClr val="334155"/>
                          </a:solidFill>
                          <a:latin typeface="Noto Sans KR" pitchFamily="34" charset="0"/>
                          <a:ea typeface="Noto Sans KR" pitchFamily="34" charset="-122"/>
                          <a:cs typeface="Noto Sans KR" pitchFamily="34" charset="-120"/>
                        </a:rPr>
                        <a:t>글로벌 대량 물량 중심 공장은 신진의 소량 주문을 받기 어렵다.</a:t>
                      </a:r>
                      <a:endParaRPr lang="en-US" sz="750" dirty="0">
                        <a:latin typeface="Noto Sans KR" charset="0"/>
                        <a:ea typeface="Noto Sans KR" charset="0"/>
                        <a:cs typeface="Noto Sans KR" charset="0"/>
                      </a:endParaRPr>
                    </a:p>
                    <a:p>
                      <a:pPr algn="l" indent="0" marL="0">
                        <a:buNone/>
                      </a:pPr>
                      <a:r>
                        <a:rPr lang="en-US" sz="750" dirty="0">
                          <a:solidFill>
                            <a:srgbClr val="334155"/>
                          </a:solidFill>
                          <a:latin typeface="Noto Sans KR" pitchFamily="34" charset="0"/>
                          <a:ea typeface="Noto Sans KR" pitchFamily="34" charset="-122"/>
                          <a:cs typeface="Noto Sans KR" pitchFamily="34" charset="-120"/>
                        </a:rPr>
                        <a:t>반대로 서울 도심 봉제업체 1.8만 곳의 최대 애로는 일감 수주라 수요가 맞물린다.</a:t>
                      </a:r>
                      <a:endParaRPr lang="en-US" sz="750" dirty="0">
                        <a:latin typeface="Noto Sans KR" charset="0"/>
                        <a:ea typeface="Noto Sans KR" charset="0"/>
                        <a:cs typeface="Noto Sans KR" charset="0"/>
                      </a:endParaRPr>
                    </a:p>
                  </a:txBody>
                  <a:tcPr marL="63500" marR="635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297464">
                <a:tc>
                  <a:txBody>
                    <a:bodyPr/>
                    <a:lstStyle/>
                    <a:p>
                      <a:pPr algn="l" indent="0" marL="0">
                        <a:buNone/>
                      </a:pPr>
                      <a:r>
                        <a:rPr lang="en-US" sz="750" b="1" dirty="0">
                          <a:solidFill>
                            <a:srgbClr val="267D86"/>
                          </a:solidFill>
                          <a:latin typeface="Noto Sans KR" pitchFamily="34" charset="0"/>
                          <a:ea typeface="Noto Sans KR" pitchFamily="34" charset="-122"/>
                          <a:cs typeface="Noto Sans KR" pitchFamily="34" charset="-120"/>
                        </a:rPr>
                        <a:t>E3  </a:t>
                      </a:r>
                      <a:pPr algn="l" indent="0" marL="0">
                        <a:buNone/>
                      </a:pPr>
                      <a:r>
                        <a:rPr lang="en-US" sz="750" b="1" dirty="0">
                          <a:solidFill>
                            <a:srgbClr val="182F48"/>
                          </a:solidFill>
                          <a:latin typeface="Noto Sans KR" pitchFamily="34" charset="0"/>
                          <a:ea typeface="Noto Sans KR" pitchFamily="34" charset="-122"/>
                          <a:cs typeface="Noto Sans KR" pitchFamily="34" charset="-120"/>
                        </a:rPr>
                        <a:t>K-고프코어 신진</a:t>
                      </a:r>
                      <a:endParaRPr lang="en-US" sz="750" dirty="0">
                        <a:latin typeface="Noto Sans KR" charset="0"/>
                        <a:ea typeface="Noto Sans KR" charset="0"/>
                        <a:cs typeface="Noto Sans KR" charset="0"/>
                      </a:endParaRPr>
                    </a:p>
                  </a:txBody>
                  <a:tcPr marL="63500" marR="635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750" dirty="0">
                          <a:solidFill>
                            <a:srgbClr val="334155"/>
                          </a:solidFill>
                          <a:latin typeface="Noto Sans KR" pitchFamily="34" charset="0"/>
                          <a:ea typeface="Noto Sans KR" pitchFamily="34" charset="-122"/>
                          <a:cs typeface="Noto Sans KR" pitchFamily="34" charset="-120"/>
                        </a:rPr>
                        <a:t>2028 S/S 컬렉션</a:t>
                      </a:r>
                      <a:endParaRPr lang="en-US" sz="750" dirty="0">
                        <a:latin typeface="Noto Sans KR" charset="0"/>
                        <a:ea typeface="Noto Sans KR" charset="0"/>
                        <a:cs typeface="Noto Sans KR" charset="0"/>
                      </a:endParaRPr>
                    </a:p>
                    <a:p>
                      <a:pPr algn="l" indent="0" marL="0">
                        <a:buNone/>
                      </a:pPr>
                      <a:r>
                        <a:rPr lang="en-US" sz="750" dirty="0">
                          <a:solidFill>
                            <a:srgbClr val="334155"/>
                          </a:solidFill>
                          <a:latin typeface="Noto Sans KR" pitchFamily="34" charset="0"/>
                          <a:ea typeface="Noto Sans KR" pitchFamily="34" charset="-122"/>
                          <a:cs typeface="Noto Sans KR" pitchFamily="34" charset="-120"/>
                        </a:rPr>
                        <a:t>홀세일 · 팝업</a:t>
                      </a:r>
                      <a:endParaRPr lang="en-US" sz="750" dirty="0">
                        <a:latin typeface="Noto Sans KR" charset="0"/>
                        <a:ea typeface="Noto Sans KR" charset="0"/>
                        <a:cs typeface="Noto Sans KR" charset="0"/>
                      </a:endParaRPr>
                    </a:p>
                  </a:txBody>
                  <a:tcPr marL="63500" marR="635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750" b="1" dirty="0">
                          <a:solidFill>
                            <a:srgbClr val="267D86"/>
                          </a:solidFill>
                          <a:latin typeface="Noto Sans KR" pitchFamily="34" charset="0"/>
                          <a:ea typeface="Noto Sans KR" pitchFamily="34" charset="-122"/>
                          <a:cs typeface="Noto Sans KR" pitchFamily="34" charset="-120"/>
                        </a:rPr>
                        <a:t>B1 플랫폼 MD · B2 백화점</a:t>
                      </a:r>
                      <a:endParaRPr lang="en-US" sz="750" dirty="0">
                        <a:latin typeface="Noto Sans KR" charset="0"/>
                        <a:ea typeface="Noto Sans KR" charset="0"/>
                        <a:cs typeface="Noto Sans KR" charset="0"/>
                      </a:endParaRPr>
                    </a:p>
                    <a:p>
                      <a:pPr algn="l" indent="0" marL="0">
                        <a:buNone/>
                      </a:pPr>
                      <a:r>
                        <a:rPr lang="en-US" sz="750" b="1" dirty="0">
                          <a:solidFill>
                            <a:srgbClr val="267D86"/>
                          </a:solidFill>
                          <a:latin typeface="Noto Sans KR" pitchFamily="34" charset="0"/>
                          <a:ea typeface="Noto Sans KR" pitchFamily="34" charset="-122"/>
                          <a:cs typeface="Noto Sans KR" pitchFamily="34" charset="-120"/>
                        </a:rPr>
                        <a:t>B3 국내 편집숍</a:t>
                      </a:r>
                      <a:endParaRPr lang="en-US" sz="750" dirty="0">
                        <a:latin typeface="Noto Sans KR" charset="0"/>
                        <a:ea typeface="Noto Sans KR" charset="0"/>
                        <a:cs typeface="Noto Sans KR" charset="0"/>
                      </a:endParaRPr>
                    </a:p>
                  </a:txBody>
                  <a:tcPr marL="63500" marR="635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750" b="1" dirty="0">
                          <a:solidFill>
                            <a:srgbClr val="C2410C"/>
                          </a:solidFill>
                          <a:latin typeface="Noto Sans KR" pitchFamily="34" charset="0"/>
                          <a:ea typeface="Noto Sans KR" pitchFamily="34" charset="-122"/>
                          <a:cs typeface="Noto Sans KR" pitchFamily="34" charset="-120"/>
                        </a:rPr>
                        <a:t>② </a:t>
                      </a:r>
                      <a:pPr algn="l" indent="0" marL="0">
                        <a:buNone/>
                      </a:pPr>
                      <a:r>
                        <a:rPr lang="en-US" sz="750" dirty="0">
                          <a:solidFill>
                            <a:srgbClr val="334155"/>
                          </a:solidFill>
                          <a:latin typeface="Noto Sans KR" pitchFamily="34" charset="0"/>
                          <a:ea typeface="Noto Sans KR" pitchFamily="34" charset="-122"/>
                          <a:cs typeface="Noto Sans KR" pitchFamily="34" charset="-120"/>
                        </a:rPr>
                        <a:t>바이어는 커진 프리미엄 아웃도어 수요(무신사 거래액 2배)를 채울 신규 브랜드가 필요하다.</a:t>
                      </a:r>
                      <a:endParaRPr lang="en-US" sz="750" dirty="0">
                        <a:latin typeface="Noto Sans KR" charset="0"/>
                        <a:ea typeface="Noto Sans KR" charset="0"/>
                        <a:cs typeface="Noto Sans KR" charset="0"/>
                      </a:endParaRPr>
                    </a:p>
                    <a:p>
                      <a:pPr algn="l" indent="0" marL="0">
                        <a:buNone/>
                      </a:pPr>
                      <a:r>
                        <a:rPr lang="en-US" sz="750" dirty="0">
                          <a:solidFill>
                            <a:srgbClr val="334155"/>
                          </a:solidFill>
                          <a:latin typeface="Noto Sans KR" pitchFamily="34" charset="0"/>
                          <a:ea typeface="Noto Sans KR" pitchFamily="34" charset="-122"/>
                          <a:cs typeface="Noto Sans KR" pitchFamily="34" charset="-120"/>
                        </a:rPr>
                        <a:t>브랜드는 수수료(평균 27.8%) · 특약매입에 기대지 않는 홀세일 판로를 연다.</a:t>
                      </a:r>
                      <a:endParaRPr lang="en-US" sz="750" dirty="0">
                        <a:latin typeface="Noto Sans KR" charset="0"/>
                        <a:ea typeface="Noto Sans KR" charset="0"/>
                        <a:cs typeface="Noto Sans KR" charset="0"/>
                      </a:endParaRPr>
                    </a:p>
                  </a:txBody>
                  <a:tcPr marL="63500" marR="635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297464">
                <a:tc>
                  <a:txBody>
                    <a:bodyPr/>
                    <a:lstStyle/>
                    <a:p>
                      <a:pPr algn="l" indent="0" marL="0">
                        <a:buNone/>
                      </a:pPr>
                      <a:r>
                        <a:rPr lang="en-US" sz="750" b="1" dirty="0">
                          <a:solidFill>
                            <a:srgbClr val="267D86"/>
                          </a:solidFill>
                          <a:latin typeface="Noto Sans KR" pitchFamily="34" charset="0"/>
                          <a:ea typeface="Noto Sans KR" pitchFamily="34" charset="-122"/>
                          <a:cs typeface="Noto Sans KR" pitchFamily="34" charset="-120"/>
                        </a:rPr>
                        <a:t>E3  </a:t>
                      </a:r>
                      <a:pPr algn="l" indent="0" marL="0">
                        <a:buNone/>
                      </a:pPr>
                      <a:r>
                        <a:rPr lang="en-US" sz="750" b="1" dirty="0">
                          <a:solidFill>
                            <a:srgbClr val="182F48"/>
                          </a:solidFill>
                          <a:latin typeface="Noto Sans KR" pitchFamily="34" charset="0"/>
                          <a:ea typeface="Noto Sans KR" pitchFamily="34" charset="-122"/>
                          <a:cs typeface="Noto Sans KR" pitchFamily="34" charset="-120"/>
                        </a:rPr>
                        <a:t>K-고프코어 신진</a:t>
                      </a:r>
                      <a:endParaRPr lang="en-US" sz="750" dirty="0">
                        <a:latin typeface="Noto Sans KR" charset="0"/>
                        <a:ea typeface="Noto Sans KR" charset="0"/>
                        <a:cs typeface="Noto Sans KR" charset="0"/>
                      </a:endParaRPr>
                    </a:p>
                  </a:txBody>
                  <a:tcPr marL="63500" marR="635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750" dirty="0">
                          <a:solidFill>
                            <a:srgbClr val="334155"/>
                          </a:solidFill>
                          <a:latin typeface="Noto Sans KR" pitchFamily="34" charset="0"/>
                          <a:ea typeface="Noto Sans KR" pitchFamily="34" charset="-122"/>
                          <a:cs typeface="Noto Sans KR" pitchFamily="34" charset="-120"/>
                        </a:rPr>
                        <a:t>해외 홀세일</a:t>
                      </a:r>
                      <a:endParaRPr lang="en-US" sz="750" dirty="0">
                        <a:latin typeface="Noto Sans KR" charset="0"/>
                        <a:ea typeface="Noto Sans KR" charset="0"/>
                        <a:cs typeface="Noto Sans KR" charset="0"/>
                      </a:endParaRPr>
                    </a:p>
                    <a:p>
                      <a:pPr algn="l" indent="0" marL="0">
                        <a:buNone/>
                      </a:pPr>
                      <a:r>
                        <a:rPr lang="en-US" sz="750" dirty="0">
                          <a:solidFill>
                            <a:srgbClr val="334155"/>
                          </a:solidFill>
                          <a:latin typeface="Noto Sans KR" pitchFamily="34" charset="0"/>
                          <a:ea typeface="Noto Sans KR" pitchFamily="34" charset="-122"/>
                          <a:cs typeface="Noto Sans KR" pitchFamily="34" charset="-120"/>
                        </a:rPr>
                        <a:t>국가별 독점 판매권</a:t>
                      </a:r>
                      <a:endParaRPr lang="en-US" sz="750" dirty="0">
                        <a:latin typeface="Noto Sans KR" charset="0"/>
                        <a:ea typeface="Noto Sans KR" charset="0"/>
                        <a:cs typeface="Noto Sans KR" charset="0"/>
                      </a:endParaRPr>
                    </a:p>
                  </a:txBody>
                  <a:tcPr marL="63500" marR="635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750" b="1" dirty="0">
                          <a:solidFill>
                            <a:srgbClr val="267D86"/>
                          </a:solidFill>
                          <a:latin typeface="Noto Sans KR" pitchFamily="34" charset="0"/>
                          <a:ea typeface="Noto Sans KR" pitchFamily="34" charset="-122"/>
                          <a:cs typeface="Noto Sans KR" pitchFamily="34" charset="-120"/>
                        </a:rPr>
                        <a:t>B4 해외 편집숍</a:t>
                      </a:r>
                      <a:endParaRPr lang="en-US" sz="750" dirty="0">
                        <a:latin typeface="Noto Sans KR" charset="0"/>
                        <a:ea typeface="Noto Sans KR" charset="0"/>
                        <a:cs typeface="Noto Sans KR" charset="0"/>
                      </a:endParaRPr>
                    </a:p>
                  </a:txBody>
                  <a:tcPr marL="63500" marR="635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750" b="1" dirty="0">
                          <a:solidFill>
                            <a:srgbClr val="C2410C"/>
                          </a:solidFill>
                          <a:latin typeface="Noto Sans KR" pitchFamily="34" charset="0"/>
                          <a:ea typeface="Noto Sans KR" pitchFamily="34" charset="-122"/>
                          <a:cs typeface="Noto Sans KR" pitchFamily="34" charset="-120"/>
                        </a:rPr>
                        <a:t>③ </a:t>
                      </a:r>
                      <a:pPr algn="l" indent="0" marL="0">
                        <a:buNone/>
                      </a:pPr>
                      <a:r>
                        <a:rPr lang="en-US" sz="750" dirty="0">
                          <a:solidFill>
                            <a:srgbClr val="334155"/>
                          </a:solidFill>
                          <a:latin typeface="Noto Sans KR" pitchFamily="34" charset="0"/>
                          <a:ea typeface="Noto Sans KR" pitchFamily="34" charset="-122"/>
                          <a:cs typeface="Noto Sans KR" pitchFamily="34" charset="-120"/>
                        </a:rPr>
                        <a:t>무신사 도쿄 쇼룸에 일본 바이어 200명 이상이 왔고, 주문은 3배 늘었다.</a:t>
                      </a:r>
                      <a:endParaRPr lang="en-US" sz="750" dirty="0">
                        <a:latin typeface="Noto Sans KR" charset="0"/>
                        <a:ea typeface="Noto Sans KR" charset="0"/>
                        <a:cs typeface="Noto Sans KR" charset="0"/>
                      </a:endParaRPr>
                    </a:p>
                    <a:p>
                      <a:pPr algn="l" indent="0" marL="0">
                        <a:buNone/>
                      </a:pPr>
                      <a:r>
                        <a:rPr lang="en-US" sz="750" dirty="0">
                          <a:solidFill>
                            <a:srgbClr val="334155"/>
                          </a:solidFill>
                          <a:latin typeface="Noto Sans KR" pitchFamily="34" charset="0"/>
                          <a:ea typeface="Noto Sans KR" pitchFamily="34" charset="-122"/>
                          <a:cs typeface="Noto Sans KR" pitchFamily="34" charset="-120"/>
                        </a:rPr>
                        <a:t>무신사 스탠다드 서울 수주회(2026.8)에도 조조타운·티몰이 왔지만, 플랫폼 전속이라 독립 브랜드엔 닫혀 있다.</a:t>
                      </a:r>
                      <a:endParaRPr lang="en-US" sz="750" dirty="0">
                        <a:latin typeface="Noto Sans KR" charset="0"/>
                        <a:ea typeface="Noto Sans KR" charset="0"/>
                        <a:cs typeface="Noto Sans KR" charset="0"/>
                      </a:endParaRPr>
                    </a:p>
                  </a:txBody>
                  <a:tcPr marL="63500" marR="635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297464">
                <a:tc>
                  <a:txBody>
                    <a:bodyPr/>
                    <a:lstStyle/>
                    <a:p>
                      <a:pPr algn="l" indent="0" marL="0">
                        <a:buNone/>
                      </a:pPr>
                      <a:r>
                        <a:rPr lang="en-US" sz="750" b="1" dirty="0">
                          <a:solidFill>
                            <a:srgbClr val="267D86"/>
                          </a:solidFill>
                          <a:latin typeface="Noto Sans KR" pitchFamily="34" charset="0"/>
                          <a:ea typeface="Noto Sans KR" pitchFamily="34" charset="-122"/>
                          <a:cs typeface="Noto Sans KR" pitchFamily="34" charset="-120"/>
                        </a:rPr>
                        <a:t>E4  </a:t>
                      </a:r>
                      <a:pPr algn="l" indent="0" marL="0">
                        <a:buNone/>
                      </a:pPr>
                      <a:r>
                        <a:rPr lang="en-US" sz="750" b="1" dirty="0">
                          <a:solidFill>
                            <a:srgbClr val="182F48"/>
                          </a:solidFill>
                          <a:latin typeface="Noto Sans KR" pitchFamily="34" charset="0"/>
                          <a:ea typeface="Noto Sans KR" pitchFamily="34" charset="-122"/>
                          <a:cs typeface="Noto Sans KR" pitchFamily="34" charset="-120"/>
                        </a:rPr>
                        <a:t>국내 아웃도어 대형사</a:t>
                      </a:r>
                      <a:endParaRPr lang="en-US" sz="750" dirty="0">
                        <a:latin typeface="Noto Sans KR" charset="0"/>
                        <a:ea typeface="Noto Sans KR" charset="0"/>
                        <a:cs typeface="Noto Sans KR" charset="0"/>
                      </a:endParaRPr>
                    </a:p>
                  </a:txBody>
                  <a:tcPr marL="63500" marR="635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750" dirty="0">
                          <a:solidFill>
                            <a:srgbClr val="334155"/>
                          </a:solidFill>
                          <a:latin typeface="Noto Sans KR" pitchFamily="34" charset="0"/>
                          <a:ea typeface="Noto Sans KR" pitchFamily="34" charset="-122"/>
                          <a:cs typeface="Noto Sans KR" pitchFamily="34" charset="-120"/>
                        </a:rPr>
                        <a:t>아시아 라이선스</a:t>
                      </a:r>
                      <a:endParaRPr lang="en-US" sz="750" dirty="0">
                        <a:latin typeface="Noto Sans KR" charset="0"/>
                        <a:ea typeface="Noto Sans KR" charset="0"/>
                        <a:cs typeface="Noto Sans KR" charset="0"/>
                      </a:endParaRPr>
                    </a:p>
                    <a:p>
                      <a:pPr algn="l" indent="0" marL="0">
                        <a:buNone/>
                      </a:pPr>
                      <a:r>
                        <a:rPr lang="en-US" sz="750" dirty="0">
                          <a:solidFill>
                            <a:srgbClr val="334155"/>
                          </a:solidFill>
                          <a:latin typeface="Noto Sans KR" pitchFamily="34" charset="0"/>
                          <a:ea typeface="Noto Sans KR" pitchFamily="34" charset="-122"/>
                          <a:cs typeface="Noto Sans KR" pitchFamily="34" charset="-120"/>
                        </a:rPr>
                        <a:t>합작 · 유통 사업권</a:t>
                      </a:r>
                      <a:endParaRPr lang="en-US" sz="750" dirty="0">
                        <a:latin typeface="Noto Sans KR" charset="0"/>
                        <a:ea typeface="Noto Sans KR" charset="0"/>
                        <a:cs typeface="Noto Sans KR" charset="0"/>
                      </a:endParaRPr>
                    </a:p>
                  </a:txBody>
                  <a:tcPr marL="63500" marR="635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750" b="1" dirty="0">
                          <a:solidFill>
                            <a:srgbClr val="267D86"/>
                          </a:solidFill>
                          <a:latin typeface="Noto Sans KR" pitchFamily="34" charset="0"/>
                          <a:ea typeface="Noto Sans KR" pitchFamily="34" charset="-122"/>
                          <a:cs typeface="Noto Sans KR" pitchFamily="34" charset="-120"/>
                        </a:rPr>
                        <a:t>B5 해외 유통 파트너</a:t>
                      </a:r>
                      <a:endParaRPr lang="en-US" sz="750" dirty="0">
                        <a:latin typeface="Noto Sans KR" charset="0"/>
                        <a:ea typeface="Noto Sans KR" charset="0"/>
                        <a:cs typeface="Noto Sans KR" charset="0"/>
                      </a:endParaRPr>
                    </a:p>
                  </a:txBody>
                  <a:tcPr marL="63500" marR="635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750" b="1" dirty="0">
                          <a:solidFill>
                            <a:srgbClr val="C2410C"/>
                          </a:solidFill>
                          <a:latin typeface="Noto Sans KR" pitchFamily="34" charset="0"/>
                          <a:ea typeface="Noto Sans KR" pitchFamily="34" charset="-122"/>
                          <a:cs typeface="Noto Sans KR" pitchFamily="34" charset="-120"/>
                        </a:rPr>
                        <a:t>③ </a:t>
                      </a:r>
                      <a:pPr algn="l" indent="0" marL="0">
                        <a:buNone/>
                      </a:pPr>
                      <a:r>
                        <a:rPr lang="en-US" sz="750" dirty="0">
                          <a:solidFill>
                            <a:srgbClr val="334155"/>
                          </a:solidFill>
                          <a:latin typeface="Noto Sans KR" pitchFamily="34" charset="0"/>
                          <a:ea typeface="Noto Sans KR" pitchFamily="34" charset="-122"/>
                          <a:cs typeface="Noto Sans KR" pitchFamily="34" charset="-120"/>
                        </a:rPr>
                        <a:t>코오롱스포츠는 안타와 합작해 5년 만에 26배 컸고, 2024년 이토추와 일본에 진출했다.</a:t>
                      </a:r>
                      <a:endParaRPr lang="en-US" sz="750" dirty="0">
                        <a:latin typeface="Noto Sans KR" charset="0"/>
                        <a:ea typeface="Noto Sans KR" charset="0"/>
                        <a:cs typeface="Noto Sans KR" charset="0"/>
                      </a:endParaRPr>
                    </a:p>
                    <a:p>
                      <a:pPr algn="l" indent="0" marL="0">
                        <a:buNone/>
                      </a:pPr>
                      <a:r>
                        <a:rPr lang="en-US" sz="750" dirty="0">
                          <a:solidFill>
                            <a:srgbClr val="334155"/>
                          </a:solidFill>
                          <a:latin typeface="Noto Sans KR" pitchFamily="34" charset="0"/>
                          <a:ea typeface="Noto Sans KR" pitchFamily="34" charset="-122"/>
                          <a:cs typeface="Noto Sans KR" pitchFamily="34" charset="-120"/>
                        </a:rPr>
                        <a:t>아시아 파트너는 검증된 한국 IP를, 국내 대형사는 역성장을 벗어날 해외 판로를 찾는다.</a:t>
                      </a:r>
                      <a:endParaRPr lang="en-US" sz="750" dirty="0">
                        <a:latin typeface="Noto Sans KR" charset="0"/>
                        <a:ea typeface="Noto Sans KR" charset="0"/>
                        <a:cs typeface="Noto Sans KR" charset="0"/>
                      </a:endParaRPr>
                    </a:p>
                  </a:txBody>
                  <a:tcPr marL="63500" marR="635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297464">
                <a:tc>
                  <a:txBody>
                    <a:bodyPr/>
                    <a:lstStyle/>
                    <a:p>
                      <a:pPr algn="l" indent="0" marL="0">
                        <a:buNone/>
                      </a:pPr>
                      <a:r>
                        <a:rPr lang="en-US" sz="750" b="1" dirty="0">
                          <a:solidFill>
                            <a:srgbClr val="64748B"/>
                          </a:solidFill>
                          <a:latin typeface="Noto Sans KR" pitchFamily="34" charset="0"/>
                          <a:ea typeface="Noto Sans KR" pitchFamily="34" charset="-122"/>
                          <a:cs typeface="Noto Sans KR" pitchFamily="34" charset="-120"/>
                        </a:rPr>
                        <a:t>E5  </a:t>
                      </a:r>
                      <a:pPr algn="l" indent="0" marL="0">
                        <a:buNone/>
                      </a:pPr>
                      <a:r>
                        <a:rPr lang="en-US" sz="750" b="1" dirty="0">
                          <a:solidFill>
                            <a:srgbClr val="182F48"/>
                          </a:solidFill>
                          <a:latin typeface="Noto Sans KR" pitchFamily="34" charset="0"/>
                          <a:ea typeface="Noto Sans KR" pitchFamily="34" charset="-122"/>
                          <a:cs typeface="Noto Sans KR" pitchFamily="34" charset="-120"/>
                        </a:rPr>
                        <a:t>해외 앵커</a:t>
                      </a:r>
                      <a:endParaRPr lang="en-US" sz="750" dirty="0">
                        <a:latin typeface="Noto Sans KR" charset="0"/>
                        <a:ea typeface="Noto Sans KR" charset="0"/>
                        <a:cs typeface="Noto Sans KR" charset="0"/>
                      </a:endParaRPr>
                    </a:p>
                    <a:p>
                      <a:pPr algn="l" indent="0" marL="0">
                        <a:buNone/>
                      </a:pPr>
                      <a:r>
                        <a:rPr lang="en-US" sz="750" b="1" dirty="0">
                          <a:solidFill>
                            <a:srgbClr val="267D86"/>
                          </a:solidFill>
                          <a:latin typeface="Noto Sans KR" pitchFamily="34" charset="0"/>
                          <a:ea typeface="Noto Sans KR" pitchFamily="34" charset="-122"/>
                          <a:cs typeface="Noto Sans KR" pitchFamily="34" charset="-120"/>
                        </a:rPr>
                        <a:t>E3  </a:t>
                      </a:r>
                      <a:pPr algn="l" indent="0" marL="0">
                        <a:buNone/>
                      </a:pPr>
                      <a:r>
                        <a:rPr lang="en-US" sz="750" b="1" dirty="0">
                          <a:solidFill>
                            <a:srgbClr val="182F48"/>
                          </a:solidFill>
                          <a:latin typeface="Noto Sans KR" pitchFamily="34" charset="0"/>
                          <a:ea typeface="Noto Sans KR" pitchFamily="34" charset="-122"/>
                          <a:cs typeface="Noto Sans KR" pitchFamily="34" charset="-120"/>
                        </a:rPr>
                        <a:t>K-고프코어 신진</a:t>
                      </a:r>
                      <a:endParaRPr lang="en-US" sz="750" dirty="0">
                        <a:latin typeface="Noto Sans KR" charset="0"/>
                        <a:ea typeface="Noto Sans KR" charset="0"/>
                        <a:cs typeface="Noto Sans KR" charset="0"/>
                      </a:endParaRPr>
                    </a:p>
                  </a:txBody>
                  <a:tcPr marL="63500" marR="635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750" dirty="0">
                          <a:solidFill>
                            <a:srgbClr val="334155"/>
                          </a:solidFill>
                          <a:latin typeface="Noto Sans KR" pitchFamily="34" charset="0"/>
                          <a:ea typeface="Noto Sans KR" pitchFamily="34" charset="-122"/>
                          <a:cs typeface="Noto Sans KR" pitchFamily="34" charset="-120"/>
                        </a:rPr>
                        <a:t>신제품 기능 시연</a:t>
                      </a:r>
                      <a:endParaRPr lang="en-US" sz="750" dirty="0">
                        <a:latin typeface="Noto Sans KR" charset="0"/>
                        <a:ea typeface="Noto Sans KR" charset="0"/>
                        <a:cs typeface="Noto Sans KR" charset="0"/>
                      </a:endParaRPr>
                    </a:p>
                    <a:p>
                      <a:pPr algn="l" indent="0" marL="0">
                        <a:buNone/>
                      </a:pPr>
                      <a:r>
                        <a:rPr lang="en-US" sz="750" dirty="0">
                          <a:solidFill>
                            <a:srgbClr val="334155"/>
                          </a:solidFill>
                          <a:latin typeface="Noto Sans KR" pitchFamily="34" charset="0"/>
                          <a:ea typeface="Noto Sans KR" pitchFamily="34" charset="-122"/>
                          <a:cs typeface="Noto Sans KR" pitchFamily="34" charset="-120"/>
                        </a:rPr>
                        <a:t>브랜드 체험 · 스토리</a:t>
                      </a:r>
                      <a:endParaRPr lang="en-US" sz="750" dirty="0">
                        <a:latin typeface="Noto Sans KR" charset="0"/>
                        <a:ea typeface="Noto Sans KR" charset="0"/>
                        <a:cs typeface="Noto Sans KR" charset="0"/>
                      </a:endParaRPr>
                    </a:p>
                  </a:txBody>
                  <a:tcPr marL="63500" marR="635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750" b="1" dirty="0">
                          <a:solidFill>
                            <a:srgbClr val="267D86"/>
                          </a:solidFill>
                          <a:latin typeface="Noto Sans KR" pitchFamily="34" charset="0"/>
                          <a:ea typeface="Noto Sans KR" pitchFamily="34" charset="-122"/>
                          <a:cs typeface="Noto Sans KR" pitchFamily="34" charset="-120"/>
                        </a:rPr>
                        <a:t>B7 관심 소비자</a:t>
                      </a:r>
                      <a:endParaRPr lang="en-US" sz="750" dirty="0">
                        <a:latin typeface="Noto Sans KR" charset="0"/>
                        <a:ea typeface="Noto Sans KR" charset="0"/>
                        <a:cs typeface="Noto Sans KR" charset="0"/>
                      </a:endParaRPr>
                    </a:p>
                  </a:txBody>
                  <a:tcPr marL="63500" marR="635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750" b="1" dirty="0">
                          <a:solidFill>
                            <a:srgbClr val="267D86"/>
                          </a:solidFill>
                          <a:latin typeface="Noto Sans KR" pitchFamily="34" charset="0"/>
                          <a:ea typeface="Noto Sans KR" pitchFamily="34" charset="-122"/>
                          <a:cs typeface="Noto Sans KR" pitchFamily="34" charset="-120"/>
                        </a:rPr>
                        <a:t>기능  </a:t>
                      </a:r>
                      <a:pPr algn="l" indent="0" marL="0">
                        <a:buNone/>
                      </a:pPr>
                      <a:r>
                        <a:rPr lang="en-US" sz="750" dirty="0">
                          <a:solidFill>
                            <a:srgbClr val="334155"/>
                          </a:solidFill>
                          <a:latin typeface="Noto Sans KR" pitchFamily="34" charset="0"/>
                          <a:ea typeface="Noto Sans KR" pitchFamily="34" charset="-122"/>
                          <a:cs typeface="Noto Sans KR" pitchFamily="34" charset="-120"/>
                        </a:rPr>
                        <a:t>인터뷰: "이 장비에 대한 좋은 점을 설명하는 것, 그걸 관심 깊게 들어주는 고객들이 필요"</a:t>
                      </a:r>
                      <a:endParaRPr lang="en-US" sz="750" dirty="0">
                        <a:latin typeface="Noto Sans KR" charset="0"/>
                        <a:ea typeface="Noto Sans KR" charset="0"/>
                        <a:cs typeface="Noto Sans KR" charset="0"/>
                      </a:endParaRPr>
                    </a:p>
                    <a:p>
                      <a:pPr algn="l" indent="0" marL="0">
                        <a:buNone/>
                      </a:pPr>
                      <a:r>
                        <a:rPr lang="en-US" sz="750" dirty="0">
                          <a:solidFill>
                            <a:srgbClr val="334155"/>
                          </a:solidFill>
                          <a:latin typeface="Noto Sans KR" pitchFamily="34" charset="0"/>
                          <a:ea typeface="Noto Sans KR" pitchFamily="34" charset="-122"/>
                          <a:cs typeface="Noto Sans KR" pitchFamily="34" charset="-120"/>
                        </a:rPr>
                        <a:t>판매보다 기능을 이해하는 고객 접점이 목적이고, 앵커의 집객이 K-브랜드 관람으로 이어진다.</a:t>
                      </a:r>
                      <a:endParaRPr lang="en-US" sz="750" dirty="0">
                        <a:latin typeface="Noto Sans KR" charset="0"/>
                        <a:ea typeface="Noto Sans KR" charset="0"/>
                        <a:cs typeface="Noto Sans KR" charset="0"/>
                      </a:endParaRPr>
                    </a:p>
                  </a:txBody>
                  <a:tcPr marL="63500" marR="635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297464">
                <a:tc>
                  <a:txBody>
                    <a:bodyPr/>
                    <a:lstStyle/>
                    <a:p>
                      <a:pPr algn="l" indent="0" marL="0">
                        <a:buNone/>
                      </a:pPr>
                      <a:r>
                        <a:rPr lang="en-US" sz="750" b="1" dirty="0">
                          <a:solidFill>
                            <a:srgbClr val="475569"/>
                          </a:solidFill>
                          <a:latin typeface="Noto Sans KR" pitchFamily="34" charset="0"/>
                          <a:ea typeface="Noto Sans KR" pitchFamily="34" charset="-122"/>
                          <a:cs typeface="Noto Sans KR" pitchFamily="34" charset="-120"/>
                        </a:rPr>
                        <a:t>E6  </a:t>
                      </a:r>
                      <a:pPr algn="l" indent="0" marL="0">
                        <a:buNone/>
                      </a:pPr>
                      <a:r>
                        <a:rPr lang="en-US" sz="750" b="1" dirty="0">
                          <a:solidFill>
                            <a:srgbClr val="182F48"/>
                          </a:solidFill>
                          <a:latin typeface="Noto Sans KR" pitchFamily="34" charset="0"/>
                          <a:ea typeface="Noto Sans KR" pitchFamily="34" charset="-122"/>
                          <a:cs typeface="Noto Sans KR" pitchFamily="34" charset="-120"/>
                        </a:rPr>
                        <a:t>성장 서비스</a:t>
                      </a:r>
                      <a:endParaRPr lang="en-US" sz="750" dirty="0">
                        <a:latin typeface="Noto Sans KR" charset="0"/>
                        <a:ea typeface="Noto Sans KR" charset="0"/>
                        <a:cs typeface="Noto Sans KR" charset="0"/>
                      </a:endParaRPr>
                    </a:p>
                  </a:txBody>
                  <a:tcPr marL="63500" marR="635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750" dirty="0">
                          <a:solidFill>
                            <a:srgbClr val="334155"/>
                          </a:solidFill>
                          <a:latin typeface="Noto Sans KR" pitchFamily="34" charset="0"/>
                          <a:ea typeface="Noto Sans KR" pitchFamily="34" charset="-122"/>
                          <a:cs typeface="Noto Sans KR" pitchFamily="34" charset="-120"/>
                        </a:rPr>
                        <a:t>시험성적서 · 해외 인증</a:t>
                      </a:r>
                      <a:endParaRPr lang="en-US" sz="750" dirty="0">
                        <a:latin typeface="Noto Sans KR" charset="0"/>
                        <a:ea typeface="Noto Sans KR" charset="0"/>
                        <a:cs typeface="Noto Sans KR" charset="0"/>
                      </a:endParaRPr>
                    </a:p>
                    <a:p>
                      <a:pPr algn="l" indent="0" marL="0">
                        <a:buNone/>
                      </a:pPr>
                      <a:r>
                        <a:rPr lang="en-US" sz="750" dirty="0">
                          <a:solidFill>
                            <a:srgbClr val="334155"/>
                          </a:solidFill>
                          <a:latin typeface="Noto Sans KR" pitchFamily="34" charset="0"/>
                          <a:ea typeface="Noto Sans KR" pitchFamily="34" charset="-122"/>
                          <a:cs typeface="Noto Sans KR" pitchFamily="34" charset="-120"/>
                        </a:rPr>
                        <a:t>수출 풀필먼트 · 자사몰</a:t>
                      </a:r>
                      <a:endParaRPr lang="en-US" sz="750" dirty="0">
                        <a:latin typeface="Noto Sans KR" charset="0"/>
                        <a:ea typeface="Noto Sans KR" charset="0"/>
                        <a:cs typeface="Noto Sans KR" charset="0"/>
                      </a:endParaRPr>
                    </a:p>
                  </a:txBody>
                  <a:tcPr marL="63500" marR="635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750" b="1" dirty="0">
                          <a:solidFill>
                            <a:srgbClr val="267D86"/>
                          </a:solidFill>
                          <a:latin typeface="Noto Sans KR" pitchFamily="34" charset="0"/>
                          <a:ea typeface="Noto Sans KR" pitchFamily="34" charset="-122"/>
                          <a:cs typeface="Noto Sans KR" pitchFamily="34" charset="-120"/>
                        </a:rPr>
                        <a:t>B6 브랜드 운영팀</a:t>
                      </a:r>
                      <a:endParaRPr lang="en-US" sz="750" dirty="0">
                        <a:latin typeface="Noto Sans KR" charset="0"/>
                        <a:ea typeface="Noto Sans KR" charset="0"/>
                        <a:cs typeface="Noto Sans KR" charset="0"/>
                      </a:endParaRPr>
                    </a:p>
                    <a:p>
                      <a:pPr algn="l" indent="0" marL="0">
                        <a:buNone/>
                      </a:pPr>
                      <a:r>
                        <a:rPr lang="en-US" sz="750" b="1" dirty="0">
                          <a:solidFill>
                            <a:srgbClr val="267D86"/>
                          </a:solidFill>
                          <a:latin typeface="Noto Sans KR" pitchFamily="34" charset="0"/>
                          <a:ea typeface="Noto Sans KR" pitchFamily="34" charset="-122"/>
                          <a:cs typeface="Noto Sans KR" pitchFamily="34" charset="-120"/>
                        </a:rPr>
                        <a:t>(수출 준비 브랜드)</a:t>
                      </a:r>
                      <a:endParaRPr lang="en-US" sz="750" dirty="0">
                        <a:latin typeface="Noto Sans KR" charset="0"/>
                        <a:ea typeface="Noto Sans KR" charset="0"/>
                        <a:cs typeface="Noto Sans KR" charset="0"/>
                      </a:endParaRPr>
                    </a:p>
                  </a:txBody>
                  <a:tcPr marL="63500" marR="635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750" b="1" dirty="0">
                          <a:solidFill>
                            <a:srgbClr val="C2410C"/>
                          </a:solidFill>
                          <a:latin typeface="Noto Sans KR" pitchFamily="34" charset="0"/>
                          <a:ea typeface="Noto Sans KR" pitchFamily="34" charset="-122"/>
                          <a:cs typeface="Noto Sans KR" pitchFamily="34" charset="-120"/>
                        </a:rPr>
                        <a:t>③ </a:t>
                      </a:r>
                      <a:pPr algn="l" indent="0" marL="0">
                        <a:buNone/>
                      </a:pPr>
                      <a:r>
                        <a:rPr lang="en-US" sz="750" dirty="0">
                          <a:solidFill>
                            <a:srgbClr val="334155"/>
                          </a:solidFill>
                          <a:latin typeface="Noto Sans KR" pitchFamily="34" charset="0"/>
                          <a:ea typeface="Noto Sans KR" pitchFamily="34" charset="-122"/>
                          <a:cs typeface="Noto Sans KR" pitchFamily="34" charset="-120"/>
                        </a:rPr>
                        <a:t>수출 이력이 없는 브랜드는 시험성적서 · 해외 배송 · 현지 판매 채널을 혼자 갖추기 어렵다.</a:t>
                      </a:r>
                      <a:endParaRPr lang="en-US" sz="750" dirty="0">
                        <a:latin typeface="Noto Sans KR" charset="0"/>
                        <a:ea typeface="Noto Sans KR" charset="0"/>
                        <a:cs typeface="Noto Sans KR" charset="0"/>
                      </a:endParaRPr>
                    </a:p>
                    <a:p>
                      <a:pPr algn="l" indent="0" marL="0">
                        <a:buNone/>
                      </a:pPr>
                      <a:r>
                        <a:rPr lang="en-US" sz="750" dirty="0">
                          <a:solidFill>
                            <a:srgbClr val="334155"/>
                          </a:solidFill>
                          <a:latin typeface="Noto Sans KR" pitchFamily="34" charset="0"/>
                          <a:ea typeface="Noto Sans KR" pitchFamily="34" charset="-122"/>
                          <a:cs typeface="Noto Sans KR" pitchFamily="34" charset="-120"/>
                        </a:rPr>
                        <a:t>무신사도 해외 주문 풀필먼트를 준비할 만큼 이 수요는 커지고 있다.</a:t>
                      </a:r>
                      <a:endParaRPr lang="en-US" sz="750" dirty="0">
                        <a:latin typeface="Noto Sans KR" charset="0"/>
                        <a:ea typeface="Noto Sans KR" charset="0"/>
                        <a:cs typeface="Noto Sans KR" charset="0"/>
                      </a:endParaRPr>
                    </a:p>
                  </a:txBody>
                  <a:tcPr marL="63500" marR="635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과제 표기"/>
          <p:cNvSpPr txBox="1"/>
          <p:nvPr/>
        </p:nvSpPr>
        <p:spPr>
          <a:xfrm>
            <a:off x="612648" y="274320"/>
            <a:ext cx="5486400" cy="237744"/>
          </a:xfrm>
          <a:prstGeom prst="rect">
            <a:avLst/>
          </a:prstGeom>
          <a:noFill/>
          <a:ln/>
        </p:spPr>
        <p:txBody>
          <a:bodyPr wrap="square" lIns="0" tIns="0" rIns="0" bIns="0" rtlCol="0" anchor="t"/>
          <a:lstStyle/>
          <a:p>
            <a:pPr algn="l" indent="0" marL="0">
              <a:lnSpc>
                <a:spcPct val="92000"/>
              </a:lnSpc>
              <a:buNone/>
            </a:pPr>
            <a:r>
              <a:rPr lang="en-US" sz="1100" dirty="0">
                <a:solidFill>
                  <a:srgbClr val="64748B"/>
                </a:solidFill>
                <a:latin typeface="Noto Sans KR" pitchFamily="34" charset="0"/>
                <a:ea typeface="Noto Sans KR" pitchFamily="34" charset="-122"/>
                <a:cs typeface="Noto Sans KR" pitchFamily="34" charset="-120"/>
              </a:rPr>
              <a:t>전시산업론 중간고사 개인 과제   6/6</a:t>
            </a:r>
            <a:endParaRPr lang="en-US" sz="1100" dirty="0"/>
          </a:p>
        </p:txBody>
      </p:sp>
      <p:sp>
        <p:nvSpPr>
          <p:cNvPr id="3" name="Text 1"/>
          <p:cNvSpPr/>
          <p:nvPr>
            <p:ph idx="101" type="title" hasCustomPrompt="1"/>
          </p:nvPr>
        </p:nvSpPr>
        <p:spPr>
          <a:xfrm>
            <a:off x="612648" y="548640"/>
            <a:ext cx="10963656" cy="512064"/>
          </a:xfrm>
          <a:prstGeom prst="rect">
            <a:avLst/>
          </a:prstGeom>
          <a:noFill/>
          <a:ln/>
        </p:spPr>
        <p:txBody>
          <a:bodyPr wrap="square" lIns="0" tIns="0" rIns="0" bIns="0" rtlCol="0" anchor="ctr"/>
          <a:lstStyle/>
          <a:p>
            <a:pPr algn="l" indent="0" marL="0">
              <a:buNone/>
            </a:pPr>
            <a:r>
              <a:rPr lang="en-US" sz="3000" b="1" dirty="0">
                <a:solidFill>
                  <a:srgbClr val="182F48"/>
                </a:solidFill>
                <a:latin typeface="Noto Sans KR" pitchFamily="34" charset="0"/>
                <a:ea typeface="Noto Sans KR" pitchFamily="34" charset="-122"/>
                <a:cs typeface="Noto Sans KR" pitchFamily="34" charset="-120"/>
              </a:rPr>
              <a:t>주요 이해관계자 · 역할</a:t>
            </a:r>
            <a:endParaRPr lang="en-US" sz="3000" dirty="0"/>
          </a:p>
        </p:txBody>
      </p:sp>
      <p:sp>
        <p:nvSpPr>
          <p:cNvPr id="4" name="Text 1"/>
          <p:cNvSpPr/>
          <p:nvPr>
            <p:ph idx="102" type="body" hasCustomPrompt="1"/>
          </p:nvPr>
        </p:nvSpPr>
        <p:spPr>
          <a:xfrm>
            <a:off x="612648" y="1060704"/>
            <a:ext cx="10963656" cy="310896"/>
          </a:xfrm>
          <a:prstGeom prst="rect">
            <a:avLst/>
          </a:prstGeom>
          <a:noFill/>
          <a:ln/>
        </p:spPr>
        <p:txBody>
          <a:bodyPr wrap="square" lIns="0" tIns="0" rIns="0" bIns="0" rtlCol="0" anchor="ctr"/>
          <a:lstStyle/>
          <a:p>
            <a:pPr algn="l" indent="0" marL="0">
              <a:buNone/>
            </a:pPr>
            <a:r>
              <a:rPr lang="en-US" sz="1500" dirty="0">
                <a:solidFill>
                  <a:srgbClr val="267D86"/>
                </a:solidFill>
                <a:latin typeface="Noto Sans KR" pitchFamily="34" charset="0"/>
                <a:ea typeface="Noto Sans KR" pitchFamily="34" charset="-122"/>
                <a:cs typeface="Noto Sans KR" pitchFamily="34" charset="-120"/>
              </a:rPr>
              <a:t>누구와 협력하며, 각 주체는 무엇을 얻는가?</a:t>
            </a:r>
            <a:endParaRPr lang="en-US" sz="1500" dirty="0"/>
          </a:p>
        </p:txBody>
      </p:sp>
      <p:sp>
        <p:nvSpPr>
          <p:cNvPr id="5" name="출처"/>
          <p:cNvSpPr txBox="1"/>
          <p:nvPr/>
        </p:nvSpPr>
        <p:spPr>
          <a:xfrm>
            <a:off x="612648" y="6355080"/>
            <a:ext cx="10963656" cy="457200"/>
          </a:xfrm>
          <a:prstGeom prst="rect">
            <a:avLst/>
          </a:prstGeom>
          <a:noFill/>
          <a:ln/>
        </p:spPr>
        <p:txBody>
          <a:bodyPr wrap="square" lIns="0" tIns="0" rIns="0" bIns="0" rtlCol="0" anchor="t"/>
          <a:lstStyle/>
          <a:p>
            <a:pPr algn="l" indent="0" marL="0">
              <a:lnSpc>
                <a:spcPct val="90000"/>
              </a:lnSpc>
              <a:buNone/>
            </a:pPr>
            <a:r>
              <a:rPr lang="en-US" sz="700" dirty="0">
                <a:solidFill>
                  <a:srgbClr val="64748B"/>
                </a:solidFill>
                <a:latin typeface="Noto Sans KR" pitchFamily="34" charset="0"/>
                <a:ea typeface="Noto Sans KR" pitchFamily="34" charset="-122"/>
                <a:cs typeface="Noto Sans KR" pitchFamily="34" charset="-120"/>
              </a:rPr>
              <a:t>출처: 산업통상부(2026.2.3, 섬유패션 All in Korea) · 산업통상부 「전시산업 발전 로드맵 2030」(2026.10.14) · 한국패션협회(All in Korea 2026~2028, 280개사) · 서울 관광·MICE기업 지원센터 공고(2026) · 연세춘추(2021 봉제업체 실태조사)</a:t>
            </a:r>
            <a:endParaRPr lang="en-US" sz="700" dirty="0"/>
          </a:p>
          <a:p>
            <a:pPr algn="l" indent="0" marL="0">
              <a:lnSpc>
                <a:spcPct val="90000"/>
              </a:lnSpc>
              <a:buNone/>
            </a:pPr>
            <a:r>
              <a:rPr lang="en-US" sz="700" dirty="0">
                <a:solidFill>
                  <a:srgbClr val="64748B"/>
                </a:solidFill>
                <a:latin typeface="Noto Sans KR" pitchFamily="34" charset="0"/>
                <a:ea typeface="Noto Sans KR" pitchFamily="34" charset="-122"/>
                <a:cs typeface="Noto Sans KR" pitchFamily="34" charset="-120"/>
              </a:rPr>
              <a:t>스마트투데이(2025.10, 코오롱스포츠·산림청·한국등산트레킹지원센터 동서트레일 협약 / 2025, 프리뷰 인 서울) · 쿠키뉴스(2019.4.17, 한국아웃도어스포츠산업협회) · TENANT news(2025) · 데일리안(FITI 시험설비) · 산에이(2025, GO OUT KOREA)</a:t>
            </a:r>
            <a:endParaRPr lang="en-US" sz="700" dirty="0"/>
          </a:p>
        </p:txBody>
      </p:sp>
      <p:sp>
        <p:nvSpPr>
          <p:cNvPr id="7" name="라벨"/>
          <p:cNvSpPr txBox="1"/>
          <p:nvPr/>
        </p:nvSpPr>
        <p:spPr>
          <a:xfrm>
            <a:off x="612648" y="1499616"/>
            <a:ext cx="1417320" cy="475488"/>
          </a:xfrm>
          <a:prstGeom prst="rect">
            <a:avLst/>
          </a:prstGeom>
          <a:noFill/>
          <a:ln/>
        </p:spPr>
        <p:txBody>
          <a:bodyPr wrap="square" lIns="0" tIns="0" rIns="0" bIns="0" rtlCol="0" anchor="t"/>
          <a:lstStyle/>
          <a:p>
            <a:pPr algn="l" indent="0" marL="0">
              <a:lnSpc>
                <a:spcPct val="100000"/>
              </a:lnSpc>
              <a:buNone/>
            </a:pPr>
            <a:r>
              <a:rPr lang="en-US" sz="1200" b="1" dirty="0">
                <a:solidFill>
                  <a:srgbClr val="182F48"/>
                </a:solidFill>
                <a:latin typeface="Noto Sans KR" pitchFamily="34" charset="0"/>
                <a:ea typeface="Noto Sans KR" pitchFamily="34" charset="-122"/>
                <a:cs typeface="Noto Sans KR" pitchFamily="34" charset="-120"/>
              </a:rPr>
              <a:t>주요</a:t>
            </a:r>
            <a:endParaRPr lang="en-US" sz="1200" dirty="0"/>
          </a:p>
          <a:p>
            <a:pPr algn="l" indent="0" marL="0">
              <a:lnSpc>
                <a:spcPct val="100000"/>
              </a:lnSpc>
              <a:buNone/>
            </a:pPr>
            <a:r>
              <a:rPr lang="en-US" sz="1200" b="1" dirty="0">
                <a:solidFill>
                  <a:srgbClr val="182F48"/>
                </a:solidFill>
                <a:latin typeface="Noto Sans KR" pitchFamily="34" charset="0"/>
                <a:ea typeface="Noto Sans KR" pitchFamily="34" charset="-122"/>
                <a:cs typeface="Noto Sans KR" pitchFamily="34" charset="-120"/>
              </a:rPr>
              <a:t>이해관계자</a:t>
            </a:r>
            <a:endParaRPr lang="en-US" sz="1200" dirty="0"/>
          </a:p>
        </p:txBody>
      </p:sp>
      <p:sp>
        <p:nvSpPr>
          <p:cNvPr id="8" name="이해관계자 분류 1"/>
          <p:cNvSpPr/>
          <p:nvPr/>
        </p:nvSpPr>
        <p:spPr>
          <a:xfrm>
            <a:off x="2121408" y="1481328"/>
            <a:ext cx="2697480" cy="566928"/>
          </a:xfrm>
          <a:prstGeom prst="roundRect">
            <a:avLst>
              <a:gd name="adj" fmla="val 8065"/>
            </a:avLst>
          </a:prstGeom>
          <a:solidFill>
            <a:srgbClr val="F1F5F9"/>
          </a:solidFill>
          <a:ln/>
        </p:spPr>
      </p:sp>
      <p:sp>
        <p:nvSpPr>
          <p:cNvPr id="9" name="이해관계자 분류명 1"/>
          <p:cNvSpPr txBox="1"/>
          <p:nvPr/>
        </p:nvSpPr>
        <p:spPr>
          <a:xfrm>
            <a:off x="2194560" y="1517904"/>
            <a:ext cx="2551176" cy="164592"/>
          </a:xfrm>
          <a:prstGeom prst="rect">
            <a:avLst/>
          </a:prstGeom>
          <a:noFill/>
          <a:ln/>
        </p:spPr>
        <p:txBody>
          <a:bodyPr wrap="square" lIns="0" tIns="0" rIns="0" bIns="0" rtlCol="0" anchor="ctr"/>
          <a:lstStyle/>
          <a:p>
            <a:pPr algn="l" indent="0" marL="0">
              <a:lnSpc>
                <a:spcPct val="100000"/>
              </a:lnSpc>
              <a:buNone/>
            </a:pPr>
            <a:r>
              <a:rPr lang="en-US" sz="800" b="1" dirty="0">
                <a:solidFill>
                  <a:srgbClr val="182F48"/>
                </a:solidFill>
                <a:latin typeface="Noto Sans KR" pitchFamily="34" charset="0"/>
                <a:ea typeface="Noto Sans KR" pitchFamily="34" charset="-122"/>
                <a:cs typeface="Noto Sans KR" pitchFamily="34" charset="-120"/>
              </a:rPr>
              <a:t>공공기관  </a:t>
            </a:r>
            <a:pPr algn="l" indent="0" marL="0">
              <a:lnSpc>
                <a:spcPct val="100000"/>
              </a:lnSpc>
              <a:buNone/>
            </a:pPr>
            <a:r>
              <a:rPr lang="en-US" sz="700" b="1" dirty="0">
                <a:solidFill>
                  <a:srgbClr val="267D86"/>
                </a:solidFill>
                <a:latin typeface="Noto Sans KR" pitchFamily="34" charset="0"/>
                <a:ea typeface="Noto Sans KR" pitchFamily="34" charset="-122"/>
                <a:cs typeface="Noto Sans KR" pitchFamily="34" charset="-120"/>
              </a:rPr>
              <a:t>재원·해외 바이어 유치</a:t>
            </a:r>
            <a:endParaRPr lang="en-US" sz="800" dirty="0"/>
          </a:p>
        </p:txBody>
      </p:sp>
      <p:sp>
        <p:nvSpPr>
          <p:cNvPr id="10" name="배지 산업통상부"/>
          <p:cNvSpPr/>
          <p:nvPr/>
        </p:nvSpPr>
        <p:spPr>
          <a:xfrm>
            <a:off x="2194560" y="1700784"/>
            <a:ext cx="488696" cy="146304"/>
          </a:xfrm>
          <a:prstGeom prst="roundRect">
            <a:avLst>
              <a:gd name="adj" fmla="val 25000"/>
            </a:avLst>
          </a:prstGeom>
          <a:solidFill>
            <a:srgbClr val="E6F2F3"/>
          </a:solidFill>
          <a:ln/>
        </p:spPr>
        <p:txBody>
          <a:bodyPr wrap="square" lIns="0" tIns="0" rIns="0" bIns="0" rtlCol="0" anchor="ctr"/>
          <a:lstStyle/>
          <a:p>
            <a:pPr algn="ctr" indent="0" marL="0">
              <a:buNone/>
            </a:pPr>
            <a:r>
              <a:rPr lang="en-US" sz="680" dirty="0">
                <a:solidFill>
                  <a:srgbClr val="182F48"/>
                </a:solidFill>
                <a:latin typeface="Noto Sans KR" pitchFamily="34" charset="0"/>
                <a:ea typeface="Noto Sans KR" pitchFamily="34" charset="-122"/>
                <a:cs typeface="Noto Sans KR" pitchFamily="34" charset="-120"/>
              </a:rPr>
              <a:t>산업통상부</a:t>
            </a:r>
            <a:endParaRPr lang="en-US" sz="680" dirty="0"/>
          </a:p>
        </p:txBody>
      </p:sp>
      <p:sp>
        <p:nvSpPr>
          <p:cNvPr id="11" name="배지 KOTRA"/>
          <p:cNvSpPr/>
          <p:nvPr/>
        </p:nvSpPr>
        <p:spPr>
          <a:xfrm>
            <a:off x="2719832" y="1700784"/>
            <a:ext cx="370383" cy="146304"/>
          </a:xfrm>
          <a:prstGeom prst="roundRect">
            <a:avLst>
              <a:gd name="adj" fmla="val 25000"/>
            </a:avLst>
          </a:prstGeom>
          <a:solidFill>
            <a:srgbClr val="E6F2F3"/>
          </a:solidFill>
          <a:ln/>
        </p:spPr>
        <p:txBody>
          <a:bodyPr wrap="square" lIns="0" tIns="0" rIns="0" bIns="0" rtlCol="0" anchor="ctr"/>
          <a:lstStyle/>
          <a:p>
            <a:pPr algn="ctr" indent="0" marL="0">
              <a:buNone/>
            </a:pPr>
            <a:r>
              <a:rPr lang="en-US" sz="680" dirty="0">
                <a:solidFill>
                  <a:srgbClr val="182F48"/>
                </a:solidFill>
                <a:latin typeface="Noto Sans KR" pitchFamily="34" charset="0"/>
                <a:ea typeface="Noto Sans KR" pitchFamily="34" charset="-122"/>
                <a:cs typeface="Noto Sans KR" pitchFamily="34" charset="-120"/>
              </a:rPr>
              <a:t>KOTRA</a:t>
            </a:r>
            <a:endParaRPr lang="en-US" sz="680" dirty="0"/>
          </a:p>
        </p:txBody>
      </p:sp>
      <p:sp>
        <p:nvSpPr>
          <p:cNvPr id="12" name="배지 서울시 · 서울관광재단"/>
          <p:cNvSpPr/>
          <p:nvPr/>
        </p:nvSpPr>
        <p:spPr>
          <a:xfrm>
            <a:off x="3126791" y="1700784"/>
            <a:ext cx="934055" cy="146304"/>
          </a:xfrm>
          <a:prstGeom prst="roundRect">
            <a:avLst>
              <a:gd name="adj" fmla="val 25000"/>
            </a:avLst>
          </a:prstGeom>
          <a:solidFill>
            <a:srgbClr val="E6F2F3"/>
          </a:solidFill>
          <a:ln/>
        </p:spPr>
        <p:txBody>
          <a:bodyPr wrap="square" lIns="0" tIns="0" rIns="0" bIns="0" rtlCol="0" anchor="ctr"/>
          <a:lstStyle/>
          <a:p>
            <a:pPr algn="ctr" indent="0" marL="0">
              <a:buNone/>
            </a:pPr>
            <a:r>
              <a:rPr lang="en-US" sz="680" dirty="0">
                <a:solidFill>
                  <a:srgbClr val="182F48"/>
                </a:solidFill>
                <a:latin typeface="Noto Sans KR" pitchFamily="34" charset="0"/>
                <a:ea typeface="Noto Sans KR" pitchFamily="34" charset="-122"/>
                <a:cs typeface="Noto Sans KR" pitchFamily="34" charset="-120"/>
              </a:rPr>
              <a:t>서울시 · 서울관광재단</a:t>
            </a:r>
            <a:endParaRPr lang="en-US" sz="680" dirty="0"/>
          </a:p>
        </p:txBody>
      </p:sp>
      <p:sp>
        <p:nvSpPr>
          <p:cNvPr id="13" name="배지 산림청 · 한국등산트레킹지원센터"/>
          <p:cNvSpPr/>
          <p:nvPr/>
        </p:nvSpPr>
        <p:spPr>
          <a:xfrm>
            <a:off x="2194560" y="1874520"/>
            <a:ext cx="1331311" cy="146304"/>
          </a:xfrm>
          <a:prstGeom prst="roundRect">
            <a:avLst>
              <a:gd name="adj" fmla="val 25000"/>
            </a:avLst>
          </a:prstGeom>
          <a:solidFill>
            <a:srgbClr val="E6F2F3"/>
          </a:solidFill>
          <a:ln/>
        </p:spPr>
        <p:txBody>
          <a:bodyPr wrap="square" lIns="0" tIns="0" rIns="0" bIns="0" rtlCol="0" anchor="ctr"/>
          <a:lstStyle/>
          <a:p>
            <a:pPr algn="ctr" indent="0" marL="0">
              <a:buNone/>
            </a:pPr>
            <a:r>
              <a:rPr lang="en-US" sz="680" dirty="0">
                <a:solidFill>
                  <a:srgbClr val="182F48"/>
                </a:solidFill>
                <a:latin typeface="Noto Sans KR" pitchFamily="34" charset="0"/>
                <a:ea typeface="Noto Sans KR" pitchFamily="34" charset="-122"/>
                <a:cs typeface="Noto Sans KR" pitchFamily="34" charset="-120"/>
              </a:rPr>
              <a:t>산림청 · 한국등산트레킹지원센터</a:t>
            </a:r>
            <a:endParaRPr lang="en-US" sz="680" dirty="0"/>
          </a:p>
        </p:txBody>
      </p:sp>
      <p:sp>
        <p:nvSpPr>
          <p:cNvPr id="14" name="이해관계자 분류 2"/>
          <p:cNvSpPr/>
          <p:nvPr/>
        </p:nvSpPr>
        <p:spPr>
          <a:xfrm>
            <a:off x="4869180" y="1481328"/>
            <a:ext cx="2560320" cy="566928"/>
          </a:xfrm>
          <a:prstGeom prst="roundRect">
            <a:avLst>
              <a:gd name="adj" fmla="val 8065"/>
            </a:avLst>
          </a:prstGeom>
          <a:solidFill>
            <a:srgbClr val="F1F5F9"/>
          </a:solidFill>
          <a:ln/>
        </p:spPr>
      </p:sp>
      <p:sp>
        <p:nvSpPr>
          <p:cNvPr id="15" name="이해관계자 분류명 2"/>
          <p:cNvSpPr txBox="1"/>
          <p:nvPr/>
        </p:nvSpPr>
        <p:spPr>
          <a:xfrm>
            <a:off x="4942332" y="1517904"/>
            <a:ext cx="2414016" cy="164592"/>
          </a:xfrm>
          <a:prstGeom prst="rect">
            <a:avLst/>
          </a:prstGeom>
          <a:noFill/>
          <a:ln/>
        </p:spPr>
        <p:txBody>
          <a:bodyPr wrap="square" lIns="0" tIns="0" rIns="0" bIns="0" rtlCol="0" anchor="ctr"/>
          <a:lstStyle/>
          <a:p>
            <a:pPr algn="l" indent="0" marL="0">
              <a:lnSpc>
                <a:spcPct val="100000"/>
              </a:lnSpc>
              <a:buNone/>
            </a:pPr>
            <a:r>
              <a:rPr lang="en-US" sz="800" b="1" dirty="0">
                <a:solidFill>
                  <a:srgbClr val="182F48"/>
                </a:solidFill>
                <a:latin typeface="Noto Sans KR" pitchFamily="34" charset="0"/>
                <a:ea typeface="Noto Sans KR" pitchFamily="34" charset="-122"/>
                <a:cs typeface="Noto Sans KR" pitchFamily="34" charset="-120"/>
              </a:rPr>
              <a:t>협회·단체  </a:t>
            </a:r>
            <a:pPr algn="l" indent="0" marL="0">
              <a:lnSpc>
                <a:spcPct val="100000"/>
              </a:lnSpc>
              <a:buNone/>
            </a:pPr>
            <a:r>
              <a:rPr lang="en-US" sz="700" b="1" dirty="0">
                <a:solidFill>
                  <a:srgbClr val="267D86"/>
                </a:solidFill>
                <a:latin typeface="Noto Sans KR" pitchFamily="34" charset="0"/>
                <a:ea typeface="Noto Sans KR" pitchFamily="34" charset="-122"/>
                <a:cs typeface="Noto Sans KR" pitchFamily="34" charset="-120"/>
              </a:rPr>
              <a:t>참가업체 모집</a:t>
            </a:r>
            <a:endParaRPr lang="en-US" sz="800" dirty="0"/>
          </a:p>
        </p:txBody>
      </p:sp>
      <p:sp>
        <p:nvSpPr>
          <p:cNvPr id="16" name="배지 한국패션협회"/>
          <p:cNvSpPr/>
          <p:nvPr/>
        </p:nvSpPr>
        <p:spPr>
          <a:xfrm>
            <a:off x="4942332" y="1700784"/>
            <a:ext cx="568147" cy="146304"/>
          </a:xfrm>
          <a:prstGeom prst="roundRect">
            <a:avLst>
              <a:gd name="adj" fmla="val 25000"/>
            </a:avLst>
          </a:prstGeom>
          <a:solidFill>
            <a:srgbClr val="E6F2F3"/>
          </a:solidFill>
          <a:ln/>
        </p:spPr>
        <p:txBody>
          <a:bodyPr wrap="square" lIns="0" tIns="0" rIns="0" bIns="0" rtlCol="0" anchor="ctr"/>
          <a:lstStyle/>
          <a:p>
            <a:pPr algn="ctr" indent="0" marL="0">
              <a:buNone/>
            </a:pPr>
            <a:r>
              <a:rPr lang="en-US" sz="680" dirty="0">
                <a:solidFill>
                  <a:srgbClr val="182F48"/>
                </a:solidFill>
                <a:latin typeface="Noto Sans KR" pitchFamily="34" charset="0"/>
                <a:ea typeface="Noto Sans KR" pitchFamily="34" charset="-122"/>
                <a:cs typeface="Noto Sans KR" pitchFamily="34" charset="-120"/>
              </a:rPr>
              <a:t>한국패션협회</a:t>
            </a:r>
            <a:endParaRPr lang="en-US" sz="680" dirty="0"/>
          </a:p>
        </p:txBody>
      </p:sp>
      <p:sp>
        <p:nvSpPr>
          <p:cNvPr id="17" name="배지 한국섬유산업연합회"/>
          <p:cNvSpPr/>
          <p:nvPr/>
        </p:nvSpPr>
        <p:spPr>
          <a:xfrm>
            <a:off x="5547055" y="1700784"/>
            <a:ext cx="806501" cy="146304"/>
          </a:xfrm>
          <a:prstGeom prst="roundRect">
            <a:avLst>
              <a:gd name="adj" fmla="val 25000"/>
            </a:avLst>
          </a:prstGeom>
          <a:solidFill>
            <a:srgbClr val="E6F2F3"/>
          </a:solidFill>
          <a:ln/>
        </p:spPr>
        <p:txBody>
          <a:bodyPr wrap="square" lIns="0" tIns="0" rIns="0" bIns="0" rtlCol="0" anchor="ctr"/>
          <a:lstStyle/>
          <a:p>
            <a:pPr algn="ctr" indent="0" marL="0">
              <a:buNone/>
            </a:pPr>
            <a:r>
              <a:rPr lang="en-US" sz="680" dirty="0">
                <a:solidFill>
                  <a:srgbClr val="182F48"/>
                </a:solidFill>
                <a:latin typeface="Noto Sans KR" pitchFamily="34" charset="0"/>
                <a:ea typeface="Noto Sans KR" pitchFamily="34" charset="-122"/>
                <a:cs typeface="Noto Sans KR" pitchFamily="34" charset="-120"/>
              </a:rPr>
              <a:t>한국섬유산업연합회</a:t>
            </a:r>
            <a:endParaRPr lang="en-US" sz="680" dirty="0"/>
          </a:p>
        </p:txBody>
      </p:sp>
      <p:sp>
        <p:nvSpPr>
          <p:cNvPr id="18" name="배지 한국의류산업협회"/>
          <p:cNvSpPr/>
          <p:nvPr/>
        </p:nvSpPr>
        <p:spPr>
          <a:xfrm>
            <a:off x="6390132" y="1700784"/>
            <a:ext cx="727050" cy="146304"/>
          </a:xfrm>
          <a:prstGeom prst="roundRect">
            <a:avLst>
              <a:gd name="adj" fmla="val 25000"/>
            </a:avLst>
          </a:prstGeom>
          <a:solidFill>
            <a:srgbClr val="E6F2F3"/>
          </a:solidFill>
          <a:ln/>
        </p:spPr>
        <p:txBody>
          <a:bodyPr wrap="square" lIns="0" tIns="0" rIns="0" bIns="0" rtlCol="0" anchor="ctr"/>
          <a:lstStyle/>
          <a:p>
            <a:pPr algn="ctr" indent="0" marL="0">
              <a:buNone/>
            </a:pPr>
            <a:r>
              <a:rPr lang="en-US" sz="680" dirty="0">
                <a:solidFill>
                  <a:srgbClr val="182F48"/>
                </a:solidFill>
                <a:latin typeface="Noto Sans KR" pitchFamily="34" charset="0"/>
                <a:ea typeface="Noto Sans KR" pitchFamily="34" charset="-122"/>
                <a:cs typeface="Noto Sans KR" pitchFamily="34" charset="-120"/>
              </a:rPr>
              <a:t>한국의류산업협회</a:t>
            </a:r>
            <a:endParaRPr lang="en-US" sz="680" dirty="0"/>
          </a:p>
        </p:txBody>
      </p:sp>
      <p:sp>
        <p:nvSpPr>
          <p:cNvPr id="19" name="배지 한국아웃도어스포츠산업협회"/>
          <p:cNvSpPr/>
          <p:nvPr/>
        </p:nvSpPr>
        <p:spPr>
          <a:xfrm>
            <a:off x="4942332" y="1874520"/>
            <a:ext cx="1124306" cy="146304"/>
          </a:xfrm>
          <a:prstGeom prst="roundRect">
            <a:avLst>
              <a:gd name="adj" fmla="val 25000"/>
            </a:avLst>
          </a:prstGeom>
          <a:solidFill>
            <a:srgbClr val="E6F2F3"/>
          </a:solidFill>
          <a:ln/>
        </p:spPr>
        <p:txBody>
          <a:bodyPr wrap="square" lIns="0" tIns="0" rIns="0" bIns="0" rtlCol="0" anchor="ctr"/>
          <a:lstStyle/>
          <a:p>
            <a:pPr algn="ctr" indent="0" marL="0">
              <a:buNone/>
            </a:pPr>
            <a:r>
              <a:rPr lang="en-US" sz="680" dirty="0">
                <a:solidFill>
                  <a:srgbClr val="182F48"/>
                </a:solidFill>
                <a:latin typeface="Noto Sans KR" pitchFamily="34" charset="0"/>
                <a:ea typeface="Noto Sans KR" pitchFamily="34" charset="-122"/>
                <a:cs typeface="Noto Sans KR" pitchFamily="34" charset="-120"/>
              </a:rPr>
              <a:t>한국아웃도어스포츠산업협회</a:t>
            </a:r>
            <a:endParaRPr lang="en-US" sz="680" dirty="0"/>
          </a:p>
        </p:txBody>
      </p:sp>
      <p:sp>
        <p:nvSpPr>
          <p:cNvPr id="20" name="이해관계자 분류 3"/>
          <p:cNvSpPr/>
          <p:nvPr/>
        </p:nvSpPr>
        <p:spPr>
          <a:xfrm>
            <a:off x="7479792" y="1481328"/>
            <a:ext cx="1481328" cy="566928"/>
          </a:xfrm>
          <a:prstGeom prst="roundRect">
            <a:avLst>
              <a:gd name="adj" fmla="val 8065"/>
            </a:avLst>
          </a:prstGeom>
          <a:solidFill>
            <a:srgbClr val="F1F5F9"/>
          </a:solidFill>
          <a:ln/>
        </p:spPr>
      </p:sp>
      <p:sp>
        <p:nvSpPr>
          <p:cNvPr id="21" name="이해관계자 분류명 3"/>
          <p:cNvSpPr txBox="1"/>
          <p:nvPr/>
        </p:nvSpPr>
        <p:spPr>
          <a:xfrm>
            <a:off x="7552944" y="1517904"/>
            <a:ext cx="1335024" cy="164592"/>
          </a:xfrm>
          <a:prstGeom prst="rect">
            <a:avLst/>
          </a:prstGeom>
          <a:noFill/>
          <a:ln/>
        </p:spPr>
        <p:txBody>
          <a:bodyPr wrap="square" lIns="0" tIns="0" rIns="0" bIns="0" rtlCol="0" anchor="ctr"/>
          <a:lstStyle/>
          <a:p>
            <a:pPr algn="l" indent="0" marL="0">
              <a:lnSpc>
                <a:spcPct val="100000"/>
              </a:lnSpc>
              <a:buNone/>
            </a:pPr>
            <a:r>
              <a:rPr lang="en-US" sz="800" b="1" dirty="0">
                <a:solidFill>
                  <a:srgbClr val="182F48"/>
                </a:solidFill>
                <a:latin typeface="Noto Sans KR" pitchFamily="34" charset="0"/>
                <a:ea typeface="Noto Sans KR" pitchFamily="34" charset="-122"/>
                <a:cs typeface="Noto Sans KR" pitchFamily="34" charset="-120"/>
              </a:rPr>
              <a:t>연구·시험기관  </a:t>
            </a:r>
            <a:pPr algn="l" indent="0" marL="0">
              <a:lnSpc>
                <a:spcPct val="100000"/>
              </a:lnSpc>
              <a:buNone/>
            </a:pPr>
            <a:r>
              <a:rPr lang="en-US" sz="700" b="1" dirty="0">
                <a:solidFill>
                  <a:srgbClr val="267D86"/>
                </a:solidFill>
                <a:latin typeface="Noto Sans KR" pitchFamily="34" charset="0"/>
                <a:ea typeface="Noto Sans KR" pitchFamily="34" charset="-122"/>
                <a:cs typeface="Noto Sans KR" pitchFamily="34" charset="-120"/>
              </a:rPr>
              <a:t>기능 신뢰</a:t>
            </a:r>
            <a:endParaRPr lang="en-US" sz="800" dirty="0"/>
          </a:p>
        </p:txBody>
      </p:sp>
      <p:sp>
        <p:nvSpPr>
          <p:cNvPr id="22" name="배지 FITI시험연구원"/>
          <p:cNvSpPr/>
          <p:nvPr/>
        </p:nvSpPr>
        <p:spPr>
          <a:xfrm>
            <a:off x="7552944" y="1700784"/>
            <a:ext cx="658912" cy="146304"/>
          </a:xfrm>
          <a:prstGeom prst="roundRect">
            <a:avLst>
              <a:gd name="adj" fmla="val 25000"/>
            </a:avLst>
          </a:prstGeom>
          <a:solidFill>
            <a:srgbClr val="E6F2F3"/>
          </a:solidFill>
          <a:ln/>
        </p:spPr>
        <p:txBody>
          <a:bodyPr wrap="square" lIns="0" tIns="0" rIns="0" bIns="0" rtlCol="0" anchor="ctr"/>
          <a:lstStyle/>
          <a:p>
            <a:pPr algn="ctr" indent="0" marL="0">
              <a:buNone/>
            </a:pPr>
            <a:r>
              <a:rPr lang="en-US" sz="680" dirty="0">
                <a:solidFill>
                  <a:srgbClr val="182F48"/>
                </a:solidFill>
                <a:latin typeface="Noto Sans KR" pitchFamily="34" charset="0"/>
                <a:ea typeface="Noto Sans KR" pitchFamily="34" charset="-122"/>
                <a:cs typeface="Noto Sans KR" pitchFamily="34" charset="-120"/>
              </a:rPr>
              <a:t>FITI시험연구원</a:t>
            </a:r>
            <a:endParaRPr lang="en-US" sz="680" dirty="0"/>
          </a:p>
        </p:txBody>
      </p:sp>
      <p:sp>
        <p:nvSpPr>
          <p:cNvPr id="23" name="배지 한국섬유개발연구원"/>
          <p:cNvSpPr/>
          <p:nvPr/>
        </p:nvSpPr>
        <p:spPr>
          <a:xfrm>
            <a:off x="7552944" y="1874520"/>
            <a:ext cx="806501" cy="146304"/>
          </a:xfrm>
          <a:prstGeom prst="roundRect">
            <a:avLst>
              <a:gd name="adj" fmla="val 25000"/>
            </a:avLst>
          </a:prstGeom>
          <a:solidFill>
            <a:srgbClr val="E6F2F3"/>
          </a:solidFill>
          <a:ln/>
        </p:spPr>
        <p:txBody>
          <a:bodyPr wrap="square" lIns="0" tIns="0" rIns="0" bIns="0" rtlCol="0" anchor="ctr"/>
          <a:lstStyle/>
          <a:p>
            <a:pPr algn="ctr" indent="0" marL="0">
              <a:buNone/>
            </a:pPr>
            <a:r>
              <a:rPr lang="en-US" sz="680" dirty="0">
                <a:solidFill>
                  <a:srgbClr val="182F48"/>
                </a:solidFill>
                <a:latin typeface="Noto Sans KR" pitchFamily="34" charset="0"/>
                <a:ea typeface="Noto Sans KR" pitchFamily="34" charset="-122"/>
                <a:cs typeface="Noto Sans KR" pitchFamily="34" charset="-120"/>
              </a:rPr>
              <a:t>한국섬유개발연구원</a:t>
            </a:r>
            <a:endParaRPr lang="en-US" sz="680" dirty="0"/>
          </a:p>
        </p:txBody>
      </p:sp>
      <p:sp>
        <p:nvSpPr>
          <p:cNvPr id="24" name="이해관계자 분류 4"/>
          <p:cNvSpPr/>
          <p:nvPr/>
        </p:nvSpPr>
        <p:spPr>
          <a:xfrm>
            <a:off x="9011412" y="1481328"/>
            <a:ext cx="1097280" cy="566928"/>
          </a:xfrm>
          <a:prstGeom prst="roundRect">
            <a:avLst>
              <a:gd name="adj" fmla="val 8065"/>
            </a:avLst>
          </a:prstGeom>
          <a:solidFill>
            <a:srgbClr val="F1F5F9"/>
          </a:solidFill>
          <a:ln/>
        </p:spPr>
      </p:sp>
      <p:sp>
        <p:nvSpPr>
          <p:cNvPr id="25" name="이해관계자 분류명 4"/>
          <p:cNvSpPr txBox="1"/>
          <p:nvPr/>
        </p:nvSpPr>
        <p:spPr>
          <a:xfrm>
            <a:off x="9084564" y="1517904"/>
            <a:ext cx="950976" cy="164592"/>
          </a:xfrm>
          <a:prstGeom prst="rect">
            <a:avLst/>
          </a:prstGeom>
          <a:noFill/>
          <a:ln/>
        </p:spPr>
        <p:txBody>
          <a:bodyPr wrap="square" lIns="0" tIns="0" rIns="0" bIns="0" rtlCol="0" anchor="ctr"/>
          <a:lstStyle/>
          <a:p>
            <a:pPr algn="l" indent="0" marL="0">
              <a:lnSpc>
                <a:spcPct val="100000"/>
              </a:lnSpc>
              <a:buNone/>
            </a:pPr>
            <a:r>
              <a:rPr lang="en-US" sz="800" b="1" dirty="0">
                <a:solidFill>
                  <a:srgbClr val="182F48"/>
                </a:solidFill>
                <a:latin typeface="Noto Sans KR" pitchFamily="34" charset="0"/>
                <a:ea typeface="Noto Sans KR" pitchFamily="34" charset="-122"/>
                <a:cs typeface="Noto Sans KR" pitchFamily="34" charset="-120"/>
              </a:rPr>
              <a:t>미디어  </a:t>
            </a:r>
            <a:pPr algn="l" indent="0" marL="0">
              <a:lnSpc>
                <a:spcPct val="100000"/>
              </a:lnSpc>
              <a:buNone/>
            </a:pPr>
            <a:r>
              <a:rPr lang="en-US" sz="700" b="1" dirty="0">
                <a:solidFill>
                  <a:srgbClr val="267D86"/>
                </a:solidFill>
                <a:latin typeface="Noto Sans KR" pitchFamily="34" charset="0"/>
                <a:ea typeface="Noto Sans KR" pitchFamily="34" charset="-122"/>
                <a:cs typeface="Noto Sans KR" pitchFamily="34" charset="-120"/>
              </a:rPr>
              <a:t>업계 홍보</a:t>
            </a:r>
            <a:endParaRPr lang="en-US" sz="800" dirty="0"/>
          </a:p>
        </p:txBody>
      </p:sp>
      <p:sp>
        <p:nvSpPr>
          <p:cNvPr id="26" name="배지 GO OUT KOREA"/>
          <p:cNvSpPr/>
          <p:nvPr/>
        </p:nvSpPr>
        <p:spPr>
          <a:xfrm>
            <a:off x="9084564" y="1700784"/>
            <a:ext cx="709864" cy="146304"/>
          </a:xfrm>
          <a:prstGeom prst="roundRect">
            <a:avLst>
              <a:gd name="adj" fmla="val 25000"/>
            </a:avLst>
          </a:prstGeom>
          <a:solidFill>
            <a:srgbClr val="E6F2F3"/>
          </a:solidFill>
          <a:ln/>
        </p:spPr>
        <p:txBody>
          <a:bodyPr wrap="square" lIns="0" tIns="0" rIns="0" bIns="0" rtlCol="0" anchor="ctr"/>
          <a:lstStyle/>
          <a:p>
            <a:pPr algn="ctr" indent="0" marL="0">
              <a:buNone/>
            </a:pPr>
            <a:r>
              <a:rPr lang="en-US" sz="680" dirty="0">
                <a:solidFill>
                  <a:srgbClr val="182F48"/>
                </a:solidFill>
                <a:latin typeface="Noto Sans KR" pitchFamily="34" charset="0"/>
                <a:ea typeface="Noto Sans KR" pitchFamily="34" charset="-122"/>
                <a:cs typeface="Noto Sans KR" pitchFamily="34" charset="-120"/>
              </a:rPr>
              <a:t>GO OUT KOREA</a:t>
            </a:r>
            <a:endParaRPr lang="en-US" sz="680" dirty="0"/>
          </a:p>
        </p:txBody>
      </p:sp>
      <p:sp>
        <p:nvSpPr>
          <p:cNvPr id="27" name="배지 패션비즈"/>
          <p:cNvSpPr/>
          <p:nvPr/>
        </p:nvSpPr>
        <p:spPr>
          <a:xfrm>
            <a:off x="9084564" y="1874520"/>
            <a:ext cx="409245" cy="146304"/>
          </a:xfrm>
          <a:prstGeom prst="roundRect">
            <a:avLst>
              <a:gd name="adj" fmla="val 25000"/>
            </a:avLst>
          </a:prstGeom>
          <a:solidFill>
            <a:srgbClr val="E6F2F3"/>
          </a:solidFill>
          <a:ln/>
        </p:spPr>
        <p:txBody>
          <a:bodyPr wrap="square" lIns="0" tIns="0" rIns="0" bIns="0" rtlCol="0" anchor="ctr"/>
          <a:lstStyle/>
          <a:p>
            <a:pPr algn="ctr" indent="0" marL="0">
              <a:buNone/>
            </a:pPr>
            <a:r>
              <a:rPr lang="en-US" sz="680" dirty="0">
                <a:solidFill>
                  <a:srgbClr val="182F48"/>
                </a:solidFill>
                <a:latin typeface="Noto Sans KR" pitchFamily="34" charset="0"/>
                <a:ea typeface="Noto Sans KR" pitchFamily="34" charset="-122"/>
                <a:cs typeface="Noto Sans KR" pitchFamily="34" charset="-120"/>
              </a:rPr>
              <a:t>패션비즈</a:t>
            </a:r>
            <a:endParaRPr lang="en-US" sz="680" dirty="0"/>
          </a:p>
        </p:txBody>
      </p:sp>
      <p:sp>
        <p:nvSpPr>
          <p:cNvPr id="28" name="이해관계자 분류 5"/>
          <p:cNvSpPr/>
          <p:nvPr/>
        </p:nvSpPr>
        <p:spPr>
          <a:xfrm>
            <a:off x="10158984" y="1481328"/>
            <a:ext cx="1417320" cy="566928"/>
          </a:xfrm>
          <a:prstGeom prst="roundRect">
            <a:avLst>
              <a:gd name="adj" fmla="val 8065"/>
            </a:avLst>
          </a:prstGeom>
          <a:solidFill>
            <a:srgbClr val="F1F5F9"/>
          </a:solidFill>
          <a:ln/>
        </p:spPr>
      </p:sp>
      <p:sp>
        <p:nvSpPr>
          <p:cNvPr id="29" name="이해관계자 분류명 5"/>
          <p:cNvSpPr txBox="1"/>
          <p:nvPr/>
        </p:nvSpPr>
        <p:spPr>
          <a:xfrm>
            <a:off x="10232136" y="1517904"/>
            <a:ext cx="1271016" cy="164592"/>
          </a:xfrm>
          <a:prstGeom prst="rect">
            <a:avLst/>
          </a:prstGeom>
          <a:noFill/>
          <a:ln/>
        </p:spPr>
        <p:txBody>
          <a:bodyPr wrap="square" lIns="0" tIns="0" rIns="0" bIns="0" rtlCol="0" anchor="ctr"/>
          <a:lstStyle/>
          <a:p>
            <a:pPr algn="l" indent="0" marL="0">
              <a:lnSpc>
                <a:spcPct val="100000"/>
              </a:lnSpc>
              <a:buNone/>
            </a:pPr>
            <a:r>
              <a:rPr lang="en-US" sz="800" b="1" dirty="0">
                <a:solidFill>
                  <a:srgbClr val="182F48"/>
                </a:solidFill>
                <a:latin typeface="Noto Sans KR" pitchFamily="34" charset="0"/>
                <a:ea typeface="Noto Sans KR" pitchFamily="34" charset="-122"/>
                <a:cs typeface="Noto Sans KR" pitchFamily="34" charset="-120"/>
              </a:rPr>
              <a:t>베뉴·플랫폼  </a:t>
            </a:r>
            <a:pPr algn="l" indent="0" marL="0">
              <a:lnSpc>
                <a:spcPct val="100000"/>
              </a:lnSpc>
              <a:buNone/>
            </a:pPr>
            <a:r>
              <a:rPr lang="en-US" sz="700" b="1" dirty="0">
                <a:solidFill>
                  <a:srgbClr val="267D86"/>
                </a:solidFill>
                <a:latin typeface="Noto Sans KR" pitchFamily="34" charset="0"/>
                <a:ea typeface="Noto Sans KR" pitchFamily="34" charset="-122"/>
                <a:cs typeface="Noto Sans KR" pitchFamily="34" charset="-120"/>
              </a:rPr>
              <a:t>장소·브랜드 풀</a:t>
            </a:r>
            <a:endParaRPr lang="en-US" sz="800" dirty="0"/>
          </a:p>
        </p:txBody>
      </p:sp>
      <p:sp>
        <p:nvSpPr>
          <p:cNvPr id="30" name="배지 코엑스"/>
          <p:cNvSpPr/>
          <p:nvPr/>
        </p:nvSpPr>
        <p:spPr>
          <a:xfrm>
            <a:off x="10232136" y="1700784"/>
            <a:ext cx="329794" cy="146304"/>
          </a:xfrm>
          <a:prstGeom prst="roundRect">
            <a:avLst>
              <a:gd name="adj" fmla="val 25000"/>
            </a:avLst>
          </a:prstGeom>
          <a:solidFill>
            <a:srgbClr val="E6F2F3"/>
          </a:solidFill>
          <a:ln/>
        </p:spPr>
        <p:txBody>
          <a:bodyPr wrap="square" lIns="0" tIns="0" rIns="0" bIns="0" rtlCol="0" anchor="ctr"/>
          <a:lstStyle/>
          <a:p>
            <a:pPr algn="ctr" indent="0" marL="0">
              <a:buNone/>
            </a:pPr>
            <a:r>
              <a:rPr lang="en-US" sz="680" dirty="0">
                <a:solidFill>
                  <a:srgbClr val="182F48"/>
                </a:solidFill>
                <a:latin typeface="Noto Sans KR" pitchFamily="34" charset="0"/>
                <a:ea typeface="Noto Sans KR" pitchFamily="34" charset="-122"/>
                <a:cs typeface="Noto Sans KR" pitchFamily="34" charset="-120"/>
              </a:rPr>
              <a:t>코엑스</a:t>
            </a:r>
            <a:endParaRPr lang="en-US" sz="680" dirty="0"/>
          </a:p>
        </p:txBody>
      </p:sp>
      <p:sp>
        <p:nvSpPr>
          <p:cNvPr id="31" name="배지 무신사"/>
          <p:cNvSpPr/>
          <p:nvPr/>
        </p:nvSpPr>
        <p:spPr>
          <a:xfrm>
            <a:off x="10598506" y="1700784"/>
            <a:ext cx="329794" cy="146304"/>
          </a:xfrm>
          <a:prstGeom prst="roundRect">
            <a:avLst>
              <a:gd name="adj" fmla="val 25000"/>
            </a:avLst>
          </a:prstGeom>
          <a:solidFill>
            <a:srgbClr val="E6F2F3"/>
          </a:solidFill>
          <a:ln/>
        </p:spPr>
        <p:txBody>
          <a:bodyPr wrap="square" lIns="0" tIns="0" rIns="0" bIns="0" rtlCol="0" anchor="ctr"/>
          <a:lstStyle/>
          <a:p>
            <a:pPr algn="ctr" indent="0" marL="0">
              <a:buNone/>
            </a:pPr>
            <a:r>
              <a:rPr lang="en-US" sz="680" dirty="0">
                <a:solidFill>
                  <a:srgbClr val="182F48"/>
                </a:solidFill>
                <a:latin typeface="Noto Sans KR" pitchFamily="34" charset="0"/>
                <a:ea typeface="Noto Sans KR" pitchFamily="34" charset="-122"/>
                <a:cs typeface="Noto Sans KR" pitchFamily="34" charset="-120"/>
              </a:rPr>
              <a:t>무신사</a:t>
            </a:r>
            <a:endParaRPr lang="en-US" sz="680" dirty="0"/>
          </a:p>
        </p:txBody>
      </p:sp>
      <p:sp>
        <p:nvSpPr>
          <p:cNvPr id="32" name="라벨"/>
          <p:cNvSpPr txBox="1"/>
          <p:nvPr/>
        </p:nvSpPr>
        <p:spPr>
          <a:xfrm>
            <a:off x="612648" y="2157984"/>
            <a:ext cx="1417320" cy="475488"/>
          </a:xfrm>
          <a:prstGeom prst="rect">
            <a:avLst/>
          </a:prstGeom>
          <a:noFill/>
          <a:ln/>
        </p:spPr>
        <p:txBody>
          <a:bodyPr wrap="square" lIns="0" tIns="0" rIns="0" bIns="0" rtlCol="0" anchor="t"/>
          <a:lstStyle/>
          <a:p>
            <a:pPr algn="l" indent="0" marL="0">
              <a:lnSpc>
                <a:spcPct val="100000"/>
              </a:lnSpc>
              <a:buNone/>
            </a:pPr>
            <a:r>
              <a:rPr lang="en-US" sz="1200" b="1" dirty="0">
                <a:solidFill>
                  <a:srgbClr val="182F48"/>
                </a:solidFill>
                <a:latin typeface="Noto Sans KR" pitchFamily="34" charset="0"/>
                <a:ea typeface="Noto Sans KR" pitchFamily="34" charset="-122"/>
                <a:cs typeface="Noto Sans KR" pitchFamily="34" charset="-120"/>
              </a:rPr>
              <a:t>역할과</a:t>
            </a:r>
            <a:endParaRPr lang="en-US" sz="1200" dirty="0"/>
          </a:p>
          <a:p>
            <a:pPr algn="l" indent="0" marL="0">
              <a:lnSpc>
                <a:spcPct val="100000"/>
              </a:lnSpc>
              <a:buNone/>
            </a:pPr>
            <a:r>
              <a:rPr lang="en-US" sz="1200" b="1" dirty="0">
                <a:solidFill>
                  <a:srgbClr val="182F48"/>
                </a:solidFill>
                <a:latin typeface="Noto Sans KR" pitchFamily="34" charset="0"/>
                <a:ea typeface="Noto Sans KR" pitchFamily="34" charset="-122"/>
                <a:cs typeface="Noto Sans KR" pitchFamily="34" charset="-120"/>
              </a:rPr>
              <a:t>참여 이유</a:t>
            </a:r>
            <a:endParaRPr lang="en-US" sz="1200" dirty="0"/>
          </a:p>
        </p:txBody>
      </p:sp>
      <p:sp>
        <p:nvSpPr>
          <p:cNvPr id="33" name="라벨 안내"/>
          <p:cNvSpPr txBox="1"/>
          <p:nvPr/>
        </p:nvSpPr>
        <p:spPr>
          <a:xfrm>
            <a:off x="612648" y="2670048"/>
            <a:ext cx="1417320" cy="587110"/>
          </a:xfrm>
          <a:prstGeom prst="rect">
            <a:avLst/>
          </a:prstGeom>
          <a:noFill/>
          <a:ln/>
        </p:spPr>
        <p:txBody>
          <a:bodyPr wrap="square" lIns="0" tIns="0" rIns="0" bIns="0" rtlCol="0" anchor="t"/>
          <a:lstStyle/>
          <a:p>
            <a:pPr algn="l" indent="0" marL="0">
              <a:lnSpc>
                <a:spcPct val="92000"/>
              </a:lnSpc>
              <a:buNone/>
            </a:pPr>
            <a:r>
              <a:rPr lang="en-US" sz="800" dirty="0">
                <a:solidFill>
                  <a:srgbClr val="64748B"/>
                </a:solidFill>
                <a:latin typeface="Noto Sans KR" pitchFamily="34" charset="0"/>
                <a:ea typeface="Noto Sans KR" pitchFamily="34" charset="-122"/>
                <a:cs typeface="Noto Sans KR" pitchFamily="34" charset="-120"/>
              </a:rPr>
              <a:t>기관명 / 기대 역할·기여</a:t>
            </a:r>
            <a:endParaRPr lang="en-US" sz="800" dirty="0"/>
          </a:p>
          <a:p>
            <a:pPr algn="l" indent="0" marL="0">
              <a:lnSpc>
                <a:spcPct val="92000"/>
              </a:lnSpc>
              <a:buNone/>
            </a:pPr>
            <a:r>
              <a:rPr lang="en-US" sz="800" dirty="0">
                <a:solidFill>
                  <a:srgbClr val="64748B"/>
                </a:solidFill>
                <a:latin typeface="Noto Sans KR" pitchFamily="34" charset="0"/>
                <a:ea typeface="Noto Sans KR" pitchFamily="34" charset="-122"/>
                <a:cs typeface="Noto Sans KR" pitchFamily="34" charset="-120"/>
              </a:rPr>
              <a:t>/ 참여로 얻는 이익</a:t>
            </a:r>
            <a:endParaRPr lang="en-US" sz="800" dirty="0"/>
          </a:p>
          <a:p>
            <a:pPr algn="l" indent="0" marL="0">
              <a:lnSpc>
                <a:spcPct val="92000"/>
              </a:lnSpc>
              <a:buNone/>
            </a:pPr>
            <a:endParaRPr lang="en-US" sz="800" dirty="0"/>
          </a:p>
          <a:p>
            <a:pPr algn="l" indent="0" marL="0">
              <a:lnSpc>
                <a:spcPct val="92000"/>
              </a:lnSpc>
              <a:buNone/>
            </a:pPr>
            <a:r>
              <a:rPr lang="en-US" sz="800" dirty="0">
                <a:solidFill>
                  <a:srgbClr val="64748B"/>
                </a:solidFill>
                <a:latin typeface="Noto Sans KR" pitchFamily="34" charset="0"/>
                <a:ea typeface="Noto Sans KR" pitchFamily="34" charset="-122"/>
                <a:cs typeface="Noto Sans KR" pitchFamily="34" charset="-120"/>
              </a:rPr>
              <a:t>①②③ = 1장의 세 병목</a:t>
            </a:r>
            <a:endParaRPr lang="en-US" sz="800" dirty="0"/>
          </a:p>
        </p:txBody>
      </p:sp>
      <p:graphicFrame>
        <p:nvGraphicFramePr>
          <p:cNvPr id="7" name="이해관계자 역할표"/>
          <p:cNvGraphicFramePr>
            <a:graphicFrameLocks noGrp="1"/>
          </p:cNvGraphicFramePr>
          <p:nvPr>
            <p:extLst>
              <p:ext uri="{D42A27DB-BD31-4B8C-83A1-F6EECF244321}">
                <p14:modId xmlns:p14="http://schemas.microsoft.com/office/powerpoint/2010/main" val="1579011935"/>
              </p:ext>
            </p:extLst>
          </p:nvPr>
        </p:nvGraphicFramePr>
        <p:xfrm>
          <a:off x="2121408" y="2139696"/>
          <a:ext cx="9454896" cy="914400"/>
        </p:xfrm>
        <a:graphic>
          <a:graphicData uri="http://schemas.openxmlformats.org/drawingml/2006/table">
            <a:tbl>
              <a:tblPr/>
              <a:tblGrid>
                <a:gridCol w="566928"/>
                <a:gridCol w="1828800"/>
                <a:gridCol w="3246120"/>
                <a:gridCol w="3813048"/>
              </a:tblGrid>
              <a:tr h="182880">
                <a:tc>
                  <a:txBody>
                    <a:bodyPr/>
                    <a:lstStyle/>
                    <a:p>
                      <a:pPr algn="l" indent="0" marL="0">
                        <a:buNone/>
                      </a:pPr>
                      <a:r>
                        <a:rPr lang="en-US" sz="730" b="1" dirty="0">
                          <a:solidFill>
                            <a:srgbClr val="FFFFFF"/>
                          </a:solidFill>
                          <a:latin typeface="Noto Sans KR" pitchFamily="34" charset="0"/>
                          <a:ea typeface="Noto Sans KR" pitchFamily="34" charset="-122"/>
                          <a:cs typeface="Noto Sans KR" pitchFamily="34" charset="-120"/>
                        </a:rPr>
                        <a:t>구분</a:t>
                      </a:r>
                      <a:endParaRPr lang="en-US" sz="730" dirty="0">
                        <a:latin typeface="Noto Sans KR" charset="0"/>
                        <a:ea typeface="Noto Sans KR" charset="0"/>
                        <a:cs typeface="Noto Sans KR" charset="0"/>
                      </a:endParaRPr>
                    </a:p>
                  </a:txBody>
                  <a:tcPr marL="63500" marR="635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82F48"/>
                    </a:solidFill>
                  </a:tcPr>
                </a:tc>
                <a:tc>
                  <a:txBody>
                    <a:bodyPr/>
                    <a:lstStyle/>
                    <a:p>
                      <a:pPr algn="l" indent="0" marL="0">
                        <a:buNone/>
                      </a:pPr>
                      <a:r>
                        <a:rPr lang="en-US" sz="730" b="1" dirty="0">
                          <a:solidFill>
                            <a:srgbClr val="FFFFFF"/>
                          </a:solidFill>
                          <a:latin typeface="Noto Sans KR" pitchFamily="34" charset="0"/>
                          <a:ea typeface="Noto Sans KR" pitchFamily="34" charset="-122"/>
                          <a:cs typeface="Noto Sans KR" pitchFamily="34" charset="-120"/>
                        </a:rPr>
                        <a:t>기관명</a:t>
                      </a:r>
                      <a:endParaRPr lang="en-US" sz="730" dirty="0">
                        <a:latin typeface="Noto Sans KR" charset="0"/>
                        <a:ea typeface="Noto Sans KR" charset="0"/>
                        <a:cs typeface="Noto Sans KR" charset="0"/>
                      </a:endParaRPr>
                    </a:p>
                  </a:txBody>
                  <a:tcPr marL="63500" marR="635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82F48"/>
                    </a:solidFill>
                  </a:tcPr>
                </a:tc>
                <a:tc>
                  <a:txBody>
                    <a:bodyPr/>
                    <a:lstStyle/>
                    <a:p>
                      <a:pPr algn="l" indent="0" marL="0">
                        <a:buNone/>
                      </a:pPr>
                      <a:r>
                        <a:rPr lang="en-US" sz="730" b="1" dirty="0">
                          <a:solidFill>
                            <a:srgbClr val="FFFFFF"/>
                          </a:solidFill>
                          <a:latin typeface="Noto Sans KR" pitchFamily="34" charset="0"/>
                          <a:ea typeface="Noto Sans KR" pitchFamily="34" charset="-122"/>
                          <a:cs typeface="Noto Sans KR" pitchFamily="34" charset="-120"/>
                        </a:rPr>
                        <a:t>기대 역할 · 기여</a:t>
                      </a:r>
                      <a:endParaRPr lang="en-US" sz="730" dirty="0">
                        <a:latin typeface="Noto Sans KR" charset="0"/>
                        <a:ea typeface="Noto Sans KR" charset="0"/>
                        <a:cs typeface="Noto Sans KR" charset="0"/>
                      </a:endParaRPr>
                    </a:p>
                  </a:txBody>
                  <a:tcPr marL="63500" marR="635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82F48"/>
                    </a:solidFill>
                  </a:tcPr>
                </a:tc>
                <a:tc>
                  <a:txBody>
                    <a:bodyPr/>
                    <a:lstStyle/>
                    <a:p>
                      <a:pPr algn="l" indent="0" marL="0">
                        <a:buNone/>
                      </a:pPr>
                      <a:r>
                        <a:rPr lang="en-US" sz="730" b="1" dirty="0">
                          <a:solidFill>
                            <a:srgbClr val="FFFFFF"/>
                          </a:solidFill>
                          <a:latin typeface="Noto Sans KR" pitchFamily="34" charset="0"/>
                          <a:ea typeface="Noto Sans KR" pitchFamily="34" charset="-122"/>
                          <a:cs typeface="Noto Sans KR" pitchFamily="34" charset="-120"/>
                        </a:rPr>
                        <a:t>참여로 얻는 이익 (근거)</a:t>
                      </a:r>
                      <a:endParaRPr lang="en-US" sz="730" dirty="0">
                        <a:latin typeface="Noto Sans KR" charset="0"/>
                        <a:ea typeface="Noto Sans KR" charset="0"/>
                        <a:cs typeface="Noto Sans KR" charset="0"/>
                      </a:endParaRPr>
                    </a:p>
                  </a:txBody>
                  <a:tcPr marL="63500" marR="635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82F48"/>
                    </a:solidFill>
                  </a:tcPr>
                </a:tc>
              </a:tr>
              <a:tr h="290697">
                <a:tc rowSpan="4">
                  <a:txBody>
                    <a:bodyPr/>
                    <a:lstStyle/>
                    <a:p>
                      <a:pPr algn="ctr" indent="0" marL="0">
                        <a:buNone/>
                      </a:pPr>
                      <a:r>
                        <a:rPr lang="en-US" sz="730" b="1" dirty="0">
                          <a:solidFill>
                            <a:srgbClr val="267D86"/>
                          </a:solidFill>
                          <a:latin typeface="Noto Sans KR" pitchFamily="34" charset="0"/>
                          <a:ea typeface="Noto Sans KR" pitchFamily="34" charset="-122"/>
                          <a:cs typeface="Noto Sans KR" pitchFamily="34" charset="-120"/>
                        </a:rPr>
                        <a:t>공공</a:t>
                      </a:r>
                      <a:endParaRPr lang="en-US" sz="730" dirty="0">
                        <a:latin typeface="Noto Sans KR" charset="0"/>
                        <a:ea typeface="Noto Sans KR" charset="0"/>
                        <a:cs typeface="Noto Sans KR" charset="0"/>
                      </a:endParaRPr>
                    </a:p>
                    <a:p>
                      <a:pPr algn="ctr" indent="0" marL="0">
                        <a:buNone/>
                      </a:pPr>
                      <a:r>
                        <a:rPr lang="en-US" sz="730" b="1" dirty="0">
                          <a:solidFill>
                            <a:srgbClr val="267D86"/>
                          </a:solidFill>
                          <a:latin typeface="Noto Sans KR" pitchFamily="34" charset="0"/>
                          <a:ea typeface="Noto Sans KR" pitchFamily="34" charset="-122"/>
                          <a:cs typeface="Noto Sans KR" pitchFamily="34" charset="-120"/>
                        </a:rPr>
                        <a:t>기관</a:t>
                      </a:r>
                      <a:endParaRPr lang="en-US" sz="730" dirty="0">
                        <a:latin typeface="Noto Sans KR" charset="0"/>
                        <a:ea typeface="Noto Sans KR" charset="0"/>
                        <a:cs typeface="Noto Sans KR" charset="0"/>
                      </a:endParaRPr>
                    </a:p>
                  </a:txBody>
                  <a:tcPr marL="63500" marR="635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algn="l" indent="0" marL="0">
                        <a:buNone/>
                      </a:pPr>
                      <a:r>
                        <a:rPr lang="en-US" sz="730" b="1" dirty="0">
                          <a:solidFill>
                            <a:srgbClr val="182F48"/>
                          </a:solidFill>
                          <a:latin typeface="Noto Sans KR" pitchFamily="34" charset="0"/>
                          <a:ea typeface="Noto Sans KR" pitchFamily="34" charset="-122"/>
                          <a:cs typeface="Noto Sans KR" pitchFamily="34" charset="-120"/>
                        </a:rPr>
                        <a:t>산업통상부</a:t>
                      </a:r>
                      <a:endParaRPr lang="en-US" sz="730" dirty="0">
                        <a:latin typeface="Noto Sans KR" charset="0"/>
                        <a:ea typeface="Noto Sans KR" charset="0"/>
                        <a:cs typeface="Noto Sans KR" charset="0"/>
                      </a:endParaRPr>
                    </a:p>
                    <a:p>
                      <a:pPr algn="l" indent="0" marL="0">
                        <a:buNone/>
                      </a:pPr>
                      <a:r>
                        <a:rPr lang="en-US" sz="680" dirty="0">
                          <a:solidFill>
                            <a:srgbClr val="64748B"/>
                          </a:solidFill>
                          <a:latin typeface="Noto Sans KR" pitchFamily="34" charset="0"/>
                          <a:ea typeface="Noto Sans KR" pitchFamily="34" charset="-122"/>
                          <a:cs typeface="Noto Sans KR" pitchFamily="34" charset="-120"/>
                        </a:rPr>
                        <a:t>섬유패션 · 전시 정책</a:t>
                      </a:r>
                      <a:endParaRPr lang="en-US" sz="730" dirty="0">
                        <a:latin typeface="Noto Sans KR" charset="0"/>
                        <a:ea typeface="Noto Sans KR" charset="0"/>
                        <a:cs typeface="Noto Sans KR" charset="0"/>
                      </a:endParaRPr>
                    </a:p>
                  </a:txBody>
                  <a:tcPr marL="63500" marR="635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730" dirty="0">
                          <a:solidFill>
                            <a:srgbClr val="334155"/>
                          </a:solidFill>
                          <a:latin typeface="Noto Sans KR" pitchFamily="34" charset="0"/>
                          <a:ea typeface="Noto Sans KR" pitchFamily="34" charset="-122"/>
                          <a:cs typeface="Noto Sans KR" pitchFamily="34" charset="-120"/>
                        </a:rPr>
                        <a:t>후원 명칭 · 'All in Korea' 참가 지원과 연계</a:t>
                      </a:r>
                      <a:endParaRPr lang="en-US" sz="730" dirty="0">
                        <a:latin typeface="Noto Sans KR" charset="0"/>
                        <a:ea typeface="Noto Sans KR" charset="0"/>
                        <a:cs typeface="Noto Sans KR" charset="0"/>
                      </a:endParaRPr>
                    </a:p>
                    <a:p>
                      <a:pPr algn="l" indent="0" marL="0">
                        <a:buNone/>
                      </a:pPr>
                      <a:r>
                        <a:rPr lang="en-US" sz="730" b="1" dirty="0">
                          <a:solidFill>
                            <a:srgbClr val="C2410C"/>
                          </a:solidFill>
                          <a:latin typeface="Noto Sans KR" pitchFamily="34" charset="0"/>
                          <a:ea typeface="Noto Sans KR" pitchFamily="34" charset="-122"/>
                          <a:cs typeface="Noto Sans KR" pitchFamily="34" charset="-120"/>
                        </a:rPr>
                        <a:t>① </a:t>
                      </a:r>
                      <a:pPr algn="l" indent="0" marL="0">
                        <a:buNone/>
                      </a:pPr>
                      <a:r>
                        <a:rPr lang="en-US" sz="730" dirty="0">
                          <a:solidFill>
                            <a:srgbClr val="334155"/>
                          </a:solidFill>
                          <a:latin typeface="Noto Sans KR" pitchFamily="34" charset="0"/>
                          <a:ea typeface="Noto Sans KR" pitchFamily="34" charset="-122"/>
                          <a:cs typeface="Noto Sans KR" pitchFamily="34" charset="-120"/>
                        </a:rPr>
                        <a:t>소재-제조-브랜드 협력관 공동 기획</a:t>
                      </a:r>
                      <a:endParaRPr lang="en-US" sz="730" dirty="0">
                        <a:latin typeface="Noto Sans KR" charset="0"/>
                        <a:ea typeface="Noto Sans KR" charset="0"/>
                        <a:cs typeface="Noto Sans KR" charset="0"/>
                      </a:endParaRPr>
                    </a:p>
                  </a:txBody>
                  <a:tcPr marL="63500" marR="635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730" dirty="0">
                          <a:solidFill>
                            <a:srgbClr val="334155"/>
                          </a:solidFill>
                          <a:latin typeface="Noto Sans KR" pitchFamily="34" charset="0"/>
                          <a:ea typeface="Noto Sans KR" pitchFamily="34" charset="-122"/>
                          <a:cs typeface="Noto Sans KR" pitchFamily="34" charset="-120"/>
                        </a:rPr>
                        <a:t>All in Korea(230억)가 목표로 하는 협력 성과를 한 현장에서 확보</a:t>
                      </a:r>
                      <a:endParaRPr lang="en-US" sz="730" dirty="0">
                        <a:latin typeface="Noto Sans KR" charset="0"/>
                        <a:ea typeface="Noto Sans KR" charset="0"/>
                        <a:cs typeface="Noto Sans KR" charset="0"/>
                      </a:endParaRPr>
                    </a:p>
                    <a:p>
                      <a:pPr algn="l" indent="0" marL="0">
                        <a:buNone/>
                      </a:pPr>
                      <a:r>
                        <a:rPr lang="en-US" sz="730" dirty="0">
                          <a:solidFill>
                            <a:srgbClr val="334155"/>
                          </a:solidFill>
                          <a:latin typeface="Noto Sans KR" pitchFamily="34" charset="0"/>
                          <a:ea typeface="Noto Sans KR" pitchFamily="34" charset="-122"/>
                          <a:cs typeface="Noto Sans KR" pitchFamily="34" charset="-120"/>
                        </a:rPr>
                        <a:t>「전시산업 발전 로드맵 2030」의 산업 융합형 전시 사례</a:t>
                      </a:r>
                      <a:endParaRPr lang="en-US" sz="730" dirty="0">
                        <a:latin typeface="Noto Sans KR" charset="0"/>
                        <a:ea typeface="Noto Sans KR" charset="0"/>
                        <a:cs typeface="Noto Sans KR" charset="0"/>
                      </a:endParaRPr>
                    </a:p>
                  </a:txBody>
                  <a:tcPr marL="63500" marR="635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290697">
                <a:tc vMerge="1">
                  <a:tcPr/>
                </a:tc>
                <a:tc>
                  <a:txBody>
                    <a:bodyPr/>
                    <a:lstStyle/>
                    <a:p>
                      <a:pPr algn="l" indent="0" marL="0">
                        <a:buNone/>
                      </a:pPr>
                      <a:r>
                        <a:rPr lang="en-US" sz="730" b="1" dirty="0">
                          <a:solidFill>
                            <a:srgbClr val="182F48"/>
                          </a:solidFill>
                          <a:latin typeface="Noto Sans KR" pitchFamily="34" charset="0"/>
                          <a:ea typeface="Noto Sans KR" pitchFamily="34" charset="-122"/>
                          <a:cs typeface="Noto Sans KR" pitchFamily="34" charset="-120"/>
                        </a:rPr>
                        <a:t>KOTRA</a:t>
                      </a:r>
                      <a:endParaRPr lang="en-US" sz="730" dirty="0">
                        <a:latin typeface="Noto Sans KR" charset="0"/>
                        <a:ea typeface="Noto Sans KR" charset="0"/>
                        <a:cs typeface="Noto Sans KR" charset="0"/>
                      </a:endParaRPr>
                    </a:p>
                  </a:txBody>
                  <a:tcPr marL="63500" marR="635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730" b="1" dirty="0">
                          <a:solidFill>
                            <a:srgbClr val="C2410C"/>
                          </a:solidFill>
                          <a:latin typeface="Noto Sans KR" pitchFamily="34" charset="0"/>
                          <a:ea typeface="Noto Sans KR" pitchFamily="34" charset="-122"/>
                          <a:cs typeface="Noto Sans KR" pitchFamily="34" charset="-120"/>
                        </a:rPr>
                        <a:t>③ </a:t>
                      </a:r>
                      <a:pPr algn="l" indent="0" marL="0">
                        <a:buNone/>
                      </a:pPr>
                      <a:r>
                        <a:rPr lang="en-US" sz="730" dirty="0">
                          <a:solidFill>
                            <a:srgbClr val="334155"/>
                          </a:solidFill>
                          <a:latin typeface="Noto Sans KR" pitchFamily="34" charset="0"/>
                          <a:ea typeface="Noto Sans KR" pitchFamily="34" charset="-122"/>
                          <a:cs typeface="Noto Sans KR" pitchFamily="34" charset="-120"/>
                        </a:rPr>
                        <a:t>해외 바이어 150명 발굴 · 초청</a:t>
                      </a:r>
                      <a:endParaRPr lang="en-US" sz="730" dirty="0">
                        <a:latin typeface="Noto Sans KR" charset="0"/>
                        <a:ea typeface="Noto Sans KR" charset="0"/>
                        <a:cs typeface="Noto Sans KR" charset="0"/>
                      </a:endParaRPr>
                    </a:p>
                    <a:p>
                      <a:pPr algn="l" indent="0" marL="0">
                        <a:buNone/>
                      </a:pPr>
                      <a:r>
                        <a:rPr lang="en-US" sz="730" dirty="0">
                          <a:solidFill>
                            <a:srgbClr val="334155"/>
                          </a:solidFill>
                          <a:latin typeface="Noto Sans KR" pitchFamily="34" charset="0"/>
                          <a:ea typeface="Noto Sans KR" pitchFamily="34" charset="-122"/>
                          <a:cs typeface="Noto Sans KR" pitchFamily="34" charset="-120"/>
                        </a:rPr>
                        <a:t>수출상담회 공동 운영 · 통역 지원</a:t>
                      </a:r>
                      <a:endParaRPr lang="en-US" sz="730" dirty="0">
                        <a:latin typeface="Noto Sans KR" charset="0"/>
                        <a:ea typeface="Noto Sans KR" charset="0"/>
                        <a:cs typeface="Noto Sans KR" charset="0"/>
                      </a:endParaRPr>
                    </a:p>
                  </a:txBody>
                  <a:tcPr marL="63500" marR="635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730" dirty="0">
                          <a:solidFill>
                            <a:srgbClr val="334155"/>
                          </a:solidFill>
                          <a:latin typeface="Noto Sans KR" pitchFamily="34" charset="0"/>
                          <a:ea typeface="Noto Sans KR" pitchFamily="34" charset="-122"/>
                          <a:cs typeface="Noto Sans KR" pitchFamily="34" charset="-120"/>
                        </a:rPr>
                        <a:t>중소 패션 브랜드의 수출 상담 · 계약 실적</a:t>
                      </a:r>
                      <a:endParaRPr lang="en-US" sz="730" dirty="0">
                        <a:latin typeface="Noto Sans KR" charset="0"/>
                        <a:ea typeface="Noto Sans KR" charset="0"/>
                        <a:cs typeface="Noto Sans KR" charset="0"/>
                      </a:endParaRPr>
                    </a:p>
                    <a:p>
                      <a:pPr algn="l" indent="0" marL="0">
                        <a:buNone/>
                      </a:pPr>
                      <a:r>
                        <a:rPr lang="en-US" sz="730" dirty="0">
                          <a:solidFill>
                            <a:srgbClr val="334155"/>
                          </a:solidFill>
                          <a:latin typeface="Noto Sans KR" pitchFamily="34" charset="0"/>
                          <a:ea typeface="Noto Sans KR" pitchFamily="34" charset="-122"/>
                          <a:cs typeface="Noto Sans KR" pitchFamily="34" charset="-120"/>
                        </a:rPr>
                        <a:t>(수출 지원 기관의 핵심 성과)</a:t>
                      </a:r>
                      <a:endParaRPr lang="en-US" sz="730" dirty="0">
                        <a:latin typeface="Noto Sans KR" charset="0"/>
                        <a:ea typeface="Noto Sans KR" charset="0"/>
                        <a:cs typeface="Noto Sans KR" charset="0"/>
                      </a:endParaRPr>
                    </a:p>
                  </a:txBody>
                  <a:tcPr marL="63500" marR="635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290697">
                <a:tc vMerge="1">
                  <a:tcPr/>
                </a:tc>
                <a:tc>
                  <a:txBody>
                    <a:bodyPr/>
                    <a:lstStyle/>
                    <a:p>
                      <a:pPr algn="l" indent="0" marL="0">
                        <a:buNone/>
                      </a:pPr>
                      <a:r>
                        <a:rPr lang="en-US" sz="730" b="1" dirty="0">
                          <a:solidFill>
                            <a:srgbClr val="182F48"/>
                          </a:solidFill>
                          <a:latin typeface="Noto Sans KR" pitchFamily="34" charset="0"/>
                          <a:ea typeface="Noto Sans KR" pitchFamily="34" charset="-122"/>
                          <a:cs typeface="Noto Sans KR" pitchFamily="34" charset="-120"/>
                        </a:rPr>
                        <a:t>서울특별시 · 서울관광재단</a:t>
                      </a:r>
                      <a:endParaRPr lang="en-US" sz="730" dirty="0">
                        <a:latin typeface="Noto Sans KR" charset="0"/>
                        <a:ea typeface="Noto Sans KR" charset="0"/>
                        <a:cs typeface="Noto Sans KR" charset="0"/>
                      </a:endParaRPr>
                    </a:p>
                  </a:txBody>
                  <a:tcPr marL="63500" marR="635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730" dirty="0">
                          <a:solidFill>
                            <a:srgbClr val="334155"/>
                          </a:solidFill>
                          <a:latin typeface="Noto Sans KR" pitchFamily="34" charset="0"/>
                          <a:ea typeface="Noto Sans KR" pitchFamily="34" charset="-122"/>
                          <a:cs typeface="Noto Sans KR" pitchFamily="34" charset="-120"/>
                        </a:rPr>
                        <a:t>MICE 지원(전시회 분야) · 해외 홍보</a:t>
                      </a:r>
                      <a:endParaRPr lang="en-US" sz="730" dirty="0">
                        <a:latin typeface="Noto Sans KR" charset="0"/>
                        <a:ea typeface="Noto Sans KR" charset="0"/>
                        <a:cs typeface="Noto Sans KR" charset="0"/>
                      </a:endParaRPr>
                    </a:p>
                    <a:p>
                      <a:pPr algn="l" indent="0" marL="0">
                        <a:buNone/>
                      </a:pPr>
                      <a:r>
                        <a:rPr lang="en-US" sz="730" b="1" dirty="0">
                          <a:solidFill>
                            <a:srgbClr val="C2410C"/>
                          </a:solidFill>
                          <a:latin typeface="Noto Sans KR" pitchFamily="34" charset="0"/>
                          <a:ea typeface="Noto Sans KR" pitchFamily="34" charset="-122"/>
                          <a:cs typeface="Noto Sans KR" pitchFamily="34" charset="-120"/>
                        </a:rPr>
                        <a:t>① </a:t>
                      </a:r>
                      <a:pPr algn="l" indent="0" marL="0">
                        <a:buNone/>
                      </a:pPr>
                      <a:r>
                        <a:rPr lang="en-US" sz="730" dirty="0">
                          <a:solidFill>
                            <a:srgbClr val="334155"/>
                          </a:solidFill>
                          <a:latin typeface="Noto Sans KR" pitchFamily="34" charset="0"/>
                          <a:ea typeface="Noto Sans KR" pitchFamily="34" charset="-122"/>
                          <a:cs typeface="Noto Sans KR" pitchFamily="34" charset="-120"/>
                        </a:rPr>
                        <a:t>도심 봉제업체 제조관 공동관 지원</a:t>
                      </a:r>
                      <a:endParaRPr lang="en-US" sz="730" dirty="0">
                        <a:latin typeface="Noto Sans KR" charset="0"/>
                        <a:ea typeface="Noto Sans KR" charset="0"/>
                        <a:cs typeface="Noto Sans KR" charset="0"/>
                      </a:endParaRPr>
                    </a:p>
                  </a:txBody>
                  <a:tcPr marL="63500" marR="635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730" dirty="0">
                          <a:solidFill>
                            <a:srgbClr val="334155"/>
                          </a:solidFill>
                          <a:latin typeface="Noto Sans KR" pitchFamily="34" charset="0"/>
                          <a:ea typeface="Noto Sans KR" pitchFamily="34" charset="-122"/>
                          <a:cs typeface="Noto Sans KR" pitchFamily="34" charset="-120"/>
                        </a:rPr>
                        <a:t>외국인 바이어의 체류 소비 · 서울 MICE 실적</a:t>
                      </a:r>
                      <a:endParaRPr lang="en-US" sz="730" dirty="0">
                        <a:latin typeface="Noto Sans KR" charset="0"/>
                        <a:ea typeface="Noto Sans KR" charset="0"/>
                        <a:cs typeface="Noto Sans KR" charset="0"/>
                      </a:endParaRPr>
                    </a:p>
                    <a:p>
                      <a:pPr algn="l" indent="0" marL="0">
                        <a:buNone/>
                      </a:pPr>
                      <a:r>
                        <a:rPr lang="en-US" sz="730" dirty="0">
                          <a:solidFill>
                            <a:srgbClr val="334155"/>
                          </a:solidFill>
                          <a:latin typeface="Noto Sans KR" pitchFamily="34" charset="0"/>
                          <a:ea typeface="Noto Sans KR" pitchFamily="34" charset="-122"/>
                          <a:cs typeface="Noto Sans KR" pitchFamily="34" charset="-120"/>
                        </a:rPr>
                        <a:t>도심 봉제업체 1.8만 곳의 일감 확보(최대 애로가 일감 수주)</a:t>
                      </a:r>
                      <a:endParaRPr lang="en-US" sz="730" dirty="0">
                        <a:latin typeface="Noto Sans KR" charset="0"/>
                        <a:ea typeface="Noto Sans KR" charset="0"/>
                        <a:cs typeface="Noto Sans KR" charset="0"/>
                      </a:endParaRPr>
                    </a:p>
                  </a:txBody>
                  <a:tcPr marL="63500" marR="635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290697">
                <a:tc vMerge="1">
                  <a:tcPr/>
                </a:tc>
                <a:tc>
                  <a:txBody>
                    <a:bodyPr/>
                    <a:lstStyle/>
                    <a:p>
                      <a:pPr algn="l" indent="0" marL="0">
                        <a:buNone/>
                      </a:pPr>
                      <a:r>
                        <a:rPr lang="en-US" sz="730" b="1" dirty="0">
                          <a:solidFill>
                            <a:srgbClr val="182F48"/>
                          </a:solidFill>
                          <a:latin typeface="Noto Sans KR" pitchFamily="34" charset="0"/>
                          <a:ea typeface="Noto Sans KR" pitchFamily="34" charset="-122"/>
                          <a:cs typeface="Noto Sans KR" pitchFamily="34" charset="-120"/>
                        </a:rPr>
                        <a:t>산림청 · 한국등산트레킹지원센터</a:t>
                      </a:r>
                      <a:endParaRPr lang="en-US" sz="730" dirty="0">
                        <a:latin typeface="Noto Sans KR" charset="0"/>
                        <a:ea typeface="Noto Sans KR" charset="0"/>
                        <a:cs typeface="Noto Sans KR" charset="0"/>
                      </a:endParaRPr>
                    </a:p>
                  </a:txBody>
                  <a:tcPr marL="63500" marR="635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730" dirty="0">
                          <a:solidFill>
                            <a:srgbClr val="334155"/>
                          </a:solidFill>
                          <a:latin typeface="Noto Sans KR" pitchFamily="34" charset="0"/>
                          <a:ea typeface="Noto Sans KR" pitchFamily="34" charset="-122"/>
                          <a:cs typeface="Noto Sans KR" pitchFamily="34" charset="-120"/>
                        </a:rPr>
                        <a:t>숲길 · 안전 산행 캠페인관 운영</a:t>
                      </a:r>
                      <a:endParaRPr lang="en-US" sz="730" dirty="0">
                        <a:latin typeface="Noto Sans KR" charset="0"/>
                        <a:ea typeface="Noto Sans KR" charset="0"/>
                        <a:cs typeface="Noto Sans KR" charset="0"/>
                      </a:endParaRPr>
                    </a:p>
                    <a:p>
                      <a:pPr algn="l" indent="0" marL="0">
                        <a:buNone/>
                      </a:pPr>
                      <a:r>
                        <a:rPr lang="en-US" sz="730" dirty="0">
                          <a:solidFill>
                            <a:srgbClr val="334155"/>
                          </a:solidFill>
                          <a:latin typeface="Noto Sans KR" pitchFamily="34" charset="0"/>
                          <a:ea typeface="Noto Sans KR" pitchFamily="34" charset="-122"/>
                          <a:cs typeface="Noto Sans KR" pitchFamily="34" charset="-120"/>
                        </a:rPr>
                        <a:t>트레일 체험 콘텐츠 제공</a:t>
                      </a:r>
                      <a:endParaRPr lang="en-US" sz="730" dirty="0">
                        <a:latin typeface="Noto Sans KR" charset="0"/>
                        <a:ea typeface="Noto Sans KR" charset="0"/>
                        <a:cs typeface="Noto Sans KR" charset="0"/>
                      </a:endParaRPr>
                    </a:p>
                  </a:txBody>
                  <a:tcPr marL="63500" marR="635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730" dirty="0">
                          <a:solidFill>
                            <a:srgbClr val="334155"/>
                          </a:solidFill>
                          <a:latin typeface="Noto Sans KR" pitchFamily="34" charset="0"/>
                          <a:ea typeface="Noto Sans KR" pitchFamily="34" charset="-122"/>
                          <a:cs typeface="Noto Sans KR" pitchFamily="34" charset="-120"/>
                        </a:rPr>
                        <a:t>늘어난 2030 등산 인구에게 숲길 정책 홍보</a:t>
                      </a:r>
                      <a:endParaRPr lang="en-US" sz="730" dirty="0">
                        <a:latin typeface="Noto Sans KR" charset="0"/>
                        <a:ea typeface="Noto Sans KR" charset="0"/>
                        <a:cs typeface="Noto Sans KR" charset="0"/>
                      </a:endParaRPr>
                    </a:p>
                    <a:p>
                      <a:pPr algn="l" indent="0" marL="0">
                        <a:buNone/>
                      </a:pPr>
                      <a:r>
                        <a:rPr lang="en-US" sz="730" dirty="0">
                          <a:solidFill>
                            <a:srgbClr val="334155"/>
                          </a:solidFill>
                          <a:latin typeface="Noto Sans KR" pitchFamily="34" charset="0"/>
                          <a:ea typeface="Noto Sans KR" pitchFamily="34" charset="-122"/>
                          <a:cs typeface="Noto Sans KR" pitchFamily="34" charset="-120"/>
                        </a:rPr>
                        <a:t>(선례: 코오롱스포츠와 동서트레일 협약, 2025.10)</a:t>
                      </a:r>
                      <a:endParaRPr lang="en-US" sz="730" dirty="0">
                        <a:latin typeface="Noto Sans KR" charset="0"/>
                        <a:ea typeface="Noto Sans KR" charset="0"/>
                        <a:cs typeface="Noto Sans KR" charset="0"/>
                      </a:endParaRPr>
                    </a:p>
                  </a:txBody>
                  <a:tcPr marL="63500" marR="635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290697">
                <a:tc rowSpan="4">
                  <a:txBody>
                    <a:bodyPr/>
                    <a:lstStyle/>
                    <a:p>
                      <a:pPr algn="ctr" indent="0" marL="0">
                        <a:buNone/>
                      </a:pPr>
                      <a:r>
                        <a:rPr lang="en-US" sz="730" b="1" dirty="0">
                          <a:solidFill>
                            <a:srgbClr val="267D86"/>
                          </a:solidFill>
                          <a:latin typeface="Noto Sans KR" pitchFamily="34" charset="0"/>
                          <a:ea typeface="Noto Sans KR" pitchFamily="34" charset="-122"/>
                          <a:cs typeface="Noto Sans KR" pitchFamily="34" charset="-120"/>
                        </a:rPr>
                        <a:t>협회</a:t>
                      </a:r>
                      <a:endParaRPr lang="en-US" sz="730" dirty="0">
                        <a:latin typeface="Noto Sans KR" charset="0"/>
                        <a:ea typeface="Noto Sans KR" charset="0"/>
                        <a:cs typeface="Noto Sans KR" charset="0"/>
                      </a:endParaRPr>
                    </a:p>
                    <a:p>
                      <a:pPr algn="ctr" indent="0" marL="0">
                        <a:buNone/>
                      </a:pPr>
                      <a:r>
                        <a:rPr lang="en-US" sz="730" b="1" dirty="0">
                          <a:solidFill>
                            <a:srgbClr val="267D86"/>
                          </a:solidFill>
                          <a:latin typeface="Noto Sans KR" pitchFamily="34" charset="0"/>
                          <a:ea typeface="Noto Sans KR" pitchFamily="34" charset="-122"/>
                          <a:cs typeface="Noto Sans KR" pitchFamily="34" charset="-120"/>
                        </a:rPr>
                        <a:t>단체</a:t>
                      </a:r>
                      <a:endParaRPr lang="en-US" sz="730" dirty="0">
                        <a:latin typeface="Noto Sans KR" charset="0"/>
                        <a:ea typeface="Noto Sans KR" charset="0"/>
                        <a:cs typeface="Noto Sans KR" charset="0"/>
                      </a:endParaRPr>
                    </a:p>
                  </a:txBody>
                  <a:tcPr marL="63500" marR="635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algn="l" indent="0" marL="0">
                        <a:buNone/>
                      </a:pPr>
                      <a:r>
                        <a:rPr lang="en-US" sz="730" b="1" dirty="0">
                          <a:solidFill>
                            <a:srgbClr val="182F48"/>
                          </a:solidFill>
                          <a:latin typeface="Noto Sans KR" pitchFamily="34" charset="0"/>
                          <a:ea typeface="Noto Sans KR" pitchFamily="34" charset="-122"/>
                          <a:cs typeface="Noto Sans KR" pitchFamily="34" charset="-120"/>
                        </a:rPr>
                        <a:t>한국패션협회</a:t>
                      </a:r>
                      <a:endParaRPr lang="en-US" sz="730" dirty="0">
                        <a:latin typeface="Noto Sans KR" charset="0"/>
                        <a:ea typeface="Noto Sans KR" charset="0"/>
                        <a:cs typeface="Noto Sans KR" charset="0"/>
                      </a:endParaRPr>
                    </a:p>
                    <a:p>
                      <a:pPr algn="l" indent="0" marL="0">
                        <a:buNone/>
                      </a:pPr>
                      <a:r>
                        <a:rPr lang="en-US" sz="680" dirty="0">
                          <a:solidFill>
                            <a:srgbClr val="64748B"/>
                          </a:solidFill>
                          <a:latin typeface="Noto Sans KR" pitchFamily="34" charset="0"/>
                          <a:ea typeface="Noto Sans KR" pitchFamily="34" charset="-122"/>
                          <a:cs typeface="Noto Sans KR" pitchFamily="34" charset="-120"/>
                        </a:rPr>
                        <a:t>All in Korea 수행</a:t>
                      </a:r>
                      <a:endParaRPr lang="en-US" sz="730" dirty="0">
                        <a:latin typeface="Noto Sans KR" charset="0"/>
                        <a:ea typeface="Noto Sans KR" charset="0"/>
                        <a:cs typeface="Noto Sans KR" charset="0"/>
                      </a:endParaRPr>
                    </a:p>
                  </a:txBody>
                  <a:tcPr marL="63500" marR="635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730" dirty="0">
                          <a:solidFill>
                            <a:srgbClr val="334155"/>
                          </a:solidFill>
                          <a:latin typeface="Noto Sans KR" pitchFamily="34" charset="0"/>
                          <a:ea typeface="Noto Sans KR" pitchFamily="34" charset="-122"/>
                          <a:cs typeface="Noto Sans KR" pitchFamily="34" charset="-120"/>
                        </a:rPr>
                        <a:t>'All in Korea' 참여 기업(280곳) 공동관 모집</a:t>
                      </a:r>
                      <a:endParaRPr lang="en-US" sz="730" dirty="0">
                        <a:latin typeface="Noto Sans KR" charset="0"/>
                        <a:ea typeface="Noto Sans KR" charset="0"/>
                        <a:cs typeface="Noto Sans KR" charset="0"/>
                      </a:endParaRPr>
                    </a:p>
                    <a:p>
                      <a:pPr algn="l" indent="0" marL="0">
                        <a:buNone/>
                      </a:pPr>
                      <a:r>
                        <a:rPr lang="en-US" sz="730" dirty="0">
                          <a:solidFill>
                            <a:srgbClr val="334155"/>
                          </a:solidFill>
                          <a:latin typeface="Noto Sans KR" pitchFamily="34" charset="0"/>
                          <a:ea typeface="Noto Sans KR" pitchFamily="34" charset="-122"/>
                          <a:cs typeface="Noto Sans KR" pitchFamily="34" charset="-120"/>
                        </a:rPr>
                        <a:t>K-브랜드 해외 진출 세미나 공동 개최</a:t>
                      </a:r>
                      <a:endParaRPr lang="en-US" sz="730" dirty="0">
                        <a:latin typeface="Noto Sans KR" charset="0"/>
                        <a:ea typeface="Noto Sans KR" charset="0"/>
                        <a:cs typeface="Noto Sans KR" charset="0"/>
                      </a:endParaRPr>
                    </a:p>
                  </a:txBody>
                  <a:tcPr marL="63500" marR="635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730" dirty="0">
                          <a:solidFill>
                            <a:srgbClr val="334155"/>
                          </a:solidFill>
                          <a:latin typeface="Noto Sans KR" pitchFamily="34" charset="0"/>
                          <a:ea typeface="Noto Sans KR" pitchFamily="34" charset="-122"/>
                          <a:cs typeface="Noto Sans KR" pitchFamily="34" charset="-120"/>
                        </a:rPr>
                        <a:t>사업 목표인 소재-제조-브랜드 협력의 성과 발표 무대</a:t>
                      </a:r>
                      <a:endParaRPr lang="en-US" sz="730" dirty="0">
                        <a:latin typeface="Noto Sans KR" charset="0"/>
                        <a:ea typeface="Noto Sans KR" charset="0"/>
                        <a:cs typeface="Noto Sans KR" charset="0"/>
                      </a:endParaRPr>
                    </a:p>
                    <a:p>
                      <a:pPr algn="l" indent="0" marL="0">
                        <a:buNone/>
                      </a:pPr>
                      <a:r>
                        <a:rPr lang="en-US" sz="730" dirty="0">
                          <a:solidFill>
                            <a:srgbClr val="334155"/>
                          </a:solidFill>
                          <a:latin typeface="Noto Sans KR" pitchFamily="34" charset="0"/>
                          <a:ea typeface="Noto Sans KR" pitchFamily="34" charset="-122"/>
                          <a:cs typeface="Noto Sans KR" pitchFamily="34" charset="-120"/>
                        </a:rPr>
                        <a:t>회원사의 판로 확대</a:t>
                      </a:r>
                      <a:endParaRPr lang="en-US" sz="730" dirty="0">
                        <a:latin typeface="Noto Sans KR" charset="0"/>
                        <a:ea typeface="Noto Sans KR" charset="0"/>
                        <a:cs typeface="Noto Sans KR" charset="0"/>
                      </a:endParaRPr>
                    </a:p>
                  </a:txBody>
                  <a:tcPr marL="63500" marR="635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290697">
                <a:tc vMerge="1">
                  <a:tcPr/>
                </a:tc>
                <a:tc>
                  <a:txBody>
                    <a:bodyPr/>
                    <a:lstStyle/>
                    <a:p>
                      <a:pPr algn="l" indent="0" marL="0">
                        <a:buNone/>
                      </a:pPr>
                      <a:r>
                        <a:rPr lang="en-US" sz="730" b="1" dirty="0">
                          <a:solidFill>
                            <a:srgbClr val="182F48"/>
                          </a:solidFill>
                          <a:latin typeface="Noto Sans KR" pitchFamily="34" charset="0"/>
                          <a:ea typeface="Noto Sans KR" pitchFamily="34" charset="-122"/>
                          <a:cs typeface="Noto Sans KR" pitchFamily="34" charset="-120"/>
                        </a:rPr>
                        <a:t>한국섬유산업연합회</a:t>
                      </a:r>
                      <a:endParaRPr lang="en-US" sz="730" dirty="0">
                        <a:latin typeface="Noto Sans KR" charset="0"/>
                        <a:ea typeface="Noto Sans KR" charset="0"/>
                        <a:cs typeface="Noto Sans KR" charset="0"/>
                      </a:endParaRPr>
                    </a:p>
                    <a:p>
                      <a:pPr algn="l" indent="0" marL="0">
                        <a:buNone/>
                      </a:pPr>
                      <a:r>
                        <a:rPr lang="en-US" sz="680" dirty="0">
                          <a:solidFill>
                            <a:srgbClr val="64748B"/>
                          </a:solidFill>
                          <a:latin typeface="Noto Sans KR" pitchFamily="34" charset="0"/>
                          <a:ea typeface="Noto Sans KR" pitchFamily="34" charset="-122"/>
                          <a:cs typeface="Noto Sans KR" pitchFamily="34" charset="-120"/>
                        </a:rPr>
                        <a:t>프리뷰 인 서울 주최</a:t>
                      </a:r>
                      <a:endParaRPr lang="en-US" sz="730" dirty="0">
                        <a:latin typeface="Noto Sans KR" charset="0"/>
                        <a:ea typeface="Noto Sans KR" charset="0"/>
                        <a:cs typeface="Noto Sans KR" charset="0"/>
                      </a:endParaRPr>
                    </a:p>
                  </a:txBody>
                  <a:tcPr marL="63500" marR="635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730" b="1" dirty="0">
                          <a:solidFill>
                            <a:srgbClr val="C2410C"/>
                          </a:solidFill>
                          <a:latin typeface="Noto Sans KR" pitchFamily="34" charset="0"/>
                          <a:ea typeface="Noto Sans KR" pitchFamily="34" charset="-122"/>
                          <a:cs typeface="Noto Sans KR" pitchFamily="34" charset="-120"/>
                        </a:rPr>
                        <a:t>① </a:t>
                      </a:r>
                      <a:pPr algn="l" indent="0" marL="0">
                        <a:buNone/>
                      </a:pPr>
                      <a:r>
                        <a:rPr lang="en-US" sz="730" dirty="0">
                          <a:solidFill>
                            <a:srgbClr val="334155"/>
                          </a:solidFill>
                          <a:latin typeface="Noto Sans KR" pitchFamily="34" charset="0"/>
                          <a:ea typeface="Noto Sans KR" pitchFamily="34" charset="-122"/>
                          <a:cs typeface="Noto Sans KR" pitchFamily="34" charset="-120"/>
                        </a:rPr>
                        <a:t>프리뷰 인 서울과 연계한 기능성 소재 특별관</a:t>
                      </a:r>
                      <a:endParaRPr lang="en-US" sz="730" dirty="0">
                        <a:latin typeface="Noto Sans KR" charset="0"/>
                        <a:ea typeface="Noto Sans KR" charset="0"/>
                        <a:cs typeface="Noto Sans KR" charset="0"/>
                      </a:endParaRPr>
                    </a:p>
                    <a:p>
                      <a:pPr algn="l" indent="0" marL="0">
                        <a:buNone/>
                      </a:pPr>
                      <a:r>
                        <a:rPr lang="en-US" sz="730" dirty="0">
                          <a:solidFill>
                            <a:srgbClr val="334155"/>
                          </a:solidFill>
                          <a:latin typeface="Noto Sans KR" pitchFamily="34" charset="0"/>
                          <a:ea typeface="Noto Sans KR" pitchFamily="34" charset="-122"/>
                          <a:cs typeface="Noto Sans KR" pitchFamily="34" charset="-120"/>
                        </a:rPr>
                        <a:t>회원 소재사 참가 모집</a:t>
                      </a:r>
                      <a:endParaRPr lang="en-US" sz="730" dirty="0">
                        <a:latin typeface="Noto Sans KR" charset="0"/>
                        <a:ea typeface="Noto Sans KR" charset="0"/>
                        <a:cs typeface="Noto Sans KR" charset="0"/>
                      </a:endParaRPr>
                    </a:p>
                  </a:txBody>
                  <a:tcPr marL="63500" marR="635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730" dirty="0">
                          <a:solidFill>
                            <a:srgbClr val="334155"/>
                          </a:solidFill>
                          <a:latin typeface="Noto Sans KR" pitchFamily="34" charset="0"/>
                          <a:ea typeface="Noto Sans KR" pitchFamily="34" charset="-122"/>
                          <a:cs typeface="Noto Sans KR" pitchFamily="34" charset="-120"/>
                        </a:rPr>
                        <a:t>회원 소재사가 완제품 브랜드라는 새 고객을 만난다</a:t>
                      </a:r>
                      <a:endParaRPr lang="en-US" sz="730" dirty="0">
                        <a:latin typeface="Noto Sans KR" charset="0"/>
                        <a:ea typeface="Noto Sans KR" charset="0"/>
                        <a:cs typeface="Noto Sans KR" charset="0"/>
                      </a:endParaRPr>
                    </a:p>
                    <a:p>
                      <a:pPr algn="l" indent="0" marL="0">
                        <a:buNone/>
                      </a:pPr>
                      <a:r>
                        <a:rPr lang="en-US" sz="730" dirty="0">
                          <a:solidFill>
                            <a:srgbClr val="334155"/>
                          </a:solidFill>
                          <a:latin typeface="Noto Sans KR" pitchFamily="34" charset="0"/>
                          <a:ea typeface="Noto Sans KR" pitchFamily="34" charset="-122"/>
                          <a:cs typeface="Noto Sans KR" pitchFamily="34" charset="-120"/>
                        </a:rPr>
                        <a:t>(프리뷰 인 서울에는 브랜드 · 유통 바이어가 없음)</a:t>
                      </a:r>
                      <a:endParaRPr lang="en-US" sz="730" dirty="0">
                        <a:latin typeface="Noto Sans KR" charset="0"/>
                        <a:ea typeface="Noto Sans KR" charset="0"/>
                        <a:cs typeface="Noto Sans KR" charset="0"/>
                      </a:endParaRPr>
                    </a:p>
                  </a:txBody>
                  <a:tcPr marL="63500" marR="635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182880">
                <a:tc vMerge="1">
                  <a:tcPr/>
                </a:tc>
                <a:tc>
                  <a:txBody>
                    <a:bodyPr/>
                    <a:lstStyle/>
                    <a:p>
                      <a:pPr algn="l" indent="0" marL="0">
                        <a:buNone/>
                      </a:pPr>
                      <a:r>
                        <a:rPr lang="en-US" sz="730" b="1" dirty="0">
                          <a:solidFill>
                            <a:srgbClr val="182F48"/>
                          </a:solidFill>
                          <a:latin typeface="Noto Sans KR" pitchFamily="34" charset="0"/>
                          <a:ea typeface="Noto Sans KR" pitchFamily="34" charset="-122"/>
                          <a:cs typeface="Noto Sans KR" pitchFamily="34" charset="-120"/>
                        </a:rPr>
                        <a:t>한국의류산업협회</a:t>
                      </a:r>
                      <a:endParaRPr lang="en-US" sz="730" dirty="0">
                        <a:latin typeface="Noto Sans KR" charset="0"/>
                        <a:ea typeface="Noto Sans KR" charset="0"/>
                        <a:cs typeface="Noto Sans KR" charset="0"/>
                      </a:endParaRPr>
                    </a:p>
                  </a:txBody>
                  <a:tcPr marL="63500" marR="635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730" b="1" dirty="0">
                          <a:solidFill>
                            <a:srgbClr val="C2410C"/>
                          </a:solidFill>
                          <a:latin typeface="Noto Sans KR" pitchFamily="34" charset="0"/>
                          <a:ea typeface="Noto Sans KR" pitchFamily="34" charset="-122"/>
                          <a:cs typeface="Noto Sans KR" pitchFamily="34" charset="-120"/>
                        </a:rPr>
                        <a:t>① </a:t>
                      </a:r>
                      <a:pPr algn="l" indent="0" marL="0">
                        <a:buNone/>
                      </a:pPr>
                      <a:r>
                        <a:rPr lang="en-US" sz="730" dirty="0">
                          <a:solidFill>
                            <a:srgbClr val="334155"/>
                          </a:solidFill>
                          <a:latin typeface="Noto Sans KR" pitchFamily="34" charset="0"/>
                          <a:ea typeface="Noto Sans KR" pitchFamily="34" charset="-122"/>
                          <a:cs typeface="Noto Sans KR" pitchFamily="34" charset="-120"/>
                        </a:rPr>
                        <a:t>회원 의류 제조 · 수출 기업의 제조관 모집</a:t>
                      </a:r>
                      <a:endParaRPr lang="en-US" sz="730" dirty="0">
                        <a:latin typeface="Noto Sans KR" charset="0"/>
                        <a:ea typeface="Noto Sans KR" charset="0"/>
                        <a:cs typeface="Noto Sans KR" charset="0"/>
                      </a:endParaRPr>
                    </a:p>
                  </a:txBody>
                  <a:tcPr marL="63500" marR="635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730" dirty="0">
                          <a:solidFill>
                            <a:srgbClr val="334155"/>
                          </a:solidFill>
                          <a:latin typeface="Noto Sans KR" pitchFamily="34" charset="0"/>
                          <a:ea typeface="Noto Sans KR" pitchFamily="34" charset="-122"/>
                          <a:cs typeface="Noto Sans KR" pitchFamily="34" charset="-120"/>
                        </a:rPr>
                        <a:t>해외 물량에 기대던 회원사의 국내 브랜드 수주처 다변화</a:t>
                      </a:r>
                      <a:endParaRPr lang="en-US" sz="730" dirty="0">
                        <a:latin typeface="Noto Sans KR" charset="0"/>
                        <a:ea typeface="Noto Sans KR" charset="0"/>
                        <a:cs typeface="Noto Sans KR" charset="0"/>
                      </a:endParaRPr>
                    </a:p>
                  </a:txBody>
                  <a:tcPr marL="63500" marR="635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290697">
                <a:tc vMerge="1">
                  <a:tcPr/>
                </a:tc>
                <a:tc>
                  <a:txBody>
                    <a:bodyPr/>
                    <a:lstStyle/>
                    <a:p>
                      <a:pPr algn="l" indent="0" marL="0">
                        <a:buNone/>
                      </a:pPr>
                      <a:r>
                        <a:rPr lang="en-US" sz="730" b="1" dirty="0">
                          <a:solidFill>
                            <a:srgbClr val="182F48"/>
                          </a:solidFill>
                          <a:latin typeface="Noto Sans KR" pitchFamily="34" charset="0"/>
                          <a:ea typeface="Noto Sans KR" pitchFamily="34" charset="-122"/>
                          <a:cs typeface="Noto Sans KR" pitchFamily="34" charset="-120"/>
                        </a:rPr>
                        <a:t>한국아웃도어스포츠산업협회</a:t>
                      </a:r>
                      <a:endParaRPr lang="en-US" sz="730" dirty="0">
                        <a:latin typeface="Noto Sans KR" charset="0"/>
                        <a:ea typeface="Noto Sans KR" charset="0"/>
                        <a:cs typeface="Noto Sans KR" charset="0"/>
                      </a:endParaRPr>
                    </a:p>
                  </a:txBody>
                  <a:tcPr marL="63500" marR="635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730" dirty="0">
                          <a:solidFill>
                            <a:srgbClr val="334155"/>
                          </a:solidFill>
                          <a:latin typeface="Noto Sans KR" pitchFamily="34" charset="0"/>
                          <a:ea typeface="Noto Sans KR" pitchFamily="34" charset="-122"/>
                          <a:cs typeface="Noto Sans KR" pitchFamily="34" charset="-120"/>
                        </a:rPr>
                        <a:t>회원 아웃도어 브랜드 공동관 · 업계 의견 수렴</a:t>
                      </a:r>
                      <a:endParaRPr lang="en-US" sz="730" dirty="0">
                        <a:latin typeface="Noto Sans KR" charset="0"/>
                        <a:ea typeface="Noto Sans KR" charset="0"/>
                        <a:cs typeface="Noto Sans KR" charset="0"/>
                      </a:endParaRPr>
                    </a:p>
                  </a:txBody>
                  <a:tcPr marL="63500" marR="635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730" dirty="0">
                          <a:solidFill>
                            <a:srgbClr val="334155"/>
                          </a:solidFill>
                          <a:latin typeface="Noto Sans KR" pitchFamily="34" charset="0"/>
                          <a:ea typeface="Noto Sans KR" pitchFamily="34" charset="-122"/>
                          <a:cs typeface="Noto Sans KR" pitchFamily="34" charset="-120"/>
                        </a:rPr>
                        <a:t>역성장 중인 회원사의 고프코어 · 해외 판로</a:t>
                      </a:r>
                      <a:endParaRPr lang="en-US" sz="730" dirty="0">
                        <a:latin typeface="Noto Sans KR" charset="0"/>
                        <a:ea typeface="Noto Sans KR" charset="0"/>
                        <a:cs typeface="Noto Sans KR" charset="0"/>
                      </a:endParaRPr>
                    </a:p>
                    <a:p>
                      <a:pPr algn="l" indent="0" marL="0">
                        <a:buNone/>
                      </a:pPr>
                      <a:r>
                        <a:rPr lang="en-US" sz="730" dirty="0">
                          <a:solidFill>
                            <a:srgbClr val="334155"/>
                          </a:solidFill>
                          <a:latin typeface="Noto Sans KR" pitchFamily="34" charset="0"/>
                          <a:ea typeface="Noto Sans KR" pitchFamily="34" charset="-122"/>
                          <a:cs typeface="Noto Sans KR" pitchFamily="34" charset="-120"/>
                        </a:rPr>
                        <a:t>(2024년 국내 오리지널 4곳 모두 역성장)</a:t>
                      </a:r>
                      <a:endParaRPr lang="en-US" sz="730" dirty="0">
                        <a:latin typeface="Noto Sans KR" charset="0"/>
                        <a:ea typeface="Noto Sans KR" charset="0"/>
                        <a:cs typeface="Noto Sans KR" charset="0"/>
                      </a:endParaRPr>
                    </a:p>
                  </a:txBody>
                  <a:tcPr marL="63500" marR="635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290697">
                <a:tc rowSpan="2">
                  <a:txBody>
                    <a:bodyPr/>
                    <a:lstStyle/>
                    <a:p>
                      <a:pPr algn="ctr" indent="0" marL="0">
                        <a:buNone/>
                      </a:pPr>
                      <a:r>
                        <a:rPr lang="en-US" sz="730" b="1" dirty="0">
                          <a:solidFill>
                            <a:srgbClr val="267D86"/>
                          </a:solidFill>
                          <a:latin typeface="Noto Sans KR" pitchFamily="34" charset="0"/>
                          <a:ea typeface="Noto Sans KR" pitchFamily="34" charset="-122"/>
                          <a:cs typeface="Noto Sans KR" pitchFamily="34" charset="-120"/>
                        </a:rPr>
                        <a:t>연구</a:t>
                      </a:r>
                      <a:endParaRPr lang="en-US" sz="730" dirty="0">
                        <a:latin typeface="Noto Sans KR" charset="0"/>
                        <a:ea typeface="Noto Sans KR" charset="0"/>
                        <a:cs typeface="Noto Sans KR" charset="0"/>
                      </a:endParaRPr>
                    </a:p>
                    <a:p>
                      <a:pPr algn="ctr" indent="0" marL="0">
                        <a:buNone/>
                      </a:pPr>
                      <a:r>
                        <a:rPr lang="en-US" sz="730" b="1" dirty="0">
                          <a:solidFill>
                            <a:srgbClr val="267D86"/>
                          </a:solidFill>
                          <a:latin typeface="Noto Sans KR" pitchFamily="34" charset="0"/>
                          <a:ea typeface="Noto Sans KR" pitchFamily="34" charset="-122"/>
                          <a:cs typeface="Noto Sans KR" pitchFamily="34" charset="-120"/>
                        </a:rPr>
                        <a:t>시험</a:t>
                      </a:r>
                      <a:endParaRPr lang="en-US" sz="730" dirty="0">
                        <a:latin typeface="Noto Sans KR" charset="0"/>
                        <a:ea typeface="Noto Sans KR" charset="0"/>
                        <a:cs typeface="Noto Sans KR" charset="0"/>
                      </a:endParaRPr>
                    </a:p>
                  </a:txBody>
                  <a:tcPr marL="63500" marR="635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algn="l" indent="0" marL="0">
                        <a:buNone/>
                      </a:pPr>
                      <a:r>
                        <a:rPr lang="en-US" sz="730" b="1" dirty="0">
                          <a:solidFill>
                            <a:srgbClr val="182F48"/>
                          </a:solidFill>
                          <a:latin typeface="Noto Sans KR" pitchFamily="34" charset="0"/>
                          <a:ea typeface="Noto Sans KR" pitchFamily="34" charset="-122"/>
                          <a:cs typeface="Noto Sans KR" pitchFamily="34" charset="-120"/>
                        </a:rPr>
                        <a:t>FITI시험연구원</a:t>
                      </a:r>
                      <a:endParaRPr lang="en-US" sz="730" dirty="0">
                        <a:latin typeface="Noto Sans KR" charset="0"/>
                        <a:ea typeface="Noto Sans KR" charset="0"/>
                        <a:cs typeface="Noto Sans KR" charset="0"/>
                      </a:endParaRPr>
                    </a:p>
                  </a:txBody>
                  <a:tcPr marL="63500" marR="635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730" dirty="0">
                          <a:solidFill>
                            <a:srgbClr val="334155"/>
                          </a:solidFill>
                          <a:latin typeface="Noto Sans KR" pitchFamily="34" charset="0"/>
                          <a:ea typeface="Noto Sans KR" pitchFamily="34" charset="-122"/>
                          <a:cs typeface="Noto Sans KR" pitchFamily="34" charset="-120"/>
                        </a:rPr>
                        <a:t>퍼블릭 랩 데이 Test Lab 시험 자문</a:t>
                      </a:r>
                      <a:endParaRPr lang="en-US" sz="730" dirty="0">
                        <a:latin typeface="Noto Sans KR" charset="0"/>
                        <a:ea typeface="Noto Sans KR" charset="0"/>
                        <a:cs typeface="Noto Sans KR" charset="0"/>
                      </a:endParaRPr>
                    </a:p>
                    <a:p>
                      <a:pPr algn="l" indent="0" marL="0">
                        <a:buNone/>
                      </a:pPr>
                      <a:r>
                        <a:rPr lang="en-US" sz="730" dirty="0">
                          <a:solidFill>
                            <a:srgbClr val="334155"/>
                          </a:solidFill>
                          <a:latin typeface="Noto Sans KR" pitchFamily="34" charset="0"/>
                          <a:ea typeface="Noto Sans KR" pitchFamily="34" charset="-122"/>
                          <a:cs typeface="Noto Sans KR" pitchFamily="34" charset="-120"/>
                        </a:rPr>
                        <a:t>(인공강우 · 써멀마네킹) · 기능 어워드 심사</a:t>
                      </a:r>
                      <a:endParaRPr lang="en-US" sz="730" dirty="0">
                        <a:latin typeface="Noto Sans KR" charset="0"/>
                        <a:ea typeface="Noto Sans KR" charset="0"/>
                        <a:cs typeface="Noto Sans KR" charset="0"/>
                      </a:endParaRPr>
                    </a:p>
                  </a:txBody>
                  <a:tcPr marL="63500" marR="635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730" dirty="0">
                          <a:solidFill>
                            <a:srgbClr val="334155"/>
                          </a:solidFill>
                          <a:latin typeface="Noto Sans KR" pitchFamily="34" charset="0"/>
                          <a:ea typeface="Noto Sans KR" pitchFamily="34" charset="-122"/>
                          <a:cs typeface="Noto Sans KR" pitchFamily="34" charset="-120"/>
                        </a:rPr>
                        <a:t>신진 브랜드라는 시험 · 인증 신규 고객 확보</a:t>
                      </a:r>
                      <a:endParaRPr lang="en-US" sz="730" dirty="0">
                        <a:latin typeface="Noto Sans KR" charset="0"/>
                        <a:ea typeface="Noto Sans KR" charset="0"/>
                        <a:cs typeface="Noto Sans KR" charset="0"/>
                      </a:endParaRPr>
                    </a:p>
                    <a:p>
                      <a:pPr algn="l" indent="0" marL="0">
                        <a:buNone/>
                      </a:pPr>
                      <a:r>
                        <a:rPr lang="en-US" sz="730" dirty="0">
                          <a:solidFill>
                            <a:srgbClr val="334155"/>
                          </a:solidFill>
                          <a:latin typeface="Noto Sans KR" pitchFamily="34" charset="0"/>
                          <a:ea typeface="Noto Sans KR" pitchFamily="34" charset="-122"/>
                          <a:cs typeface="Noto Sans KR" pitchFamily="34" charset="-120"/>
                        </a:rPr>
                        <a:t>기관의 기능 시험 신뢰도 홍보</a:t>
                      </a:r>
                      <a:endParaRPr lang="en-US" sz="730" dirty="0">
                        <a:latin typeface="Noto Sans KR" charset="0"/>
                        <a:ea typeface="Noto Sans KR" charset="0"/>
                        <a:cs typeface="Noto Sans KR" charset="0"/>
                      </a:endParaRPr>
                    </a:p>
                  </a:txBody>
                  <a:tcPr marL="63500" marR="635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182880">
                <a:tc vMerge="1">
                  <a:tcPr/>
                </a:tc>
                <a:tc>
                  <a:txBody>
                    <a:bodyPr/>
                    <a:lstStyle/>
                    <a:p>
                      <a:pPr algn="l" indent="0" marL="0">
                        <a:buNone/>
                      </a:pPr>
                      <a:r>
                        <a:rPr lang="en-US" sz="730" b="1" dirty="0">
                          <a:solidFill>
                            <a:srgbClr val="182F48"/>
                          </a:solidFill>
                          <a:latin typeface="Noto Sans KR" pitchFamily="34" charset="0"/>
                          <a:ea typeface="Noto Sans KR" pitchFamily="34" charset="-122"/>
                          <a:cs typeface="Noto Sans KR" pitchFamily="34" charset="-120"/>
                        </a:rPr>
                        <a:t>한국섬유개발연구원</a:t>
                      </a:r>
                      <a:endParaRPr lang="en-US" sz="730" dirty="0">
                        <a:latin typeface="Noto Sans KR" charset="0"/>
                        <a:ea typeface="Noto Sans KR" charset="0"/>
                        <a:cs typeface="Noto Sans KR" charset="0"/>
                      </a:endParaRPr>
                    </a:p>
                  </a:txBody>
                  <a:tcPr marL="63500" marR="635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730" b="1" dirty="0">
                          <a:solidFill>
                            <a:srgbClr val="C2410C"/>
                          </a:solidFill>
                          <a:latin typeface="Noto Sans KR" pitchFamily="34" charset="0"/>
                          <a:ea typeface="Noto Sans KR" pitchFamily="34" charset="-122"/>
                          <a:cs typeface="Noto Sans KR" pitchFamily="34" charset="-120"/>
                        </a:rPr>
                        <a:t>① </a:t>
                      </a:r>
                      <a:pPr algn="l" indent="0" marL="0">
                        <a:buNone/>
                      </a:pPr>
                      <a:r>
                        <a:rPr lang="en-US" sz="730" dirty="0">
                          <a:solidFill>
                            <a:srgbClr val="334155"/>
                          </a:solidFill>
                          <a:latin typeface="Noto Sans KR" pitchFamily="34" charset="0"/>
                          <a:ea typeface="Noto Sans KR" pitchFamily="34" charset="-122"/>
                          <a:cs typeface="Noto Sans KR" pitchFamily="34" charset="-120"/>
                        </a:rPr>
                        <a:t>PFAS-free 소재 전환 세미나 · 개발 상담</a:t>
                      </a:r>
                      <a:endParaRPr lang="en-US" sz="730" dirty="0">
                        <a:latin typeface="Noto Sans KR" charset="0"/>
                        <a:ea typeface="Noto Sans KR" charset="0"/>
                        <a:cs typeface="Noto Sans KR" charset="0"/>
                      </a:endParaRPr>
                    </a:p>
                  </a:txBody>
                  <a:tcPr marL="63500" marR="635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730" dirty="0">
                          <a:solidFill>
                            <a:srgbClr val="334155"/>
                          </a:solidFill>
                          <a:latin typeface="Noto Sans KR" pitchFamily="34" charset="0"/>
                          <a:ea typeface="Noto Sans KR" pitchFamily="34" charset="-122"/>
                          <a:cs typeface="Noto Sans KR" pitchFamily="34" charset="-120"/>
                        </a:rPr>
                        <a:t>연구 성과를 기업에 이전할 기술 사업화 기회</a:t>
                      </a:r>
                      <a:endParaRPr lang="en-US" sz="730" dirty="0">
                        <a:latin typeface="Noto Sans KR" charset="0"/>
                        <a:ea typeface="Noto Sans KR" charset="0"/>
                        <a:cs typeface="Noto Sans KR" charset="0"/>
                      </a:endParaRPr>
                    </a:p>
                  </a:txBody>
                  <a:tcPr marL="63500" marR="635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290697">
                <a:tc>
                  <a:txBody>
                    <a:bodyPr/>
                    <a:lstStyle/>
                    <a:p>
                      <a:pPr algn="ctr" indent="0" marL="0">
                        <a:buNone/>
                      </a:pPr>
                      <a:r>
                        <a:rPr lang="en-US" sz="730" b="1" dirty="0">
                          <a:solidFill>
                            <a:srgbClr val="267D86"/>
                          </a:solidFill>
                          <a:latin typeface="Noto Sans KR" pitchFamily="34" charset="0"/>
                          <a:ea typeface="Noto Sans KR" pitchFamily="34" charset="-122"/>
                          <a:cs typeface="Noto Sans KR" pitchFamily="34" charset="-120"/>
                        </a:rPr>
                        <a:t>미디어</a:t>
                      </a:r>
                      <a:endParaRPr lang="en-US" sz="730" dirty="0">
                        <a:latin typeface="Noto Sans KR" charset="0"/>
                        <a:ea typeface="Noto Sans KR" charset="0"/>
                        <a:cs typeface="Noto Sans KR" charset="0"/>
                      </a:endParaRPr>
                    </a:p>
                  </a:txBody>
                  <a:tcPr marL="63500" marR="635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algn="l" indent="0" marL="0">
                        <a:buNone/>
                      </a:pPr>
                      <a:r>
                        <a:rPr lang="en-US" sz="730" b="1" dirty="0">
                          <a:solidFill>
                            <a:srgbClr val="182F48"/>
                          </a:solidFill>
                          <a:latin typeface="Noto Sans KR" pitchFamily="34" charset="0"/>
                          <a:ea typeface="Noto Sans KR" pitchFamily="34" charset="-122"/>
                          <a:cs typeface="Noto Sans KR" pitchFamily="34" charset="-120"/>
                        </a:rPr>
                        <a:t>GO OUT KOREA · 패션비즈</a:t>
                      </a:r>
                      <a:endParaRPr lang="en-US" sz="730" dirty="0">
                        <a:latin typeface="Noto Sans KR" charset="0"/>
                        <a:ea typeface="Noto Sans KR" charset="0"/>
                        <a:cs typeface="Noto Sans KR" charset="0"/>
                      </a:endParaRPr>
                    </a:p>
                  </a:txBody>
                  <a:tcPr marL="63500" marR="635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730" dirty="0">
                          <a:solidFill>
                            <a:srgbClr val="334155"/>
                          </a:solidFill>
                          <a:latin typeface="Noto Sans KR" pitchFamily="34" charset="0"/>
                          <a:ea typeface="Noto Sans KR" pitchFamily="34" charset="-122"/>
                          <a:cs typeface="Noto Sans KR" pitchFamily="34" charset="-120"/>
                        </a:rPr>
                        <a:t>미디어 파트너 · 인플루언서 · 모델 섭외 지원</a:t>
                      </a:r>
                      <a:endParaRPr lang="en-US" sz="730" dirty="0">
                        <a:latin typeface="Noto Sans KR" charset="0"/>
                        <a:ea typeface="Noto Sans KR" charset="0"/>
                        <a:cs typeface="Noto Sans KR" charset="0"/>
                      </a:endParaRPr>
                    </a:p>
                    <a:p>
                      <a:pPr algn="l" indent="0" marL="0">
                        <a:buNone/>
                      </a:pPr>
                      <a:r>
                        <a:rPr lang="en-US" sz="730" dirty="0">
                          <a:solidFill>
                            <a:srgbClr val="334155"/>
                          </a:solidFill>
                          <a:latin typeface="Noto Sans KR" pitchFamily="34" charset="0"/>
                          <a:ea typeface="Noto Sans KR" pitchFamily="34" charset="-122"/>
                          <a:cs typeface="Noto Sans KR" pitchFamily="34" charset="-120"/>
                        </a:rPr>
                        <a:t>참가업체 모집 홍보 · 어워드 공동 주관</a:t>
                      </a:r>
                      <a:endParaRPr lang="en-US" sz="730" dirty="0">
                        <a:latin typeface="Noto Sans KR" charset="0"/>
                        <a:ea typeface="Noto Sans KR" charset="0"/>
                        <a:cs typeface="Noto Sans KR" charset="0"/>
                      </a:endParaRPr>
                    </a:p>
                  </a:txBody>
                  <a:tcPr marL="63500" marR="635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730" dirty="0">
                          <a:solidFill>
                            <a:srgbClr val="334155"/>
                          </a:solidFill>
                          <a:latin typeface="Noto Sans KR" pitchFamily="34" charset="0"/>
                          <a:ea typeface="Noto Sans KR" pitchFamily="34" charset="-122"/>
                          <a:cs typeface="Noto Sans KR" pitchFamily="34" charset="-120"/>
                        </a:rPr>
                        <a:t>독점 콘텐츠 · 광고 수익과 업계 영향력</a:t>
                      </a:r>
                      <a:endParaRPr lang="en-US" sz="730" dirty="0">
                        <a:latin typeface="Noto Sans KR" charset="0"/>
                        <a:ea typeface="Noto Sans KR" charset="0"/>
                        <a:cs typeface="Noto Sans KR" charset="0"/>
                      </a:endParaRPr>
                    </a:p>
                    <a:p>
                      <a:pPr algn="l" indent="0" marL="0">
                        <a:buNone/>
                      </a:pPr>
                      <a:r>
                        <a:rPr lang="en-US" sz="730" dirty="0">
                          <a:solidFill>
                            <a:srgbClr val="334155"/>
                          </a:solidFill>
                          <a:latin typeface="Noto Sans KR" pitchFamily="34" charset="0"/>
                          <a:ea typeface="Noto Sans KR" pitchFamily="34" charset="-122"/>
                          <a:cs typeface="Noto Sans KR" pitchFamily="34" charset="-120"/>
                        </a:rPr>
                        <a:t>(GO OUT KOREA 월 2만 부 · 인스타그램 7.4만)</a:t>
                      </a:r>
                      <a:endParaRPr lang="en-US" sz="730" dirty="0">
                        <a:latin typeface="Noto Sans KR" charset="0"/>
                        <a:ea typeface="Noto Sans KR" charset="0"/>
                        <a:cs typeface="Noto Sans KR" charset="0"/>
                      </a:endParaRPr>
                    </a:p>
                  </a:txBody>
                  <a:tcPr marL="63500" marR="635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290697">
                <a:tc>
                  <a:txBody>
                    <a:bodyPr/>
                    <a:lstStyle/>
                    <a:p>
                      <a:pPr algn="ctr" indent="0" marL="0">
                        <a:buNone/>
                      </a:pPr>
                      <a:r>
                        <a:rPr lang="en-US" sz="730" b="1" dirty="0">
                          <a:solidFill>
                            <a:srgbClr val="267D86"/>
                          </a:solidFill>
                          <a:latin typeface="Noto Sans KR" pitchFamily="34" charset="0"/>
                          <a:ea typeface="Noto Sans KR" pitchFamily="34" charset="-122"/>
                          <a:cs typeface="Noto Sans KR" pitchFamily="34" charset="-120"/>
                        </a:rPr>
                        <a:t>베뉴</a:t>
                      </a:r>
                      <a:endParaRPr lang="en-US" sz="730" dirty="0">
                        <a:latin typeface="Noto Sans KR" charset="0"/>
                        <a:ea typeface="Noto Sans KR" charset="0"/>
                        <a:cs typeface="Noto Sans KR" charset="0"/>
                      </a:endParaRPr>
                    </a:p>
                    <a:p>
                      <a:pPr algn="ctr" indent="0" marL="0">
                        <a:buNone/>
                      </a:pPr>
                      <a:r>
                        <a:rPr lang="en-US" sz="730" b="1" dirty="0">
                          <a:solidFill>
                            <a:srgbClr val="267D86"/>
                          </a:solidFill>
                          <a:latin typeface="Noto Sans KR" pitchFamily="34" charset="0"/>
                          <a:ea typeface="Noto Sans KR" pitchFamily="34" charset="-122"/>
                          <a:cs typeface="Noto Sans KR" pitchFamily="34" charset="-120"/>
                        </a:rPr>
                        <a:t>플랫폼</a:t>
                      </a:r>
                      <a:endParaRPr lang="en-US" sz="730" dirty="0">
                        <a:latin typeface="Noto Sans KR" charset="0"/>
                        <a:ea typeface="Noto Sans KR" charset="0"/>
                        <a:cs typeface="Noto Sans KR" charset="0"/>
                      </a:endParaRPr>
                    </a:p>
                  </a:txBody>
                  <a:tcPr marL="63500" marR="635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algn="l" indent="0" marL="0">
                        <a:buNone/>
                      </a:pPr>
                      <a:r>
                        <a:rPr lang="en-US" sz="730" b="1" dirty="0">
                          <a:solidFill>
                            <a:srgbClr val="182F48"/>
                          </a:solidFill>
                          <a:latin typeface="Noto Sans KR" pitchFamily="34" charset="0"/>
                          <a:ea typeface="Noto Sans KR" pitchFamily="34" charset="-122"/>
                          <a:cs typeface="Noto Sans KR" pitchFamily="34" charset="-120"/>
                        </a:rPr>
                        <a:t>코엑스 / 무신사</a:t>
                      </a:r>
                      <a:endParaRPr lang="en-US" sz="730" dirty="0">
                        <a:latin typeface="Noto Sans KR" charset="0"/>
                        <a:ea typeface="Noto Sans KR" charset="0"/>
                        <a:cs typeface="Noto Sans KR" charset="0"/>
                      </a:endParaRPr>
                    </a:p>
                  </a:txBody>
                  <a:tcPr marL="63500" marR="635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730" dirty="0">
                          <a:solidFill>
                            <a:srgbClr val="334155"/>
                          </a:solidFill>
                          <a:latin typeface="Noto Sans KR" pitchFamily="34" charset="0"/>
                          <a:ea typeface="Noto Sans KR" pitchFamily="34" charset="-122"/>
                          <a:cs typeface="Noto Sans KR" pitchFamily="34" charset="-120"/>
                        </a:rPr>
                        <a:t>코엑스: 전시장 · 옥외 미디어 · 공동 마케팅</a:t>
                      </a:r>
                      <a:endParaRPr lang="en-US" sz="730" dirty="0">
                        <a:latin typeface="Noto Sans KR" charset="0"/>
                        <a:ea typeface="Noto Sans KR" charset="0"/>
                        <a:cs typeface="Noto Sans KR" charset="0"/>
                      </a:endParaRPr>
                    </a:p>
                    <a:p>
                      <a:pPr algn="l" indent="0" marL="0">
                        <a:buNone/>
                      </a:pPr>
                      <a:r>
                        <a:rPr lang="en-US" sz="730" dirty="0">
                          <a:solidFill>
                            <a:srgbClr val="334155"/>
                          </a:solidFill>
                          <a:latin typeface="Noto Sans KR" pitchFamily="34" charset="0"/>
                          <a:ea typeface="Noto Sans KR" pitchFamily="34" charset="-122"/>
                          <a:cs typeface="Noto Sans KR" pitchFamily="34" charset="-120"/>
                        </a:rPr>
                        <a:t>무신사: 신진 브랜드 발굴 스폰서 · 팝업</a:t>
                      </a:r>
                      <a:endParaRPr lang="en-US" sz="730" dirty="0">
                        <a:latin typeface="Noto Sans KR" charset="0"/>
                        <a:ea typeface="Noto Sans KR" charset="0"/>
                        <a:cs typeface="Noto Sans KR" charset="0"/>
                      </a:endParaRPr>
                    </a:p>
                  </a:txBody>
                  <a:tcPr marL="63500" marR="635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730" dirty="0">
                          <a:solidFill>
                            <a:srgbClr val="334155"/>
                          </a:solidFill>
                          <a:latin typeface="Noto Sans KR" pitchFamily="34" charset="0"/>
                          <a:ea typeface="Noto Sans KR" pitchFamily="34" charset="-122"/>
                          <a:cs typeface="Noto Sans KR" pitchFamily="34" charset="-120"/>
                        </a:rPr>
                        <a:t>코엑스: 신규 정기 전시회 · 대관 수익</a:t>
                      </a:r>
                      <a:endParaRPr lang="en-US" sz="730" dirty="0">
                        <a:latin typeface="Noto Sans KR" charset="0"/>
                        <a:ea typeface="Noto Sans KR" charset="0"/>
                        <a:cs typeface="Noto Sans KR" charset="0"/>
                      </a:endParaRPr>
                    </a:p>
                    <a:p>
                      <a:pPr algn="l" indent="0" marL="0">
                        <a:buNone/>
                      </a:pPr>
                      <a:r>
                        <a:rPr lang="en-US" sz="730" dirty="0">
                          <a:solidFill>
                            <a:srgbClr val="334155"/>
                          </a:solidFill>
                          <a:latin typeface="Noto Sans KR" pitchFamily="34" charset="0"/>
                          <a:ea typeface="Noto Sans KR" pitchFamily="34" charset="-122"/>
                          <a:cs typeface="Noto Sans KR" pitchFamily="34" charset="-120"/>
                        </a:rPr>
                        <a:t>무신사: 신규 입점 브랜드 · 도쿄 쇼룸에 보낼 브랜드 풀</a:t>
                      </a:r>
                      <a:endParaRPr lang="en-US" sz="730" dirty="0">
                        <a:latin typeface="Noto Sans KR" charset="0"/>
                        <a:ea typeface="Noto Sans KR" charset="0"/>
                        <a:cs typeface="Noto Sans KR" charset="0"/>
                      </a:endParaRPr>
                    </a:p>
                  </a:txBody>
                  <a:tcPr marL="63500" marR="63500" marT="12700" marB="127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bl>
          </a:graphicData>
        </a:graphic>
      </p:graphicFrame>
      <p:sp>
        <p:nvSpPr>
          <p:cNvPr id="35" name="라벨"/>
          <p:cNvSpPr txBox="1"/>
          <p:nvPr/>
        </p:nvSpPr>
        <p:spPr>
          <a:xfrm>
            <a:off x="612648" y="5705035"/>
            <a:ext cx="1417320" cy="475488"/>
          </a:xfrm>
          <a:prstGeom prst="rect">
            <a:avLst/>
          </a:prstGeom>
          <a:noFill/>
          <a:ln/>
        </p:spPr>
        <p:txBody>
          <a:bodyPr wrap="square" lIns="0" tIns="0" rIns="0" bIns="0" rtlCol="0" anchor="t"/>
          <a:lstStyle/>
          <a:p>
            <a:pPr algn="l" indent="0" marL="0">
              <a:lnSpc>
                <a:spcPct val="100000"/>
              </a:lnSpc>
              <a:buNone/>
            </a:pPr>
            <a:r>
              <a:rPr lang="en-US" sz="1200" b="1" dirty="0">
                <a:solidFill>
                  <a:srgbClr val="182F48"/>
                </a:solidFill>
                <a:latin typeface="Noto Sans KR" pitchFamily="34" charset="0"/>
                <a:ea typeface="Noto Sans KR" pitchFamily="34" charset="-122"/>
                <a:cs typeface="Noto Sans KR" pitchFamily="34" charset="-120"/>
              </a:rPr>
              <a:t>별첨 제출</a:t>
            </a:r>
            <a:endParaRPr lang="en-US" sz="1200" dirty="0"/>
          </a:p>
          <a:p>
            <a:pPr algn="l" indent="0" marL="0">
              <a:lnSpc>
                <a:spcPct val="100000"/>
              </a:lnSpc>
              <a:buNone/>
            </a:pPr>
            <a:r>
              <a:rPr lang="en-US" sz="1200" b="1" dirty="0">
                <a:solidFill>
                  <a:srgbClr val="182F48"/>
                </a:solidFill>
                <a:latin typeface="Noto Sans KR" pitchFamily="34" charset="0"/>
                <a:ea typeface="Noto Sans KR" pitchFamily="34" charset="-122"/>
                <a:cs typeface="Noto Sans KR" pitchFamily="34" charset="-120"/>
              </a:rPr>
              <a:t>전화 검증</a:t>
            </a:r>
            <a:endParaRPr lang="en-US" sz="1200" dirty="0"/>
          </a:p>
        </p:txBody>
      </p:sp>
      <p:sp>
        <p:nvSpPr>
          <p:cNvPr id="36" name="검증 참가업체"/>
          <p:cNvSpPr txBox="1"/>
          <p:nvPr/>
        </p:nvSpPr>
        <p:spPr>
          <a:xfrm>
            <a:off x="2121408" y="5686747"/>
            <a:ext cx="4681728" cy="604325"/>
          </a:xfrm>
          <a:prstGeom prst="roundRect">
            <a:avLst>
              <a:gd name="adj" fmla="val 7565"/>
            </a:avLst>
          </a:prstGeom>
          <a:solidFill>
            <a:srgbClr val="E6F2F3"/>
          </a:solidFill>
          <a:ln/>
        </p:spPr>
        <p:txBody>
          <a:bodyPr wrap="square" lIns="91440" tIns="0" rIns="91440" bIns="0" rtlCol="0" anchor="ctr"/>
          <a:lstStyle/>
          <a:p>
            <a:pPr algn="l" indent="0" marL="0">
              <a:lnSpc>
                <a:spcPct val="92000"/>
              </a:lnSpc>
              <a:spcAft>
                <a:spcPts val="150"/>
              </a:spcAft>
              <a:buNone/>
            </a:pPr>
            <a:r>
              <a:rPr lang="en-US" sz="750" b="1" dirty="0">
                <a:solidFill>
                  <a:srgbClr val="267D86"/>
                </a:solidFill>
                <a:latin typeface="Noto Sans KR" pitchFamily="34" charset="0"/>
                <a:ea typeface="Noto Sans KR" pitchFamily="34" charset="-122"/>
                <a:cs typeface="Noto Sans KR" pitchFamily="34" charset="-120"/>
              </a:rPr>
              <a:t>참가업체 측 · 인터뷰 완료</a:t>
            </a:r>
            <a:pPr algn="l" indent="0" marL="0">
              <a:lnSpc>
                <a:spcPct val="92000"/>
              </a:lnSpc>
              <a:spcAft>
                <a:spcPts val="150"/>
              </a:spcAft>
              <a:buNone/>
            </a:pPr>
            <a:r>
              <a:rPr lang="en-US" sz="750" dirty="0">
                <a:solidFill>
                  <a:srgbClr val="64748B"/>
                </a:solidFill>
                <a:latin typeface="Noto Sans KR" pitchFamily="34" charset="0"/>
                <a:ea typeface="Noto Sans KR" pitchFamily="34" charset="-122"/>
                <a:cs typeface="Noto Sans KR" pitchFamily="34" charset="-120"/>
              </a:rPr>
              <a:t>   별첨 1-1 · 1-2</a:t>
            </a:r>
            <a:endParaRPr lang="en-US" sz="750" dirty="0"/>
          </a:p>
          <a:p>
            <a:pPr algn="l" indent="0" marL="0">
              <a:lnSpc>
                <a:spcPct val="92000"/>
              </a:lnSpc>
              <a:spcAft>
                <a:spcPts val="150"/>
              </a:spcAft>
              <a:buNone/>
            </a:pPr>
            <a:r>
              <a:rPr lang="en-US" sz="750" b="1" dirty="0">
                <a:solidFill>
                  <a:srgbClr val="182F48"/>
                </a:solidFill>
                <a:latin typeface="Noto Sans KR" pitchFamily="34" charset="0"/>
                <a:ea typeface="Noto Sans KR" pitchFamily="34" charset="-122"/>
                <a:cs typeface="Noto Sans KR" pitchFamily="34" charset="-120"/>
              </a:rPr>
              <a:t>아웃도어 브랜드 유통 · 판매 담당 (마무트 종로점 · 제로그램 등 운영) · 2026.10.17 대면 · 약 5분</a:t>
            </a:r>
            <a:endParaRPr lang="en-US" sz="750" dirty="0"/>
          </a:p>
          <a:p>
            <a:pPr algn="l" indent="0" marL="0">
              <a:lnSpc>
                <a:spcPct val="92000"/>
              </a:lnSpc>
              <a:spcAft>
                <a:spcPts val="150"/>
              </a:spcAft>
              <a:buNone/>
            </a:pPr>
            <a:r>
              <a:rPr lang="en-US" sz="750" dirty="0">
                <a:solidFill>
                  <a:srgbClr val="334155"/>
                </a:solidFill>
                <a:latin typeface="Noto Sans KR" pitchFamily="34" charset="0"/>
                <a:ea typeface="Noto Sans KR" pitchFamily="34" charset="-122"/>
                <a:cs typeface="Noto Sans KR" pitchFamily="34" charset="-120"/>
              </a:rPr>
              <a:t>질문 8개의 답변을 녹취 그대로 옮기고, 들은 내용을 Test Lab · 관심도 지표 · 목적별 배치에 반영</a:t>
            </a:r>
            <a:endParaRPr lang="en-US" sz="750" dirty="0"/>
          </a:p>
        </p:txBody>
      </p:sp>
      <p:sp>
        <p:nvSpPr>
          <p:cNvPr id="37" name="검증 바이어"/>
          <p:cNvSpPr txBox="1"/>
          <p:nvPr/>
        </p:nvSpPr>
        <p:spPr>
          <a:xfrm>
            <a:off x="6894576" y="5686747"/>
            <a:ext cx="4681728" cy="604325"/>
          </a:xfrm>
          <a:prstGeom prst="roundRect">
            <a:avLst>
              <a:gd name="adj" fmla="val 7565"/>
            </a:avLst>
          </a:prstGeom>
          <a:solidFill>
            <a:srgbClr val="FDEDE3"/>
          </a:solidFill>
          <a:ln/>
        </p:spPr>
        <p:txBody>
          <a:bodyPr wrap="square" lIns="91440" tIns="0" rIns="91440" bIns="0" rtlCol="0" anchor="ctr"/>
          <a:lstStyle/>
          <a:p>
            <a:pPr algn="l" indent="0" marL="0">
              <a:lnSpc>
                <a:spcPct val="92000"/>
              </a:lnSpc>
              <a:spcAft>
                <a:spcPts val="150"/>
              </a:spcAft>
              <a:buNone/>
            </a:pPr>
            <a:r>
              <a:rPr lang="en-US" sz="750" b="1" dirty="0">
                <a:solidFill>
                  <a:srgbClr val="C2410C"/>
                </a:solidFill>
                <a:latin typeface="Noto Sans KR" pitchFamily="34" charset="0"/>
                <a:ea typeface="Noto Sans KR" pitchFamily="34" charset="-122"/>
                <a:cs typeface="Noto Sans KR" pitchFamily="34" charset="-120"/>
              </a:rPr>
              <a:t>바이어 측 · 통화 시도 (실무 바이어 연결 불가)</a:t>
            </a:r>
            <a:pPr algn="l" indent="0" marL="0">
              <a:lnSpc>
                <a:spcPct val="92000"/>
              </a:lnSpc>
              <a:spcAft>
                <a:spcPts val="150"/>
              </a:spcAft>
              <a:buNone/>
            </a:pPr>
            <a:r>
              <a:rPr lang="en-US" sz="750" dirty="0">
                <a:solidFill>
                  <a:srgbClr val="64748B"/>
                </a:solidFill>
                <a:latin typeface="Noto Sans KR" pitchFamily="34" charset="0"/>
                <a:ea typeface="Noto Sans KR" pitchFamily="34" charset="-122"/>
                <a:cs typeface="Noto Sans KR" pitchFamily="34" charset="-120"/>
              </a:rPr>
              <a:t>   별첨 2</a:t>
            </a:r>
            <a:endParaRPr lang="en-US" sz="750" dirty="0"/>
          </a:p>
          <a:p>
            <a:pPr algn="l" indent="0" marL="0">
              <a:lnSpc>
                <a:spcPct val="92000"/>
              </a:lnSpc>
              <a:spcAft>
                <a:spcPts val="150"/>
              </a:spcAft>
              <a:buNone/>
            </a:pPr>
            <a:r>
              <a:rPr lang="en-US" sz="750" b="1" dirty="0">
                <a:solidFill>
                  <a:srgbClr val="182F48"/>
                </a:solidFill>
                <a:latin typeface="Noto Sans KR" pitchFamily="34" charset="0"/>
                <a:ea typeface="Noto Sans KR" pitchFamily="34" charset="-122"/>
                <a:cs typeface="Noto Sans KR" pitchFamily="34" charset="-120"/>
              </a:rPr>
              <a:t>홀라인(아웃도어 편집숍) · 웍스아웃(편집숍)에 매장 · 고객센터로 전화</a:t>
            </a:r>
            <a:endParaRPr lang="en-US" sz="750" dirty="0"/>
          </a:p>
          <a:p>
            <a:pPr algn="l" indent="0" marL="0">
              <a:lnSpc>
                <a:spcPct val="92000"/>
              </a:lnSpc>
              <a:spcAft>
                <a:spcPts val="150"/>
              </a:spcAft>
              <a:buNone/>
            </a:pPr>
            <a:r>
              <a:rPr lang="en-US" sz="750" dirty="0">
                <a:solidFill>
                  <a:srgbClr val="334155"/>
                </a:solidFill>
                <a:latin typeface="Noto Sans KR" pitchFamily="34" charset="0"/>
                <a:ea typeface="Noto Sans KR" pitchFamily="34" charset="-122"/>
                <a:cs typeface="Noto Sans KR" pitchFamily="34" charset="-120"/>
              </a:rPr>
              <a:t>매장 직원 · 고객센터 단계에서 막혀 바이어와 통화하지 못함 → 시도 내역 · 사유 · 준비 내용을 정리</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과제 표기"/>
          <p:cNvSpPr txBox="1"/>
          <p:nvPr/>
        </p:nvSpPr>
        <p:spPr>
          <a:xfrm>
            <a:off x="612648" y="274320"/>
            <a:ext cx="5486400" cy="237744"/>
          </a:xfrm>
          <a:prstGeom prst="rect">
            <a:avLst/>
          </a:prstGeom>
          <a:noFill/>
          <a:ln/>
        </p:spPr>
        <p:txBody>
          <a:bodyPr wrap="square" lIns="0" tIns="0" rIns="0" bIns="0" rtlCol="0" anchor="t"/>
          <a:lstStyle/>
          <a:p>
            <a:pPr algn="l" indent="0" marL="0">
              <a:lnSpc>
                <a:spcPct val="92000"/>
              </a:lnSpc>
              <a:buNone/>
            </a:pPr>
            <a:r>
              <a:rPr lang="en-US" sz="1100" dirty="0">
                <a:solidFill>
                  <a:srgbClr val="64748B"/>
                </a:solidFill>
                <a:latin typeface="Noto Sans KR" pitchFamily="34" charset="0"/>
                <a:ea typeface="Noto Sans KR" pitchFamily="34" charset="-122"/>
                <a:cs typeface="Noto Sans KR" pitchFamily="34" charset="-120"/>
              </a:rPr>
              <a:t>전시산업론 중간고사 개인 과제   별첨 1-1</a:t>
            </a:r>
            <a:endParaRPr lang="en-US" sz="1100" dirty="0"/>
          </a:p>
        </p:txBody>
      </p:sp>
      <p:sp>
        <p:nvSpPr>
          <p:cNvPr id="3" name="Text 1"/>
          <p:cNvSpPr/>
          <p:nvPr>
            <p:ph idx="101" type="title" hasCustomPrompt="1"/>
          </p:nvPr>
        </p:nvSpPr>
        <p:spPr>
          <a:xfrm>
            <a:off x="612648" y="548640"/>
            <a:ext cx="10963656" cy="512064"/>
          </a:xfrm>
          <a:prstGeom prst="rect">
            <a:avLst/>
          </a:prstGeom>
          <a:noFill/>
          <a:ln/>
        </p:spPr>
        <p:txBody>
          <a:bodyPr wrap="square" lIns="0" tIns="0" rIns="0" bIns="0" rtlCol="0" anchor="ctr"/>
          <a:lstStyle/>
          <a:p>
            <a:pPr algn="l" indent="0" marL="0">
              <a:buNone/>
            </a:pPr>
            <a:r>
              <a:rPr lang="en-US" sz="3000" b="1" dirty="0">
                <a:solidFill>
                  <a:srgbClr val="182F48"/>
                </a:solidFill>
                <a:latin typeface="Noto Sans KR" pitchFamily="34" charset="0"/>
                <a:ea typeface="Noto Sans KR" pitchFamily="34" charset="-122"/>
                <a:cs typeface="Noto Sans KR" pitchFamily="34" charset="-120"/>
              </a:rPr>
              <a:t>별첨 1 · 인터뷰 기록 (참가업체 측)</a:t>
            </a:r>
            <a:endParaRPr lang="en-US" sz="3000" dirty="0"/>
          </a:p>
        </p:txBody>
      </p:sp>
      <p:sp>
        <p:nvSpPr>
          <p:cNvPr id="4" name="Text 1"/>
          <p:cNvSpPr/>
          <p:nvPr>
            <p:ph idx="102" type="body" hasCustomPrompt="1"/>
          </p:nvPr>
        </p:nvSpPr>
        <p:spPr>
          <a:xfrm>
            <a:off x="612648" y="1060704"/>
            <a:ext cx="10963656" cy="310896"/>
          </a:xfrm>
          <a:prstGeom prst="rect">
            <a:avLst/>
          </a:prstGeom>
          <a:noFill/>
          <a:ln/>
        </p:spPr>
        <p:txBody>
          <a:bodyPr wrap="square" lIns="0" tIns="0" rIns="0" bIns="0" rtlCol="0" anchor="ctr"/>
          <a:lstStyle/>
          <a:p>
            <a:pPr algn="l" indent="0" marL="0">
              <a:buNone/>
            </a:pPr>
            <a:r>
              <a:rPr lang="en-US" sz="1500" dirty="0">
                <a:solidFill>
                  <a:srgbClr val="267D86"/>
                </a:solidFill>
                <a:latin typeface="Noto Sans KR" pitchFamily="34" charset="0"/>
                <a:ea typeface="Noto Sans KR" pitchFamily="34" charset="-122"/>
                <a:cs typeface="Noto Sans KR" pitchFamily="34" charset="-120"/>
              </a:rPr>
              <a:t>아웃도어 브랜드 유통·판매 담당자 대면 인터뷰 — 질문과 답변</a:t>
            </a:r>
            <a:endParaRPr lang="en-US" sz="1500" dirty="0"/>
          </a:p>
        </p:txBody>
      </p:sp>
      <p:sp>
        <p:nvSpPr>
          <p:cNvPr id="5" name="출처"/>
          <p:cNvSpPr txBox="1"/>
          <p:nvPr/>
        </p:nvSpPr>
        <p:spPr>
          <a:xfrm>
            <a:off x="612648" y="6355080"/>
            <a:ext cx="10963656" cy="457200"/>
          </a:xfrm>
          <a:prstGeom prst="rect">
            <a:avLst/>
          </a:prstGeom>
          <a:noFill/>
          <a:ln/>
        </p:spPr>
        <p:txBody>
          <a:bodyPr wrap="square" lIns="0" tIns="0" rIns="0" bIns="0" rtlCol="0" anchor="t"/>
          <a:lstStyle/>
          <a:p>
            <a:pPr algn="l" indent="0" marL="0">
              <a:lnSpc>
                <a:spcPct val="90000"/>
              </a:lnSpc>
              <a:buNone/>
            </a:pPr>
            <a:r>
              <a:rPr lang="en-US" sz="700" dirty="0">
                <a:solidFill>
                  <a:srgbClr val="64748B"/>
                </a:solidFill>
                <a:latin typeface="Noto Sans KR" pitchFamily="34" charset="0"/>
                <a:ea typeface="Noto Sans KR" pitchFamily="34" charset="-122"/>
                <a:cs typeface="Noto Sans KR" pitchFamily="34" charset="-120"/>
              </a:rPr>
              <a:t>※ 녹취록(2026.10.17, 약 5분 12초) 기준. 답변은 녹음된 말을 그대로 옮겼고, 긴 답변은 일부를 (…)로 줄였다. 질문은 실제로 물어본 순서대로 적었다.</a:t>
            </a:r>
            <a:endParaRPr lang="en-US" sz="700" dirty="0"/>
          </a:p>
          <a:p>
            <a:pPr algn="l" indent="0" marL="0">
              <a:lnSpc>
                <a:spcPct val="90000"/>
              </a:lnSpc>
              <a:buNone/>
            </a:pPr>
            <a:r>
              <a:rPr lang="en-US" sz="700" dirty="0">
                <a:solidFill>
                  <a:srgbClr val="64748B"/>
                </a:solidFill>
                <a:latin typeface="Noto Sans KR" pitchFamily="34" charset="0"/>
                <a:ea typeface="Noto Sans KR" pitchFamily="34" charset="-122"/>
                <a:cs typeface="Noto Sans KR" pitchFamily="34" charset="-120"/>
              </a:rPr>
              <a:t>※ 인터뷰 전에 '수업 발표용으로만 활용하고 폐기한다'고 안내하고 녹음 동의를 받았다.</a:t>
            </a:r>
            <a:endParaRPr lang="en-US" sz="700" dirty="0"/>
          </a:p>
        </p:txBody>
      </p:sp>
      <p:graphicFrame>
        <p:nvGraphicFramePr>
          <p:cNvPr id="8" name="인터뷰 개요"/>
          <p:cNvGraphicFramePr>
            <a:graphicFrameLocks noGrp="1"/>
          </p:cNvGraphicFramePr>
          <p:nvPr>
            <p:extLst>
              <p:ext uri="{D42A27DB-BD31-4B8C-83A1-F6EECF244321}">
                <p14:modId xmlns:p14="http://schemas.microsoft.com/office/powerpoint/2010/main" val="1579011935"/>
              </p:ext>
            </p:extLst>
          </p:nvPr>
        </p:nvGraphicFramePr>
        <p:xfrm>
          <a:off x="612648" y="1481328"/>
          <a:ext cx="10963656" cy="914400"/>
        </p:xfrm>
        <a:graphic>
          <a:graphicData uri="http://schemas.openxmlformats.org/drawingml/2006/table">
            <a:tbl>
              <a:tblPr/>
              <a:tblGrid>
                <a:gridCol w="1051560"/>
                <a:gridCol w="4343400"/>
                <a:gridCol w="1051560"/>
                <a:gridCol w="4517136"/>
              </a:tblGrid>
              <a:tr h="242984">
                <a:tc>
                  <a:txBody>
                    <a:bodyPr/>
                    <a:lstStyle/>
                    <a:p>
                      <a:pPr algn="l" indent="0" marL="0">
                        <a:buNone/>
                      </a:pPr>
                      <a:r>
                        <a:rPr lang="en-US" sz="850" b="1" dirty="0">
                          <a:solidFill>
                            <a:srgbClr val="182F48"/>
                          </a:solidFill>
                          <a:latin typeface="Noto Sans KR" pitchFamily="34" charset="0"/>
                          <a:ea typeface="Noto Sans KR" pitchFamily="34" charset="-122"/>
                          <a:cs typeface="Noto Sans KR" pitchFamily="34" charset="-120"/>
                        </a:rPr>
                        <a:t>인터뷰 대상</a:t>
                      </a:r>
                      <a:endParaRPr lang="en-US" sz="850" dirty="0">
                        <a:latin typeface="Noto Sans KR" charset="0"/>
                        <a:ea typeface="Noto Sans KR" charset="0"/>
                        <a:cs typeface="Noto Sans KR" charset="0"/>
                      </a:endParaRPr>
                    </a:p>
                  </a:txBody>
                  <a:tcPr marL="76200" marR="762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algn="l" indent="0" marL="0">
                        <a:buNone/>
                      </a:pPr>
                      <a:r>
                        <a:rPr lang="en-US" sz="850" b="1" dirty="0">
                          <a:solidFill>
                            <a:srgbClr val="182F48"/>
                          </a:solidFill>
                          <a:latin typeface="Noto Sans KR" pitchFamily="34" charset="0"/>
                          <a:ea typeface="Noto Sans KR" pitchFamily="34" charset="-122"/>
                          <a:cs typeface="Noto Sans KR" pitchFamily="34" charset="-120"/>
                        </a:rPr>
                        <a:t>손호영 님 · 아웃도어 브랜드 유통·판매 담당</a:t>
                      </a:r>
                      <a:endParaRPr lang="en-US" sz="850" dirty="0">
                        <a:latin typeface="Noto Sans KR" charset="0"/>
                        <a:ea typeface="Noto Sans KR" charset="0"/>
                        <a:cs typeface="Noto Sans KR" charset="0"/>
                      </a:endParaRPr>
                    </a:p>
                  </a:txBody>
                  <a:tcPr marL="76200" marR="762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850" b="1" dirty="0">
                          <a:solidFill>
                            <a:srgbClr val="182F48"/>
                          </a:solidFill>
                          <a:latin typeface="Noto Sans KR" pitchFamily="34" charset="0"/>
                          <a:ea typeface="Noto Sans KR" pitchFamily="34" charset="-122"/>
                          <a:cs typeface="Noto Sans KR" pitchFamily="34" charset="-120"/>
                        </a:rPr>
                        <a:t>운영 매장</a:t>
                      </a:r>
                      <a:endParaRPr lang="en-US" sz="850" dirty="0">
                        <a:latin typeface="Noto Sans KR" charset="0"/>
                        <a:ea typeface="Noto Sans KR" charset="0"/>
                        <a:cs typeface="Noto Sans KR" charset="0"/>
                      </a:endParaRPr>
                    </a:p>
                  </a:txBody>
                  <a:tcPr marL="76200" marR="762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algn="l" indent="0" marL="0">
                        <a:buNone/>
                      </a:pPr>
                      <a:r>
                        <a:rPr lang="en-US" sz="850" dirty="0">
                          <a:solidFill>
                            <a:srgbClr val="334155"/>
                          </a:solidFill>
                          <a:latin typeface="Noto Sans KR" pitchFamily="34" charset="0"/>
                          <a:ea typeface="Noto Sans KR" pitchFamily="34" charset="-122"/>
                          <a:cs typeface="Noto Sans KR" pitchFamily="34" charset="-120"/>
                        </a:rPr>
                        <a:t>마이기어 · 제로그램 · 아울렛 · 마무트 종로점</a:t>
                      </a:r>
                      <a:endParaRPr lang="en-US" sz="850" dirty="0">
                        <a:latin typeface="Noto Sans KR" charset="0"/>
                        <a:ea typeface="Noto Sans KR" charset="0"/>
                        <a:cs typeface="Noto Sans KR" charset="0"/>
                      </a:endParaRPr>
                    </a:p>
                  </a:txBody>
                  <a:tcPr marL="76200" marR="762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242984">
                <a:tc>
                  <a:txBody>
                    <a:bodyPr/>
                    <a:lstStyle/>
                    <a:p>
                      <a:pPr algn="l" indent="0" marL="0">
                        <a:buNone/>
                      </a:pPr>
                      <a:r>
                        <a:rPr lang="en-US" sz="850" b="1" dirty="0">
                          <a:solidFill>
                            <a:srgbClr val="182F48"/>
                          </a:solidFill>
                          <a:latin typeface="Noto Sans KR" pitchFamily="34" charset="0"/>
                          <a:ea typeface="Noto Sans KR" pitchFamily="34" charset="-122"/>
                          <a:cs typeface="Noto Sans KR" pitchFamily="34" charset="-120"/>
                        </a:rPr>
                        <a:t>일시</a:t>
                      </a:r>
                      <a:endParaRPr lang="en-US" sz="850" dirty="0">
                        <a:latin typeface="Noto Sans KR" charset="0"/>
                        <a:ea typeface="Noto Sans KR" charset="0"/>
                        <a:cs typeface="Noto Sans KR" charset="0"/>
                      </a:endParaRPr>
                    </a:p>
                  </a:txBody>
                  <a:tcPr marL="76200" marR="762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algn="l" indent="0" marL="0">
                        <a:buNone/>
                      </a:pPr>
                      <a:r>
                        <a:rPr lang="en-US" sz="850" dirty="0">
                          <a:solidFill>
                            <a:srgbClr val="334155"/>
                          </a:solidFill>
                          <a:latin typeface="Noto Sans KR" pitchFamily="34" charset="0"/>
                          <a:ea typeface="Noto Sans KR" pitchFamily="34" charset="-122"/>
                          <a:cs typeface="Noto Sans KR" pitchFamily="34" charset="-120"/>
                        </a:rPr>
                        <a:t>2026년 10월 17일(토)</a:t>
                      </a:r>
                      <a:endParaRPr lang="en-US" sz="850" dirty="0">
                        <a:latin typeface="Noto Sans KR" charset="0"/>
                        <a:ea typeface="Noto Sans KR" charset="0"/>
                        <a:cs typeface="Noto Sans KR" charset="0"/>
                      </a:endParaRPr>
                    </a:p>
                  </a:txBody>
                  <a:tcPr marL="76200" marR="762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850" b="1" dirty="0">
                          <a:solidFill>
                            <a:srgbClr val="182F48"/>
                          </a:solidFill>
                          <a:latin typeface="Noto Sans KR" pitchFamily="34" charset="0"/>
                          <a:ea typeface="Noto Sans KR" pitchFamily="34" charset="-122"/>
                          <a:cs typeface="Noto Sans KR" pitchFamily="34" charset="-120"/>
                        </a:rPr>
                        <a:t>방식 · 길이</a:t>
                      </a:r>
                      <a:endParaRPr lang="en-US" sz="850" dirty="0">
                        <a:latin typeface="Noto Sans KR" charset="0"/>
                        <a:ea typeface="Noto Sans KR" charset="0"/>
                        <a:cs typeface="Noto Sans KR" charset="0"/>
                      </a:endParaRPr>
                    </a:p>
                  </a:txBody>
                  <a:tcPr marL="76200" marR="762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algn="l" indent="0" marL="0">
                        <a:buNone/>
                      </a:pPr>
                      <a:r>
                        <a:rPr lang="en-US" sz="850" dirty="0">
                          <a:solidFill>
                            <a:srgbClr val="334155"/>
                          </a:solidFill>
                          <a:latin typeface="Noto Sans KR" pitchFamily="34" charset="0"/>
                          <a:ea typeface="Noto Sans KR" pitchFamily="34" charset="-122"/>
                          <a:cs typeface="Noto Sans KR" pitchFamily="34" charset="-120"/>
                        </a:rPr>
                        <a:t>대면 인터뷰 · 녹음 동의 · 약 5분 12초</a:t>
                      </a:r>
                      <a:endParaRPr lang="en-US" sz="850" dirty="0">
                        <a:latin typeface="Noto Sans KR" charset="0"/>
                        <a:ea typeface="Noto Sans KR" charset="0"/>
                        <a:cs typeface="Noto Sans KR" charset="0"/>
                      </a:endParaRPr>
                    </a:p>
                  </a:txBody>
                  <a:tcPr marL="76200" marR="762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bl>
          </a:graphicData>
        </a:graphic>
      </p:graphicFrame>
      <p:sp>
        <p:nvSpPr>
          <p:cNvPr id="8" name="진행 순서"/>
          <p:cNvSpPr txBox="1"/>
          <p:nvPr/>
        </p:nvSpPr>
        <p:spPr>
          <a:xfrm>
            <a:off x="612648" y="2048256"/>
            <a:ext cx="10963656" cy="219456"/>
          </a:xfrm>
          <a:prstGeom prst="rect">
            <a:avLst/>
          </a:prstGeom>
          <a:noFill/>
          <a:ln/>
        </p:spPr>
        <p:txBody>
          <a:bodyPr wrap="square" lIns="0" tIns="0" rIns="0" bIns="0" rtlCol="0" anchor="ctr"/>
          <a:lstStyle/>
          <a:p>
            <a:pPr algn="l" indent="0" marL="0">
              <a:lnSpc>
                <a:spcPct val="100000"/>
              </a:lnSpc>
              <a:buNone/>
            </a:pPr>
            <a:r>
              <a:rPr lang="en-US" sz="850" b="1" dirty="0">
                <a:solidFill>
                  <a:srgbClr val="267D86"/>
                </a:solidFill>
                <a:latin typeface="Noto Sans KR" pitchFamily="34" charset="0"/>
                <a:ea typeface="Noto Sans KR" pitchFamily="34" charset="-122"/>
                <a:cs typeface="Noto Sans KR" pitchFamily="34" charset="-120"/>
              </a:rPr>
              <a:t>진행 순서  </a:t>
            </a:r>
            <a:pPr algn="l" indent="0" marL="0">
              <a:lnSpc>
                <a:spcPct val="100000"/>
              </a:lnSpc>
              <a:buNone/>
            </a:pPr>
            <a:r>
              <a:rPr lang="en-US" sz="850" dirty="0">
                <a:solidFill>
                  <a:srgbClr val="334155"/>
                </a:solidFill>
                <a:latin typeface="Noto Sans KR" pitchFamily="34" charset="0"/>
                <a:ea typeface="Noto Sans KR" pitchFamily="34" charset="-122"/>
                <a:cs typeface="Noto Sans KR" pitchFamily="34" charset="-120"/>
              </a:rPr>
              <a:t>학과·수업 과제 소개 → 인터뷰와 녹음 요청 (답변자: "가능합니다.") → 질문 8개 → 감사 인사 (답변자: "네, 감사드립니다.")</a:t>
            </a:r>
            <a:endParaRPr lang="en-US" sz="850" dirty="0"/>
          </a:p>
        </p:txBody>
      </p:sp>
      <p:graphicFrame>
        <p:nvGraphicFramePr>
          <p:cNvPr id="15" name="질문 답변표 1"/>
          <p:cNvGraphicFramePr>
            <a:graphicFrameLocks noGrp="1"/>
          </p:cNvGraphicFramePr>
          <p:nvPr>
            <p:extLst>
              <p:ext uri="{D42A27DB-BD31-4B8C-83A1-F6EECF244321}">
                <p14:modId xmlns:p14="http://schemas.microsoft.com/office/powerpoint/2010/main" val="1579011935"/>
              </p:ext>
            </p:extLst>
          </p:nvPr>
        </p:nvGraphicFramePr>
        <p:xfrm>
          <a:off x="612648" y="2359152"/>
          <a:ext cx="10963656" cy="914400"/>
        </p:xfrm>
        <a:graphic>
          <a:graphicData uri="http://schemas.openxmlformats.org/drawingml/2006/table">
            <a:tbl>
              <a:tblPr/>
              <a:tblGrid>
                <a:gridCol w="457200"/>
                <a:gridCol w="2834640"/>
                <a:gridCol w="7671816"/>
              </a:tblGrid>
              <a:tr h="242984">
                <a:tc>
                  <a:txBody>
                    <a:bodyPr/>
                    <a:lstStyle/>
                    <a:p>
                      <a:pPr algn="l" indent="0" marL="0">
                        <a:buNone/>
                      </a:pPr>
                      <a:endParaRPr lang="en-US" sz="850" dirty="0">
                        <a:latin typeface="Noto Sans KR" charset="0"/>
                        <a:ea typeface="Noto Sans KR" charset="0"/>
                        <a:cs typeface="Noto Sans KR" charset="0"/>
                      </a:endParaRPr>
                    </a:p>
                  </a:txBody>
                  <a:tcPr marL="76200" marR="762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82F48"/>
                    </a:solidFill>
                  </a:tcPr>
                </a:tc>
                <a:tc>
                  <a:txBody>
                    <a:bodyPr/>
                    <a:lstStyle/>
                    <a:p>
                      <a:pPr algn="l" indent="0" marL="0">
                        <a:buNone/>
                      </a:pPr>
                      <a:r>
                        <a:rPr lang="en-US" sz="850" b="1" dirty="0">
                          <a:solidFill>
                            <a:srgbClr val="FFFFFF"/>
                          </a:solidFill>
                          <a:latin typeface="Noto Sans KR" pitchFamily="34" charset="0"/>
                          <a:ea typeface="Noto Sans KR" pitchFamily="34" charset="-122"/>
                          <a:cs typeface="Noto Sans KR" pitchFamily="34" charset="-120"/>
                        </a:rPr>
                        <a:t>질문</a:t>
                      </a:r>
                      <a:endParaRPr lang="en-US" sz="850" dirty="0">
                        <a:latin typeface="Noto Sans KR" charset="0"/>
                        <a:ea typeface="Noto Sans KR" charset="0"/>
                        <a:cs typeface="Noto Sans KR" charset="0"/>
                      </a:endParaRPr>
                    </a:p>
                  </a:txBody>
                  <a:tcPr marL="76200" marR="762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82F48"/>
                    </a:solidFill>
                  </a:tcPr>
                </a:tc>
                <a:tc>
                  <a:txBody>
                    <a:bodyPr/>
                    <a:lstStyle/>
                    <a:p>
                      <a:pPr algn="l" indent="0" marL="0">
                        <a:buNone/>
                      </a:pPr>
                      <a:r>
                        <a:rPr lang="en-US" sz="850" b="1" dirty="0">
                          <a:solidFill>
                            <a:srgbClr val="FFFFFF"/>
                          </a:solidFill>
                          <a:latin typeface="Noto Sans KR" pitchFamily="34" charset="0"/>
                          <a:ea typeface="Noto Sans KR" pitchFamily="34" charset="-122"/>
                          <a:cs typeface="Noto Sans KR" pitchFamily="34" charset="-120"/>
                        </a:rPr>
                        <a:t>답변 (녹취 발췌)</a:t>
                      </a:r>
                      <a:endParaRPr lang="en-US" sz="850" dirty="0">
                        <a:latin typeface="Noto Sans KR" charset="0"/>
                        <a:ea typeface="Noto Sans KR" charset="0"/>
                        <a:cs typeface="Noto Sans KR" charset="0"/>
                      </a:endParaRPr>
                    </a:p>
                  </a:txBody>
                  <a:tcPr marL="76200" marR="762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82F48"/>
                    </a:solidFill>
                  </a:tcPr>
                </a:tc>
              </a:tr>
              <a:tr h="539976">
                <a:tc>
                  <a:txBody>
                    <a:bodyPr/>
                    <a:lstStyle/>
                    <a:p>
                      <a:pPr algn="ctr" indent="0" marL="0">
                        <a:buNone/>
                      </a:pPr>
                      <a:r>
                        <a:rPr lang="en-US" sz="850" b="1" dirty="0">
                          <a:solidFill>
                            <a:srgbClr val="267D86"/>
                          </a:solidFill>
                          <a:latin typeface="Noto Sans KR" pitchFamily="34" charset="0"/>
                          <a:ea typeface="Noto Sans KR" pitchFamily="34" charset="-122"/>
                          <a:cs typeface="Noto Sans KR" pitchFamily="34" charset="-120"/>
                        </a:rPr>
                        <a:t>Q1</a:t>
                      </a:r>
                      <a:endParaRPr lang="en-US" sz="850" dirty="0">
                        <a:latin typeface="Noto Sans KR" charset="0"/>
                        <a:ea typeface="Noto Sans KR" charset="0"/>
                        <a:cs typeface="Noto Sans KR" charset="0"/>
                      </a:endParaRPr>
                    </a:p>
                  </a:txBody>
                  <a:tcPr marL="76200" marR="762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850" b="1" dirty="0">
                          <a:solidFill>
                            <a:srgbClr val="182F48"/>
                          </a:solidFill>
                          <a:latin typeface="Noto Sans KR" pitchFamily="34" charset="0"/>
                          <a:ea typeface="Noto Sans KR" pitchFamily="34" charset="-122"/>
                          <a:cs typeface="Noto Sans KR" pitchFamily="34" charset="-120"/>
                        </a:rPr>
                        <a:t>지금 주로 어떤 고객들에게</a:t>
                      </a:r>
                      <a:endParaRPr lang="en-US" sz="850" dirty="0">
                        <a:latin typeface="Noto Sans KR" charset="0"/>
                        <a:ea typeface="Noto Sans KR" charset="0"/>
                        <a:cs typeface="Noto Sans KR" charset="0"/>
                      </a:endParaRPr>
                    </a:p>
                    <a:p>
                      <a:pPr algn="l" indent="0" marL="0">
                        <a:buNone/>
                      </a:pPr>
                      <a:r>
                        <a:rPr lang="en-US" sz="850" b="1" dirty="0">
                          <a:solidFill>
                            <a:srgbClr val="182F48"/>
                          </a:solidFill>
                          <a:latin typeface="Noto Sans KR" pitchFamily="34" charset="0"/>
                          <a:ea typeface="Noto Sans KR" pitchFamily="34" charset="-122"/>
                          <a:cs typeface="Noto Sans KR" pitchFamily="34" charset="-120"/>
                        </a:rPr>
                        <a:t>판매하고 있나요?</a:t>
                      </a:r>
                      <a:endParaRPr lang="en-US" sz="850" dirty="0">
                        <a:latin typeface="Noto Sans KR" charset="0"/>
                        <a:ea typeface="Noto Sans KR" charset="0"/>
                        <a:cs typeface="Noto Sans KR" charset="0"/>
                      </a:endParaRPr>
                    </a:p>
                  </a:txBody>
                  <a:tcPr marL="76200" marR="762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850" dirty="0">
                          <a:solidFill>
                            <a:srgbClr val="334155"/>
                          </a:solidFill>
                          <a:latin typeface="Noto Sans KR" pitchFamily="34" charset="0"/>
                          <a:ea typeface="Noto Sans KR" pitchFamily="34" charset="-122"/>
                          <a:cs typeface="Noto Sans KR" pitchFamily="34" charset="-120"/>
                        </a:rPr>
                        <a:t>안녕하세요, 저는 마이 기어를 맡고 있는 손호영이라고 합니다.</a:t>
                      </a:r>
                      <a:endParaRPr lang="en-US" sz="850" dirty="0">
                        <a:latin typeface="Noto Sans KR" charset="0"/>
                        <a:ea typeface="Noto Sans KR" charset="0"/>
                        <a:cs typeface="Noto Sans KR" charset="0"/>
                      </a:endParaRPr>
                    </a:p>
                    <a:p>
                      <a:pPr algn="l" indent="0" marL="0">
                        <a:buNone/>
                      </a:pPr>
                      <a:r>
                        <a:rPr lang="en-US" sz="850" dirty="0">
                          <a:solidFill>
                            <a:srgbClr val="334155"/>
                          </a:solidFill>
                          <a:latin typeface="Noto Sans KR" pitchFamily="34" charset="0"/>
                          <a:ea typeface="Noto Sans KR" pitchFamily="34" charset="-122"/>
                          <a:cs typeface="Noto Sans KR" pitchFamily="34" charset="-120"/>
                        </a:rPr>
                        <a:t>저는 제로 그램, 아울렛, 마무트 종로점, 그리고 마이 기어를 운영하고 있고,</a:t>
                      </a:r>
                      <a:endParaRPr lang="en-US" sz="850" dirty="0">
                        <a:latin typeface="Noto Sans KR" charset="0"/>
                        <a:ea typeface="Noto Sans KR" charset="0"/>
                        <a:cs typeface="Noto Sans KR" charset="0"/>
                      </a:endParaRPr>
                    </a:p>
                    <a:p>
                      <a:pPr algn="l" indent="0" marL="0">
                        <a:buNone/>
                      </a:pPr>
                      <a:r>
                        <a:rPr lang="en-US" sz="850" dirty="0">
                          <a:solidFill>
                            <a:srgbClr val="334155"/>
                          </a:solidFill>
                          <a:latin typeface="Noto Sans KR" pitchFamily="34" charset="0"/>
                          <a:ea typeface="Noto Sans KR" pitchFamily="34" charset="-122"/>
                          <a:cs typeface="Noto Sans KR" pitchFamily="34" charset="-120"/>
                        </a:rPr>
                        <a:t>제가 판매하는 층은 일반 소비자 고객과, 그리고 기업(B2B)을 대상으로 판매를 하고 있습니다.</a:t>
                      </a:r>
                      <a:endParaRPr lang="en-US" sz="850" dirty="0">
                        <a:latin typeface="Noto Sans KR" charset="0"/>
                        <a:ea typeface="Noto Sans KR" charset="0"/>
                        <a:cs typeface="Noto Sans KR" charset="0"/>
                      </a:endParaRPr>
                    </a:p>
                  </a:txBody>
                  <a:tcPr marL="76200" marR="762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391480">
                <a:tc>
                  <a:txBody>
                    <a:bodyPr/>
                    <a:lstStyle/>
                    <a:p>
                      <a:pPr algn="ctr" indent="0" marL="0">
                        <a:buNone/>
                      </a:pPr>
                      <a:r>
                        <a:rPr lang="en-US" sz="850" b="1" dirty="0">
                          <a:solidFill>
                            <a:srgbClr val="267D86"/>
                          </a:solidFill>
                          <a:latin typeface="Noto Sans KR" pitchFamily="34" charset="0"/>
                          <a:ea typeface="Noto Sans KR" pitchFamily="34" charset="-122"/>
                          <a:cs typeface="Noto Sans KR" pitchFamily="34" charset="-120"/>
                        </a:rPr>
                        <a:t>Q2</a:t>
                      </a:r>
                      <a:endParaRPr lang="en-US" sz="850" dirty="0">
                        <a:latin typeface="Noto Sans KR" charset="0"/>
                        <a:ea typeface="Noto Sans KR" charset="0"/>
                        <a:cs typeface="Noto Sans KR" charset="0"/>
                      </a:endParaRPr>
                    </a:p>
                  </a:txBody>
                  <a:tcPr marL="76200" marR="762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850" b="1" dirty="0">
                          <a:solidFill>
                            <a:srgbClr val="182F48"/>
                          </a:solidFill>
                          <a:latin typeface="Noto Sans KR" pitchFamily="34" charset="0"/>
                          <a:ea typeface="Noto Sans KR" pitchFamily="34" charset="-122"/>
                          <a:cs typeface="Noto Sans KR" pitchFamily="34" charset="-120"/>
                        </a:rPr>
                        <a:t>일반인에게 판매하거나</a:t>
                      </a:r>
                      <a:endParaRPr lang="en-US" sz="850" dirty="0">
                        <a:latin typeface="Noto Sans KR" charset="0"/>
                        <a:ea typeface="Noto Sans KR" charset="0"/>
                        <a:cs typeface="Noto Sans KR" charset="0"/>
                      </a:endParaRPr>
                    </a:p>
                    <a:p>
                      <a:pPr algn="l" indent="0" marL="0">
                        <a:buNone/>
                      </a:pPr>
                      <a:r>
                        <a:rPr lang="en-US" sz="850" b="1" dirty="0">
                          <a:solidFill>
                            <a:srgbClr val="182F48"/>
                          </a:solidFill>
                          <a:latin typeface="Noto Sans KR" pitchFamily="34" charset="0"/>
                          <a:ea typeface="Noto Sans KR" pitchFamily="34" charset="-122"/>
                          <a:cs typeface="Noto Sans KR" pitchFamily="34" charset="-120"/>
                        </a:rPr>
                        <a:t>판매를 검토해 보신 적이 있나요?</a:t>
                      </a:r>
                      <a:endParaRPr lang="en-US" sz="850" dirty="0">
                        <a:latin typeface="Noto Sans KR" charset="0"/>
                        <a:ea typeface="Noto Sans KR" charset="0"/>
                        <a:cs typeface="Noto Sans KR" charset="0"/>
                      </a:endParaRPr>
                    </a:p>
                  </a:txBody>
                  <a:tcPr marL="76200" marR="762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850" dirty="0">
                          <a:solidFill>
                            <a:srgbClr val="334155"/>
                          </a:solidFill>
                          <a:latin typeface="Noto Sans KR" pitchFamily="34" charset="0"/>
                          <a:ea typeface="Noto Sans KR" pitchFamily="34" charset="-122"/>
                          <a:cs typeface="Noto Sans KR" pitchFamily="34" charset="-120"/>
                        </a:rPr>
                        <a:t>네, 저희는 현재 일반인(B2C) 판매 매출이 한 30% 정도로 운영하고 있기 때문에</a:t>
                      </a:r>
                      <a:endParaRPr lang="en-US" sz="850" dirty="0">
                        <a:latin typeface="Noto Sans KR" charset="0"/>
                        <a:ea typeface="Noto Sans KR" charset="0"/>
                        <a:cs typeface="Noto Sans KR" charset="0"/>
                      </a:endParaRPr>
                    </a:p>
                    <a:p>
                      <a:pPr algn="l" indent="0" marL="0">
                        <a:buNone/>
                      </a:pPr>
                      <a:r>
                        <a:rPr lang="en-US" sz="850" dirty="0">
                          <a:solidFill>
                            <a:srgbClr val="334155"/>
                          </a:solidFill>
                          <a:latin typeface="Noto Sans KR" pitchFamily="34" charset="0"/>
                          <a:ea typeface="Noto Sans KR" pitchFamily="34" charset="-122"/>
                          <a:cs typeface="Noto Sans KR" pitchFamily="34" charset="-120"/>
                        </a:rPr>
                        <a:t>일반인 판매를 매우 소중하게 생각하는 기업입니다.</a:t>
                      </a:r>
                      <a:endParaRPr lang="en-US" sz="850" dirty="0">
                        <a:latin typeface="Noto Sans KR" charset="0"/>
                        <a:ea typeface="Noto Sans KR" charset="0"/>
                        <a:cs typeface="Noto Sans KR" charset="0"/>
                      </a:endParaRPr>
                    </a:p>
                  </a:txBody>
                  <a:tcPr marL="76200" marR="762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391480">
                <a:tc>
                  <a:txBody>
                    <a:bodyPr/>
                    <a:lstStyle/>
                    <a:p>
                      <a:pPr algn="ctr" indent="0" marL="0">
                        <a:buNone/>
                      </a:pPr>
                      <a:r>
                        <a:rPr lang="en-US" sz="850" b="1" dirty="0">
                          <a:solidFill>
                            <a:srgbClr val="267D86"/>
                          </a:solidFill>
                          <a:latin typeface="Noto Sans KR" pitchFamily="34" charset="0"/>
                          <a:ea typeface="Noto Sans KR" pitchFamily="34" charset="-122"/>
                          <a:cs typeface="Noto Sans KR" pitchFamily="34" charset="-120"/>
                        </a:rPr>
                        <a:t>Q3</a:t>
                      </a:r>
                      <a:endParaRPr lang="en-US" sz="850" dirty="0">
                        <a:latin typeface="Noto Sans KR" charset="0"/>
                        <a:ea typeface="Noto Sans KR" charset="0"/>
                        <a:cs typeface="Noto Sans KR" charset="0"/>
                      </a:endParaRPr>
                    </a:p>
                  </a:txBody>
                  <a:tcPr marL="76200" marR="762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850" b="1" dirty="0">
                          <a:solidFill>
                            <a:srgbClr val="182F48"/>
                          </a:solidFill>
                          <a:latin typeface="Noto Sans KR" pitchFamily="34" charset="0"/>
                          <a:ea typeface="Noto Sans KR" pitchFamily="34" charset="-122"/>
                          <a:cs typeface="Noto Sans KR" pitchFamily="34" charset="-120"/>
                        </a:rPr>
                        <a:t>행사에 참여하신다면,</a:t>
                      </a:r>
                      <a:endParaRPr lang="en-US" sz="850" dirty="0">
                        <a:latin typeface="Noto Sans KR" charset="0"/>
                        <a:ea typeface="Noto Sans KR" charset="0"/>
                        <a:cs typeface="Noto Sans KR" charset="0"/>
                      </a:endParaRPr>
                    </a:p>
                    <a:p>
                      <a:pPr algn="l" indent="0" marL="0">
                        <a:buNone/>
                      </a:pPr>
                      <a:r>
                        <a:rPr lang="en-US" sz="850" b="1" dirty="0">
                          <a:solidFill>
                            <a:srgbClr val="182F48"/>
                          </a:solidFill>
                          <a:latin typeface="Noto Sans KR" pitchFamily="34" charset="0"/>
                          <a:ea typeface="Noto Sans KR" pitchFamily="34" charset="-122"/>
                          <a:cs typeface="Noto Sans KR" pitchFamily="34" charset="-120"/>
                        </a:rPr>
                        <a:t>참여를 결정하게 만드는 조건은 무엇인가요?</a:t>
                      </a:r>
                      <a:endParaRPr lang="en-US" sz="850" dirty="0">
                        <a:latin typeface="Noto Sans KR" charset="0"/>
                        <a:ea typeface="Noto Sans KR" charset="0"/>
                        <a:cs typeface="Noto Sans KR" charset="0"/>
                      </a:endParaRPr>
                    </a:p>
                  </a:txBody>
                  <a:tcPr marL="76200" marR="762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850" dirty="0">
                          <a:solidFill>
                            <a:srgbClr val="334155"/>
                          </a:solidFill>
                          <a:latin typeface="Noto Sans KR" pitchFamily="34" charset="0"/>
                          <a:ea typeface="Noto Sans KR" pitchFamily="34" charset="-122"/>
                          <a:cs typeface="Noto Sans KR" pitchFamily="34" charset="-120"/>
                        </a:rPr>
                        <a:t>우선 저희가 타깃층으로 삼는, 예를 들어 트레킹, 백패킹, 아웃도어 상품에 대한 인지도가 있는 고객님이 얼마나 되시는지,</a:t>
                      </a:r>
                      <a:endParaRPr lang="en-US" sz="850" dirty="0">
                        <a:latin typeface="Noto Sans KR" charset="0"/>
                        <a:ea typeface="Noto Sans KR" charset="0"/>
                        <a:cs typeface="Noto Sans KR" charset="0"/>
                      </a:endParaRPr>
                    </a:p>
                    <a:p>
                      <a:pPr algn="l" indent="0" marL="0">
                        <a:buNone/>
                      </a:pPr>
                      <a:r>
                        <a:rPr lang="en-US" sz="850" dirty="0">
                          <a:solidFill>
                            <a:srgbClr val="334155"/>
                          </a:solidFill>
                          <a:latin typeface="Noto Sans KR" pitchFamily="34" charset="0"/>
                          <a:ea typeface="Noto Sans KR" pitchFamily="34" charset="-122"/>
                          <a:cs typeface="Noto Sans KR" pitchFamily="34" charset="-120"/>
                        </a:rPr>
                        <a:t>그리고 거기에 관심도가 어느 정도 있는지에 따라서 결정을 하게 되겠죠.</a:t>
                      </a:r>
                      <a:endParaRPr lang="en-US" sz="850" dirty="0">
                        <a:latin typeface="Noto Sans KR" charset="0"/>
                        <a:ea typeface="Noto Sans KR" charset="0"/>
                        <a:cs typeface="Noto Sans KR" charset="0"/>
                      </a:endParaRPr>
                    </a:p>
                  </a:txBody>
                  <a:tcPr marL="76200" marR="762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391480">
                <a:tc>
                  <a:txBody>
                    <a:bodyPr/>
                    <a:lstStyle/>
                    <a:p>
                      <a:pPr algn="ctr" indent="0" marL="0">
                        <a:buNone/>
                      </a:pPr>
                      <a:r>
                        <a:rPr lang="en-US" sz="850" b="1" dirty="0">
                          <a:solidFill>
                            <a:srgbClr val="267D86"/>
                          </a:solidFill>
                          <a:latin typeface="Noto Sans KR" pitchFamily="34" charset="0"/>
                          <a:ea typeface="Noto Sans KR" pitchFamily="34" charset="-122"/>
                          <a:cs typeface="Noto Sans KR" pitchFamily="34" charset="-120"/>
                        </a:rPr>
                        <a:t>Q4</a:t>
                      </a:r>
                      <a:endParaRPr lang="en-US" sz="850" dirty="0">
                        <a:latin typeface="Noto Sans KR" charset="0"/>
                        <a:ea typeface="Noto Sans KR" charset="0"/>
                        <a:cs typeface="Noto Sans KR" charset="0"/>
                      </a:endParaRPr>
                    </a:p>
                  </a:txBody>
                  <a:tcPr marL="76200" marR="762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850" b="1" dirty="0">
                          <a:solidFill>
                            <a:srgbClr val="182F48"/>
                          </a:solidFill>
                          <a:latin typeface="Noto Sans KR" pitchFamily="34" charset="0"/>
                          <a:ea typeface="Noto Sans KR" pitchFamily="34" charset="-122"/>
                          <a:cs typeface="Noto Sans KR" pitchFamily="34" charset="-120"/>
                        </a:rPr>
                        <a:t>부스 참가비는 어느 정도까지</a:t>
                      </a:r>
                      <a:endParaRPr lang="en-US" sz="850" dirty="0">
                        <a:latin typeface="Noto Sans KR" charset="0"/>
                        <a:ea typeface="Noto Sans KR" charset="0"/>
                        <a:cs typeface="Noto Sans KR" charset="0"/>
                      </a:endParaRPr>
                    </a:p>
                    <a:p>
                      <a:pPr algn="l" indent="0" marL="0">
                        <a:buNone/>
                      </a:pPr>
                      <a:r>
                        <a:rPr lang="en-US" sz="850" b="1" dirty="0">
                          <a:solidFill>
                            <a:srgbClr val="182F48"/>
                          </a:solidFill>
                          <a:latin typeface="Noto Sans KR" pitchFamily="34" charset="0"/>
                          <a:ea typeface="Noto Sans KR" pitchFamily="34" charset="-122"/>
                          <a:cs typeface="Noto Sans KR" pitchFamily="34" charset="-120"/>
                        </a:rPr>
                        <a:t>감당하실 수 있으세요?</a:t>
                      </a:r>
                      <a:endParaRPr lang="en-US" sz="850" dirty="0">
                        <a:latin typeface="Noto Sans KR" charset="0"/>
                        <a:ea typeface="Noto Sans KR" charset="0"/>
                        <a:cs typeface="Noto Sans KR" charset="0"/>
                      </a:endParaRPr>
                    </a:p>
                  </a:txBody>
                  <a:tcPr marL="76200" marR="762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850" dirty="0">
                          <a:solidFill>
                            <a:srgbClr val="334155"/>
                          </a:solidFill>
                          <a:latin typeface="Noto Sans KR" pitchFamily="34" charset="0"/>
                          <a:ea typeface="Noto Sans KR" pitchFamily="34" charset="-122"/>
                          <a:cs typeface="Noto Sans KR" pitchFamily="34" charset="-120"/>
                        </a:rPr>
                        <a:t>일반적으로 저희는 국내 부스는 참여한 지 10년이 넘었고, 해외 부스는 거의 2년에 한 번씩 유럽이나 미국에서 참가를 하고 있습니다.</a:t>
                      </a:r>
                      <a:endParaRPr lang="en-US" sz="850" dirty="0">
                        <a:latin typeface="Noto Sans KR" charset="0"/>
                        <a:ea typeface="Noto Sans KR" charset="0"/>
                        <a:cs typeface="Noto Sans KR" charset="0"/>
                      </a:endParaRPr>
                    </a:p>
                    <a:p>
                      <a:pPr algn="l" indent="0" marL="0">
                        <a:buNone/>
                      </a:pPr>
                      <a:r>
                        <a:rPr lang="en-US" sz="850" dirty="0">
                          <a:solidFill>
                            <a:srgbClr val="334155"/>
                          </a:solidFill>
                          <a:latin typeface="Noto Sans KR" pitchFamily="34" charset="0"/>
                          <a:ea typeface="Noto Sans KR" pitchFamily="34" charset="-122"/>
                          <a:cs typeface="Noto Sans KR" pitchFamily="34" charset="-120"/>
                        </a:rPr>
                        <a:t>부스비는 2만 불에서 5만 불 사이로 항상 책정되어 있습니다.</a:t>
                      </a:r>
                      <a:endParaRPr lang="en-US" sz="850" dirty="0">
                        <a:latin typeface="Noto Sans KR" charset="0"/>
                        <a:ea typeface="Noto Sans KR" charset="0"/>
                        <a:cs typeface="Noto Sans KR" charset="0"/>
                      </a:endParaRPr>
                    </a:p>
                  </a:txBody>
                  <a:tcPr marL="76200" marR="762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539976">
                <a:tc>
                  <a:txBody>
                    <a:bodyPr/>
                    <a:lstStyle/>
                    <a:p>
                      <a:pPr algn="ctr" indent="0" marL="0">
                        <a:buNone/>
                      </a:pPr>
                      <a:r>
                        <a:rPr lang="en-US" sz="850" b="1" dirty="0">
                          <a:solidFill>
                            <a:srgbClr val="267D86"/>
                          </a:solidFill>
                          <a:latin typeface="Noto Sans KR" pitchFamily="34" charset="0"/>
                          <a:ea typeface="Noto Sans KR" pitchFamily="34" charset="-122"/>
                          <a:cs typeface="Noto Sans KR" pitchFamily="34" charset="-120"/>
                        </a:rPr>
                        <a:t>Q5</a:t>
                      </a:r>
                      <a:endParaRPr lang="en-US" sz="850" dirty="0">
                        <a:latin typeface="Noto Sans KR" charset="0"/>
                        <a:ea typeface="Noto Sans KR" charset="0"/>
                        <a:cs typeface="Noto Sans KR" charset="0"/>
                      </a:endParaRPr>
                    </a:p>
                  </a:txBody>
                  <a:tcPr marL="76200" marR="762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850" b="1" dirty="0">
                          <a:solidFill>
                            <a:srgbClr val="182F48"/>
                          </a:solidFill>
                          <a:latin typeface="Noto Sans KR" pitchFamily="34" charset="0"/>
                          <a:ea typeface="Noto Sans KR" pitchFamily="34" charset="-122"/>
                          <a:cs typeface="Noto Sans KR" pitchFamily="34" charset="-120"/>
                        </a:rPr>
                        <a:t>현장 시연에 필요한 것은</a:t>
                      </a:r>
                      <a:endParaRPr lang="en-US" sz="850" dirty="0">
                        <a:latin typeface="Noto Sans KR" charset="0"/>
                        <a:ea typeface="Noto Sans KR" charset="0"/>
                        <a:cs typeface="Noto Sans KR" charset="0"/>
                      </a:endParaRPr>
                    </a:p>
                    <a:p>
                      <a:pPr algn="l" indent="0" marL="0">
                        <a:buNone/>
                      </a:pPr>
                      <a:r>
                        <a:rPr lang="en-US" sz="850" b="1" dirty="0">
                          <a:solidFill>
                            <a:srgbClr val="182F48"/>
                          </a:solidFill>
                          <a:latin typeface="Noto Sans KR" pitchFamily="34" charset="0"/>
                          <a:ea typeface="Noto Sans KR" pitchFamily="34" charset="-122"/>
                          <a:cs typeface="Noto Sans KR" pitchFamily="34" charset="-120"/>
                        </a:rPr>
                        <a:t>무엇인가요?</a:t>
                      </a:r>
                      <a:endParaRPr lang="en-US" sz="850" dirty="0">
                        <a:latin typeface="Noto Sans KR" charset="0"/>
                        <a:ea typeface="Noto Sans KR" charset="0"/>
                        <a:cs typeface="Noto Sans KR" charset="0"/>
                      </a:endParaRPr>
                    </a:p>
                  </a:txBody>
                  <a:tcPr marL="76200" marR="762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850" dirty="0">
                          <a:solidFill>
                            <a:srgbClr val="334155"/>
                          </a:solidFill>
                          <a:latin typeface="Noto Sans KR" pitchFamily="34" charset="0"/>
                          <a:ea typeface="Noto Sans KR" pitchFamily="34" charset="-122"/>
                          <a:cs typeface="Noto Sans KR" pitchFamily="34" charset="-120"/>
                        </a:rPr>
                        <a:t>실제 저희가 수입하는 물건, 예를 들어서 에어매트나 의류 같은 경우에는 샤워부스처럼 고어텍스(방수 성능)를 자랑할 수 있는 곳이나,</a:t>
                      </a:r>
                      <a:endParaRPr lang="en-US" sz="850" dirty="0">
                        <a:latin typeface="Noto Sans KR" charset="0"/>
                        <a:ea typeface="Noto Sans KR" charset="0"/>
                        <a:cs typeface="Noto Sans KR" charset="0"/>
                      </a:endParaRPr>
                    </a:p>
                    <a:p>
                      <a:pPr algn="l" indent="0" marL="0">
                        <a:buNone/>
                      </a:pPr>
                      <a:r>
                        <a:rPr lang="en-US" sz="850" dirty="0">
                          <a:solidFill>
                            <a:srgbClr val="334155"/>
                          </a:solidFill>
                          <a:latin typeface="Noto Sans KR" pitchFamily="34" charset="0"/>
                          <a:ea typeface="Noto Sans KR" pitchFamily="34" charset="-122"/>
                          <a:cs typeface="Noto Sans KR" pitchFamily="34" charset="-120"/>
                        </a:rPr>
                        <a:t>아니면 실제로 얼음 바닥같이 냉기가 올라오는 곳에서 보여줄 수 있는 매트가 저희 주력이기 때문에,</a:t>
                      </a:r>
                      <a:endParaRPr lang="en-US" sz="850" dirty="0">
                        <a:latin typeface="Noto Sans KR" charset="0"/>
                        <a:ea typeface="Noto Sans KR" charset="0"/>
                        <a:cs typeface="Noto Sans KR" charset="0"/>
                      </a:endParaRPr>
                    </a:p>
                    <a:p>
                      <a:pPr algn="l" indent="0" marL="0">
                        <a:buNone/>
                      </a:pPr>
                      <a:r>
                        <a:rPr lang="en-US" sz="850" dirty="0">
                          <a:solidFill>
                            <a:srgbClr val="334155"/>
                          </a:solidFill>
                          <a:latin typeface="Noto Sans KR" pitchFamily="34" charset="0"/>
                          <a:ea typeface="Noto Sans KR" pitchFamily="34" charset="-122"/>
                          <a:cs typeface="Noto Sans KR" pitchFamily="34" charset="-120"/>
                        </a:rPr>
                        <a:t>샤워부스나 얼음 매트 이런 것들이 꽤 필요하다고 생각합니다.</a:t>
                      </a:r>
                      <a:endParaRPr lang="en-US" sz="850" dirty="0">
                        <a:latin typeface="Noto Sans KR" charset="0"/>
                        <a:ea typeface="Noto Sans KR" charset="0"/>
                        <a:cs typeface="Noto Sans KR" charset="0"/>
                      </a:endParaRPr>
                    </a:p>
                  </a:txBody>
                  <a:tcPr marL="76200" marR="762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539976">
                <a:tc>
                  <a:txBody>
                    <a:bodyPr/>
                    <a:lstStyle/>
                    <a:p>
                      <a:pPr algn="ctr" indent="0" marL="0">
                        <a:buNone/>
                      </a:pPr>
                      <a:r>
                        <a:rPr lang="en-US" sz="850" b="1" dirty="0">
                          <a:solidFill>
                            <a:srgbClr val="267D86"/>
                          </a:solidFill>
                          <a:latin typeface="Noto Sans KR" pitchFamily="34" charset="0"/>
                          <a:ea typeface="Noto Sans KR" pitchFamily="34" charset="-122"/>
                          <a:cs typeface="Noto Sans KR" pitchFamily="34" charset="-120"/>
                        </a:rPr>
                        <a:t>Q6</a:t>
                      </a:r>
                      <a:endParaRPr lang="en-US" sz="850" dirty="0">
                        <a:latin typeface="Noto Sans KR" charset="0"/>
                        <a:ea typeface="Noto Sans KR" charset="0"/>
                        <a:cs typeface="Noto Sans KR" charset="0"/>
                      </a:endParaRPr>
                    </a:p>
                  </a:txBody>
                  <a:tcPr marL="76200" marR="762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850" b="1" dirty="0">
                          <a:solidFill>
                            <a:srgbClr val="182F48"/>
                          </a:solidFill>
                          <a:latin typeface="Noto Sans KR" pitchFamily="34" charset="0"/>
                          <a:ea typeface="Noto Sans KR" pitchFamily="34" charset="-122"/>
                          <a:cs typeface="Noto Sans KR" pitchFamily="34" charset="-120"/>
                        </a:rPr>
                        <a:t>참여하기 어려운 이유가 있다면</a:t>
                      </a:r>
                      <a:endParaRPr lang="en-US" sz="850" dirty="0">
                        <a:latin typeface="Noto Sans KR" charset="0"/>
                        <a:ea typeface="Noto Sans KR" charset="0"/>
                        <a:cs typeface="Noto Sans KR" charset="0"/>
                      </a:endParaRPr>
                    </a:p>
                    <a:p>
                      <a:pPr algn="l" indent="0" marL="0">
                        <a:buNone/>
                      </a:pPr>
                      <a:r>
                        <a:rPr lang="en-US" sz="850" b="1" dirty="0">
                          <a:solidFill>
                            <a:srgbClr val="182F48"/>
                          </a:solidFill>
                          <a:latin typeface="Noto Sans KR" pitchFamily="34" charset="0"/>
                          <a:ea typeface="Noto Sans KR" pitchFamily="34" charset="-122"/>
                          <a:cs typeface="Noto Sans KR" pitchFamily="34" charset="-120"/>
                        </a:rPr>
                        <a:t>무엇일까요?</a:t>
                      </a:r>
                      <a:endParaRPr lang="en-US" sz="850" dirty="0">
                        <a:latin typeface="Noto Sans KR" charset="0"/>
                        <a:ea typeface="Noto Sans KR" charset="0"/>
                        <a:cs typeface="Noto Sans KR" charset="0"/>
                      </a:endParaRPr>
                    </a:p>
                  </a:txBody>
                  <a:tcPr marL="76200" marR="762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850" dirty="0">
                          <a:solidFill>
                            <a:srgbClr val="334155"/>
                          </a:solidFill>
                          <a:latin typeface="Noto Sans KR" pitchFamily="34" charset="0"/>
                          <a:ea typeface="Noto Sans KR" pitchFamily="34" charset="-122"/>
                          <a:cs typeface="Noto Sans KR" pitchFamily="34" charset="-120"/>
                        </a:rPr>
                        <a:t>사실 인플루언서 분들이나 모델분들, 이런 분들 하고 시간을 정확히 맞춰야 되는데,</a:t>
                      </a:r>
                      <a:endParaRPr lang="en-US" sz="850" dirty="0">
                        <a:latin typeface="Noto Sans KR" charset="0"/>
                        <a:ea typeface="Noto Sans KR" charset="0"/>
                        <a:cs typeface="Noto Sans KR" charset="0"/>
                      </a:endParaRPr>
                    </a:p>
                    <a:p>
                      <a:pPr algn="l" indent="0" marL="0">
                        <a:buNone/>
                      </a:pPr>
                      <a:r>
                        <a:rPr lang="en-US" sz="850" dirty="0">
                          <a:solidFill>
                            <a:srgbClr val="334155"/>
                          </a:solidFill>
                          <a:latin typeface="Noto Sans KR" pitchFamily="34" charset="0"/>
                          <a:ea typeface="Noto Sans KR" pitchFamily="34" charset="-122"/>
                          <a:cs typeface="Noto Sans KR" pitchFamily="34" charset="-120"/>
                        </a:rPr>
                        <a:t>공간 크기, 그리고 비용 대비 효과가 없을 때는 참여를 하고 있지 않습니다.</a:t>
                      </a:r>
                      <a:endParaRPr lang="en-US" sz="850" dirty="0">
                        <a:latin typeface="Noto Sans KR" charset="0"/>
                        <a:ea typeface="Noto Sans KR" charset="0"/>
                        <a:cs typeface="Noto Sans KR" charset="0"/>
                      </a:endParaRPr>
                    </a:p>
                    <a:p>
                      <a:pPr algn="l" indent="0" marL="0">
                        <a:buNone/>
                      </a:pPr>
                      <a:r>
                        <a:rPr lang="en-US" sz="850" dirty="0">
                          <a:solidFill>
                            <a:srgbClr val="334155"/>
                          </a:solidFill>
                          <a:latin typeface="Noto Sans KR" pitchFamily="34" charset="0"/>
                          <a:ea typeface="Noto Sans KR" pitchFamily="34" charset="-122"/>
                          <a:cs typeface="Noto Sans KR" pitchFamily="34" charset="-120"/>
                        </a:rPr>
                        <a:t>예를 들어서 코엑스 아웃도어 행사나 일산 킨텍스 행사 같은 경우에는 고객의 니즈가 다르기 때문에 저희는 참여를 안 하고 있습니다.</a:t>
                      </a:r>
                      <a:endParaRPr lang="en-US" sz="850" dirty="0">
                        <a:latin typeface="Noto Sans KR" charset="0"/>
                        <a:ea typeface="Noto Sans KR" charset="0"/>
                        <a:cs typeface="Noto Sans KR" charset="0"/>
                      </a:endParaRPr>
                    </a:p>
                  </a:txBody>
                  <a:tcPr marL="76200" marR="762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391480">
                <a:tc>
                  <a:txBody>
                    <a:bodyPr/>
                    <a:lstStyle/>
                    <a:p>
                      <a:pPr algn="ctr" indent="0" marL="0">
                        <a:buNone/>
                      </a:pPr>
                      <a:r>
                        <a:rPr lang="en-US" sz="850" b="1" dirty="0">
                          <a:solidFill>
                            <a:srgbClr val="267D86"/>
                          </a:solidFill>
                          <a:latin typeface="Noto Sans KR" pitchFamily="34" charset="0"/>
                          <a:ea typeface="Noto Sans KR" pitchFamily="34" charset="-122"/>
                          <a:cs typeface="Noto Sans KR" pitchFamily="34" charset="-120"/>
                        </a:rPr>
                        <a:t>Q7</a:t>
                      </a:r>
                      <a:endParaRPr lang="en-US" sz="850" dirty="0">
                        <a:latin typeface="Noto Sans KR" charset="0"/>
                        <a:ea typeface="Noto Sans KR" charset="0"/>
                        <a:cs typeface="Noto Sans KR" charset="0"/>
                      </a:endParaRPr>
                    </a:p>
                  </a:txBody>
                  <a:tcPr marL="76200" marR="762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850" b="1" dirty="0">
                          <a:solidFill>
                            <a:srgbClr val="182F48"/>
                          </a:solidFill>
                          <a:latin typeface="Noto Sans KR" pitchFamily="34" charset="0"/>
                          <a:ea typeface="Noto Sans KR" pitchFamily="34" charset="-122"/>
                          <a:cs typeface="Noto Sans KR" pitchFamily="34" charset="-120"/>
                        </a:rPr>
                        <a:t>행사에서 무엇을 얻어 가면</a:t>
                      </a:r>
                      <a:endParaRPr lang="en-US" sz="850" dirty="0">
                        <a:latin typeface="Noto Sans KR" charset="0"/>
                        <a:ea typeface="Noto Sans KR" charset="0"/>
                        <a:cs typeface="Noto Sans KR" charset="0"/>
                      </a:endParaRPr>
                    </a:p>
                    <a:p>
                      <a:pPr algn="l" indent="0" marL="0">
                        <a:buNone/>
                      </a:pPr>
                      <a:r>
                        <a:rPr lang="en-US" sz="850" b="1" dirty="0">
                          <a:solidFill>
                            <a:srgbClr val="182F48"/>
                          </a:solidFill>
                          <a:latin typeface="Noto Sans KR" pitchFamily="34" charset="0"/>
                          <a:ea typeface="Noto Sans KR" pitchFamily="34" charset="-122"/>
                          <a:cs typeface="Noto Sans KR" pitchFamily="34" charset="-120"/>
                        </a:rPr>
                        <a:t>'참여하길 잘했다'고 느끼십니까?</a:t>
                      </a:r>
                      <a:endParaRPr lang="en-US" sz="850" dirty="0">
                        <a:latin typeface="Noto Sans KR" charset="0"/>
                        <a:ea typeface="Noto Sans KR" charset="0"/>
                        <a:cs typeface="Noto Sans KR" charset="0"/>
                      </a:endParaRPr>
                    </a:p>
                  </a:txBody>
                  <a:tcPr marL="76200" marR="762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850" dirty="0">
                          <a:solidFill>
                            <a:srgbClr val="334155"/>
                          </a:solidFill>
                          <a:latin typeface="Noto Sans KR" pitchFamily="34" charset="0"/>
                          <a:ea typeface="Noto Sans KR" pitchFamily="34" charset="-122"/>
                          <a:cs typeface="Noto Sans KR" pitchFamily="34" charset="-120"/>
                        </a:rPr>
                        <a:t>고객의 반응이겠죠.</a:t>
                      </a:r>
                      <a:endParaRPr lang="en-US" sz="850" dirty="0">
                        <a:latin typeface="Noto Sans KR" charset="0"/>
                        <a:ea typeface="Noto Sans KR" charset="0"/>
                        <a:cs typeface="Noto Sans KR" charset="0"/>
                      </a:endParaRPr>
                    </a:p>
                  </a:txBody>
                  <a:tcPr marL="76200" marR="762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과제 표기"/>
          <p:cNvSpPr txBox="1"/>
          <p:nvPr/>
        </p:nvSpPr>
        <p:spPr>
          <a:xfrm>
            <a:off x="612648" y="274320"/>
            <a:ext cx="5486400" cy="237744"/>
          </a:xfrm>
          <a:prstGeom prst="rect">
            <a:avLst/>
          </a:prstGeom>
          <a:noFill/>
          <a:ln/>
        </p:spPr>
        <p:txBody>
          <a:bodyPr wrap="square" lIns="0" tIns="0" rIns="0" bIns="0" rtlCol="0" anchor="t"/>
          <a:lstStyle/>
          <a:p>
            <a:pPr algn="l" indent="0" marL="0">
              <a:lnSpc>
                <a:spcPct val="92000"/>
              </a:lnSpc>
              <a:buNone/>
            </a:pPr>
            <a:r>
              <a:rPr lang="en-US" sz="1100" dirty="0">
                <a:solidFill>
                  <a:srgbClr val="64748B"/>
                </a:solidFill>
                <a:latin typeface="Noto Sans KR" pitchFamily="34" charset="0"/>
                <a:ea typeface="Noto Sans KR" pitchFamily="34" charset="-122"/>
                <a:cs typeface="Noto Sans KR" pitchFamily="34" charset="-120"/>
              </a:rPr>
              <a:t>전시산업론 중간고사 개인 과제   별첨 1-2</a:t>
            </a:r>
            <a:endParaRPr lang="en-US" sz="1100" dirty="0"/>
          </a:p>
        </p:txBody>
      </p:sp>
      <p:sp>
        <p:nvSpPr>
          <p:cNvPr id="3" name="Text 1"/>
          <p:cNvSpPr/>
          <p:nvPr>
            <p:ph idx="101" type="title" hasCustomPrompt="1"/>
          </p:nvPr>
        </p:nvSpPr>
        <p:spPr>
          <a:xfrm>
            <a:off x="612648" y="548640"/>
            <a:ext cx="10963656" cy="512064"/>
          </a:xfrm>
          <a:prstGeom prst="rect">
            <a:avLst/>
          </a:prstGeom>
          <a:noFill/>
          <a:ln/>
        </p:spPr>
        <p:txBody>
          <a:bodyPr wrap="square" lIns="0" tIns="0" rIns="0" bIns="0" rtlCol="0" anchor="ctr"/>
          <a:lstStyle/>
          <a:p>
            <a:pPr algn="l" indent="0" marL="0">
              <a:buNone/>
            </a:pPr>
            <a:r>
              <a:rPr lang="en-US" sz="3000" b="1" dirty="0">
                <a:solidFill>
                  <a:srgbClr val="182F48"/>
                </a:solidFill>
                <a:latin typeface="Noto Sans KR" pitchFamily="34" charset="0"/>
                <a:ea typeface="Noto Sans KR" pitchFamily="34" charset="-122"/>
                <a:cs typeface="Noto Sans KR" pitchFamily="34" charset="-120"/>
              </a:rPr>
              <a:t>별첨 1 · 인터뷰 기록 (참가업체 측)</a:t>
            </a:r>
            <a:endParaRPr lang="en-US" sz="3000" dirty="0"/>
          </a:p>
        </p:txBody>
      </p:sp>
      <p:sp>
        <p:nvSpPr>
          <p:cNvPr id="4" name="Text 1"/>
          <p:cNvSpPr/>
          <p:nvPr>
            <p:ph idx="102" type="body" hasCustomPrompt="1"/>
          </p:nvPr>
        </p:nvSpPr>
        <p:spPr>
          <a:xfrm>
            <a:off x="612648" y="1060704"/>
            <a:ext cx="10963656" cy="310896"/>
          </a:xfrm>
          <a:prstGeom prst="rect">
            <a:avLst/>
          </a:prstGeom>
          <a:noFill/>
          <a:ln/>
        </p:spPr>
        <p:txBody>
          <a:bodyPr wrap="square" lIns="0" tIns="0" rIns="0" bIns="0" rtlCol="0" anchor="ctr"/>
          <a:lstStyle/>
          <a:p>
            <a:pPr algn="l" indent="0" marL="0">
              <a:buNone/>
            </a:pPr>
            <a:r>
              <a:rPr lang="en-US" sz="1500" dirty="0">
                <a:solidFill>
                  <a:srgbClr val="267D86"/>
                </a:solidFill>
                <a:latin typeface="Noto Sans KR" pitchFamily="34" charset="0"/>
                <a:ea typeface="Noto Sans KR" pitchFamily="34" charset="-122"/>
                <a:cs typeface="Noto Sans KR" pitchFamily="34" charset="-120"/>
              </a:rPr>
              <a:t>질문과 답변(이어서) · 사전 가정 · 기획 수정 · 추가 확인 사항</a:t>
            </a:r>
            <a:endParaRPr lang="en-US" sz="1500" dirty="0"/>
          </a:p>
        </p:txBody>
      </p:sp>
      <p:sp>
        <p:nvSpPr>
          <p:cNvPr id="5" name="출처"/>
          <p:cNvSpPr txBox="1"/>
          <p:nvPr/>
        </p:nvSpPr>
        <p:spPr>
          <a:xfrm>
            <a:off x="612648" y="6355080"/>
            <a:ext cx="10963656" cy="457200"/>
          </a:xfrm>
          <a:prstGeom prst="rect">
            <a:avLst/>
          </a:prstGeom>
          <a:noFill/>
          <a:ln/>
        </p:spPr>
        <p:txBody>
          <a:bodyPr wrap="square" lIns="0" tIns="0" rIns="0" bIns="0" rtlCol="0" anchor="t"/>
          <a:lstStyle/>
          <a:p>
            <a:pPr algn="l" indent="0" marL="0">
              <a:lnSpc>
                <a:spcPct val="90000"/>
              </a:lnSpc>
              <a:buNone/>
            </a:pPr>
            <a:r>
              <a:rPr lang="en-US" sz="700" dirty="0">
                <a:solidFill>
                  <a:srgbClr val="64748B"/>
                </a:solidFill>
                <a:latin typeface="Noto Sans KR" pitchFamily="34" charset="0"/>
                <a:ea typeface="Noto Sans KR" pitchFamily="34" charset="-122"/>
                <a:cs typeface="Noto Sans KR" pitchFamily="34" charset="-120"/>
              </a:rPr>
              <a:t>※ 녹취록(2026.10.17, 약 5분 12초) 기준. 답변은 녹음된 말을 그대로 옮겼고, 긴 답변은 일부를 (…)로 줄였다. 질문은 실제로 물어본 순서대로 적었다.</a:t>
            </a:r>
            <a:endParaRPr lang="en-US" sz="700" dirty="0"/>
          </a:p>
          <a:p>
            <a:pPr algn="l" indent="0" marL="0">
              <a:lnSpc>
                <a:spcPct val="90000"/>
              </a:lnSpc>
              <a:buNone/>
            </a:pPr>
            <a:r>
              <a:rPr lang="en-US" sz="700" dirty="0">
                <a:solidFill>
                  <a:srgbClr val="64748B"/>
                </a:solidFill>
                <a:latin typeface="Noto Sans KR" pitchFamily="34" charset="0"/>
                <a:ea typeface="Noto Sans KR" pitchFamily="34" charset="-122"/>
                <a:cs typeface="Noto Sans KR" pitchFamily="34" charset="-120"/>
              </a:rPr>
              <a:t>※ 인터뷰 전에 '수업 발표용으로만 활용하고 폐기한다'고 안내하고 녹음 동의를 받았다.</a:t>
            </a:r>
            <a:endParaRPr lang="en-US" sz="700" dirty="0"/>
          </a:p>
        </p:txBody>
      </p:sp>
      <p:graphicFrame>
        <p:nvGraphicFramePr>
          <p:cNvPr id="9" name="질문 답변표 2"/>
          <p:cNvGraphicFramePr>
            <a:graphicFrameLocks noGrp="1"/>
          </p:cNvGraphicFramePr>
          <p:nvPr>
            <p:extLst>
              <p:ext uri="{D42A27DB-BD31-4B8C-83A1-F6EECF244321}">
                <p14:modId xmlns:p14="http://schemas.microsoft.com/office/powerpoint/2010/main" val="1579011935"/>
              </p:ext>
            </p:extLst>
          </p:nvPr>
        </p:nvGraphicFramePr>
        <p:xfrm>
          <a:off x="612648" y="1481328"/>
          <a:ext cx="10963656" cy="914400"/>
        </p:xfrm>
        <a:graphic>
          <a:graphicData uri="http://schemas.openxmlformats.org/drawingml/2006/table">
            <a:tbl>
              <a:tblPr/>
              <a:tblGrid>
                <a:gridCol w="457200"/>
                <a:gridCol w="2834640"/>
                <a:gridCol w="7671816"/>
              </a:tblGrid>
              <a:tr h="242984">
                <a:tc>
                  <a:txBody>
                    <a:bodyPr/>
                    <a:lstStyle/>
                    <a:p>
                      <a:pPr algn="l" indent="0" marL="0">
                        <a:buNone/>
                      </a:pPr>
                      <a:endParaRPr lang="en-US" sz="850" dirty="0">
                        <a:latin typeface="Noto Sans KR" charset="0"/>
                        <a:ea typeface="Noto Sans KR" charset="0"/>
                        <a:cs typeface="Noto Sans KR" charset="0"/>
                      </a:endParaRPr>
                    </a:p>
                  </a:txBody>
                  <a:tcPr marL="76200" marR="762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82F48"/>
                    </a:solidFill>
                  </a:tcPr>
                </a:tc>
                <a:tc>
                  <a:txBody>
                    <a:bodyPr/>
                    <a:lstStyle/>
                    <a:p>
                      <a:pPr algn="l" indent="0" marL="0">
                        <a:buNone/>
                      </a:pPr>
                      <a:r>
                        <a:rPr lang="en-US" sz="850" b="1" dirty="0">
                          <a:solidFill>
                            <a:srgbClr val="FFFFFF"/>
                          </a:solidFill>
                          <a:latin typeface="Noto Sans KR" pitchFamily="34" charset="0"/>
                          <a:ea typeface="Noto Sans KR" pitchFamily="34" charset="-122"/>
                          <a:cs typeface="Noto Sans KR" pitchFamily="34" charset="-120"/>
                        </a:rPr>
                        <a:t>질문</a:t>
                      </a:r>
                      <a:endParaRPr lang="en-US" sz="850" dirty="0">
                        <a:latin typeface="Noto Sans KR" charset="0"/>
                        <a:ea typeface="Noto Sans KR" charset="0"/>
                        <a:cs typeface="Noto Sans KR" charset="0"/>
                      </a:endParaRPr>
                    </a:p>
                  </a:txBody>
                  <a:tcPr marL="76200" marR="762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82F48"/>
                    </a:solidFill>
                  </a:tcPr>
                </a:tc>
                <a:tc>
                  <a:txBody>
                    <a:bodyPr/>
                    <a:lstStyle/>
                    <a:p>
                      <a:pPr algn="l" indent="0" marL="0">
                        <a:buNone/>
                      </a:pPr>
                      <a:r>
                        <a:rPr lang="en-US" sz="850" b="1" dirty="0">
                          <a:solidFill>
                            <a:srgbClr val="FFFFFF"/>
                          </a:solidFill>
                          <a:latin typeface="Noto Sans KR" pitchFamily="34" charset="0"/>
                          <a:ea typeface="Noto Sans KR" pitchFamily="34" charset="-122"/>
                          <a:cs typeface="Noto Sans KR" pitchFamily="34" charset="-120"/>
                        </a:rPr>
                        <a:t>답변 (녹취 발췌)</a:t>
                      </a:r>
                      <a:endParaRPr lang="en-US" sz="850" dirty="0">
                        <a:latin typeface="Noto Sans KR" charset="0"/>
                        <a:ea typeface="Noto Sans KR" charset="0"/>
                        <a:cs typeface="Noto Sans KR" charset="0"/>
                      </a:endParaRPr>
                    </a:p>
                  </a:txBody>
                  <a:tcPr marL="76200" marR="762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82F48"/>
                    </a:solidFill>
                  </a:tcPr>
                </a:tc>
              </a:tr>
              <a:tr h="1430952">
                <a:tc>
                  <a:txBody>
                    <a:bodyPr/>
                    <a:lstStyle/>
                    <a:p>
                      <a:pPr algn="ctr" indent="0" marL="0">
                        <a:buNone/>
                      </a:pPr>
                      <a:r>
                        <a:rPr lang="en-US" sz="850" b="1" dirty="0">
                          <a:solidFill>
                            <a:srgbClr val="267D86"/>
                          </a:solidFill>
                          <a:latin typeface="Noto Sans KR" pitchFamily="34" charset="0"/>
                          <a:ea typeface="Noto Sans KR" pitchFamily="34" charset="-122"/>
                          <a:cs typeface="Noto Sans KR" pitchFamily="34" charset="-120"/>
                        </a:rPr>
                        <a:t>Q8</a:t>
                      </a:r>
                      <a:endParaRPr lang="en-US" sz="850" dirty="0">
                        <a:latin typeface="Noto Sans KR" charset="0"/>
                        <a:ea typeface="Noto Sans KR" charset="0"/>
                        <a:cs typeface="Noto Sans KR" charset="0"/>
                      </a:endParaRPr>
                    </a:p>
                  </a:txBody>
                  <a:tcPr marL="76200" marR="762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850" b="1" dirty="0">
                          <a:solidFill>
                            <a:srgbClr val="182F48"/>
                          </a:solidFill>
                          <a:latin typeface="Noto Sans KR" pitchFamily="34" charset="0"/>
                          <a:ea typeface="Noto Sans KR" pitchFamily="34" charset="-122"/>
                          <a:cs typeface="Noto Sans KR" pitchFamily="34" charset="-120"/>
                        </a:rPr>
                        <a:t>따로 하실 말씀 있으세요?</a:t>
                      </a:r>
                      <a:endParaRPr lang="en-US" sz="850" dirty="0">
                        <a:latin typeface="Noto Sans KR" charset="0"/>
                        <a:ea typeface="Noto Sans KR" charset="0"/>
                        <a:cs typeface="Noto Sans KR" charset="0"/>
                      </a:endParaRPr>
                    </a:p>
                    <a:p>
                      <a:pPr algn="l" indent="0" marL="0">
                        <a:buNone/>
                      </a:pPr>
                      <a:r>
                        <a:rPr lang="en-US" sz="850" b="1" dirty="0">
                          <a:solidFill>
                            <a:srgbClr val="182F48"/>
                          </a:solidFill>
                          <a:latin typeface="Noto Sans KR" pitchFamily="34" charset="0"/>
                          <a:ea typeface="Noto Sans KR" pitchFamily="34" charset="-122"/>
                          <a:cs typeface="Noto Sans KR" pitchFamily="34" charset="-120"/>
                        </a:rPr>
                        <a:t>(행사 참여 시 기대 효과)</a:t>
                      </a:r>
                      <a:endParaRPr lang="en-US" sz="850" dirty="0">
                        <a:latin typeface="Noto Sans KR" charset="0"/>
                        <a:ea typeface="Noto Sans KR" charset="0"/>
                        <a:cs typeface="Noto Sans KR" charset="0"/>
                      </a:endParaRPr>
                    </a:p>
                  </a:txBody>
                  <a:tcPr marL="76200" marR="762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850" dirty="0">
                          <a:solidFill>
                            <a:srgbClr val="334155"/>
                          </a:solidFill>
                          <a:latin typeface="Noto Sans KR" pitchFamily="34" charset="0"/>
                          <a:ea typeface="Noto Sans KR" pitchFamily="34" charset="-122"/>
                          <a:cs typeface="Noto Sans KR" pitchFamily="34" charset="-120"/>
                        </a:rPr>
                        <a:t>만약에 행사에 참여하게 되면 기대할 수 있는 건</a:t>
                      </a:r>
                      <a:endParaRPr lang="en-US" sz="850" dirty="0">
                        <a:latin typeface="Noto Sans KR" charset="0"/>
                        <a:ea typeface="Noto Sans KR" charset="0"/>
                        <a:cs typeface="Noto Sans KR" charset="0"/>
                      </a:endParaRPr>
                    </a:p>
                    <a:p>
                      <a:pPr algn="l" indent="0" marL="0">
                        <a:buNone/>
                      </a:pPr>
                      <a:r>
                        <a:rPr lang="en-US" sz="850" dirty="0">
                          <a:solidFill>
                            <a:srgbClr val="334155"/>
                          </a:solidFill>
                          <a:latin typeface="Noto Sans KR" pitchFamily="34" charset="0"/>
                          <a:ea typeface="Noto Sans KR" pitchFamily="34" charset="-122"/>
                          <a:cs typeface="Noto Sans KR" pitchFamily="34" charset="-120"/>
                        </a:rPr>
                        <a:t>바이어, 제휴처 만남, 브랜드 홍보, 현장 판매, 체험 고객 확보, 사용자 반응 데이터 수집, 요 정도일 것 같습니다.</a:t>
                      </a:r>
                      <a:endParaRPr lang="en-US" sz="850" dirty="0">
                        <a:latin typeface="Noto Sans KR" charset="0"/>
                        <a:ea typeface="Noto Sans KR" charset="0"/>
                        <a:cs typeface="Noto Sans KR" charset="0"/>
                      </a:endParaRPr>
                    </a:p>
                    <a:p>
                      <a:pPr algn="l" indent="0" marL="0">
                        <a:buNone/>
                      </a:pPr>
                      <a:r>
                        <a:rPr lang="en-US" sz="850" dirty="0">
                          <a:solidFill>
                            <a:srgbClr val="334155"/>
                          </a:solidFill>
                          <a:latin typeface="Noto Sans KR" pitchFamily="34" charset="0"/>
                          <a:ea typeface="Noto Sans KR" pitchFamily="34" charset="-122"/>
                          <a:cs typeface="Noto Sans KR" pitchFamily="34" charset="-120"/>
                        </a:rPr>
                        <a:t>사실 투자를 받는다는 것은 되게 위험한 것이기 때문에 투자 유치는 저희에겐 필요 없고.</a:t>
                      </a:r>
                      <a:endParaRPr lang="en-US" sz="850" dirty="0">
                        <a:latin typeface="Noto Sans KR" charset="0"/>
                        <a:ea typeface="Noto Sans KR" charset="0"/>
                        <a:cs typeface="Noto Sans KR" charset="0"/>
                      </a:endParaRPr>
                    </a:p>
                    <a:p>
                      <a:pPr algn="l" indent="0" marL="0">
                        <a:buNone/>
                      </a:pPr>
                      <a:r>
                        <a:rPr lang="en-US" sz="850" dirty="0">
                          <a:solidFill>
                            <a:srgbClr val="334155"/>
                          </a:solidFill>
                          <a:latin typeface="Noto Sans KR" pitchFamily="34" charset="0"/>
                          <a:ea typeface="Noto Sans KR" pitchFamily="34" charset="-122"/>
                          <a:cs typeface="Noto Sans KR" pitchFamily="34" charset="-120"/>
                        </a:rPr>
                        <a:t>(…) 마무트라는 브랜드 자체가 우리나라의 많은 분들이 알고 계시는 아크테릭스보다 훨씬 고가의 의류 브랜드이기 때문에,</a:t>
                      </a:r>
                      <a:endParaRPr lang="en-US" sz="850" dirty="0">
                        <a:latin typeface="Noto Sans KR" charset="0"/>
                        <a:ea typeface="Noto Sans KR" charset="0"/>
                        <a:cs typeface="Noto Sans KR" charset="0"/>
                      </a:endParaRPr>
                    </a:p>
                    <a:p>
                      <a:pPr algn="l" indent="0" marL="0">
                        <a:buNone/>
                      </a:pPr>
                      <a:r>
                        <a:rPr lang="en-US" sz="850" dirty="0">
                          <a:solidFill>
                            <a:srgbClr val="334155"/>
                          </a:solidFill>
                          <a:latin typeface="Noto Sans KR" pitchFamily="34" charset="0"/>
                          <a:ea typeface="Noto Sans KR" pitchFamily="34" charset="-122"/>
                          <a:cs typeface="Noto Sans KR" pitchFamily="34" charset="-120"/>
                        </a:rPr>
                        <a:t>바이어나 제휴처를 만난다는 것보다는 브랜드 홍보를 하고 이 장비에 대한 좋은 점을 설명하는 것,</a:t>
                      </a:r>
                      <a:endParaRPr lang="en-US" sz="850" dirty="0">
                        <a:latin typeface="Noto Sans KR" charset="0"/>
                        <a:ea typeface="Noto Sans KR" charset="0"/>
                        <a:cs typeface="Noto Sans KR" charset="0"/>
                      </a:endParaRPr>
                    </a:p>
                    <a:p>
                      <a:pPr algn="l" indent="0" marL="0">
                        <a:buNone/>
                      </a:pPr>
                      <a:r>
                        <a:rPr lang="en-US" sz="850" dirty="0">
                          <a:solidFill>
                            <a:srgbClr val="334155"/>
                          </a:solidFill>
                          <a:latin typeface="Noto Sans KR" pitchFamily="34" charset="0"/>
                          <a:ea typeface="Noto Sans KR" pitchFamily="34" charset="-122"/>
                          <a:cs typeface="Noto Sans KR" pitchFamily="34" charset="-120"/>
                        </a:rPr>
                        <a:t>그걸 관심 깊게 들어주는 고객들이 필요하지, 현장에서 판매를 하거나 이런 거는 의미가 없고요.</a:t>
                      </a:r>
                      <a:endParaRPr lang="en-US" sz="850" dirty="0">
                        <a:latin typeface="Noto Sans KR" charset="0"/>
                        <a:ea typeface="Noto Sans KR" charset="0"/>
                        <a:cs typeface="Noto Sans KR" charset="0"/>
                      </a:endParaRPr>
                    </a:p>
                    <a:p>
                      <a:pPr algn="l" indent="0" marL="0">
                        <a:buNone/>
                      </a:pPr>
                      <a:r>
                        <a:rPr lang="en-US" sz="850" dirty="0">
                          <a:solidFill>
                            <a:srgbClr val="334155"/>
                          </a:solidFill>
                          <a:latin typeface="Noto Sans KR" pitchFamily="34" charset="0"/>
                          <a:ea typeface="Noto Sans KR" pitchFamily="34" charset="-122"/>
                          <a:cs typeface="Noto Sans KR" pitchFamily="34" charset="-120"/>
                        </a:rPr>
                        <a:t>고객 확보, 이것도 사실 의미가 없습니다.</a:t>
                      </a:r>
                      <a:endParaRPr lang="en-US" sz="850" dirty="0">
                        <a:latin typeface="Noto Sans KR" charset="0"/>
                        <a:ea typeface="Noto Sans KR" charset="0"/>
                        <a:cs typeface="Noto Sans KR" charset="0"/>
                      </a:endParaRPr>
                    </a:p>
                    <a:p>
                      <a:pPr algn="l" indent="0" marL="0">
                        <a:buNone/>
                      </a:pPr>
                      <a:r>
                        <a:rPr lang="en-US" sz="850" dirty="0">
                          <a:solidFill>
                            <a:srgbClr val="334155"/>
                          </a:solidFill>
                          <a:latin typeface="Noto Sans KR" pitchFamily="34" charset="0"/>
                          <a:ea typeface="Noto Sans KR" pitchFamily="34" charset="-122"/>
                          <a:cs typeface="Noto Sans KR" pitchFamily="34" charset="-120"/>
                        </a:rPr>
                        <a:t>하지만 아웃도어를 할 때 왜 이런 에어매트를 써야 되고, 이런 침낭을 써야 되고, 이런 의류를 입어야 되는지,</a:t>
                      </a:r>
                      <a:endParaRPr lang="en-US" sz="850" dirty="0">
                        <a:latin typeface="Noto Sans KR" charset="0"/>
                        <a:ea typeface="Noto Sans KR" charset="0"/>
                        <a:cs typeface="Noto Sans KR" charset="0"/>
                      </a:endParaRPr>
                    </a:p>
                    <a:p>
                      <a:pPr algn="l" indent="0" marL="0">
                        <a:buNone/>
                      </a:pPr>
                      <a:r>
                        <a:rPr lang="en-US" sz="850" dirty="0">
                          <a:solidFill>
                            <a:srgbClr val="334155"/>
                          </a:solidFill>
                          <a:latin typeface="Noto Sans KR" pitchFamily="34" charset="0"/>
                          <a:ea typeface="Noto Sans KR" pitchFamily="34" charset="-122"/>
                          <a:cs typeface="Noto Sans KR" pitchFamily="34" charset="-120"/>
                        </a:rPr>
                        <a:t>거기에 많은 분들이 관심을 가져 준다면 그러면 브랜드 부스에 들어가는 게 저는 맞다고 생각합니다.</a:t>
                      </a:r>
                      <a:endParaRPr lang="en-US" sz="850" dirty="0">
                        <a:latin typeface="Noto Sans KR" charset="0"/>
                        <a:ea typeface="Noto Sans KR" charset="0"/>
                        <a:cs typeface="Noto Sans KR" charset="0"/>
                      </a:endParaRPr>
                    </a:p>
                  </a:txBody>
                  <a:tcPr marL="76200" marR="762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bl>
          </a:graphicData>
        </a:graphic>
      </p:graphicFrame>
      <p:sp>
        <p:nvSpPr>
          <p:cNvPr id="8" name="제목 사전 가정 → 검증 결과"/>
          <p:cNvSpPr txBox="1"/>
          <p:nvPr/>
        </p:nvSpPr>
        <p:spPr>
          <a:xfrm>
            <a:off x="612648" y="3338144"/>
            <a:ext cx="3520440" cy="237744"/>
          </a:xfrm>
          <a:prstGeom prst="rect">
            <a:avLst/>
          </a:prstGeom>
          <a:noFill/>
          <a:ln/>
        </p:spPr>
        <p:txBody>
          <a:bodyPr wrap="square" lIns="0" tIns="0" rIns="0" bIns="0" rtlCol="0" anchor="ctr"/>
          <a:lstStyle/>
          <a:p>
            <a:pPr algn="l" indent="0" marL="0">
              <a:lnSpc>
                <a:spcPct val="100000"/>
              </a:lnSpc>
              <a:buNone/>
            </a:pPr>
            <a:r>
              <a:rPr lang="en-US" sz="1050" b="1" dirty="0">
                <a:solidFill>
                  <a:srgbClr val="182F48"/>
                </a:solidFill>
                <a:latin typeface="Noto Sans KR" pitchFamily="34" charset="0"/>
                <a:ea typeface="Noto Sans KR" pitchFamily="34" charset="-122"/>
                <a:cs typeface="Noto Sans KR" pitchFamily="34" charset="-120"/>
              </a:rPr>
              <a:t>사전 가정 → 검증 결과</a:t>
            </a:r>
            <a:endParaRPr lang="en-US" sz="1050" dirty="0"/>
          </a:p>
        </p:txBody>
      </p:sp>
      <p:sp>
        <p:nvSpPr>
          <p:cNvPr id="9" name="제목 기획 수정 (반영 위치)"/>
          <p:cNvSpPr txBox="1"/>
          <p:nvPr/>
        </p:nvSpPr>
        <p:spPr>
          <a:xfrm>
            <a:off x="4315968" y="3338144"/>
            <a:ext cx="3977640" cy="237744"/>
          </a:xfrm>
          <a:prstGeom prst="rect">
            <a:avLst/>
          </a:prstGeom>
          <a:noFill/>
          <a:ln/>
        </p:spPr>
        <p:txBody>
          <a:bodyPr wrap="square" lIns="0" tIns="0" rIns="0" bIns="0" rtlCol="0" anchor="ctr"/>
          <a:lstStyle/>
          <a:p>
            <a:pPr algn="l" indent="0" marL="0">
              <a:lnSpc>
                <a:spcPct val="100000"/>
              </a:lnSpc>
              <a:buNone/>
            </a:pPr>
            <a:r>
              <a:rPr lang="en-US" sz="1050" b="1" dirty="0">
                <a:solidFill>
                  <a:srgbClr val="182F48"/>
                </a:solidFill>
                <a:latin typeface="Noto Sans KR" pitchFamily="34" charset="0"/>
                <a:ea typeface="Noto Sans KR" pitchFamily="34" charset="-122"/>
                <a:cs typeface="Noto Sans KR" pitchFamily="34" charset="-120"/>
              </a:rPr>
              <a:t>기획 수정 (반영 위치)</a:t>
            </a:r>
            <a:endParaRPr lang="en-US" sz="1050" dirty="0"/>
          </a:p>
        </p:txBody>
      </p:sp>
      <p:sp>
        <p:nvSpPr>
          <p:cNvPr id="10" name="제목 추가 확인 사항"/>
          <p:cNvSpPr txBox="1"/>
          <p:nvPr/>
        </p:nvSpPr>
        <p:spPr>
          <a:xfrm>
            <a:off x="8476488" y="3338144"/>
            <a:ext cx="3099816" cy="237744"/>
          </a:xfrm>
          <a:prstGeom prst="rect">
            <a:avLst/>
          </a:prstGeom>
          <a:noFill/>
          <a:ln/>
        </p:spPr>
        <p:txBody>
          <a:bodyPr wrap="square" lIns="0" tIns="0" rIns="0" bIns="0" rtlCol="0" anchor="ctr"/>
          <a:lstStyle/>
          <a:p>
            <a:pPr algn="l" indent="0" marL="0">
              <a:lnSpc>
                <a:spcPct val="100000"/>
              </a:lnSpc>
              <a:buNone/>
            </a:pPr>
            <a:r>
              <a:rPr lang="en-US" sz="1050" b="1" dirty="0">
                <a:solidFill>
                  <a:srgbClr val="182F48"/>
                </a:solidFill>
                <a:latin typeface="Noto Sans KR" pitchFamily="34" charset="0"/>
                <a:ea typeface="Noto Sans KR" pitchFamily="34" charset="-122"/>
                <a:cs typeface="Noto Sans KR" pitchFamily="34" charset="-120"/>
              </a:rPr>
              <a:t>추가 확인 사항</a:t>
            </a:r>
            <a:endParaRPr lang="en-US" sz="1050" dirty="0"/>
          </a:p>
        </p:txBody>
      </p:sp>
      <p:sp>
        <p:nvSpPr>
          <p:cNvPr id="11" name="가정 H1"/>
          <p:cNvSpPr txBox="1"/>
          <p:nvPr/>
        </p:nvSpPr>
        <p:spPr>
          <a:xfrm>
            <a:off x="612648" y="3630752"/>
            <a:ext cx="3520440" cy="605644"/>
          </a:xfrm>
          <a:prstGeom prst="roundRect">
            <a:avLst>
              <a:gd name="adj" fmla="val 7549"/>
            </a:avLst>
          </a:prstGeom>
          <a:solidFill>
            <a:srgbClr val="F1F5F9"/>
          </a:solidFill>
          <a:ln/>
        </p:spPr>
        <p:txBody>
          <a:bodyPr wrap="square" lIns="91440" tIns="0" rIns="91440" bIns="0" rtlCol="0" anchor="ctr"/>
          <a:lstStyle/>
          <a:p>
            <a:pPr algn="l" indent="0" marL="0">
              <a:lnSpc>
                <a:spcPct val="95000"/>
              </a:lnSpc>
              <a:spcAft>
                <a:spcPts val="100"/>
              </a:spcAft>
              <a:buNone/>
            </a:pPr>
            <a:r>
              <a:rPr lang="en-US" sz="780" b="1" dirty="0">
                <a:solidFill>
                  <a:srgbClr val="267D86"/>
                </a:solidFill>
                <a:latin typeface="Noto Sans KR" pitchFamily="34" charset="0"/>
                <a:ea typeface="Noto Sans KR" pitchFamily="34" charset="-122"/>
                <a:cs typeface="Noto Sans KR" pitchFamily="34" charset="-120"/>
              </a:rPr>
              <a:t>H1  </a:t>
            </a:r>
            <a:pPr algn="l" indent="0" marL="0">
              <a:lnSpc>
                <a:spcPct val="95000"/>
              </a:lnSpc>
              <a:spcAft>
                <a:spcPts val="100"/>
              </a:spcAft>
              <a:buNone/>
            </a:pPr>
            <a:r>
              <a:rPr lang="en-US" sz="780" b="1" dirty="0">
                <a:solidFill>
                  <a:srgbClr val="182F48"/>
                </a:solidFill>
                <a:latin typeface="Noto Sans KR" pitchFamily="34" charset="0"/>
                <a:ea typeface="Noto Sans KR" pitchFamily="34" charset="-122"/>
                <a:cs typeface="Noto Sans KR" pitchFamily="34" charset="-120"/>
              </a:rPr>
              <a:t>브랜드는 바이어 미팅 · 현장판매를 가장 중시할 것</a:t>
            </a:r>
            <a:endParaRPr lang="en-US" sz="780" dirty="0"/>
          </a:p>
          <a:p>
            <a:pPr algn="l" indent="0" marL="0">
              <a:lnSpc>
                <a:spcPct val="95000"/>
              </a:lnSpc>
              <a:spcAft>
                <a:spcPts val="100"/>
              </a:spcAft>
              <a:buNone/>
            </a:pPr>
            <a:r>
              <a:rPr lang="en-US" sz="780" b="1" dirty="0">
                <a:solidFill>
                  <a:srgbClr val="C2410C"/>
                </a:solidFill>
                <a:latin typeface="Noto Sans KR" pitchFamily="34" charset="0"/>
                <a:ea typeface="Noto Sans KR" pitchFamily="34" charset="-122"/>
                <a:cs typeface="Noto Sans KR" pitchFamily="34" charset="-120"/>
              </a:rPr>
              <a:t>기각  </a:t>
            </a:r>
            <a:pPr algn="l" indent="0" marL="0">
              <a:lnSpc>
                <a:spcPct val="95000"/>
              </a:lnSpc>
              <a:spcAft>
                <a:spcPts val="100"/>
              </a:spcAft>
              <a:buNone/>
            </a:pPr>
            <a:r>
              <a:rPr lang="en-US" sz="780" dirty="0">
                <a:solidFill>
                  <a:srgbClr val="334155"/>
                </a:solidFill>
                <a:latin typeface="Noto Sans KR" pitchFamily="34" charset="0"/>
                <a:ea typeface="Noto Sans KR" pitchFamily="34" charset="-122"/>
                <a:cs typeface="Noto Sans KR" pitchFamily="34" charset="-120"/>
              </a:rPr>
              <a:t>투자·바이어·현장판매·고객 확보는 의미가 적다고 했다.</a:t>
            </a:r>
            <a:endParaRPr lang="en-US" sz="780" dirty="0"/>
          </a:p>
          <a:p>
            <a:pPr algn="l" indent="0" marL="0">
              <a:lnSpc>
                <a:spcPct val="95000"/>
              </a:lnSpc>
              <a:spcAft>
                <a:spcPts val="100"/>
              </a:spcAft>
              <a:buNone/>
            </a:pPr>
            <a:r>
              <a:rPr lang="en-US" sz="780" dirty="0">
                <a:solidFill>
                  <a:srgbClr val="334155"/>
                </a:solidFill>
                <a:latin typeface="Noto Sans KR" pitchFamily="34" charset="0"/>
                <a:ea typeface="Noto Sans KR" pitchFamily="34" charset="-122"/>
                <a:cs typeface="Noto Sans KR" pitchFamily="34" charset="-120"/>
              </a:rPr>
              <a:t>        </a:t>
            </a:r>
            <a:pPr algn="l" indent="0" marL="0">
              <a:lnSpc>
                <a:spcPct val="95000"/>
              </a:lnSpc>
              <a:spcAft>
                <a:spcPts val="100"/>
              </a:spcAft>
              <a:buNone/>
            </a:pPr>
            <a:r>
              <a:rPr lang="en-US" sz="780" dirty="0">
                <a:solidFill>
                  <a:srgbClr val="334155"/>
                </a:solidFill>
                <a:latin typeface="Noto Sans KR" pitchFamily="34" charset="0"/>
                <a:ea typeface="Noto Sans KR" pitchFamily="34" charset="-122"/>
                <a:cs typeface="Noto Sans KR" pitchFamily="34" charset="-120"/>
              </a:rPr>
              <a:t>목적은 브랜드 홍보와 장비를 깊게 들어줄 관심 고객이다.</a:t>
            </a:r>
            <a:endParaRPr lang="en-US" sz="780" dirty="0"/>
          </a:p>
        </p:txBody>
      </p:sp>
      <p:sp>
        <p:nvSpPr>
          <p:cNvPr id="12" name="가정 H2"/>
          <p:cNvSpPr txBox="1"/>
          <p:nvPr/>
        </p:nvSpPr>
        <p:spPr>
          <a:xfrm>
            <a:off x="612648" y="4309548"/>
            <a:ext cx="3520440" cy="605644"/>
          </a:xfrm>
          <a:prstGeom prst="roundRect">
            <a:avLst>
              <a:gd name="adj" fmla="val 7549"/>
            </a:avLst>
          </a:prstGeom>
          <a:solidFill>
            <a:srgbClr val="F1F5F9"/>
          </a:solidFill>
          <a:ln/>
        </p:spPr>
        <p:txBody>
          <a:bodyPr wrap="square" lIns="91440" tIns="0" rIns="91440" bIns="0" rtlCol="0" anchor="ctr"/>
          <a:lstStyle/>
          <a:p>
            <a:pPr algn="l" indent="0" marL="0">
              <a:lnSpc>
                <a:spcPct val="95000"/>
              </a:lnSpc>
              <a:spcAft>
                <a:spcPts val="100"/>
              </a:spcAft>
              <a:buNone/>
            </a:pPr>
            <a:r>
              <a:rPr lang="en-US" sz="780" b="1" dirty="0">
                <a:solidFill>
                  <a:srgbClr val="267D86"/>
                </a:solidFill>
                <a:latin typeface="Noto Sans KR" pitchFamily="34" charset="0"/>
                <a:ea typeface="Noto Sans KR" pitchFamily="34" charset="-122"/>
                <a:cs typeface="Noto Sans KR" pitchFamily="34" charset="-120"/>
              </a:rPr>
              <a:t>H2  </a:t>
            </a:r>
            <a:pPr algn="l" indent="0" marL="0">
              <a:lnSpc>
                <a:spcPct val="95000"/>
              </a:lnSpc>
              <a:spcAft>
                <a:spcPts val="100"/>
              </a:spcAft>
              <a:buNone/>
            </a:pPr>
            <a:r>
              <a:rPr lang="en-US" sz="780" b="1" dirty="0">
                <a:solidFill>
                  <a:srgbClr val="182F48"/>
                </a:solidFill>
                <a:latin typeface="Noto Sans KR" pitchFamily="34" charset="0"/>
                <a:ea typeface="Noto Sans KR" pitchFamily="34" charset="-122"/>
                <a:cs typeface="Noto Sans KR" pitchFamily="34" charset="-120"/>
              </a:rPr>
              <a:t>부스비가 가장 큰 참가 장벽일 것</a:t>
            </a:r>
            <a:endParaRPr lang="en-US" sz="780" dirty="0"/>
          </a:p>
          <a:p>
            <a:pPr algn="l" indent="0" marL="0">
              <a:lnSpc>
                <a:spcPct val="95000"/>
              </a:lnSpc>
              <a:spcAft>
                <a:spcPts val="100"/>
              </a:spcAft>
              <a:buNone/>
            </a:pPr>
            <a:r>
              <a:rPr lang="en-US" sz="780" b="1" dirty="0">
                <a:solidFill>
                  <a:srgbClr val="267D86"/>
                </a:solidFill>
                <a:latin typeface="Noto Sans KR" pitchFamily="34" charset="0"/>
                <a:ea typeface="Noto Sans KR" pitchFamily="34" charset="-122"/>
                <a:cs typeface="Noto Sans KR" pitchFamily="34" charset="-120"/>
              </a:rPr>
              <a:t>부분  </a:t>
            </a:r>
            <a:pPr algn="l" indent="0" marL="0">
              <a:lnSpc>
                <a:spcPct val="95000"/>
              </a:lnSpc>
              <a:spcAft>
                <a:spcPts val="100"/>
              </a:spcAft>
              <a:buNone/>
            </a:pPr>
            <a:r>
              <a:rPr lang="en-US" sz="780" dirty="0">
                <a:solidFill>
                  <a:srgbClr val="334155"/>
                </a:solidFill>
                <a:latin typeface="Noto Sans KR" pitchFamily="34" charset="0"/>
                <a:ea typeface="Noto Sans KR" pitchFamily="34" charset="-122"/>
                <a:cs typeface="Noto Sans KR" pitchFamily="34" charset="-120"/>
              </a:rPr>
              <a:t>부스비는 늘 2만~5만 달러로 책정해 왔다.</a:t>
            </a:r>
            <a:endParaRPr lang="en-US" sz="780" dirty="0"/>
          </a:p>
          <a:p>
            <a:pPr algn="l" indent="0" marL="0">
              <a:lnSpc>
                <a:spcPct val="95000"/>
              </a:lnSpc>
              <a:spcAft>
                <a:spcPts val="100"/>
              </a:spcAft>
              <a:buNone/>
            </a:pPr>
            <a:r>
              <a:rPr lang="en-US" sz="780" dirty="0">
                <a:solidFill>
                  <a:srgbClr val="334155"/>
                </a:solidFill>
                <a:latin typeface="Noto Sans KR" pitchFamily="34" charset="0"/>
                <a:ea typeface="Noto Sans KR" pitchFamily="34" charset="-122"/>
                <a:cs typeface="Noto Sans KR" pitchFamily="34" charset="-120"/>
              </a:rPr>
              <a:t>        </a:t>
            </a:r>
            <a:pPr algn="l" indent="0" marL="0">
              <a:lnSpc>
                <a:spcPct val="95000"/>
              </a:lnSpc>
              <a:spcAft>
                <a:spcPts val="100"/>
              </a:spcAft>
              <a:buNone/>
            </a:pPr>
            <a:r>
              <a:rPr lang="en-US" sz="780" dirty="0">
                <a:solidFill>
                  <a:srgbClr val="334155"/>
                </a:solidFill>
                <a:latin typeface="Noto Sans KR" pitchFamily="34" charset="0"/>
                <a:ea typeface="Noto Sans KR" pitchFamily="34" charset="-122"/>
                <a:cs typeface="Noto Sans KR" pitchFamily="34" charset="-120"/>
              </a:rPr>
              <a:t>실제 장벽은 비용 대비 효과·공간·인플루언서 일정이다.</a:t>
            </a:r>
            <a:endParaRPr lang="en-US" sz="780" dirty="0"/>
          </a:p>
        </p:txBody>
      </p:sp>
      <p:sp>
        <p:nvSpPr>
          <p:cNvPr id="13" name="가정 H3"/>
          <p:cNvSpPr txBox="1"/>
          <p:nvPr/>
        </p:nvSpPr>
        <p:spPr>
          <a:xfrm>
            <a:off x="612648" y="4988344"/>
            <a:ext cx="3520440" cy="605644"/>
          </a:xfrm>
          <a:prstGeom prst="roundRect">
            <a:avLst>
              <a:gd name="adj" fmla="val 7549"/>
            </a:avLst>
          </a:prstGeom>
          <a:solidFill>
            <a:srgbClr val="F1F5F9"/>
          </a:solidFill>
          <a:ln/>
        </p:spPr>
        <p:txBody>
          <a:bodyPr wrap="square" lIns="91440" tIns="0" rIns="91440" bIns="0" rtlCol="0" anchor="ctr"/>
          <a:lstStyle/>
          <a:p>
            <a:pPr algn="l" indent="0" marL="0">
              <a:lnSpc>
                <a:spcPct val="95000"/>
              </a:lnSpc>
              <a:spcAft>
                <a:spcPts val="100"/>
              </a:spcAft>
              <a:buNone/>
            </a:pPr>
            <a:r>
              <a:rPr lang="en-US" sz="780" b="1" dirty="0">
                <a:solidFill>
                  <a:srgbClr val="267D86"/>
                </a:solidFill>
                <a:latin typeface="Noto Sans KR" pitchFamily="34" charset="0"/>
                <a:ea typeface="Noto Sans KR" pitchFamily="34" charset="-122"/>
                <a:cs typeface="Noto Sans KR" pitchFamily="34" charset="-120"/>
              </a:rPr>
              <a:t>H3  </a:t>
            </a:r>
            <a:pPr algn="l" indent="0" marL="0">
              <a:lnSpc>
                <a:spcPct val="95000"/>
              </a:lnSpc>
              <a:spcAft>
                <a:spcPts val="100"/>
              </a:spcAft>
              <a:buNone/>
            </a:pPr>
            <a:r>
              <a:rPr lang="en-US" sz="780" b="1" dirty="0">
                <a:solidFill>
                  <a:srgbClr val="182F48"/>
                </a:solidFill>
                <a:latin typeface="Noto Sans KR" pitchFamily="34" charset="0"/>
                <a:ea typeface="Noto Sans KR" pitchFamily="34" charset="-122"/>
                <a:cs typeface="Noto Sans KR" pitchFamily="34" charset="-120"/>
              </a:rPr>
              <a:t>기존 코엑스 · 킨텍스 아웃도어 행사로 충분할 것</a:t>
            </a:r>
            <a:endParaRPr lang="en-US" sz="780" dirty="0"/>
          </a:p>
          <a:p>
            <a:pPr algn="l" indent="0" marL="0">
              <a:lnSpc>
                <a:spcPct val="95000"/>
              </a:lnSpc>
              <a:spcAft>
                <a:spcPts val="100"/>
              </a:spcAft>
              <a:buNone/>
            </a:pPr>
            <a:r>
              <a:rPr lang="en-US" sz="780" b="1" dirty="0">
                <a:solidFill>
                  <a:srgbClr val="C2410C"/>
                </a:solidFill>
                <a:latin typeface="Noto Sans KR" pitchFamily="34" charset="0"/>
                <a:ea typeface="Noto Sans KR" pitchFamily="34" charset="-122"/>
                <a:cs typeface="Noto Sans KR" pitchFamily="34" charset="-120"/>
              </a:rPr>
              <a:t>기각  </a:t>
            </a:r>
            <a:pPr algn="l" indent="0" marL="0">
              <a:lnSpc>
                <a:spcPct val="95000"/>
              </a:lnSpc>
              <a:spcAft>
                <a:spcPts val="100"/>
              </a:spcAft>
              <a:buNone/>
            </a:pPr>
            <a:r>
              <a:rPr lang="en-US" sz="780" dirty="0">
                <a:solidFill>
                  <a:srgbClr val="334155"/>
                </a:solidFill>
                <a:latin typeface="Noto Sans KR" pitchFamily="34" charset="0"/>
                <a:ea typeface="Noto Sans KR" pitchFamily="34" charset="-122"/>
                <a:cs typeface="Noto Sans KR" pitchFamily="34" charset="-120"/>
              </a:rPr>
              <a:t>"고객의 니즈가 다르기 때문에 저희는 참여를 안 하고 있습니다"</a:t>
            </a:r>
            <a:endParaRPr lang="en-US" sz="780" dirty="0"/>
          </a:p>
        </p:txBody>
      </p:sp>
      <p:sp>
        <p:nvSpPr>
          <p:cNvPr id="14" name="가정 H4"/>
          <p:cNvSpPr txBox="1"/>
          <p:nvPr/>
        </p:nvSpPr>
        <p:spPr>
          <a:xfrm>
            <a:off x="612648" y="5667140"/>
            <a:ext cx="3520440" cy="605644"/>
          </a:xfrm>
          <a:prstGeom prst="roundRect">
            <a:avLst>
              <a:gd name="adj" fmla="val 7549"/>
            </a:avLst>
          </a:prstGeom>
          <a:solidFill>
            <a:srgbClr val="F1F5F9"/>
          </a:solidFill>
          <a:ln/>
        </p:spPr>
        <p:txBody>
          <a:bodyPr wrap="square" lIns="91440" tIns="0" rIns="91440" bIns="0" rtlCol="0" anchor="ctr"/>
          <a:lstStyle/>
          <a:p>
            <a:pPr algn="l" indent="0" marL="0">
              <a:lnSpc>
                <a:spcPct val="95000"/>
              </a:lnSpc>
              <a:spcAft>
                <a:spcPts val="100"/>
              </a:spcAft>
              <a:buNone/>
            </a:pPr>
            <a:r>
              <a:rPr lang="en-US" sz="780" b="1" dirty="0">
                <a:solidFill>
                  <a:srgbClr val="267D86"/>
                </a:solidFill>
                <a:latin typeface="Noto Sans KR" pitchFamily="34" charset="0"/>
                <a:ea typeface="Noto Sans KR" pitchFamily="34" charset="-122"/>
                <a:cs typeface="Noto Sans KR" pitchFamily="34" charset="-120"/>
              </a:rPr>
              <a:t>H4  </a:t>
            </a:r>
            <a:pPr algn="l" indent="0" marL="0">
              <a:lnSpc>
                <a:spcPct val="95000"/>
              </a:lnSpc>
              <a:spcAft>
                <a:spcPts val="100"/>
              </a:spcAft>
              <a:buNone/>
            </a:pPr>
            <a:r>
              <a:rPr lang="en-US" sz="780" b="1" dirty="0">
                <a:solidFill>
                  <a:srgbClr val="182F48"/>
                </a:solidFill>
                <a:latin typeface="Noto Sans KR" pitchFamily="34" charset="0"/>
                <a:ea typeface="Noto Sans KR" pitchFamily="34" charset="-122"/>
                <a:cs typeface="Noto Sans KR" pitchFamily="34" charset="-120"/>
              </a:rPr>
              <a:t>일반 소비자(B2C)는 주요 고객이 아닐 것</a:t>
            </a:r>
            <a:endParaRPr lang="en-US" sz="780" dirty="0"/>
          </a:p>
          <a:p>
            <a:pPr algn="l" indent="0" marL="0">
              <a:lnSpc>
                <a:spcPct val="95000"/>
              </a:lnSpc>
              <a:spcAft>
                <a:spcPts val="100"/>
              </a:spcAft>
              <a:buNone/>
            </a:pPr>
            <a:r>
              <a:rPr lang="en-US" sz="780" b="1" dirty="0">
                <a:solidFill>
                  <a:srgbClr val="C2410C"/>
                </a:solidFill>
                <a:latin typeface="Noto Sans KR" pitchFamily="34" charset="0"/>
                <a:ea typeface="Noto Sans KR" pitchFamily="34" charset="-122"/>
                <a:cs typeface="Noto Sans KR" pitchFamily="34" charset="-120"/>
              </a:rPr>
              <a:t>기각  </a:t>
            </a:r>
            <a:pPr algn="l" indent="0" marL="0">
              <a:lnSpc>
                <a:spcPct val="95000"/>
              </a:lnSpc>
              <a:spcAft>
                <a:spcPts val="100"/>
              </a:spcAft>
              <a:buNone/>
            </a:pPr>
            <a:r>
              <a:rPr lang="en-US" sz="780" dirty="0">
                <a:solidFill>
                  <a:srgbClr val="334155"/>
                </a:solidFill>
                <a:latin typeface="Noto Sans KR" pitchFamily="34" charset="0"/>
                <a:ea typeface="Noto Sans KR" pitchFamily="34" charset="-122"/>
                <a:cs typeface="Noto Sans KR" pitchFamily="34" charset="-120"/>
              </a:rPr>
              <a:t>B2C 매출 비중이 약 30%라 일반 고객을 매우 중요하게 생각한다.</a:t>
            </a:r>
            <a:endParaRPr lang="en-US" sz="780" dirty="0"/>
          </a:p>
        </p:txBody>
      </p:sp>
      <p:sp>
        <p:nvSpPr>
          <p:cNvPr id="15" name="기획 수정 배경"/>
          <p:cNvSpPr/>
          <p:nvPr/>
        </p:nvSpPr>
        <p:spPr>
          <a:xfrm>
            <a:off x="4315968" y="3630752"/>
            <a:ext cx="3977640" cy="2642032"/>
          </a:xfrm>
          <a:prstGeom prst="roundRect">
            <a:avLst>
              <a:gd name="adj" fmla="val 1730"/>
            </a:avLst>
          </a:prstGeom>
          <a:solidFill>
            <a:srgbClr val="E6F2F3"/>
          </a:solidFill>
          <a:ln/>
        </p:spPr>
      </p:sp>
      <p:sp>
        <p:nvSpPr>
          <p:cNvPr id="16" name="기획 수정 1"/>
          <p:cNvSpPr txBox="1"/>
          <p:nvPr/>
        </p:nvSpPr>
        <p:spPr>
          <a:xfrm>
            <a:off x="4407408" y="3630752"/>
            <a:ext cx="3794760" cy="660508"/>
          </a:xfrm>
          <a:prstGeom prst="rect">
            <a:avLst/>
          </a:prstGeom>
          <a:noFill/>
          <a:ln/>
        </p:spPr>
        <p:txBody>
          <a:bodyPr wrap="square" lIns="0" tIns="0" rIns="0" bIns="0" rtlCol="0" anchor="ctr"/>
          <a:lstStyle/>
          <a:p>
            <a:pPr algn="l" indent="0" marL="0">
              <a:lnSpc>
                <a:spcPct val="95000"/>
              </a:lnSpc>
              <a:spcAft>
                <a:spcPts val="150"/>
              </a:spcAft>
              <a:buNone/>
            </a:pPr>
            <a:r>
              <a:rPr lang="en-US" sz="780" b="1" dirty="0">
                <a:solidFill>
                  <a:srgbClr val="267D86"/>
                </a:solidFill>
                <a:latin typeface="Noto Sans KR" pitchFamily="34" charset="0"/>
                <a:ea typeface="Noto Sans KR" pitchFamily="34" charset="-122"/>
                <a:cs typeface="Noto Sans KR" pitchFamily="34" charset="-120"/>
              </a:rPr>
              <a:t>1  </a:t>
            </a:r>
            <a:pPr algn="l" indent="0" marL="0">
              <a:lnSpc>
                <a:spcPct val="95000"/>
              </a:lnSpc>
              <a:spcAft>
                <a:spcPts val="150"/>
              </a:spcAft>
              <a:buNone/>
            </a:pPr>
            <a:r>
              <a:rPr lang="en-US" sz="780" b="1" dirty="0">
                <a:solidFill>
                  <a:srgbClr val="182F48"/>
                </a:solidFill>
                <a:latin typeface="Noto Sans KR" pitchFamily="34" charset="0"/>
                <a:ea typeface="Noto Sans KR" pitchFamily="34" charset="-122"/>
                <a:cs typeface="Noto Sans KR" pitchFamily="34" charset="-120"/>
              </a:rPr>
              <a:t>공동 Test Lab(샤워부스 · 얼음 바닥)을 주최 측이 설치</a:t>
            </a:r>
            <a:endParaRPr lang="en-US" sz="780" dirty="0"/>
          </a:p>
          <a:p>
            <a:pPr algn="l" indent="0" marL="0">
              <a:lnSpc>
                <a:spcPct val="95000"/>
              </a:lnSpc>
              <a:spcAft>
                <a:spcPts val="150"/>
              </a:spcAft>
              <a:buNone/>
            </a:pPr>
            <a:r>
              <a:rPr lang="en-US" sz="780" dirty="0">
                <a:solidFill>
                  <a:srgbClr val="334155"/>
                </a:solidFill>
                <a:latin typeface="Noto Sans KR" pitchFamily="34" charset="0"/>
                <a:ea typeface="Noto Sans KR" pitchFamily="34" charset="-122"/>
                <a:cs typeface="Noto Sans KR" pitchFamily="34" charset="-120"/>
              </a:rPr>
              <a:t>     </a:t>
            </a:r>
            <a:pPr algn="l" indent="0" marL="0">
              <a:lnSpc>
                <a:spcPct val="95000"/>
              </a:lnSpc>
              <a:spcAft>
                <a:spcPts val="150"/>
              </a:spcAft>
              <a:buNone/>
            </a:pPr>
            <a:r>
              <a:rPr lang="en-US" sz="780" dirty="0">
                <a:solidFill>
                  <a:srgbClr val="64748B"/>
                </a:solidFill>
                <a:latin typeface="Noto Sans KR" pitchFamily="34" charset="0"/>
                <a:ea typeface="Noto Sans KR" pitchFamily="34" charset="-122"/>
                <a:cs typeface="Noto Sans KR" pitchFamily="34" charset="-120"/>
              </a:rPr>
              <a:t>근거 Q5 · Q6: 시연 공간과 비용 대비 효과가 장벽</a:t>
            </a:r>
            <a:endParaRPr lang="en-US" sz="780" dirty="0"/>
          </a:p>
          <a:p>
            <a:pPr algn="l" indent="0" marL="0">
              <a:lnSpc>
                <a:spcPct val="95000"/>
              </a:lnSpc>
              <a:spcAft>
                <a:spcPts val="150"/>
              </a:spcAft>
              <a:buNone/>
            </a:pPr>
            <a:r>
              <a:rPr lang="en-US" sz="780" dirty="0">
                <a:solidFill>
                  <a:srgbClr val="334155"/>
                </a:solidFill>
                <a:latin typeface="Noto Sans KR" pitchFamily="34" charset="0"/>
                <a:ea typeface="Noto Sans KR" pitchFamily="34" charset="-122"/>
                <a:cs typeface="Noto Sans KR" pitchFamily="34" charset="-120"/>
              </a:rPr>
              <a:t>     </a:t>
            </a:r>
            <a:pPr algn="l" indent="0" marL="0">
              <a:lnSpc>
                <a:spcPct val="95000"/>
              </a:lnSpc>
              <a:spcAft>
                <a:spcPts val="150"/>
              </a:spcAft>
              <a:buNone/>
            </a:pPr>
            <a:r>
              <a:rPr lang="en-US" sz="780" dirty="0">
                <a:solidFill>
                  <a:srgbClr val="334155"/>
                </a:solidFill>
                <a:latin typeface="Noto Sans KR" pitchFamily="34" charset="0"/>
                <a:ea typeface="Noto Sans KR" pitchFamily="34" charset="-122"/>
                <a:cs typeface="Noto Sans KR" pitchFamily="34" charset="-120"/>
              </a:rPr>
              <a:t>→ 브랜드마다 시연 공간을 만들 부담을 덜어 준다 (2장)</a:t>
            </a:r>
            <a:endParaRPr lang="en-US" sz="780" dirty="0"/>
          </a:p>
        </p:txBody>
      </p:sp>
      <p:sp>
        <p:nvSpPr>
          <p:cNvPr id="17" name="기획 수정 2"/>
          <p:cNvSpPr txBox="1"/>
          <p:nvPr/>
        </p:nvSpPr>
        <p:spPr>
          <a:xfrm>
            <a:off x="4407408" y="4291260"/>
            <a:ext cx="3794760" cy="660508"/>
          </a:xfrm>
          <a:prstGeom prst="rect">
            <a:avLst/>
          </a:prstGeom>
          <a:noFill/>
          <a:ln/>
        </p:spPr>
        <p:txBody>
          <a:bodyPr wrap="square" lIns="0" tIns="0" rIns="0" bIns="0" rtlCol="0" anchor="ctr"/>
          <a:lstStyle/>
          <a:p>
            <a:pPr algn="l" indent="0" marL="0">
              <a:lnSpc>
                <a:spcPct val="95000"/>
              </a:lnSpc>
              <a:spcAft>
                <a:spcPts val="150"/>
              </a:spcAft>
              <a:buNone/>
            </a:pPr>
            <a:r>
              <a:rPr lang="en-US" sz="780" b="1" dirty="0">
                <a:solidFill>
                  <a:srgbClr val="267D86"/>
                </a:solidFill>
                <a:latin typeface="Noto Sans KR" pitchFamily="34" charset="0"/>
                <a:ea typeface="Noto Sans KR" pitchFamily="34" charset="-122"/>
                <a:cs typeface="Noto Sans KR" pitchFamily="34" charset="-120"/>
              </a:rPr>
              <a:t>2  </a:t>
            </a:r>
            <a:pPr algn="l" indent="0" marL="0">
              <a:lnSpc>
                <a:spcPct val="95000"/>
              </a:lnSpc>
              <a:spcAft>
                <a:spcPts val="150"/>
              </a:spcAft>
              <a:buNone/>
            </a:pPr>
            <a:r>
              <a:rPr lang="en-US" sz="780" b="1" dirty="0">
                <a:solidFill>
                  <a:srgbClr val="182F48"/>
                </a:solidFill>
                <a:latin typeface="Noto Sans KR" pitchFamily="34" charset="0"/>
                <a:ea typeface="Noto Sans KR" pitchFamily="34" charset="-122"/>
                <a:cs typeface="Noto Sans KR" pitchFamily="34" charset="-120"/>
              </a:rPr>
              <a:t>관람객의 '수'보다 '관심도'를 지표로</a:t>
            </a:r>
            <a:endParaRPr lang="en-US" sz="780" dirty="0"/>
          </a:p>
          <a:p>
            <a:pPr algn="l" indent="0" marL="0">
              <a:lnSpc>
                <a:spcPct val="95000"/>
              </a:lnSpc>
              <a:spcAft>
                <a:spcPts val="150"/>
              </a:spcAft>
              <a:buNone/>
            </a:pPr>
            <a:r>
              <a:rPr lang="en-US" sz="780" dirty="0">
                <a:solidFill>
                  <a:srgbClr val="334155"/>
                </a:solidFill>
                <a:latin typeface="Noto Sans KR" pitchFamily="34" charset="0"/>
                <a:ea typeface="Noto Sans KR" pitchFamily="34" charset="-122"/>
                <a:cs typeface="Noto Sans KR" pitchFamily="34" charset="-120"/>
              </a:rPr>
              <a:t>     </a:t>
            </a:r>
            <a:pPr algn="l" indent="0" marL="0">
              <a:lnSpc>
                <a:spcPct val="95000"/>
              </a:lnSpc>
              <a:spcAft>
                <a:spcPts val="150"/>
              </a:spcAft>
              <a:buNone/>
            </a:pPr>
            <a:r>
              <a:rPr lang="en-US" sz="780" dirty="0">
                <a:solidFill>
                  <a:srgbClr val="64748B"/>
                </a:solidFill>
                <a:latin typeface="Noto Sans KR" pitchFamily="34" charset="0"/>
                <a:ea typeface="Noto Sans KR" pitchFamily="34" charset="-122"/>
                <a:cs typeface="Noto Sans KR" pitchFamily="34" charset="-120"/>
              </a:rPr>
              <a:t>근거 Q3 · Q7: 참여 조건은 관심 고객, 성공 기준은 반응</a:t>
            </a:r>
            <a:endParaRPr lang="en-US" sz="780" dirty="0"/>
          </a:p>
          <a:p>
            <a:pPr algn="l" indent="0" marL="0">
              <a:lnSpc>
                <a:spcPct val="95000"/>
              </a:lnSpc>
              <a:spcAft>
                <a:spcPts val="150"/>
              </a:spcAft>
              <a:buNone/>
            </a:pPr>
            <a:r>
              <a:rPr lang="en-US" sz="780" dirty="0">
                <a:solidFill>
                  <a:srgbClr val="334155"/>
                </a:solidFill>
                <a:latin typeface="Noto Sans KR" pitchFamily="34" charset="0"/>
                <a:ea typeface="Noto Sans KR" pitchFamily="34" charset="-122"/>
                <a:cs typeface="Noto Sans KR" pitchFamily="34" charset="-120"/>
              </a:rPr>
              <a:t>     </a:t>
            </a:r>
            <a:pPr algn="l" indent="0" marL="0">
              <a:lnSpc>
                <a:spcPct val="95000"/>
              </a:lnSpc>
              <a:spcAft>
                <a:spcPts val="150"/>
              </a:spcAft>
              <a:buNone/>
            </a:pPr>
            <a:r>
              <a:rPr lang="en-US" sz="780" dirty="0">
                <a:solidFill>
                  <a:srgbClr val="334155"/>
                </a:solidFill>
                <a:latin typeface="Noto Sans KR" pitchFamily="34" charset="0"/>
                <a:ea typeface="Noto Sans KR" pitchFamily="34" charset="-122"/>
                <a:cs typeface="Noto Sans KR" pitchFamily="34" charset="-120"/>
              </a:rPr>
              <a:t>→ 관심사 사전등록 · Test Lab 체험률을 함께 잰다 (3장)</a:t>
            </a:r>
            <a:endParaRPr lang="en-US" sz="780" dirty="0"/>
          </a:p>
        </p:txBody>
      </p:sp>
      <p:sp>
        <p:nvSpPr>
          <p:cNvPr id="18" name="기획 수정 3"/>
          <p:cNvSpPr txBox="1"/>
          <p:nvPr/>
        </p:nvSpPr>
        <p:spPr>
          <a:xfrm>
            <a:off x="4407408" y="4951768"/>
            <a:ext cx="3794760" cy="660508"/>
          </a:xfrm>
          <a:prstGeom prst="rect">
            <a:avLst/>
          </a:prstGeom>
          <a:noFill/>
          <a:ln/>
        </p:spPr>
        <p:txBody>
          <a:bodyPr wrap="square" lIns="0" tIns="0" rIns="0" bIns="0" rtlCol="0" anchor="ctr"/>
          <a:lstStyle/>
          <a:p>
            <a:pPr algn="l" indent="0" marL="0">
              <a:lnSpc>
                <a:spcPct val="95000"/>
              </a:lnSpc>
              <a:spcAft>
                <a:spcPts val="150"/>
              </a:spcAft>
              <a:buNone/>
            </a:pPr>
            <a:r>
              <a:rPr lang="en-US" sz="780" b="1" dirty="0">
                <a:solidFill>
                  <a:srgbClr val="267D86"/>
                </a:solidFill>
                <a:latin typeface="Noto Sans KR" pitchFamily="34" charset="0"/>
                <a:ea typeface="Noto Sans KR" pitchFamily="34" charset="-122"/>
                <a:cs typeface="Noto Sans KR" pitchFamily="34" charset="-120"/>
              </a:rPr>
              <a:t>3  </a:t>
            </a:r>
            <a:pPr algn="l" indent="0" marL="0">
              <a:lnSpc>
                <a:spcPct val="95000"/>
              </a:lnSpc>
              <a:spcAft>
                <a:spcPts val="150"/>
              </a:spcAft>
              <a:buNone/>
            </a:pPr>
            <a:r>
              <a:rPr lang="en-US" sz="780" b="1" dirty="0">
                <a:solidFill>
                  <a:srgbClr val="182F48"/>
                </a:solidFill>
                <a:latin typeface="Noto Sans KR" pitchFamily="34" charset="0"/>
                <a:ea typeface="Noto Sans KR" pitchFamily="34" charset="-122"/>
                <a:cs typeface="Noto Sans KR" pitchFamily="34" charset="-120"/>
              </a:rPr>
              <a:t>참가업체를 목적별로 나눠 연결</a:t>
            </a:r>
            <a:endParaRPr lang="en-US" sz="780" dirty="0"/>
          </a:p>
          <a:p>
            <a:pPr algn="l" indent="0" marL="0">
              <a:lnSpc>
                <a:spcPct val="95000"/>
              </a:lnSpc>
              <a:spcAft>
                <a:spcPts val="150"/>
              </a:spcAft>
              <a:buNone/>
            </a:pPr>
            <a:r>
              <a:rPr lang="en-US" sz="780" dirty="0">
                <a:solidFill>
                  <a:srgbClr val="334155"/>
                </a:solidFill>
                <a:latin typeface="Noto Sans KR" pitchFamily="34" charset="0"/>
                <a:ea typeface="Noto Sans KR" pitchFamily="34" charset="-122"/>
                <a:cs typeface="Noto Sans KR" pitchFamily="34" charset="-120"/>
              </a:rPr>
              <a:t>     </a:t>
            </a:r>
            <a:pPr algn="l" indent="0" marL="0">
              <a:lnSpc>
                <a:spcPct val="95000"/>
              </a:lnSpc>
              <a:spcAft>
                <a:spcPts val="150"/>
              </a:spcAft>
              <a:buNone/>
            </a:pPr>
            <a:r>
              <a:rPr lang="en-US" sz="780" dirty="0">
                <a:solidFill>
                  <a:srgbClr val="64748B"/>
                </a:solidFill>
                <a:latin typeface="Noto Sans KR" pitchFamily="34" charset="0"/>
                <a:ea typeface="Noto Sans KR" pitchFamily="34" charset="-122"/>
                <a:cs typeface="Noto Sans KR" pitchFamily="34" charset="-120"/>
              </a:rPr>
              <a:t>근거 Q8: 고가 브랜드는 판매보다 브랜드 홍보가 목적</a:t>
            </a:r>
            <a:endParaRPr lang="en-US" sz="780" dirty="0"/>
          </a:p>
          <a:p>
            <a:pPr algn="l" indent="0" marL="0">
              <a:lnSpc>
                <a:spcPct val="95000"/>
              </a:lnSpc>
              <a:spcAft>
                <a:spcPts val="150"/>
              </a:spcAft>
              <a:buNone/>
            </a:pPr>
            <a:r>
              <a:rPr lang="en-US" sz="780" dirty="0">
                <a:solidFill>
                  <a:srgbClr val="334155"/>
                </a:solidFill>
                <a:latin typeface="Noto Sans KR" pitchFamily="34" charset="0"/>
                <a:ea typeface="Noto Sans KR" pitchFamily="34" charset="-122"/>
                <a:cs typeface="Noto Sans KR" pitchFamily="34" charset="-120"/>
              </a:rPr>
              <a:t>     </a:t>
            </a:r>
            <a:pPr algn="l" indent="0" marL="0">
              <a:lnSpc>
                <a:spcPct val="95000"/>
              </a:lnSpc>
              <a:spcAft>
                <a:spcPts val="150"/>
              </a:spcAft>
              <a:buNone/>
            </a:pPr>
            <a:r>
              <a:rPr lang="en-US" sz="780" dirty="0">
                <a:solidFill>
                  <a:srgbClr val="334155"/>
                </a:solidFill>
                <a:latin typeface="Noto Sans KR" pitchFamily="34" charset="0"/>
                <a:ea typeface="Noto Sans KR" pitchFamily="34" charset="-122"/>
                <a:cs typeface="Noto Sans KR" pitchFamily="34" charset="-120"/>
              </a:rPr>
              <a:t>→ 해외 앵커는 관심 고객과, K-브랜드는 바이어와 (5장)</a:t>
            </a:r>
            <a:endParaRPr lang="en-US" sz="780" dirty="0"/>
          </a:p>
        </p:txBody>
      </p:sp>
      <p:sp>
        <p:nvSpPr>
          <p:cNvPr id="19" name="기획 수정 4"/>
          <p:cNvSpPr txBox="1"/>
          <p:nvPr/>
        </p:nvSpPr>
        <p:spPr>
          <a:xfrm>
            <a:off x="4407408" y="5612276"/>
            <a:ext cx="3794760" cy="660508"/>
          </a:xfrm>
          <a:prstGeom prst="rect">
            <a:avLst/>
          </a:prstGeom>
          <a:noFill/>
          <a:ln/>
        </p:spPr>
        <p:txBody>
          <a:bodyPr wrap="square" lIns="0" tIns="0" rIns="0" bIns="0" rtlCol="0" anchor="ctr"/>
          <a:lstStyle/>
          <a:p>
            <a:pPr algn="l" indent="0" marL="0">
              <a:lnSpc>
                <a:spcPct val="95000"/>
              </a:lnSpc>
              <a:spcAft>
                <a:spcPts val="150"/>
              </a:spcAft>
              <a:buNone/>
            </a:pPr>
            <a:r>
              <a:rPr lang="en-US" sz="780" b="1" dirty="0">
                <a:solidFill>
                  <a:srgbClr val="267D86"/>
                </a:solidFill>
                <a:latin typeface="Noto Sans KR" pitchFamily="34" charset="0"/>
                <a:ea typeface="Noto Sans KR" pitchFamily="34" charset="-122"/>
                <a:cs typeface="Noto Sans KR" pitchFamily="34" charset="-120"/>
              </a:rPr>
              <a:t>4  </a:t>
            </a:r>
            <a:pPr algn="l" indent="0" marL="0">
              <a:lnSpc>
                <a:spcPct val="95000"/>
              </a:lnSpc>
              <a:spcAft>
                <a:spcPts val="150"/>
              </a:spcAft>
              <a:buNone/>
            </a:pPr>
            <a:r>
              <a:rPr lang="en-US" sz="780" b="1" dirty="0">
                <a:solidFill>
                  <a:srgbClr val="182F48"/>
                </a:solidFill>
                <a:latin typeface="Noto Sans KR" pitchFamily="34" charset="0"/>
                <a:ea typeface="Noto Sans KR" pitchFamily="34" charset="-122"/>
                <a:cs typeface="Noto Sans KR" pitchFamily="34" charset="-120"/>
              </a:rPr>
              <a:t>인플루언서 · 모델 섭외를 미디어 파트너가 지원</a:t>
            </a:r>
            <a:endParaRPr lang="en-US" sz="780" dirty="0"/>
          </a:p>
          <a:p>
            <a:pPr algn="l" indent="0" marL="0">
              <a:lnSpc>
                <a:spcPct val="95000"/>
              </a:lnSpc>
              <a:spcAft>
                <a:spcPts val="150"/>
              </a:spcAft>
              <a:buNone/>
            </a:pPr>
            <a:r>
              <a:rPr lang="en-US" sz="780" dirty="0">
                <a:solidFill>
                  <a:srgbClr val="334155"/>
                </a:solidFill>
                <a:latin typeface="Noto Sans KR" pitchFamily="34" charset="0"/>
                <a:ea typeface="Noto Sans KR" pitchFamily="34" charset="-122"/>
                <a:cs typeface="Noto Sans KR" pitchFamily="34" charset="-120"/>
              </a:rPr>
              <a:t>     </a:t>
            </a:r>
            <a:pPr algn="l" indent="0" marL="0">
              <a:lnSpc>
                <a:spcPct val="95000"/>
              </a:lnSpc>
              <a:spcAft>
                <a:spcPts val="150"/>
              </a:spcAft>
              <a:buNone/>
            </a:pPr>
            <a:r>
              <a:rPr lang="en-US" sz="780" dirty="0">
                <a:solidFill>
                  <a:srgbClr val="64748B"/>
                </a:solidFill>
                <a:latin typeface="Noto Sans KR" pitchFamily="34" charset="0"/>
                <a:ea typeface="Noto Sans KR" pitchFamily="34" charset="-122"/>
                <a:cs typeface="Noto Sans KR" pitchFamily="34" charset="-120"/>
              </a:rPr>
              <a:t>근거 Q6: 인플루언서 · 모델 일정 조율이 참여 장애</a:t>
            </a:r>
            <a:endParaRPr lang="en-US" sz="780" dirty="0"/>
          </a:p>
          <a:p>
            <a:pPr algn="l" indent="0" marL="0">
              <a:lnSpc>
                <a:spcPct val="95000"/>
              </a:lnSpc>
              <a:spcAft>
                <a:spcPts val="150"/>
              </a:spcAft>
              <a:buNone/>
            </a:pPr>
            <a:r>
              <a:rPr lang="en-US" sz="780" dirty="0">
                <a:solidFill>
                  <a:srgbClr val="334155"/>
                </a:solidFill>
                <a:latin typeface="Noto Sans KR" pitchFamily="34" charset="0"/>
                <a:ea typeface="Noto Sans KR" pitchFamily="34" charset="-122"/>
                <a:cs typeface="Noto Sans KR" pitchFamily="34" charset="-120"/>
              </a:rPr>
              <a:t>     </a:t>
            </a:r>
            <a:pPr algn="l" indent="0" marL="0">
              <a:lnSpc>
                <a:spcPct val="95000"/>
              </a:lnSpc>
              <a:spcAft>
                <a:spcPts val="150"/>
              </a:spcAft>
              <a:buNone/>
            </a:pPr>
            <a:r>
              <a:rPr lang="en-US" sz="780" dirty="0">
                <a:solidFill>
                  <a:srgbClr val="334155"/>
                </a:solidFill>
                <a:latin typeface="Noto Sans KR" pitchFamily="34" charset="0"/>
                <a:ea typeface="Noto Sans KR" pitchFamily="34" charset="-122"/>
                <a:cs typeface="Noto Sans KR" pitchFamily="34" charset="-120"/>
              </a:rPr>
              <a:t>→ GO OUT KOREA · 패션비즈와 협력 (6장)</a:t>
            </a:r>
            <a:endParaRPr lang="en-US" sz="780" dirty="0"/>
          </a:p>
        </p:txBody>
      </p:sp>
      <p:sp>
        <p:nvSpPr>
          <p:cNvPr id="20" name="추가 확인 배경"/>
          <p:cNvSpPr/>
          <p:nvPr/>
        </p:nvSpPr>
        <p:spPr>
          <a:xfrm>
            <a:off x="8476488" y="3630752"/>
            <a:ext cx="3099816" cy="2642032"/>
          </a:xfrm>
          <a:prstGeom prst="roundRect">
            <a:avLst>
              <a:gd name="adj" fmla="val 1730"/>
            </a:avLst>
          </a:prstGeom>
          <a:solidFill>
            <a:srgbClr val="FFFFFF"/>
          </a:solidFill>
          <a:ln w="9525">
            <a:solidFill>
              <a:srgbClr val="CBD5E1"/>
            </a:solidFill>
            <a:prstDash val="solid"/>
          </a:ln>
        </p:spPr>
      </p:sp>
      <p:sp>
        <p:nvSpPr>
          <p:cNvPr id="21" name="추가 확인 안내"/>
          <p:cNvSpPr txBox="1"/>
          <p:nvPr/>
        </p:nvSpPr>
        <p:spPr>
          <a:xfrm>
            <a:off x="8586216" y="3685616"/>
            <a:ext cx="2880360" cy="219456"/>
          </a:xfrm>
          <a:prstGeom prst="rect">
            <a:avLst/>
          </a:prstGeom>
          <a:noFill/>
          <a:ln/>
        </p:spPr>
        <p:txBody>
          <a:bodyPr wrap="square" lIns="0" tIns="0" rIns="0" bIns="0" rtlCol="0" anchor="ctr"/>
          <a:lstStyle/>
          <a:p>
            <a:pPr algn="l" indent="0" marL="0">
              <a:lnSpc>
                <a:spcPct val="100000"/>
              </a:lnSpc>
              <a:buNone/>
            </a:pPr>
            <a:r>
              <a:rPr lang="en-US" sz="740" dirty="0">
                <a:solidFill>
                  <a:srgbClr val="64748B"/>
                </a:solidFill>
                <a:latin typeface="Noto Sans KR" pitchFamily="34" charset="0"/>
                <a:ea typeface="Noto Sans KR" pitchFamily="34" charset="-122"/>
                <a:cs typeface="Noto Sans KR" pitchFamily="34" charset="-120"/>
              </a:rPr>
              <a:t>인터뷰를 다시 검토하며 더 물었어야 했다고 본 것</a:t>
            </a:r>
            <a:endParaRPr lang="en-US" sz="740" dirty="0"/>
          </a:p>
        </p:txBody>
      </p:sp>
      <p:sp>
        <p:nvSpPr>
          <p:cNvPr id="22" name="추가 확인 1"/>
          <p:cNvSpPr txBox="1"/>
          <p:nvPr/>
        </p:nvSpPr>
        <p:spPr>
          <a:xfrm>
            <a:off x="8586216" y="3941648"/>
            <a:ext cx="2880360" cy="569068"/>
          </a:xfrm>
          <a:prstGeom prst="rect">
            <a:avLst/>
          </a:prstGeom>
          <a:noFill/>
          <a:ln/>
        </p:spPr>
        <p:txBody>
          <a:bodyPr wrap="square" lIns="0" tIns="0" rIns="0" bIns="0" rtlCol="0" anchor="ctr"/>
          <a:lstStyle/>
          <a:p>
            <a:pPr algn="l" indent="0" marL="0">
              <a:lnSpc>
                <a:spcPct val="95000"/>
              </a:lnSpc>
              <a:spcAft>
                <a:spcPts val="150"/>
              </a:spcAft>
              <a:buNone/>
            </a:pPr>
            <a:r>
              <a:rPr lang="en-US" sz="780" b="1" dirty="0">
                <a:solidFill>
                  <a:srgbClr val="182F48"/>
                </a:solidFill>
                <a:latin typeface="Noto Sans KR" pitchFamily="34" charset="0"/>
                <a:ea typeface="Noto Sans KR" pitchFamily="34" charset="-122"/>
                <a:cs typeface="Noto Sans KR" pitchFamily="34" charset="-120"/>
              </a:rPr>
              <a:t>① 국내 소량 생산처</a:t>
            </a:r>
            <a:endParaRPr lang="en-US" sz="780" dirty="0"/>
          </a:p>
          <a:p>
            <a:pPr algn="l" indent="0" marL="0">
              <a:lnSpc>
                <a:spcPct val="95000"/>
              </a:lnSpc>
              <a:spcAft>
                <a:spcPts val="150"/>
              </a:spcAft>
              <a:buNone/>
            </a:pPr>
            <a:r>
              <a:rPr lang="en-US" sz="780" dirty="0">
                <a:solidFill>
                  <a:srgbClr val="334155"/>
                </a:solidFill>
                <a:latin typeface="Noto Sans KR" pitchFamily="34" charset="0"/>
                <a:ea typeface="Noto Sans KR" pitchFamily="34" charset="-122"/>
                <a:cs typeface="Noto Sans KR" pitchFamily="34" charset="-120"/>
              </a:rPr>
              <a:t>제로그램 같은 K-브랜드의 생산처 확보 어려움</a:t>
            </a:r>
            <a:endParaRPr lang="en-US" sz="780" dirty="0"/>
          </a:p>
        </p:txBody>
      </p:sp>
      <p:sp>
        <p:nvSpPr>
          <p:cNvPr id="23" name="추가 확인 2"/>
          <p:cNvSpPr txBox="1"/>
          <p:nvPr/>
        </p:nvSpPr>
        <p:spPr>
          <a:xfrm>
            <a:off x="8586216" y="4510716"/>
            <a:ext cx="2880360" cy="569068"/>
          </a:xfrm>
          <a:prstGeom prst="rect">
            <a:avLst/>
          </a:prstGeom>
          <a:noFill/>
          <a:ln/>
        </p:spPr>
        <p:txBody>
          <a:bodyPr wrap="square" lIns="0" tIns="0" rIns="0" bIns="0" rtlCol="0" anchor="ctr"/>
          <a:lstStyle/>
          <a:p>
            <a:pPr algn="l" indent="0" marL="0">
              <a:lnSpc>
                <a:spcPct val="95000"/>
              </a:lnSpc>
              <a:spcAft>
                <a:spcPts val="150"/>
              </a:spcAft>
              <a:buNone/>
            </a:pPr>
            <a:r>
              <a:rPr lang="en-US" sz="780" b="1" dirty="0">
                <a:solidFill>
                  <a:srgbClr val="182F48"/>
                </a:solidFill>
                <a:latin typeface="Noto Sans KR" pitchFamily="34" charset="0"/>
                <a:ea typeface="Noto Sans KR" pitchFamily="34" charset="-122"/>
                <a:cs typeface="Noto Sans KR" pitchFamily="34" charset="-120"/>
              </a:rPr>
              <a:t>② 유통 수수료 · 마진</a:t>
            </a:r>
            <a:endParaRPr lang="en-US" sz="780" dirty="0"/>
          </a:p>
          <a:p>
            <a:pPr algn="l" indent="0" marL="0">
              <a:lnSpc>
                <a:spcPct val="95000"/>
              </a:lnSpc>
              <a:spcAft>
                <a:spcPts val="150"/>
              </a:spcAft>
              <a:buNone/>
            </a:pPr>
            <a:r>
              <a:rPr lang="en-US" sz="780" dirty="0">
                <a:solidFill>
                  <a:srgbClr val="334155"/>
                </a:solidFill>
                <a:latin typeface="Noto Sans KR" pitchFamily="34" charset="0"/>
                <a:ea typeface="Noto Sans KR" pitchFamily="34" charset="-122"/>
                <a:cs typeface="Noto Sans KR" pitchFamily="34" charset="-120"/>
              </a:rPr>
              <a:t>수입 브랜드 대비 K-브랜드 유통의 마진 차이</a:t>
            </a:r>
            <a:endParaRPr lang="en-US" sz="780" dirty="0"/>
          </a:p>
        </p:txBody>
      </p:sp>
      <p:sp>
        <p:nvSpPr>
          <p:cNvPr id="24" name="추가 확인 3"/>
          <p:cNvSpPr txBox="1"/>
          <p:nvPr/>
        </p:nvSpPr>
        <p:spPr>
          <a:xfrm>
            <a:off x="8586216" y="5079784"/>
            <a:ext cx="2880360" cy="569068"/>
          </a:xfrm>
          <a:prstGeom prst="rect">
            <a:avLst/>
          </a:prstGeom>
          <a:noFill/>
          <a:ln/>
        </p:spPr>
        <p:txBody>
          <a:bodyPr wrap="square" lIns="0" tIns="0" rIns="0" bIns="0" rtlCol="0" anchor="ctr"/>
          <a:lstStyle/>
          <a:p>
            <a:pPr algn="l" indent="0" marL="0">
              <a:lnSpc>
                <a:spcPct val="95000"/>
              </a:lnSpc>
              <a:spcAft>
                <a:spcPts val="150"/>
              </a:spcAft>
              <a:buNone/>
            </a:pPr>
            <a:r>
              <a:rPr lang="en-US" sz="780" b="1" dirty="0">
                <a:solidFill>
                  <a:srgbClr val="182F48"/>
                </a:solidFill>
                <a:latin typeface="Noto Sans KR" pitchFamily="34" charset="0"/>
                <a:ea typeface="Noto Sans KR" pitchFamily="34" charset="-122"/>
                <a:cs typeface="Noto Sans KR" pitchFamily="34" charset="-120"/>
              </a:rPr>
              <a:t>③ 희망 참가일</a:t>
            </a:r>
            <a:endParaRPr lang="en-US" sz="780" dirty="0"/>
          </a:p>
          <a:p>
            <a:pPr algn="l" indent="0" marL="0">
              <a:lnSpc>
                <a:spcPct val="95000"/>
              </a:lnSpc>
              <a:spcAft>
                <a:spcPts val="150"/>
              </a:spcAft>
              <a:buNone/>
            </a:pPr>
            <a:r>
              <a:rPr lang="en-US" sz="780" dirty="0">
                <a:solidFill>
                  <a:srgbClr val="334155"/>
                </a:solidFill>
                <a:latin typeface="Noto Sans KR" pitchFamily="34" charset="0"/>
                <a:ea typeface="Noto Sans KR" pitchFamily="34" charset="-122"/>
                <a:cs typeface="Noto Sans KR" pitchFamily="34" charset="-120"/>
              </a:rPr>
              <a:t>트레이드 데이와 퍼블릭 랩 데이 중 어느 쪽인지</a:t>
            </a:r>
            <a:endParaRPr lang="en-US" sz="780" dirty="0"/>
          </a:p>
        </p:txBody>
      </p:sp>
      <p:sp>
        <p:nvSpPr>
          <p:cNvPr id="25" name="추가 확인 4"/>
          <p:cNvSpPr txBox="1"/>
          <p:nvPr/>
        </p:nvSpPr>
        <p:spPr>
          <a:xfrm>
            <a:off x="8586216" y="5648852"/>
            <a:ext cx="2880360" cy="569068"/>
          </a:xfrm>
          <a:prstGeom prst="rect">
            <a:avLst/>
          </a:prstGeom>
          <a:noFill/>
          <a:ln/>
        </p:spPr>
        <p:txBody>
          <a:bodyPr wrap="square" lIns="0" tIns="0" rIns="0" bIns="0" rtlCol="0" anchor="ctr"/>
          <a:lstStyle/>
          <a:p>
            <a:pPr algn="l" indent="0" marL="0">
              <a:lnSpc>
                <a:spcPct val="95000"/>
              </a:lnSpc>
              <a:spcAft>
                <a:spcPts val="150"/>
              </a:spcAft>
              <a:buNone/>
            </a:pPr>
            <a:r>
              <a:rPr lang="en-US" sz="780" b="1" dirty="0">
                <a:solidFill>
                  <a:srgbClr val="182F48"/>
                </a:solidFill>
                <a:latin typeface="Noto Sans KR" pitchFamily="34" charset="0"/>
                <a:ea typeface="Noto Sans KR" pitchFamily="34" charset="-122"/>
                <a:cs typeface="Noto Sans KR" pitchFamily="34" charset="-120"/>
              </a:rPr>
              <a:t>④ 부스비 · 일정</a:t>
            </a:r>
            <a:endParaRPr lang="en-US" sz="780" dirty="0"/>
          </a:p>
          <a:p>
            <a:pPr algn="l" indent="0" marL="0">
              <a:lnSpc>
                <a:spcPct val="95000"/>
              </a:lnSpc>
              <a:spcAft>
                <a:spcPts val="150"/>
              </a:spcAft>
              <a:buNone/>
            </a:pPr>
            <a:r>
              <a:rPr lang="en-US" sz="780" dirty="0">
                <a:solidFill>
                  <a:srgbClr val="334155"/>
                </a:solidFill>
                <a:latin typeface="Noto Sans KR" pitchFamily="34" charset="0"/>
                <a:ea typeface="Noto Sans KR" pitchFamily="34" charset="-122"/>
                <a:cs typeface="Noto Sans KR" pitchFamily="34" charset="-120"/>
              </a:rPr>
              <a:t>원화 기준 수용 범위와 9월 말 일정의 시즌 적합성</a:t>
            </a:r>
            <a:endParaRPr lang="en-US" sz="7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과제 표기"/>
          <p:cNvSpPr txBox="1"/>
          <p:nvPr/>
        </p:nvSpPr>
        <p:spPr>
          <a:xfrm>
            <a:off x="612648" y="274320"/>
            <a:ext cx="5486400" cy="237744"/>
          </a:xfrm>
          <a:prstGeom prst="rect">
            <a:avLst/>
          </a:prstGeom>
          <a:noFill/>
          <a:ln/>
        </p:spPr>
        <p:txBody>
          <a:bodyPr wrap="square" lIns="0" tIns="0" rIns="0" bIns="0" rtlCol="0" anchor="t"/>
          <a:lstStyle/>
          <a:p>
            <a:pPr algn="l" indent="0" marL="0">
              <a:lnSpc>
                <a:spcPct val="92000"/>
              </a:lnSpc>
              <a:buNone/>
            </a:pPr>
            <a:r>
              <a:rPr lang="en-US" sz="1100" dirty="0">
                <a:solidFill>
                  <a:srgbClr val="64748B"/>
                </a:solidFill>
                <a:latin typeface="Noto Sans KR" pitchFamily="34" charset="0"/>
                <a:ea typeface="Noto Sans KR" pitchFamily="34" charset="-122"/>
                <a:cs typeface="Noto Sans KR" pitchFamily="34" charset="-120"/>
              </a:rPr>
              <a:t>전시산업론 중간고사 개인 과제   별첨 2</a:t>
            </a:r>
            <a:endParaRPr lang="en-US" sz="1100" dirty="0"/>
          </a:p>
        </p:txBody>
      </p:sp>
      <p:sp>
        <p:nvSpPr>
          <p:cNvPr id="3" name="Text 1"/>
          <p:cNvSpPr/>
          <p:nvPr>
            <p:ph idx="101" type="title" hasCustomPrompt="1"/>
          </p:nvPr>
        </p:nvSpPr>
        <p:spPr>
          <a:xfrm>
            <a:off x="612648" y="548640"/>
            <a:ext cx="10963656" cy="512064"/>
          </a:xfrm>
          <a:prstGeom prst="rect">
            <a:avLst/>
          </a:prstGeom>
          <a:noFill/>
          <a:ln/>
        </p:spPr>
        <p:txBody>
          <a:bodyPr wrap="square" lIns="0" tIns="0" rIns="0" bIns="0" rtlCol="0" anchor="ctr"/>
          <a:lstStyle/>
          <a:p>
            <a:pPr algn="l" indent="0" marL="0">
              <a:buNone/>
            </a:pPr>
            <a:r>
              <a:rPr lang="en-US" sz="3000" b="1" dirty="0">
                <a:solidFill>
                  <a:srgbClr val="182F48"/>
                </a:solidFill>
                <a:latin typeface="Noto Sans KR" pitchFamily="34" charset="0"/>
                <a:ea typeface="Noto Sans KR" pitchFamily="34" charset="-122"/>
                <a:cs typeface="Noto Sans KR" pitchFamily="34" charset="-120"/>
              </a:rPr>
              <a:t>별첨 2 · 전화 검증 (바이어 측)</a:t>
            </a:r>
            <a:endParaRPr lang="en-US" sz="3000" dirty="0"/>
          </a:p>
        </p:txBody>
      </p:sp>
      <p:sp>
        <p:nvSpPr>
          <p:cNvPr id="4" name="Text 1"/>
          <p:cNvSpPr/>
          <p:nvPr>
            <p:ph idx="102" type="body" hasCustomPrompt="1"/>
          </p:nvPr>
        </p:nvSpPr>
        <p:spPr>
          <a:xfrm>
            <a:off x="612648" y="1060704"/>
            <a:ext cx="10963656" cy="310896"/>
          </a:xfrm>
          <a:prstGeom prst="rect">
            <a:avLst/>
          </a:prstGeom>
          <a:noFill/>
          <a:ln/>
        </p:spPr>
        <p:txBody>
          <a:bodyPr wrap="square" lIns="0" tIns="0" rIns="0" bIns="0" rtlCol="0" anchor="ctr"/>
          <a:lstStyle/>
          <a:p>
            <a:pPr algn="l" indent="0" marL="0">
              <a:buNone/>
            </a:pPr>
            <a:r>
              <a:rPr lang="en-US" sz="1500" dirty="0">
                <a:solidFill>
                  <a:srgbClr val="267D86"/>
                </a:solidFill>
                <a:latin typeface="Noto Sans KR" pitchFamily="34" charset="0"/>
                <a:ea typeface="Noto Sans KR" pitchFamily="34" charset="-122"/>
                <a:cs typeface="Noto Sans KR" pitchFamily="34" charset="-120"/>
              </a:rPr>
              <a:t>바이어 통화 시도 기록 — 준비를 마쳤지만 실무 바이어와 연결되지 않았다</a:t>
            </a:r>
            <a:endParaRPr lang="en-US" sz="1500" dirty="0"/>
          </a:p>
        </p:txBody>
      </p:sp>
      <p:sp>
        <p:nvSpPr>
          <p:cNvPr id="6" name="제목 통화 시도 기록"/>
          <p:cNvSpPr txBox="1"/>
          <p:nvPr/>
        </p:nvSpPr>
        <p:spPr>
          <a:xfrm>
            <a:off x="612648" y="1463040"/>
            <a:ext cx="10963656" cy="237744"/>
          </a:xfrm>
          <a:prstGeom prst="rect">
            <a:avLst/>
          </a:prstGeom>
          <a:noFill/>
          <a:ln/>
        </p:spPr>
        <p:txBody>
          <a:bodyPr wrap="square" lIns="0" tIns="0" rIns="0" bIns="0" rtlCol="0" anchor="ctr"/>
          <a:lstStyle/>
          <a:p>
            <a:pPr algn="l" indent="0" marL="0">
              <a:lnSpc>
                <a:spcPct val="100000"/>
              </a:lnSpc>
              <a:buNone/>
            </a:pPr>
            <a:r>
              <a:rPr lang="en-US" sz="1050" b="1" dirty="0">
                <a:solidFill>
                  <a:srgbClr val="182F48"/>
                </a:solidFill>
                <a:latin typeface="Noto Sans KR" pitchFamily="34" charset="0"/>
                <a:ea typeface="Noto Sans KR" pitchFamily="34" charset="-122"/>
                <a:cs typeface="Noto Sans KR" pitchFamily="34" charset="-120"/>
              </a:rPr>
              <a:t>통화 시도 기록</a:t>
            </a:r>
            <a:endParaRPr lang="en-US" sz="1050" dirty="0"/>
          </a:p>
        </p:txBody>
      </p:sp>
      <p:graphicFrame>
        <p:nvGraphicFramePr>
          <p:cNvPr id="10" name="통화 시도 기록"/>
          <p:cNvGraphicFramePr>
            <a:graphicFrameLocks noGrp="1"/>
          </p:cNvGraphicFramePr>
          <p:nvPr>
            <p:extLst>
              <p:ext uri="{D42A27DB-BD31-4B8C-83A1-F6EECF244321}">
                <p14:modId xmlns:p14="http://schemas.microsoft.com/office/powerpoint/2010/main" val="1579011935"/>
              </p:ext>
            </p:extLst>
          </p:nvPr>
        </p:nvGraphicFramePr>
        <p:xfrm>
          <a:off x="612648" y="1737360"/>
          <a:ext cx="10963656" cy="914400"/>
        </p:xfrm>
        <a:graphic>
          <a:graphicData uri="http://schemas.openxmlformats.org/drawingml/2006/table">
            <a:tbl>
              <a:tblPr/>
              <a:tblGrid>
                <a:gridCol w="365760"/>
                <a:gridCol w="2057400"/>
                <a:gridCol w="2057400"/>
                <a:gridCol w="1005840"/>
                <a:gridCol w="1234440"/>
                <a:gridCol w="4242816"/>
              </a:tblGrid>
              <a:tr h="234249">
                <a:tc>
                  <a:txBody>
                    <a:bodyPr/>
                    <a:lstStyle/>
                    <a:p>
                      <a:pPr algn="l" indent="0" marL="0">
                        <a:buNone/>
                      </a:pPr>
                      <a:endParaRPr lang="en-US" sz="800" dirty="0">
                        <a:latin typeface="Noto Sans KR" charset="0"/>
                        <a:ea typeface="Noto Sans KR" charset="0"/>
                        <a:cs typeface="Noto Sans KR" charset="0"/>
                      </a:endParaRPr>
                    </a:p>
                  </a:txBody>
                  <a:tcPr marL="76200" marR="762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82F48"/>
                    </a:solidFill>
                  </a:tcPr>
                </a:tc>
                <a:tc>
                  <a:txBody>
                    <a:bodyPr/>
                    <a:lstStyle/>
                    <a:p>
                      <a:pPr algn="l" indent="0" marL="0">
                        <a:buNone/>
                      </a:pPr>
                      <a:r>
                        <a:rPr lang="en-US" sz="800" b="1" dirty="0">
                          <a:solidFill>
                            <a:srgbClr val="FFFFFF"/>
                          </a:solidFill>
                          <a:latin typeface="Noto Sans KR" pitchFamily="34" charset="0"/>
                          <a:ea typeface="Noto Sans KR" pitchFamily="34" charset="-122"/>
                          <a:cs typeface="Noto Sans KR" pitchFamily="34" charset="-120"/>
                        </a:rPr>
                        <a:t>업체 · 업종</a:t>
                      </a:r>
                      <a:endParaRPr lang="en-US" sz="800" dirty="0">
                        <a:latin typeface="Noto Sans KR" charset="0"/>
                        <a:ea typeface="Noto Sans KR" charset="0"/>
                        <a:cs typeface="Noto Sans KR" charset="0"/>
                      </a:endParaRPr>
                    </a:p>
                  </a:txBody>
                  <a:tcPr marL="76200" marR="762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82F48"/>
                    </a:solidFill>
                  </a:tcPr>
                </a:tc>
                <a:tc>
                  <a:txBody>
                    <a:bodyPr/>
                    <a:lstStyle/>
                    <a:p>
                      <a:pPr algn="l" indent="0" marL="0">
                        <a:buNone/>
                      </a:pPr>
                      <a:r>
                        <a:rPr lang="en-US" sz="800" b="1" dirty="0">
                          <a:solidFill>
                            <a:srgbClr val="FFFFFF"/>
                          </a:solidFill>
                          <a:latin typeface="Noto Sans KR" pitchFamily="34" charset="0"/>
                          <a:ea typeface="Noto Sans KR" pitchFamily="34" charset="-122"/>
                          <a:cs typeface="Noto Sans KR" pitchFamily="34" charset="-120"/>
                        </a:rPr>
                        <a:t>연락 경로 · 번호</a:t>
                      </a:r>
                      <a:endParaRPr lang="en-US" sz="800" dirty="0">
                        <a:latin typeface="Noto Sans KR" charset="0"/>
                        <a:ea typeface="Noto Sans KR" charset="0"/>
                        <a:cs typeface="Noto Sans KR" charset="0"/>
                      </a:endParaRPr>
                    </a:p>
                  </a:txBody>
                  <a:tcPr marL="76200" marR="762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82F48"/>
                    </a:solidFill>
                  </a:tcPr>
                </a:tc>
                <a:tc>
                  <a:txBody>
                    <a:bodyPr/>
                    <a:lstStyle/>
                    <a:p>
                      <a:pPr algn="l" indent="0" marL="0">
                        <a:buNone/>
                      </a:pPr>
                      <a:r>
                        <a:rPr lang="en-US" sz="800" b="1" dirty="0">
                          <a:solidFill>
                            <a:srgbClr val="FFFFFF"/>
                          </a:solidFill>
                          <a:latin typeface="Noto Sans KR" pitchFamily="34" charset="0"/>
                          <a:ea typeface="Noto Sans KR" pitchFamily="34" charset="-122"/>
                          <a:cs typeface="Noto Sans KR" pitchFamily="34" charset="-120"/>
                        </a:rPr>
                        <a:t>시도 일시</a:t>
                      </a:r>
                      <a:endParaRPr lang="en-US" sz="800" dirty="0">
                        <a:latin typeface="Noto Sans KR" charset="0"/>
                        <a:ea typeface="Noto Sans KR" charset="0"/>
                        <a:cs typeface="Noto Sans KR" charset="0"/>
                      </a:endParaRPr>
                    </a:p>
                  </a:txBody>
                  <a:tcPr marL="76200" marR="762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82F48"/>
                    </a:solidFill>
                  </a:tcPr>
                </a:tc>
                <a:tc>
                  <a:txBody>
                    <a:bodyPr/>
                    <a:lstStyle/>
                    <a:p>
                      <a:pPr algn="l" indent="0" marL="0">
                        <a:buNone/>
                      </a:pPr>
                      <a:r>
                        <a:rPr lang="en-US" sz="800" b="1" dirty="0">
                          <a:solidFill>
                            <a:srgbClr val="FFFFFF"/>
                          </a:solidFill>
                          <a:latin typeface="Noto Sans KR" pitchFamily="34" charset="0"/>
                          <a:ea typeface="Noto Sans KR" pitchFamily="34" charset="-122"/>
                          <a:cs typeface="Noto Sans KR" pitchFamily="34" charset="-120"/>
                        </a:rPr>
                        <a:t>결과</a:t>
                      </a:r>
                      <a:endParaRPr lang="en-US" sz="800" dirty="0">
                        <a:latin typeface="Noto Sans KR" charset="0"/>
                        <a:ea typeface="Noto Sans KR" charset="0"/>
                        <a:cs typeface="Noto Sans KR" charset="0"/>
                      </a:endParaRPr>
                    </a:p>
                  </a:txBody>
                  <a:tcPr marL="76200" marR="762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82F48"/>
                    </a:solidFill>
                  </a:tcPr>
                </a:tc>
                <a:tc>
                  <a:txBody>
                    <a:bodyPr/>
                    <a:lstStyle/>
                    <a:p>
                      <a:pPr algn="l" indent="0" marL="0">
                        <a:buNone/>
                      </a:pPr>
                      <a:r>
                        <a:rPr lang="en-US" sz="800" b="1" dirty="0">
                          <a:solidFill>
                            <a:srgbClr val="FFFFFF"/>
                          </a:solidFill>
                          <a:latin typeface="Noto Sans KR" pitchFamily="34" charset="0"/>
                          <a:ea typeface="Noto Sans KR" pitchFamily="34" charset="-122"/>
                          <a:cs typeface="Noto Sans KR" pitchFamily="34" charset="-120"/>
                        </a:rPr>
                        <a:t>응대 내용</a:t>
                      </a:r>
                      <a:endParaRPr lang="en-US" sz="800" dirty="0">
                        <a:latin typeface="Noto Sans KR" charset="0"/>
                        <a:ea typeface="Noto Sans KR" charset="0"/>
                        <a:cs typeface="Noto Sans KR" charset="0"/>
                      </a:endParaRPr>
                    </a:p>
                  </a:txBody>
                  <a:tcPr marL="76200" marR="762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82F48"/>
                    </a:solidFill>
                  </a:tcPr>
                </a:tc>
              </a:tr>
              <a:tr h="513771">
                <a:tc>
                  <a:txBody>
                    <a:bodyPr/>
                    <a:lstStyle/>
                    <a:p>
                      <a:pPr algn="ctr" indent="0" marL="0">
                        <a:buNone/>
                      </a:pPr>
                      <a:r>
                        <a:rPr lang="en-US" sz="800" b="1" dirty="0">
                          <a:solidFill>
                            <a:srgbClr val="267D86"/>
                          </a:solidFill>
                          <a:latin typeface="Noto Sans KR" pitchFamily="34" charset="0"/>
                          <a:ea typeface="Noto Sans KR" pitchFamily="34" charset="-122"/>
                          <a:cs typeface="Noto Sans KR" pitchFamily="34" charset="-120"/>
                        </a:rPr>
                        <a:t>1</a:t>
                      </a:r>
                      <a:endParaRPr lang="en-US" sz="800" dirty="0">
                        <a:latin typeface="Noto Sans KR" charset="0"/>
                        <a:ea typeface="Noto Sans KR" charset="0"/>
                        <a:cs typeface="Noto Sans KR" charset="0"/>
                      </a:endParaRPr>
                    </a:p>
                  </a:txBody>
                  <a:tcPr marL="76200" marR="762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800" b="1" dirty="0">
                          <a:solidFill>
                            <a:srgbClr val="182F48"/>
                          </a:solidFill>
                          <a:latin typeface="Noto Sans KR" pitchFamily="34" charset="0"/>
                          <a:ea typeface="Noto Sans KR" pitchFamily="34" charset="-122"/>
                          <a:cs typeface="Noto Sans KR" pitchFamily="34" charset="-120"/>
                        </a:rPr>
                        <a:t>홀라인 (HOLLAIN)</a:t>
                      </a:r>
                      <a:endParaRPr lang="en-US" sz="800" dirty="0">
                        <a:latin typeface="Noto Sans KR" charset="0"/>
                        <a:ea typeface="Noto Sans KR" charset="0"/>
                        <a:cs typeface="Noto Sans KR" charset="0"/>
                      </a:endParaRPr>
                    </a:p>
                    <a:p>
                      <a:pPr algn="l" indent="0" marL="0">
                        <a:buNone/>
                      </a:pPr>
                      <a:r>
                        <a:rPr lang="en-US" sz="800" dirty="0">
                          <a:solidFill>
                            <a:srgbClr val="334155"/>
                          </a:solidFill>
                          <a:latin typeface="Noto Sans KR" pitchFamily="34" charset="0"/>
                          <a:ea typeface="Noto Sans KR" pitchFamily="34" charset="-122"/>
                          <a:cs typeface="Noto Sans KR" pitchFamily="34" charset="-120"/>
                        </a:rPr>
                        <a:t>아웃도어 편집숍 · 서울 마포구</a:t>
                      </a:r>
                      <a:endParaRPr lang="en-US" sz="800" dirty="0">
                        <a:latin typeface="Noto Sans KR" charset="0"/>
                        <a:ea typeface="Noto Sans KR" charset="0"/>
                        <a:cs typeface="Noto Sans KR" charset="0"/>
                      </a:endParaRPr>
                    </a:p>
                  </a:txBody>
                  <a:tcPr marL="76200" marR="762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800" dirty="0">
                          <a:solidFill>
                            <a:srgbClr val="334155"/>
                          </a:solidFill>
                          <a:latin typeface="Noto Sans KR" pitchFamily="34" charset="0"/>
                          <a:ea typeface="Noto Sans KR" pitchFamily="34" charset="-122"/>
                          <a:cs typeface="Noto Sans KR" pitchFamily="34" charset="-120"/>
                        </a:rPr>
                        <a:t>홍대점 매장  02-337-3907</a:t>
                      </a:r>
                      <a:endParaRPr lang="en-US" sz="800" dirty="0">
                        <a:latin typeface="Noto Sans KR" charset="0"/>
                        <a:ea typeface="Noto Sans KR" charset="0"/>
                        <a:cs typeface="Noto Sans KR" charset="0"/>
                      </a:endParaRPr>
                    </a:p>
                    <a:p>
                      <a:pPr algn="l" indent="0" marL="0">
                        <a:buNone/>
                      </a:pPr>
                      <a:r>
                        <a:rPr lang="en-US" sz="800" dirty="0">
                          <a:solidFill>
                            <a:srgbClr val="334155"/>
                          </a:solidFill>
                          <a:latin typeface="Noto Sans KR" pitchFamily="34" charset="0"/>
                          <a:ea typeface="Noto Sans KR" pitchFamily="34" charset="-122"/>
                          <a:cs typeface="Noto Sans KR" pitchFamily="34" charset="-120"/>
                        </a:rPr>
                        <a:t>고객센터  070-7727-3908</a:t>
                      </a:r>
                      <a:endParaRPr lang="en-US" sz="800" dirty="0">
                        <a:latin typeface="Noto Sans KR" charset="0"/>
                        <a:ea typeface="Noto Sans KR" charset="0"/>
                        <a:cs typeface="Noto Sans KR" charset="0"/>
                      </a:endParaRPr>
                    </a:p>
                  </a:txBody>
                  <a:tcPr marL="76200" marR="762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800" dirty="0">
                          <a:solidFill>
                            <a:srgbClr val="334155"/>
                          </a:solidFill>
                          <a:latin typeface="Noto Sans KR" pitchFamily="34" charset="0"/>
                          <a:ea typeface="Noto Sans KR" pitchFamily="34" charset="-122"/>
                          <a:cs typeface="Noto Sans KR" pitchFamily="34" charset="-120"/>
                        </a:rPr>
                        <a:t>10월 28일(수)</a:t>
                      </a:r>
                      <a:endParaRPr lang="en-US" sz="800" dirty="0">
                        <a:latin typeface="Noto Sans KR" charset="0"/>
                        <a:ea typeface="Noto Sans KR" charset="0"/>
                        <a:cs typeface="Noto Sans KR" charset="0"/>
                      </a:endParaRPr>
                    </a:p>
                    <a:p>
                      <a:pPr algn="l" indent="0" marL="0">
                        <a:buNone/>
                      </a:pPr>
                      <a:r>
                        <a:rPr lang="en-US" sz="800" dirty="0">
                          <a:solidFill>
                            <a:srgbClr val="334155"/>
                          </a:solidFill>
                          <a:latin typeface="Noto Sans KR" pitchFamily="34" charset="0"/>
                          <a:ea typeface="Noto Sans KR" pitchFamily="34" charset="-122"/>
                          <a:cs typeface="Noto Sans KR" pitchFamily="34" charset="-120"/>
                        </a:rPr>
                        <a:t>16:49</a:t>
                      </a:r>
                      <a:endParaRPr lang="en-US" sz="800" dirty="0">
                        <a:latin typeface="Noto Sans KR" charset="0"/>
                        <a:ea typeface="Noto Sans KR" charset="0"/>
                        <a:cs typeface="Noto Sans KR" charset="0"/>
                      </a:endParaRPr>
                    </a:p>
                  </a:txBody>
                  <a:tcPr marL="76200" marR="762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800" b="1" dirty="0">
                          <a:solidFill>
                            <a:srgbClr val="C2410C"/>
                          </a:solidFill>
                          <a:latin typeface="Noto Sans KR" pitchFamily="34" charset="0"/>
                          <a:ea typeface="Noto Sans KR" pitchFamily="34" charset="-122"/>
                          <a:cs typeface="Noto Sans KR" pitchFamily="34" charset="-120"/>
                        </a:rPr>
                        <a:t>연결 · 답변 불가</a:t>
                      </a:r>
                      <a:endParaRPr lang="en-US" sz="800" dirty="0">
                        <a:latin typeface="Noto Sans KR" charset="0"/>
                        <a:ea typeface="Noto Sans KR" charset="0"/>
                        <a:cs typeface="Noto Sans KR" charset="0"/>
                      </a:endParaRPr>
                    </a:p>
                  </a:txBody>
                  <a:tcPr marL="76200" marR="762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800" dirty="0">
                          <a:solidFill>
                            <a:srgbClr val="334155"/>
                          </a:solidFill>
                          <a:latin typeface="Noto Sans KR" pitchFamily="34" charset="0"/>
                          <a:ea typeface="Noto Sans KR" pitchFamily="34" charset="-122"/>
                          <a:cs typeface="Noto Sans KR" pitchFamily="34" charset="-120"/>
                        </a:rPr>
                        <a:t>매장 직원이 받았지만 브랜드 선정(바잉) 담당이 아니라서,</a:t>
                      </a:r>
                      <a:endParaRPr lang="en-US" sz="800" dirty="0">
                        <a:latin typeface="Noto Sans KR" charset="0"/>
                        <a:ea typeface="Noto Sans KR" charset="0"/>
                        <a:cs typeface="Noto Sans KR" charset="0"/>
                      </a:endParaRPr>
                    </a:p>
                    <a:p>
                      <a:pPr algn="l" indent="0" marL="0">
                        <a:buNone/>
                      </a:pPr>
                      <a:r>
                        <a:rPr lang="en-US" sz="800" dirty="0">
                          <a:solidFill>
                            <a:srgbClr val="334155"/>
                          </a:solidFill>
                          <a:latin typeface="Noto Sans KR" pitchFamily="34" charset="0"/>
                          <a:ea typeface="Noto Sans KR" pitchFamily="34" charset="-122"/>
                          <a:cs typeface="Noto Sans KR" pitchFamily="34" charset="-120"/>
                        </a:rPr>
                        <a:t>준비한 질문에 답할 수 있는 사람이 없었다.</a:t>
                      </a:r>
                      <a:endParaRPr lang="en-US" sz="800" dirty="0">
                        <a:latin typeface="Noto Sans KR" charset="0"/>
                        <a:ea typeface="Noto Sans KR" charset="0"/>
                        <a:cs typeface="Noto Sans KR" charset="0"/>
                      </a:endParaRPr>
                    </a:p>
                    <a:p>
                      <a:pPr algn="l" indent="0" marL="0">
                        <a:buNone/>
                      </a:pPr>
                      <a:r>
                        <a:rPr lang="en-US" sz="800" dirty="0">
                          <a:solidFill>
                            <a:srgbClr val="334155"/>
                          </a:solidFill>
                          <a:latin typeface="Noto Sans KR" pitchFamily="34" charset="0"/>
                          <a:ea typeface="Noto Sans KR" pitchFamily="34" charset="-122"/>
                          <a:cs typeface="Noto Sans KR" pitchFamily="34" charset="-120"/>
                        </a:rPr>
                        <a:t>고객센터(평일 10~17시)는 온라인 주문 문의 창구다.</a:t>
                      </a:r>
                      <a:endParaRPr lang="en-US" sz="800" dirty="0">
                        <a:latin typeface="Noto Sans KR" charset="0"/>
                        <a:ea typeface="Noto Sans KR" charset="0"/>
                        <a:cs typeface="Noto Sans KR" charset="0"/>
                      </a:endParaRPr>
                    </a:p>
                  </a:txBody>
                  <a:tcPr marL="76200" marR="762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513771">
                <a:tc>
                  <a:txBody>
                    <a:bodyPr/>
                    <a:lstStyle/>
                    <a:p>
                      <a:pPr algn="ctr" indent="0" marL="0">
                        <a:buNone/>
                      </a:pPr>
                      <a:r>
                        <a:rPr lang="en-US" sz="800" b="1" dirty="0">
                          <a:solidFill>
                            <a:srgbClr val="267D86"/>
                          </a:solidFill>
                          <a:latin typeface="Noto Sans KR" pitchFamily="34" charset="0"/>
                          <a:ea typeface="Noto Sans KR" pitchFamily="34" charset="-122"/>
                          <a:cs typeface="Noto Sans KR" pitchFamily="34" charset="-120"/>
                        </a:rPr>
                        <a:t>2</a:t>
                      </a:r>
                      <a:endParaRPr lang="en-US" sz="800" dirty="0">
                        <a:latin typeface="Noto Sans KR" charset="0"/>
                        <a:ea typeface="Noto Sans KR" charset="0"/>
                        <a:cs typeface="Noto Sans KR" charset="0"/>
                      </a:endParaRPr>
                    </a:p>
                  </a:txBody>
                  <a:tcPr marL="76200" marR="762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800" b="1" dirty="0">
                          <a:solidFill>
                            <a:srgbClr val="182F48"/>
                          </a:solidFill>
                          <a:latin typeface="Noto Sans KR" pitchFamily="34" charset="0"/>
                          <a:ea typeface="Noto Sans KR" pitchFamily="34" charset="-122"/>
                          <a:cs typeface="Noto Sans KR" pitchFamily="34" charset="-120"/>
                        </a:rPr>
                        <a:t>웍스아웃 (WORKSOUT)</a:t>
                      </a:r>
                      <a:endParaRPr lang="en-US" sz="800" dirty="0">
                        <a:latin typeface="Noto Sans KR" charset="0"/>
                        <a:ea typeface="Noto Sans KR" charset="0"/>
                        <a:cs typeface="Noto Sans KR" charset="0"/>
                      </a:endParaRPr>
                    </a:p>
                    <a:p>
                      <a:pPr algn="l" indent="0" marL="0">
                        <a:buNone/>
                      </a:pPr>
                      <a:r>
                        <a:rPr lang="en-US" sz="800" dirty="0">
                          <a:solidFill>
                            <a:srgbClr val="334155"/>
                          </a:solidFill>
                          <a:latin typeface="Noto Sans KR" pitchFamily="34" charset="0"/>
                          <a:ea typeface="Noto Sans KR" pitchFamily="34" charset="-122"/>
                          <a:cs typeface="Noto Sans KR" pitchFamily="34" charset="-120"/>
                        </a:rPr>
                        <a:t>편집숍 · 서울 강남구 (압구정점)</a:t>
                      </a:r>
                      <a:endParaRPr lang="en-US" sz="800" dirty="0">
                        <a:latin typeface="Noto Sans KR" charset="0"/>
                        <a:ea typeface="Noto Sans KR" charset="0"/>
                        <a:cs typeface="Noto Sans KR" charset="0"/>
                      </a:endParaRPr>
                    </a:p>
                  </a:txBody>
                  <a:tcPr marL="76200" marR="762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800" dirty="0">
                          <a:solidFill>
                            <a:srgbClr val="334155"/>
                          </a:solidFill>
                          <a:latin typeface="Noto Sans KR" pitchFamily="34" charset="0"/>
                          <a:ea typeface="Noto Sans KR" pitchFamily="34" charset="-122"/>
                          <a:cs typeface="Noto Sans KR" pitchFamily="34" charset="-120"/>
                        </a:rPr>
                        <a:t>압구정점 매장  02-541-0840</a:t>
                      </a:r>
                      <a:endParaRPr lang="en-US" sz="800" dirty="0">
                        <a:latin typeface="Noto Sans KR" charset="0"/>
                        <a:ea typeface="Noto Sans KR" charset="0"/>
                        <a:cs typeface="Noto Sans KR" charset="0"/>
                      </a:endParaRPr>
                    </a:p>
                    <a:p>
                      <a:pPr algn="l" indent="0" marL="0">
                        <a:buNone/>
                      </a:pPr>
                      <a:r>
                        <a:rPr lang="en-US" sz="800" dirty="0">
                          <a:solidFill>
                            <a:srgbClr val="334155"/>
                          </a:solidFill>
                          <a:latin typeface="Noto Sans KR" pitchFamily="34" charset="0"/>
                          <a:ea typeface="Noto Sans KR" pitchFamily="34" charset="-122"/>
                          <a:cs typeface="Noto Sans KR" pitchFamily="34" charset="-120"/>
                        </a:rPr>
                        <a:t>고객센터  02-541-0854</a:t>
                      </a:r>
                      <a:endParaRPr lang="en-US" sz="800" dirty="0">
                        <a:latin typeface="Noto Sans KR" charset="0"/>
                        <a:ea typeface="Noto Sans KR" charset="0"/>
                        <a:cs typeface="Noto Sans KR" charset="0"/>
                      </a:endParaRPr>
                    </a:p>
                  </a:txBody>
                  <a:tcPr marL="76200" marR="762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800" dirty="0">
                          <a:solidFill>
                            <a:srgbClr val="334155"/>
                          </a:solidFill>
                          <a:latin typeface="Noto Sans KR" pitchFamily="34" charset="0"/>
                          <a:ea typeface="Noto Sans KR" pitchFamily="34" charset="-122"/>
                          <a:cs typeface="Noto Sans KR" pitchFamily="34" charset="-120"/>
                        </a:rPr>
                        <a:t>10월 20일(화)</a:t>
                      </a:r>
                      <a:endParaRPr lang="en-US" sz="800" dirty="0">
                        <a:latin typeface="Noto Sans KR" charset="0"/>
                        <a:ea typeface="Noto Sans KR" charset="0"/>
                        <a:cs typeface="Noto Sans KR" charset="0"/>
                      </a:endParaRPr>
                    </a:p>
                    <a:p>
                      <a:pPr algn="l" indent="0" marL="0">
                        <a:buNone/>
                      </a:pPr>
                      <a:r>
                        <a:rPr lang="en-US" sz="800" dirty="0">
                          <a:solidFill>
                            <a:srgbClr val="334155"/>
                          </a:solidFill>
                          <a:latin typeface="Noto Sans KR" pitchFamily="34" charset="0"/>
                          <a:ea typeface="Noto Sans KR" pitchFamily="34" charset="-122"/>
                          <a:cs typeface="Noto Sans KR" pitchFamily="34" charset="-120"/>
                        </a:rPr>
                        <a:t>11:10</a:t>
                      </a:r>
                      <a:endParaRPr lang="en-US" sz="800" dirty="0">
                        <a:latin typeface="Noto Sans KR" charset="0"/>
                        <a:ea typeface="Noto Sans KR" charset="0"/>
                        <a:cs typeface="Noto Sans KR" charset="0"/>
                      </a:endParaRPr>
                    </a:p>
                  </a:txBody>
                  <a:tcPr marL="76200" marR="762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800" b="1" dirty="0">
                          <a:solidFill>
                            <a:srgbClr val="C2410C"/>
                          </a:solidFill>
                          <a:latin typeface="Noto Sans KR" pitchFamily="34" charset="0"/>
                          <a:ea typeface="Noto Sans KR" pitchFamily="34" charset="-122"/>
                          <a:cs typeface="Noto Sans KR" pitchFamily="34" charset="-120"/>
                        </a:rPr>
                        <a:t>매장 연결 안 됨</a:t>
                      </a:r>
                      <a:endParaRPr lang="en-US" sz="800" dirty="0">
                        <a:latin typeface="Noto Sans KR" charset="0"/>
                        <a:ea typeface="Noto Sans KR" charset="0"/>
                        <a:cs typeface="Noto Sans KR" charset="0"/>
                      </a:endParaRPr>
                    </a:p>
                    <a:p>
                      <a:pPr algn="l" indent="0" marL="0">
                        <a:buNone/>
                      </a:pPr>
                      <a:r>
                        <a:rPr lang="en-US" sz="800" b="1" dirty="0">
                          <a:solidFill>
                            <a:srgbClr val="C2410C"/>
                          </a:solidFill>
                          <a:latin typeface="Noto Sans KR" pitchFamily="34" charset="0"/>
                          <a:ea typeface="Noto Sans KR" pitchFamily="34" charset="-122"/>
                          <a:cs typeface="Noto Sans KR" pitchFamily="34" charset="-120"/>
                        </a:rPr>
                        <a:t>바이어 연결 불가</a:t>
                      </a:r>
                      <a:endParaRPr lang="en-US" sz="800" dirty="0">
                        <a:latin typeface="Noto Sans KR" charset="0"/>
                        <a:ea typeface="Noto Sans KR" charset="0"/>
                        <a:cs typeface="Noto Sans KR" charset="0"/>
                      </a:endParaRPr>
                    </a:p>
                  </a:txBody>
                  <a:tcPr marL="76200" marR="762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l" indent="0" marL="0">
                        <a:buNone/>
                      </a:pPr>
                      <a:r>
                        <a:rPr lang="en-US" sz="800" dirty="0">
                          <a:solidFill>
                            <a:srgbClr val="334155"/>
                          </a:solidFill>
                          <a:latin typeface="Noto Sans KR" pitchFamily="34" charset="0"/>
                          <a:ea typeface="Noto Sans KR" pitchFamily="34" charset="-122"/>
                          <a:cs typeface="Noto Sans KR" pitchFamily="34" charset="-120"/>
                        </a:rPr>
                        <a:t>압구정점은 판매 시간(12시) 전이라 전화가 연결되지 않았다.</a:t>
                      </a:r>
                      <a:endParaRPr lang="en-US" sz="800" dirty="0">
                        <a:latin typeface="Noto Sans KR" charset="0"/>
                        <a:ea typeface="Noto Sans KR" charset="0"/>
                        <a:cs typeface="Noto Sans KR" charset="0"/>
                      </a:endParaRPr>
                    </a:p>
                    <a:p>
                      <a:pPr algn="l" indent="0" marL="0">
                        <a:buNone/>
                      </a:pPr>
                      <a:r>
                        <a:rPr lang="en-US" sz="800" dirty="0">
                          <a:solidFill>
                            <a:srgbClr val="334155"/>
                          </a:solidFill>
                          <a:latin typeface="Noto Sans KR" pitchFamily="34" charset="0"/>
                          <a:ea typeface="Noto Sans KR" pitchFamily="34" charset="-122"/>
                          <a:cs typeface="Noto Sans KR" pitchFamily="34" charset="-120"/>
                        </a:rPr>
                        <a:t>고객센터(평일 9:30~17:30)는 공식 안내상 주문·배송 문의 창구라,</a:t>
                      </a:r>
                      <a:endParaRPr lang="en-US" sz="800" dirty="0">
                        <a:latin typeface="Noto Sans KR" charset="0"/>
                        <a:ea typeface="Noto Sans KR" charset="0"/>
                        <a:cs typeface="Noto Sans KR" charset="0"/>
                      </a:endParaRPr>
                    </a:p>
                    <a:p>
                      <a:pPr algn="l" indent="0" marL="0">
                        <a:buNone/>
                      </a:pPr>
                      <a:r>
                        <a:rPr lang="en-US" sz="800" dirty="0">
                          <a:solidFill>
                            <a:srgbClr val="334155"/>
                          </a:solidFill>
                          <a:latin typeface="Noto Sans KR" pitchFamily="34" charset="0"/>
                          <a:ea typeface="Noto Sans KR" pitchFamily="34" charset="-122"/>
                          <a:cs typeface="Noto Sans KR" pitchFamily="34" charset="-120"/>
                        </a:rPr>
                        <a:t>바잉 담당자와 연결되는 경로가 아니다.</a:t>
                      </a:r>
                      <a:endParaRPr lang="en-US" sz="800" dirty="0">
                        <a:latin typeface="Noto Sans KR" charset="0"/>
                        <a:ea typeface="Noto Sans KR" charset="0"/>
                        <a:cs typeface="Noto Sans KR" charset="0"/>
                      </a:endParaRPr>
                    </a:p>
                  </a:txBody>
                  <a:tcPr marL="76200" marR="762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bl>
          </a:graphicData>
        </a:graphic>
      </p:graphicFrame>
      <p:sp>
        <p:nvSpPr>
          <p:cNvPr id="8" name="제목 연결되지 않은 이유"/>
          <p:cNvSpPr txBox="1"/>
          <p:nvPr/>
        </p:nvSpPr>
        <p:spPr>
          <a:xfrm>
            <a:off x="612648" y="3182031"/>
            <a:ext cx="3532632" cy="237744"/>
          </a:xfrm>
          <a:prstGeom prst="rect">
            <a:avLst/>
          </a:prstGeom>
          <a:noFill/>
          <a:ln/>
        </p:spPr>
        <p:txBody>
          <a:bodyPr wrap="square" lIns="0" tIns="0" rIns="0" bIns="0" rtlCol="0" anchor="ctr"/>
          <a:lstStyle/>
          <a:p>
            <a:pPr algn="l" indent="0" marL="0">
              <a:lnSpc>
                <a:spcPct val="100000"/>
              </a:lnSpc>
              <a:buNone/>
            </a:pPr>
            <a:r>
              <a:rPr lang="en-US" sz="1050" b="1" dirty="0">
                <a:solidFill>
                  <a:srgbClr val="182F48"/>
                </a:solidFill>
                <a:latin typeface="Noto Sans KR" pitchFamily="34" charset="0"/>
                <a:ea typeface="Noto Sans KR" pitchFamily="34" charset="-122"/>
                <a:cs typeface="Noto Sans KR" pitchFamily="34" charset="-120"/>
              </a:rPr>
              <a:t>연결되지 않은 이유</a:t>
            </a:r>
            <a:endParaRPr lang="en-US" sz="1050" dirty="0"/>
          </a:p>
        </p:txBody>
      </p:sp>
      <p:sp>
        <p:nvSpPr>
          <p:cNvPr id="9" name="제목 사전 가정"/>
          <p:cNvSpPr txBox="1"/>
          <p:nvPr/>
        </p:nvSpPr>
        <p:spPr>
          <a:xfrm>
            <a:off x="4328160" y="3182031"/>
            <a:ext cx="3532632" cy="237744"/>
          </a:xfrm>
          <a:prstGeom prst="rect">
            <a:avLst/>
          </a:prstGeom>
          <a:noFill/>
          <a:ln/>
        </p:spPr>
        <p:txBody>
          <a:bodyPr wrap="square" lIns="0" tIns="0" rIns="0" bIns="0" rtlCol="0" anchor="ctr"/>
          <a:lstStyle/>
          <a:p>
            <a:pPr algn="l" indent="0" marL="0">
              <a:lnSpc>
                <a:spcPct val="100000"/>
              </a:lnSpc>
              <a:buNone/>
            </a:pPr>
            <a:r>
              <a:rPr lang="en-US" sz="1050" b="1" dirty="0">
                <a:solidFill>
                  <a:srgbClr val="182F48"/>
                </a:solidFill>
                <a:latin typeface="Noto Sans KR" pitchFamily="34" charset="0"/>
                <a:ea typeface="Noto Sans KR" pitchFamily="34" charset="-122"/>
                <a:cs typeface="Noto Sans KR" pitchFamily="34" charset="-120"/>
              </a:rPr>
              <a:t>사전 가정</a:t>
            </a:r>
            <a:endParaRPr lang="en-US" sz="1050" dirty="0"/>
          </a:p>
        </p:txBody>
      </p:sp>
      <p:sp>
        <p:nvSpPr>
          <p:cNvPr id="10" name="제목 준비한 질문 · 대본 (별도 PDF 5쪽)"/>
          <p:cNvSpPr txBox="1"/>
          <p:nvPr/>
        </p:nvSpPr>
        <p:spPr>
          <a:xfrm>
            <a:off x="8043672" y="3182031"/>
            <a:ext cx="3532632" cy="237744"/>
          </a:xfrm>
          <a:prstGeom prst="rect">
            <a:avLst/>
          </a:prstGeom>
          <a:noFill/>
          <a:ln/>
        </p:spPr>
        <p:txBody>
          <a:bodyPr wrap="square" lIns="0" tIns="0" rIns="0" bIns="0" rtlCol="0" anchor="ctr"/>
          <a:lstStyle/>
          <a:p>
            <a:pPr algn="l" indent="0" marL="0">
              <a:lnSpc>
                <a:spcPct val="100000"/>
              </a:lnSpc>
              <a:buNone/>
            </a:pPr>
            <a:r>
              <a:rPr lang="en-US" sz="1050" b="1" dirty="0">
                <a:solidFill>
                  <a:srgbClr val="182F48"/>
                </a:solidFill>
                <a:latin typeface="Noto Sans KR" pitchFamily="34" charset="0"/>
                <a:ea typeface="Noto Sans KR" pitchFamily="34" charset="-122"/>
                <a:cs typeface="Noto Sans KR" pitchFamily="34" charset="-120"/>
              </a:rPr>
              <a:t>준비한 질문 · 대본 (별도 PDF 5쪽)</a:t>
            </a:r>
            <a:endParaRPr lang="en-US" sz="1050" dirty="0"/>
          </a:p>
        </p:txBody>
      </p:sp>
      <p:sp>
        <p:nvSpPr>
          <p:cNvPr id="11" name="연결 불가 이유"/>
          <p:cNvSpPr txBox="1"/>
          <p:nvPr/>
        </p:nvSpPr>
        <p:spPr>
          <a:xfrm>
            <a:off x="612648" y="3474639"/>
            <a:ext cx="3532632" cy="2066625"/>
          </a:xfrm>
          <a:prstGeom prst="rect">
            <a:avLst/>
          </a:prstGeom>
          <a:noFill/>
          <a:ln/>
        </p:spPr>
        <p:txBody>
          <a:bodyPr wrap="square" lIns="0" tIns="0" rIns="0" bIns="0" rtlCol="0" anchor="ctr"/>
          <a:lstStyle/>
          <a:p>
            <a:pPr algn="l" indent="0" marL="0">
              <a:lnSpc>
                <a:spcPct val="95000"/>
              </a:lnSpc>
              <a:spcAft>
                <a:spcPts val="200"/>
              </a:spcAft>
              <a:buNone/>
            </a:pPr>
            <a:r>
              <a:rPr lang="en-US" sz="850" b="1" dirty="0">
                <a:solidFill>
                  <a:srgbClr val="182F48"/>
                </a:solidFill>
                <a:latin typeface="Noto Sans KR" pitchFamily="34" charset="0"/>
                <a:ea typeface="Noto Sans KR" pitchFamily="34" charset="-122"/>
                <a:cs typeface="Noto Sans KR" pitchFamily="34" charset="-120"/>
              </a:rPr>
              <a:t>① 직통 번호가 없다</a:t>
            </a:r>
            <a:endParaRPr lang="en-US" sz="850" dirty="0"/>
          </a:p>
          <a:p>
            <a:pPr algn="l" indent="0" marL="0">
              <a:lnSpc>
                <a:spcPct val="95000"/>
              </a:lnSpc>
              <a:spcAft>
                <a:spcPts val="200"/>
              </a:spcAft>
              <a:buNone/>
            </a:pPr>
            <a:r>
              <a:rPr lang="en-US" sz="850" dirty="0">
                <a:solidFill>
                  <a:srgbClr val="334155"/>
                </a:solidFill>
                <a:latin typeface="Noto Sans KR" pitchFamily="34" charset="0"/>
                <a:ea typeface="Noto Sans KR" pitchFamily="34" charset="-122"/>
                <a:cs typeface="Noto Sans KR" pitchFamily="34" charset="-120"/>
              </a:rPr>
              <a:t>바이어 연락처는 비공개, 공개 번호는 매장·고객센터로 간다.</a:t>
            </a:r>
            <a:endParaRPr lang="en-US" sz="850" dirty="0"/>
          </a:p>
          <a:p>
            <a:pPr algn="l" indent="0" marL="0">
              <a:lnSpc>
                <a:spcPct val="95000"/>
              </a:lnSpc>
              <a:spcAft>
                <a:spcPts val="200"/>
              </a:spcAft>
              <a:buNone/>
            </a:pPr>
            <a:r>
              <a:rPr lang="en-US" sz="850" b="1" dirty="0">
                <a:solidFill>
                  <a:srgbClr val="182F48"/>
                </a:solidFill>
                <a:latin typeface="Noto Sans KR" pitchFamily="34" charset="0"/>
                <a:ea typeface="Noto Sans KR" pitchFamily="34" charset="-122"/>
                <a:cs typeface="Noto Sans KR" pitchFamily="34" charset="-120"/>
              </a:rPr>
              <a:t>② 고객센터는 주문·배송 전용이다</a:t>
            </a:r>
            <a:endParaRPr lang="en-US" sz="850" dirty="0"/>
          </a:p>
          <a:p>
            <a:pPr algn="l" indent="0" marL="0">
              <a:lnSpc>
                <a:spcPct val="95000"/>
              </a:lnSpc>
              <a:spcAft>
                <a:spcPts val="200"/>
              </a:spcAft>
              <a:buNone/>
            </a:pPr>
            <a:r>
              <a:rPr lang="en-US" sz="850" dirty="0">
                <a:solidFill>
                  <a:srgbClr val="334155"/>
                </a:solidFill>
                <a:latin typeface="Noto Sans KR" pitchFamily="34" charset="0"/>
                <a:ea typeface="Noto Sans KR" pitchFamily="34" charset="-122"/>
                <a:cs typeface="Noto Sans KR" pitchFamily="34" charset="-120"/>
              </a:rPr>
              <a:t>두 곳 모두 쇼핑몰 주문·배송 문의 창구로 안내한다.</a:t>
            </a:r>
            <a:endParaRPr lang="en-US" sz="850" dirty="0"/>
          </a:p>
          <a:p>
            <a:pPr algn="l" indent="0" marL="0">
              <a:lnSpc>
                <a:spcPct val="95000"/>
              </a:lnSpc>
              <a:spcAft>
                <a:spcPts val="200"/>
              </a:spcAft>
              <a:buNone/>
            </a:pPr>
            <a:r>
              <a:rPr lang="en-US" sz="850" b="1" dirty="0">
                <a:solidFill>
                  <a:srgbClr val="182F48"/>
                </a:solidFill>
                <a:latin typeface="Noto Sans KR" pitchFamily="34" charset="0"/>
                <a:ea typeface="Noto Sans KR" pitchFamily="34" charset="-122"/>
                <a:cs typeface="Noto Sans KR" pitchFamily="34" charset="-120"/>
              </a:rPr>
              <a:t>③ 매장과 바잉은 하는 사람이 다르다</a:t>
            </a:r>
            <a:endParaRPr lang="en-US" sz="850" dirty="0"/>
          </a:p>
          <a:p>
            <a:pPr algn="l" indent="0" marL="0">
              <a:lnSpc>
                <a:spcPct val="95000"/>
              </a:lnSpc>
              <a:spcAft>
                <a:spcPts val="200"/>
              </a:spcAft>
              <a:buNone/>
            </a:pPr>
            <a:r>
              <a:rPr lang="en-US" sz="850" dirty="0">
                <a:solidFill>
                  <a:srgbClr val="334155"/>
                </a:solidFill>
                <a:latin typeface="Noto Sans KR" pitchFamily="34" charset="0"/>
                <a:ea typeface="Noto Sans KR" pitchFamily="34" charset="-122"/>
                <a:cs typeface="Noto Sans KR" pitchFamily="34" charset="-120"/>
              </a:rPr>
              <a:t>매장 직원은 판매를, 브랜드 선정은 본사가 맡는다.</a:t>
            </a:r>
            <a:endParaRPr lang="en-US" sz="850" dirty="0"/>
          </a:p>
          <a:p>
            <a:pPr algn="l" indent="0" marL="0">
              <a:lnSpc>
                <a:spcPct val="95000"/>
              </a:lnSpc>
              <a:spcAft>
                <a:spcPts val="200"/>
              </a:spcAft>
              <a:buNone/>
            </a:pPr>
            <a:r>
              <a:rPr lang="en-US" sz="850" b="1" dirty="0">
                <a:solidFill>
                  <a:srgbClr val="182F48"/>
                </a:solidFill>
                <a:latin typeface="Noto Sans KR" pitchFamily="34" charset="0"/>
                <a:ea typeface="Noto Sans KR" pitchFamily="34" charset="-122"/>
                <a:cs typeface="Noto Sans KR" pitchFamily="34" charset="-120"/>
              </a:rPr>
              <a:t>④ 매장은 낮 12시에 연다</a:t>
            </a:r>
            <a:endParaRPr lang="en-US" sz="850" dirty="0"/>
          </a:p>
          <a:p>
            <a:pPr algn="l" indent="0" marL="0">
              <a:lnSpc>
                <a:spcPct val="95000"/>
              </a:lnSpc>
              <a:spcAft>
                <a:spcPts val="200"/>
              </a:spcAft>
              <a:buNone/>
            </a:pPr>
            <a:r>
              <a:rPr lang="en-US" sz="850" dirty="0">
                <a:solidFill>
                  <a:srgbClr val="334155"/>
                </a:solidFill>
                <a:latin typeface="Noto Sans KR" pitchFamily="34" charset="0"/>
                <a:ea typeface="Noto Sans KR" pitchFamily="34" charset="-122"/>
                <a:cs typeface="Noto Sans KR" pitchFamily="34" charset="-120"/>
              </a:rPr>
              <a:t>오전 통화는 매장에 닿지 않는다. (웍스아웃 11:10)</a:t>
            </a:r>
            <a:endParaRPr lang="en-US" sz="850" dirty="0"/>
          </a:p>
          <a:p>
            <a:pPr algn="l" indent="0" marL="0">
              <a:lnSpc>
                <a:spcPct val="95000"/>
              </a:lnSpc>
              <a:spcAft>
                <a:spcPts val="200"/>
              </a:spcAft>
              <a:buNone/>
            </a:pPr>
            <a:r>
              <a:rPr lang="en-US" sz="850" b="1" dirty="0">
                <a:solidFill>
                  <a:srgbClr val="182F48"/>
                </a:solidFill>
                <a:latin typeface="Noto Sans KR" pitchFamily="34" charset="0"/>
                <a:ea typeface="Noto Sans KR" pitchFamily="34" charset="-122"/>
                <a:cs typeface="Noto Sans KR" pitchFamily="34" charset="-120"/>
              </a:rPr>
              <a:t>⑤ 공식 창구는 입점 신청뿐이다</a:t>
            </a:r>
            <a:endParaRPr lang="en-US" sz="850" dirty="0"/>
          </a:p>
          <a:p>
            <a:pPr algn="l" indent="0" marL="0">
              <a:lnSpc>
                <a:spcPct val="95000"/>
              </a:lnSpc>
              <a:spcAft>
                <a:spcPts val="200"/>
              </a:spcAft>
              <a:buNone/>
            </a:pPr>
            <a:r>
              <a:rPr lang="en-US" sz="850" dirty="0">
                <a:solidFill>
                  <a:srgbClr val="334155"/>
                </a:solidFill>
                <a:latin typeface="Noto Sans KR" pitchFamily="34" charset="0"/>
                <a:ea typeface="Noto Sans KR" pitchFamily="34" charset="-122"/>
                <a:cs typeface="Noto Sans KR" pitchFamily="34" charset="-120"/>
              </a:rPr>
              <a:t>거래 목적이 아닌 질문은 받아 줄 창구가 없다.</a:t>
            </a:r>
            <a:endParaRPr lang="en-US" sz="850" dirty="0"/>
          </a:p>
        </p:txBody>
      </p:sp>
      <p:sp>
        <p:nvSpPr>
          <p:cNvPr id="12" name="바이어 사전 가정"/>
          <p:cNvSpPr txBox="1"/>
          <p:nvPr/>
        </p:nvSpPr>
        <p:spPr>
          <a:xfrm>
            <a:off x="4328160" y="3474639"/>
            <a:ext cx="3532632" cy="2066625"/>
          </a:xfrm>
          <a:prstGeom prst="roundRect">
            <a:avLst>
              <a:gd name="adj" fmla="val 2212"/>
            </a:avLst>
          </a:prstGeom>
          <a:solidFill>
            <a:srgbClr val="F1F5F9"/>
          </a:solidFill>
          <a:ln/>
        </p:spPr>
        <p:txBody>
          <a:bodyPr wrap="square" lIns="109728" tIns="0" rIns="109728" bIns="0" rtlCol="0" anchor="ctr"/>
          <a:lstStyle/>
          <a:p>
            <a:pPr algn="l" indent="0" marL="0">
              <a:lnSpc>
                <a:spcPct val="95000"/>
              </a:lnSpc>
              <a:spcAft>
                <a:spcPts val="200"/>
              </a:spcAft>
              <a:buNone/>
            </a:pPr>
            <a:r>
              <a:rPr lang="en-US" sz="850" b="1" dirty="0">
                <a:solidFill>
                  <a:srgbClr val="267D86"/>
                </a:solidFill>
                <a:latin typeface="Noto Sans KR" pitchFamily="34" charset="0"/>
                <a:ea typeface="Noto Sans KR" pitchFamily="34" charset="-122"/>
                <a:cs typeface="Noto Sans KR" pitchFamily="34" charset="-120"/>
              </a:rPr>
              <a:t>가정 1</a:t>
            </a:r>
            <a:endParaRPr lang="en-US" sz="850" dirty="0"/>
          </a:p>
          <a:p>
            <a:pPr algn="l" indent="0" marL="0">
              <a:lnSpc>
                <a:spcPct val="95000"/>
              </a:lnSpc>
              <a:spcAft>
                <a:spcPts val="200"/>
              </a:spcAft>
              <a:buNone/>
            </a:pPr>
            <a:r>
              <a:rPr lang="en-US" sz="850" dirty="0">
                <a:solidFill>
                  <a:srgbClr val="334155"/>
                </a:solidFill>
                <a:latin typeface="Noto Sans KR" pitchFamily="34" charset="0"/>
                <a:ea typeface="Noto Sans KR" pitchFamily="34" charset="-122"/>
                <a:cs typeface="Noto Sans KR" pitchFamily="34" charset="-120"/>
              </a:rPr>
              <a:t>국내 신진 브랜드는 SNS나 지인 소개로 찾아 시간이 많이 든다.</a:t>
            </a:r>
            <a:endParaRPr lang="en-US" sz="850" dirty="0"/>
          </a:p>
          <a:p>
            <a:pPr algn="l" indent="0" marL="0">
              <a:lnSpc>
                <a:spcPct val="95000"/>
              </a:lnSpc>
              <a:spcAft>
                <a:spcPts val="200"/>
              </a:spcAft>
              <a:buNone/>
            </a:pPr>
            <a:r>
              <a:rPr lang="en-US" sz="850" dirty="0">
                <a:solidFill>
                  <a:srgbClr val="64748B"/>
                </a:solidFill>
                <a:latin typeface="Noto Sans KR" pitchFamily="34" charset="0"/>
                <a:ea typeface="Noto Sans KR" pitchFamily="34" charset="-122"/>
                <a:cs typeface="Noto Sans KR" pitchFamily="34" charset="-120"/>
              </a:rPr>
              <a:t>→ 질문 1 · 3으로 확인하려 했다</a:t>
            </a:r>
            <a:endParaRPr lang="en-US" sz="850" dirty="0"/>
          </a:p>
          <a:p>
            <a:pPr algn="l" indent="0" marL="0">
              <a:lnSpc>
                <a:spcPct val="95000"/>
              </a:lnSpc>
              <a:spcAft>
                <a:spcPts val="200"/>
              </a:spcAft>
              <a:buNone/>
            </a:pPr>
            <a:r>
              <a:rPr lang="en-US" sz="850" b="1" dirty="0">
                <a:solidFill>
                  <a:srgbClr val="267D86"/>
                </a:solidFill>
                <a:latin typeface="Noto Sans KR" pitchFamily="34" charset="0"/>
                <a:ea typeface="Noto Sans KR" pitchFamily="34" charset="-122"/>
                <a:cs typeface="Noto Sans KR" pitchFamily="34" charset="-120"/>
              </a:rPr>
              <a:t>가정 2</a:t>
            </a:r>
            <a:endParaRPr lang="en-US" sz="850" dirty="0"/>
          </a:p>
          <a:p>
            <a:pPr algn="l" indent="0" marL="0">
              <a:lnSpc>
                <a:spcPct val="95000"/>
              </a:lnSpc>
              <a:spcAft>
                <a:spcPts val="200"/>
              </a:spcAft>
              <a:buNone/>
            </a:pPr>
            <a:r>
              <a:rPr lang="en-US" sz="850" dirty="0">
                <a:solidFill>
                  <a:srgbClr val="334155"/>
                </a:solidFill>
                <a:latin typeface="Noto Sans KR" pitchFamily="34" charset="0"/>
                <a:ea typeface="Noto Sans KR" pitchFamily="34" charset="-122"/>
                <a:cs typeface="Noto Sans KR" pitchFamily="34" charset="-120"/>
              </a:rPr>
              <a:t>신진 브랜드는 물량·납기·품질이 불안해 들여오기를 망설인다.</a:t>
            </a:r>
            <a:endParaRPr lang="en-US" sz="850" dirty="0"/>
          </a:p>
          <a:p>
            <a:pPr algn="l" indent="0" marL="0">
              <a:lnSpc>
                <a:spcPct val="95000"/>
              </a:lnSpc>
              <a:spcAft>
                <a:spcPts val="200"/>
              </a:spcAft>
              <a:buNone/>
            </a:pPr>
            <a:r>
              <a:rPr lang="en-US" sz="850" dirty="0">
                <a:solidFill>
                  <a:srgbClr val="64748B"/>
                </a:solidFill>
                <a:latin typeface="Noto Sans KR" pitchFamily="34" charset="0"/>
                <a:ea typeface="Noto Sans KR" pitchFamily="34" charset="-122"/>
                <a:cs typeface="Noto Sans KR" pitchFamily="34" charset="-120"/>
              </a:rPr>
              <a:t>→ 질문 2 · 6으로 확인하려 했다</a:t>
            </a:r>
            <a:endParaRPr lang="en-US" sz="850" dirty="0"/>
          </a:p>
          <a:p>
            <a:pPr algn="l" indent="0" marL="0">
              <a:lnSpc>
                <a:spcPct val="95000"/>
              </a:lnSpc>
              <a:spcAft>
                <a:spcPts val="200"/>
              </a:spcAft>
              <a:buNone/>
            </a:pPr>
            <a:r>
              <a:rPr lang="en-US" sz="850" b="1" dirty="0">
                <a:solidFill>
                  <a:srgbClr val="267D86"/>
                </a:solidFill>
                <a:latin typeface="Noto Sans KR" pitchFamily="34" charset="0"/>
                <a:ea typeface="Noto Sans KR" pitchFamily="34" charset="-122"/>
                <a:cs typeface="Noto Sans KR" pitchFamily="34" charset="-120"/>
              </a:rPr>
              <a:t>가정 3</a:t>
            </a:r>
            <a:endParaRPr lang="en-US" sz="850" dirty="0"/>
          </a:p>
          <a:p>
            <a:pPr algn="l" indent="0" marL="0">
              <a:lnSpc>
                <a:spcPct val="95000"/>
              </a:lnSpc>
              <a:spcAft>
                <a:spcPts val="200"/>
              </a:spcAft>
              <a:buNone/>
            </a:pPr>
            <a:r>
              <a:rPr lang="en-US" sz="850" dirty="0">
                <a:solidFill>
                  <a:srgbClr val="334155"/>
                </a:solidFill>
                <a:latin typeface="Noto Sans KR" pitchFamily="34" charset="0"/>
                <a:ea typeface="Noto Sans KR" pitchFamily="34" charset="-122"/>
                <a:cs typeface="Noto Sans KR" pitchFamily="34" charset="-120"/>
              </a:rPr>
              <a:t>한자리 비교와 1:1 상담이 있다면 바이어로 참관한다.</a:t>
            </a:r>
            <a:endParaRPr lang="en-US" sz="850" dirty="0"/>
          </a:p>
          <a:p>
            <a:pPr algn="l" indent="0" marL="0">
              <a:lnSpc>
                <a:spcPct val="95000"/>
              </a:lnSpc>
              <a:spcAft>
                <a:spcPts val="200"/>
              </a:spcAft>
              <a:buNone/>
            </a:pPr>
            <a:r>
              <a:rPr lang="en-US" sz="850" dirty="0">
                <a:solidFill>
                  <a:srgbClr val="64748B"/>
                </a:solidFill>
                <a:latin typeface="Noto Sans KR" pitchFamily="34" charset="0"/>
                <a:ea typeface="Noto Sans KR" pitchFamily="34" charset="-122"/>
                <a:cs typeface="Noto Sans KR" pitchFamily="34" charset="-120"/>
              </a:rPr>
              <a:t>→ 질문 4 · 5 · 7로 확인하려 했다</a:t>
            </a:r>
            <a:endParaRPr lang="en-US" sz="850" dirty="0"/>
          </a:p>
        </p:txBody>
      </p:sp>
      <p:sp>
        <p:nvSpPr>
          <p:cNvPr id="13" name="준비한 질문"/>
          <p:cNvSpPr txBox="1"/>
          <p:nvPr/>
        </p:nvSpPr>
        <p:spPr>
          <a:xfrm>
            <a:off x="8043672" y="3474639"/>
            <a:ext cx="3532632" cy="2066625"/>
          </a:xfrm>
          <a:prstGeom prst="roundRect">
            <a:avLst>
              <a:gd name="adj" fmla="val 2212"/>
            </a:avLst>
          </a:prstGeom>
          <a:solidFill>
            <a:srgbClr val="E6F2F3"/>
          </a:solidFill>
          <a:ln/>
        </p:spPr>
        <p:txBody>
          <a:bodyPr wrap="square" lIns="109728" tIns="0" rIns="109728" bIns="0" rtlCol="0" anchor="ctr"/>
          <a:lstStyle/>
          <a:p>
            <a:pPr algn="l" indent="0" marL="0">
              <a:lnSpc>
                <a:spcPct val="95000"/>
              </a:lnSpc>
              <a:spcAft>
                <a:spcPts val="200"/>
              </a:spcAft>
              <a:buNone/>
            </a:pPr>
            <a:r>
              <a:rPr lang="en-US" sz="850" b="1" dirty="0">
                <a:solidFill>
                  <a:srgbClr val="182F48"/>
                </a:solidFill>
                <a:latin typeface="Noto Sans KR" pitchFamily="34" charset="0"/>
                <a:ea typeface="Noto Sans KR" pitchFamily="34" charset="-122"/>
                <a:cs typeface="Noto Sans KR" pitchFamily="34" charset="-120"/>
              </a:rPr>
              <a:t>① 행사 설명 대본 (약 1분)</a:t>
            </a:r>
            <a:endParaRPr lang="en-US" sz="850" dirty="0"/>
          </a:p>
          <a:p>
            <a:pPr algn="l" indent="0" marL="0">
              <a:lnSpc>
                <a:spcPct val="95000"/>
              </a:lnSpc>
              <a:spcAft>
                <a:spcPts val="200"/>
              </a:spcAft>
              <a:buNone/>
            </a:pPr>
            <a:r>
              <a:rPr lang="en-US" sz="850" dirty="0">
                <a:solidFill>
                  <a:srgbClr val="334155"/>
                </a:solidFill>
                <a:latin typeface="Noto Sans KR" pitchFamily="34" charset="0"/>
                <a:ea typeface="Noto Sans KR" pitchFamily="34" charset="-122"/>
                <a:cs typeface="Noto Sans KR" pitchFamily="34" charset="-120"/>
              </a:rPr>
              <a:t>문제 제기 → 행사 개요 (나흘 · 브랜드 90 · 생산 60곳)</a:t>
            </a:r>
            <a:endParaRPr lang="en-US" sz="850" dirty="0"/>
          </a:p>
          <a:p>
            <a:pPr algn="l" indent="0" marL="0">
              <a:lnSpc>
                <a:spcPct val="95000"/>
              </a:lnSpc>
              <a:spcAft>
                <a:spcPts val="200"/>
              </a:spcAft>
              <a:buNone/>
            </a:pPr>
            <a:r>
              <a:rPr lang="en-US" sz="850" b="1" dirty="0">
                <a:solidFill>
                  <a:srgbClr val="182F48"/>
                </a:solidFill>
                <a:latin typeface="Noto Sans KR" pitchFamily="34" charset="0"/>
                <a:ea typeface="Noto Sans KR" pitchFamily="34" charset="-122"/>
                <a:cs typeface="Noto Sans KR" pitchFamily="34" charset="-120"/>
              </a:rPr>
              <a:t>② 바이어의 역할과 혜택</a:t>
            </a:r>
            <a:endParaRPr lang="en-US" sz="850" dirty="0"/>
          </a:p>
          <a:p>
            <a:pPr algn="l" indent="0" marL="0">
              <a:lnSpc>
                <a:spcPct val="95000"/>
              </a:lnSpc>
              <a:spcAft>
                <a:spcPts val="200"/>
              </a:spcAft>
              <a:buNone/>
            </a:pPr>
            <a:r>
              <a:rPr lang="en-US" sz="850" dirty="0">
                <a:solidFill>
                  <a:srgbClr val="334155"/>
                </a:solidFill>
                <a:latin typeface="Noto Sans KR" pitchFamily="34" charset="0"/>
                <a:ea typeface="Noto Sans KR" pitchFamily="34" charset="-122"/>
                <a:cs typeface="Noto Sans KR" pitchFamily="34" charset="-120"/>
              </a:rPr>
              <a:t>1:1 사전 상담 · 생산 업체 동석 · 시험 결과 · 무료 참관</a:t>
            </a:r>
            <a:endParaRPr lang="en-US" sz="850" dirty="0"/>
          </a:p>
          <a:p>
            <a:pPr algn="l" indent="0" marL="0">
              <a:lnSpc>
                <a:spcPct val="95000"/>
              </a:lnSpc>
              <a:spcAft>
                <a:spcPts val="200"/>
              </a:spcAft>
              <a:buNone/>
            </a:pPr>
            <a:r>
              <a:rPr lang="en-US" sz="850" b="1" dirty="0">
                <a:solidFill>
                  <a:srgbClr val="182F48"/>
                </a:solidFill>
                <a:latin typeface="Noto Sans KR" pitchFamily="34" charset="0"/>
                <a:ea typeface="Noto Sans KR" pitchFamily="34" charset="-122"/>
                <a:cs typeface="Noto Sans KR" pitchFamily="34" charset="-120"/>
              </a:rPr>
              <a:t>③ 질문 10개</a:t>
            </a:r>
            <a:endParaRPr lang="en-US" sz="850" dirty="0"/>
          </a:p>
          <a:p>
            <a:pPr algn="l" indent="0" marL="0">
              <a:lnSpc>
                <a:spcPct val="95000"/>
              </a:lnSpc>
              <a:spcAft>
                <a:spcPts val="200"/>
              </a:spcAft>
              <a:buNone/>
            </a:pPr>
            <a:r>
              <a:rPr lang="en-US" sz="850" dirty="0">
                <a:solidFill>
                  <a:srgbClr val="334155"/>
                </a:solidFill>
                <a:latin typeface="Noto Sans KR" pitchFamily="34" charset="0"/>
                <a:ea typeface="Noto Sans KR" pitchFamily="34" charset="-122"/>
                <a:cs typeface="Noto Sans KR" pitchFamily="34" charset="-120"/>
              </a:rPr>
              <a:t>지금 겪는 어려움 3 · 원하는 것 3 · 참관 의향과 걸림돌 4</a:t>
            </a:r>
            <a:endParaRPr lang="en-US" sz="850" dirty="0"/>
          </a:p>
          <a:p>
            <a:pPr algn="l" indent="0" marL="0">
              <a:lnSpc>
                <a:spcPct val="95000"/>
              </a:lnSpc>
              <a:spcAft>
                <a:spcPts val="200"/>
              </a:spcAft>
              <a:buNone/>
            </a:pPr>
            <a:r>
              <a:rPr lang="en-US" sz="850" b="1" dirty="0">
                <a:solidFill>
                  <a:srgbClr val="182F48"/>
                </a:solidFill>
                <a:latin typeface="Noto Sans KR" pitchFamily="34" charset="0"/>
                <a:ea typeface="Noto Sans KR" pitchFamily="34" charset="-122"/>
                <a:cs typeface="Noto Sans KR" pitchFamily="34" charset="-120"/>
              </a:rPr>
              <a:t>④ 예상 질문과 답 · 통화 기록표</a:t>
            </a:r>
            <a:endParaRPr lang="en-US" sz="850" dirty="0"/>
          </a:p>
          <a:p>
            <a:pPr algn="l" indent="0" marL="0">
              <a:lnSpc>
                <a:spcPct val="95000"/>
              </a:lnSpc>
              <a:spcAft>
                <a:spcPts val="200"/>
              </a:spcAft>
              <a:buNone/>
            </a:pPr>
            <a:r>
              <a:rPr lang="en-US" sz="850" dirty="0">
                <a:solidFill>
                  <a:srgbClr val="334155"/>
                </a:solidFill>
                <a:latin typeface="Noto Sans KR" pitchFamily="34" charset="0"/>
                <a:ea typeface="Noto Sans KR" pitchFamily="34" charset="-122"/>
                <a:cs typeface="Noto Sans KR" pitchFamily="34" charset="-120"/>
              </a:rPr>
              <a:t>실제 행사인지 · 비용 · 참가 브랜드 등 4문항과 기록표</a:t>
            </a:r>
            <a:endParaRPr lang="en-US" sz="850" dirty="0"/>
          </a:p>
        </p:txBody>
      </p:sp>
      <p:sp>
        <p:nvSpPr>
          <p:cNvPr id="14" name="준비와 결과"/>
          <p:cNvSpPr txBox="1"/>
          <p:nvPr/>
        </p:nvSpPr>
        <p:spPr>
          <a:xfrm>
            <a:off x="612648" y="5650992"/>
            <a:ext cx="10963656" cy="676656"/>
          </a:xfrm>
          <a:prstGeom prst="roundRect">
            <a:avLst>
              <a:gd name="adj" fmla="val 6757"/>
            </a:avLst>
          </a:prstGeom>
          <a:solidFill>
            <a:srgbClr val="182F48"/>
          </a:solidFill>
          <a:ln/>
        </p:spPr>
        <p:txBody>
          <a:bodyPr wrap="square" lIns="146304" tIns="0" rIns="146304" bIns="0" rtlCol="0" anchor="ctr"/>
          <a:lstStyle/>
          <a:p>
            <a:pPr algn="l" indent="0" marL="0">
              <a:lnSpc>
                <a:spcPct val="100000"/>
              </a:lnSpc>
              <a:spcAft>
                <a:spcPts val="400"/>
              </a:spcAft>
              <a:buNone/>
            </a:pPr>
            <a:r>
              <a:rPr lang="en-US" sz="900" b="1" dirty="0">
                <a:solidFill>
                  <a:srgbClr val="9FE0E6"/>
                </a:solidFill>
                <a:latin typeface="Noto Sans KR" pitchFamily="34" charset="0"/>
                <a:ea typeface="Noto Sans KR" pitchFamily="34" charset="-122"/>
                <a:cs typeface="Noto Sans KR" pitchFamily="34" charset="-120"/>
              </a:rPr>
              <a:t>준비한 것  </a:t>
            </a:r>
            <a:pPr algn="l" indent="0" marL="0">
              <a:lnSpc>
                <a:spcPct val="100000"/>
              </a:lnSpc>
              <a:spcAft>
                <a:spcPts val="400"/>
              </a:spcAft>
              <a:buNone/>
            </a:pPr>
            <a:r>
              <a:rPr lang="en-US" sz="900" b="1" dirty="0">
                <a:solidFill>
                  <a:srgbClr val="FFFFFF"/>
                </a:solidFill>
                <a:latin typeface="Noto Sans KR" pitchFamily="34" charset="0"/>
                <a:ea typeface="Noto Sans KR" pitchFamily="34" charset="-122"/>
                <a:cs typeface="Noto Sans KR" pitchFamily="34" charset="-120"/>
              </a:rPr>
              <a:t>통화 대상 선정 → 사전 가정 3개 → 행사 설명 대본 → 질문 10개 → 예상 질문과 답 → 통화 기록표</a:t>
            </a:r>
            <a:endParaRPr lang="en-US" sz="900" dirty="0"/>
          </a:p>
          <a:p>
            <a:pPr algn="l" indent="0" marL="0">
              <a:lnSpc>
                <a:spcPct val="100000"/>
              </a:lnSpc>
              <a:spcAft>
                <a:spcPts val="400"/>
              </a:spcAft>
              <a:buNone/>
            </a:pPr>
            <a:r>
              <a:rPr lang="en-US" sz="900" b="1" dirty="0">
                <a:solidFill>
                  <a:srgbClr val="9FE0E6"/>
                </a:solidFill>
                <a:latin typeface="Noto Sans KR" pitchFamily="34" charset="0"/>
                <a:ea typeface="Noto Sans KR" pitchFamily="34" charset="-122"/>
                <a:cs typeface="Noto Sans KR" pitchFamily="34" charset="-120"/>
              </a:rPr>
              <a:t>결과  </a:t>
            </a:r>
            <a:pPr algn="l" indent="0" marL="0">
              <a:lnSpc>
                <a:spcPct val="100000"/>
              </a:lnSpc>
              <a:spcAft>
                <a:spcPts val="400"/>
              </a:spcAft>
              <a:buNone/>
            </a:pPr>
            <a:r>
              <a:rPr lang="en-US" sz="900" b="1" dirty="0">
                <a:solidFill>
                  <a:srgbClr val="FFFFFF"/>
                </a:solidFill>
                <a:latin typeface="Noto Sans KR" pitchFamily="34" charset="0"/>
                <a:ea typeface="Noto Sans KR" pitchFamily="34" charset="-122"/>
                <a:cs typeface="Noto Sans KR" pitchFamily="34" charset="-120"/>
              </a:rPr>
              <a:t>두 곳 모두 매장 직원 · 고객센터 단계에서 막혀, 준비한 질문을 실무 바이어에게 묻지 못했다.</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K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K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고프코어 패션 페어 서울 2027</dc:title>
  <dc:subject>PptxGenJS Presentation</dc:subject>
  <dc:creator>정신영</dc:creator>
  <cp:lastModifiedBy>정신영</cp:lastModifiedBy>
  <cp:revision>1</cp:revision>
  <dcterms:created xsi:type="dcterms:W3CDTF">2026-10-28T13:01:22Z</dcterms:created>
  <dcterms:modified xsi:type="dcterms:W3CDTF">2026-10-28T13:01:22Z</dcterms:modified>
</cp:coreProperties>
</file>
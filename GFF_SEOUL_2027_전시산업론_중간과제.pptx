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측은 마무트 종로점·제로그램 등을 운영하는 유통 담당자를 직접 만나 인터뷰했고, 질문 여덟 개의 답변을 녹취 그대로 별첨 1에 옮겼습니다. 바이어 측은 홀라인과 무신사에 전화했지만 매장 직원과 고객센터로만 연결돼 실무 바이어와는 통화하지 못했습니다. 그 시도 내역과 이유, 대신 확인한 자료를 별첨 2에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측은 아웃도어 브랜드 유통·판매를 맡고 있는 손호영 님을 직접 만나 인터뷰했습니다. 마이기어를 운영하고, 제로그램·아울렛·마무트 종로점도 운영하는 분입니다.
질문 여덟 개와 답변을 녹음된 말 그대로 옮겼습니다. 이 장에는 앞의 질문들이, 다음 장에는 나머지 질문과 인터뷰 전후로 바뀐 생각이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인터뷰 전에 세운 생각 네 가지를 실제 답변과 비교했습니다. 브랜드가 바이어 미팅과 현장 판매를 가장 원할 거라고 생각했는데, 답은 반대였습니다. 비싼 장비일수록 판매보다 장점을 깊게 들어줄 고객이 필요하다는 것이었습니다.
그래서 해외 고가 브랜드는 소비자 체험일에, 국내 브랜드는 바이어 상담일에 배치했고, 공동 시연 공간과 인플루언서 섭외 지원, 관심도 중심의 성과 지표를 기획에 넣었습니다.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아웃도어 편집숍 홀라인과 온라인 플랫폼 무신사에 전화했습니다. 홀라인은 매장 직원이 받았지만 바잉 담당이 아니어서 준비한 질문에 답할 수 있는 사람이 없었고, 무신사는 고객센터로 연결돼 MD에게 닿지 못했습니다.
연결되지 않은 이유는 구조적입니다. 바이어의 직통 번호는 공개돼 있지 않고, 공개된 번호는 매장이나 고객센터로 이어지며, 고객센터는 소비자 문의만 다룹니다.
이 경험이 기획 배경을 뒷받침합니다. 신진 브랜드도 이렇게 바이어에게 닿지 못하기 때문에, 바이어를 미리 등록받아 1:1 상담을 잡아 주는 트레이드 데이가 필요합니다. 바이어 수요는 무신사 도쿄 쇼룸과 무신사 스탠다드 수주회 자료로 대신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 이름 / 학번 )</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 이름 / 학번 ]</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인터뷰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1-1 · 1-2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질문 8개의 답변을 녹취 그대로 옮기고, 들은 내용을 Test Lab · 관심도 지표 · 목적별 배치에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통화 시도 (실무 바이어 연결 불가)</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홀라인(아웃도어 편집숍) · 무신사(온라인 플랫폼)에 전화</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매장 직원 · 고객센터로만 연결돼 바이어와 통화하지 못함 → 시도 내역 · 사유 · 대체 자료를 정리</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유통·판매 담당자 대면 인터뷰 — 질문과 답변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8" name="인터뷰 개요"/>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1051560"/>
                <a:gridCol w="4343400"/>
                <a:gridCol w="1051560"/>
                <a:gridCol w="4517136"/>
              </a:tblGrid>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인터뷰 대상</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손호영 님 · 아웃도어 브랜드 유통·판매 담당</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운영 매장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마이기어 · 제로그램 · 아울렛 · 마무트 종로점</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일시</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2026년 10월 17일(토)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방식 · 길이</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대면 인터뷰 · 녹음 동의 · 약 5분 12초</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진행 순서"/>
          <p:cNvSpPr txBox="1"/>
          <p:nvPr/>
        </p:nvSpPr>
        <p:spPr>
          <a:xfrm>
            <a:off x="612648" y="2048256"/>
            <a:ext cx="10963656" cy="219456"/>
          </a:xfrm>
          <a:prstGeom prst="rect">
            <a:avLst/>
          </a:prstGeom>
          <a:noFill/>
          <a:ln/>
        </p:spPr>
        <p:txBody>
          <a:bodyPr wrap="square" lIns="0" tIns="0" rIns="0" bIns="0" rtlCol="0" anchor="ctr"/>
          <a:lstStyle/>
          <a:p>
            <a:pPr algn="l" indent="0" marL="0">
              <a:lnSpc>
                <a:spcPct val="100000"/>
              </a:lnSpc>
              <a:buNone/>
            </a:pPr>
            <a:r>
              <a:rPr lang="en-US" sz="850" b="1" dirty="0">
                <a:solidFill>
                  <a:srgbClr val="267D86"/>
                </a:solidFill>
                <a:latin typeface="Noto Sans KR" pitchFamily="34" charset="0"/>
                <a:ea typeface="Noto Sans KR" pitchFamily="34" charset="-122"/>
                <a:cs typeface="Noto Sans KR" pitchFamily="34" charset="-120"/>
              </a:rPr>
              <a:t>진행 순서  </a:t>
            </a:r>
            <a:pPr algn="l" indent="0" marL="0">
              <a:lnSpc>
                <a:spcPct val="100000"/>
              </a:lnSpc>
              <a:buNone/>
            </a:pPr>
            <a:r>
              <a:rPr lang="en-US" sz="850" dirty="0">
                <a:solidFill>
                  <a:srgbClr val="334155"/>
                </a:solidFill>
                <a:latin typeface="Noto Sans KR" pitchFamily="34" charset="0"/>
                <a:ea typeface="Noto Sans KR" pitchFamily="34" charset="-122"/>
                <a:cs typeface="Noto Sans KR" pitchFamily="34" charset="-120"/>
              </a:rPr>
              <a:t>학과·수업 과제 소개 → 인터뷰와 녹음 요청 (답변자: "가능합니다.") → 질문 8개 → 감사 인사 (답변자: "네, 감사드립니다.")</a:t>
            </a:r>
            <a:endParaRPr lang="en-US" sz="850" dirty="0"/>
          </a:p>
        </p:txBody>
      </p:sp>
      <p:graphicFrame>
        <p:nvGraphicFramePr>
          <p:cNvPr id="15" name="질문 답변표 1"/>
          <p:cNvGraphicFramePr>
            <a:graphicFrameLocks noGrp="1"/>
          </p:cNvGraphicFramePr>
          <p:nvPr>
            <p:extLst>
              <p:ext uri="{D42A27DB-BD31-4B8C-83A1-F6EECF244321}">
                <p14:modId xmlns:p14="http://schemas.microsoft.com/office/powerpoint/2010/main" val="1579011935"/>
              </p:ext>
            </p:extLst>
          </p:nvPr>
        </p:nvGraphicFramePr>
        <p:xfrm>
          <a:off x="612648" y="2359152"/>
          <a:ext cx="10963656" cy="914400"/>
        </p:xfrm>
        <a:graphic>
          <a:graphicData uri="http://schemas.openxmlformats.org/drawingml/2006/table">
            <a:tbl>
              <a:tblPr/>
              <a:tblGrid>
                <a:gridCol w="457200"/>
                <a:gridCol w="2834640"/>
                <a:gridCol w="7671816"/>
              </a:tblGrid>
              <a:tr h="242984">
                <a:tc>
                  <a:txBody>
                    <a:bodyPr/>
                    <a:lstStyle/>
                    <a:p>
                      <a:pPr algn="l" indent="0" marL="0">
                        <a:buNone/>
                      </a:pP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질문</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답변 (녹취 발췌)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Q1</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지금 주로 어떤 고객들에게</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판매하고 있나요?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안녕하세요, 저는 마이 기어를 맡고 있는 손호영이라고 합니다.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저는 제로 그램, 아울렛, 마무트 종로점, 그리고 마이 기어를 운영하고 있고,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제가 판매하는 층은 일반 소비자 고객과, 그리고 기업(B2B)을 대상으로 판매를 하고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Q2</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일반인에게 판매하거나</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판매를 검토해 보신 적이 있나요?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네, 저희는 현재 일반인(B2C) 판매 매출이 한 30% 정도로 운영하고 있기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일반인 판매를 매우 소중하게 생각하는 기업입니다.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Q3</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행사에 참여하신다면,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참여를 결정하게 만드는 조건은 무엇인가요?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우선 저희가 타깃층으로 삼는, 예를 들어 트레킹, 백패킹, 아웃도어 상품에 대한 인지도가 있는 고객님이 얼마나 되시는지,</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그리고 거기에 관심도가 어느 정도 있는지에 따라서 결정을 하게 되겠죠.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Q4</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부스 참가비는 어느 정도까지</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감당하실 수 있으세요?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일반적으로 저희는 국내 부스는 참여한 지 10년이 넘었고, 해외 부스는 거의 2년에 한 번씩 유럽이나 미국에서 참가를 하고 있습니다.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부스비는 2만 불에서 5만 불 사이로 항상 책정되어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Q5</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현장 시연에 필요한 것은</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무엇인가요?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실제 저희가 수입하는 물건, 예를 들어서 에어매트나 의류 같은 경우에는 샤워부스처럼 고어텍스(방수 성능)를 자랑할 수 있는 곳이나,</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아니면 실제로 얼음 바닥같이 냉기가 올라오는 곳에서 보여줄 수 있는 매트가 저희 주력이기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샤워부스나 얼음 매트 이런 것들이 꽤 필요하다고 생각합니다.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참여하기 어려운 이유가 있다면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무엇일까요?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사실 인플루언서 분들이나 모델분들, 이런 분들 하고 시간을 정확히 맞춰야 되는데,</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공간 크기, 그리고 비용 대비 효과가 없을 때는 참여를 하고 있지 않습니다.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예를 들어서 코엑스 아웃도어 행사나 일산 킨텍스 행사 같은 경우에는 고객의 니즈가 다르기 때문에 저희는 참여를 안 하고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Q7</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행사에서 무엇을 얻어 가면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'참여하길 잘했다'고 느끼십니까?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고객의 반응이겠죠.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질문과 답변(이어서) · 인터뷰 전에 생각한 것과 바꾼 것</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9" name="질문 답변표 2"/>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457200"/>
                <a:gridCol w="2834640"/>
                <a:gridCol w="7671816"/>
              </a:tblGrid>
              <a:tr h="242984">
                <a:tc>
                  <a:txBody>
                    <a:bodyPr/>
                    <a:lstStyle/>
                    <a:p>
                      <a:pPr algn="l" indent="0" marL="0">
                        <a:buNone/>
                      </a:pP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질문</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답변 (녹취 발췌)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430952">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Q8</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따로 하실 말씀 있으세요?</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 참여 시 기대 효과)</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만약에 행사에 참여하게 되면 기대할 수 있는 건</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바이어, 제휴처 만남, 브랜드 홍보, 현장 판매, 체험 고객 확보, 사용자 반응 데이터 수집, 요 정도일 것 같습니다.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사실 투자를 받는다는 것은 되게 위험한 것이기 때문에 투자 유치는 저희에겐 필요 없고.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 마무트라는 브랜드 자체가 우리나라의 많은 분들이 알고 계시는 아크테릭스보다 훨씬 고가의 의류 브랜드이기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바이어나 제휴처를 만난다는 것보다는 브랜드 홍보를 하고 이 장비에 대한 좋은 점을 설명하는 것,</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그걸 관심 깊게 들어주는 고객들이 필요하지, 현장에서 판매를 하거나 이런 거는 의미가 없고요.</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고객 확보, 이것도 사실 의미가 없습니다.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하지만 아웃도어를 할 때 왜 이런 에어매트를 써야 되고, 이런 침낭을 써야 되고, 이런 의류를 입어야 되는지,</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거기에 많은 분들이 관심을 가져 준다면 그러면 브랜드 부스에 들어가는 게 저는 맞다고 생각합니다.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제목 인터뷰 전에 생각한 것과 바꾼 것"/>
          <p:cNvSpPr txBox="1"/>
          <p:nvPr/>
        </p:nvSpPr>
        <p:spPr>
          <a:xfrm>
            <a:off x="612648" y="3356432"/>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인터뷰 전에 생각한 것과 바꾼 것</a:t>
            </a:r>
            <a:endParaRPr lang="en-US" sz="1050" dirty="0"/>
          </a:p>
        </p:txBody>
      </p:sp>
      <p:graphicFrame>
        <p:nvGraphicFramePr>
          <p:cNvPr id="17" name="인터뷰 전후 비교"/>
          <p:cNvGraphicFramePr>
            <a:graphicFrameLocks noGrp="1"/>
          </p:cNvGraphicFramePr>
          <p:nvPr>
            <p:extLst>
              <p:ext uri="{D42A27DB-BD31-4B8C-83A1-F6EECF244321}">
                <p14:modId xmlns:p14="http://schemas.microsoft.com/office/powerpoint/2010/main" val="1579011935"/>
              </p:ext>
            </p:extLst>
          </p:nvPr>
        </p:nvGraphicFramePr>
        <p:xfrm>
          <a:off x="612648" y="3649040"/>
          <a:ext cx="10963656" cy="914400"/>
        </p:xfrm>
        <a:graphic>
          <a:graphicData uri="http://schemas.openxmlformats.org/drawingml/2006/table">
            <a:tbl>
              <a:tblPr/>
              <a:tblGrid>
                <a:gridCol w="2926080"/>
                <a:gridCol w="3931920"/>
                <a:gridCol w="4105656"/>
              </a:tblGrid>
              <a:tr h="242984">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인터뷰 전에 생각한 것 (사전 가정)</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들은 답변</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기획에 반영한 것</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브랜드는 바이어 미팅과 현장 판매를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가장 원할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투자·바이어·현장 판매·고객 확보보다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브랜드 홍보와 장비를 깊게 들어줄 고객이 필요하다.</a:t>
                      </a:r>
                      <a:pPr algn="l" indent="0" marL="0">
                        <a:buNone/>
                      </a:pPr>
                      <a:r>
                        <a:rPr lang="en-US" sz="850" dirty="0">
                          <a:solidFill>
                            <a:srgbClr val="64748B"/>
                          </a:solidFill>
                          <a:latin typeface="Noto Sans KR" pitchFamily="34" charset="0"/>
                          <a:ea typeface="Noto Sans KR" pitchFamily="34" charset="-122"/>
                          <a:cs typeface="Noto Sans KR" pitchFamily="34" charset="-120"/>
                        </a:rPr>
                        <a:t>  (Q8)</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해외 고가 브랜드는 소비자 체험일에,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국내 브랜드는 바이어 상담일에 배치했다.</a:t>
                      </a:r>
                      <a:pPr algn="l" indent="0" marL="0">
                        <a:buNone/>
                      </a:pPr>
                      <a:r>
                        <a:rPr lang="en-US" sz="850" dirty="0">
                          <a:solidFill>
                            <a:srgbClr val="64748B"/>
                          </a:solidFill>
                          <a:latin typeface="Noto Sans KR" pitchFamily="34" charset="0"/>
                          <a:ea typeface="Noto Sans KR" pitchFamily="34" charset="-122"/>
                          <a:cs typeface="Noto Sans KR" pitchFamily="34" charset="-120"/>
                        </a:rPr>
                        <a:t>  (5장)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부스비가 가장 큰 부담일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부스비는 2만~5만 달러로 늘 책정해 왔다.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걸림돌은 비용 대비 효과, 공간, 인플루언서 일정이다.</a:t>
                      </a:r>
                      <a:pPr algn="l" indent="0" marL="0">
                        <a:buNone/>
                      </a:pPr>
                      <a:r>
                        <a:rPr lang="en-US" sz="850" dirty="0">
                          <a:solidFill>
                            <a:srgbClr val="64748B"/>
                          </a:solidFill>
                          <a:latin typeface="Noto Sans KR" pitchFamily="34" charset="0"/>
                          <a:ea typeface="Noto Sans KR" pitchFamily="34" charset="-122"/>
                          <a:cs typeface="Noto Sans KR" pitchFamily="34" charset="-120"/>
                        </a:rPr>
                        <a:t>  (Q4 · 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샤워부스·얼음 바닥 공동 시연 공간을 주최 측이 만들고,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인플루언서 섭외는 미디어 파트너가 돕는다.</a:t>
                      </a:r>
                      <a:pPr algn="l" indent="0" marL="0">
                        <a:buNone/>
                      </a:pPr>
                      <a:r>
                        <a:rPr lang="en-US" sz="850" dirty="0">
                          <a:solidFill>
                            <a:srgbClr val="64748B"/>
                          </a:solidFill>
                          <a:latin typeface="Noto Sans KR" pitchFamily="34" charset="0"/>
                          <a:ea typeface="Noto Sans KR" pitchFamily="34" charset="-122"/>
                          <a:cs typeface="Noto Sans KR" pitchFamily="34" charset="-120"/>
                        </a:rPr>
                        <a:t>  (2 · 6장)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기존 코엑스·킨텍스 아웃도어 박람회로</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충분할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고객의 니즈가 달라서 참여하지 않는다.</a:t>
                      </a:r>
                      <a:pPr algn="l" indent="0" marL="0">
                        <a:buNone/>
                      </a:pPr>
                      <a:r>
                        <a:rPr lang="en-US" sz="850" dirty="0">
                          <a:solidFill>
                            <a:srgbClr val="64748B"/>
                          </a:solidFill>
                          <a:latin typeface="Noto Sans KR" pitchFamily="34" charset="0"/>
                          <a:ea typeface="Noto Sans KR" pitchFamily="34" charset="-122"/>
                          <a:cs typeface="Noto Sans KR" pitchFamily="34" charset="-120"/>
                        </a:rPr>
                        <a:t>  (Q6)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캠핑·장비 판매전이 아니라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고프코어 패션 한 분야로 좁혔다.</a:t>
                      </a:r>
                      <a:pPr algn="l" indent="0" marL="0">
                        <a:buNone/>
                      </a:pPr>
                      <a:r>
                        <a:rPr lang="en-US" sz="850" dirty="0">
                          <a:solidFill>
                            <a:srgbClr val="64748B"/>
                          </a:solidFill>
                          <a:latin typeface="Noto Sans KR" pitchFamily="34" charset="0"/>
                          <a:ea typeface="Noto Sans KR" pitchFamily="34" charset="-122"/>
                          <a:cs typeface="Noto Sans KR" pitchFamily="34" charset="-120"/>
                        </a:rPr>
                        <a:t>  (1장)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일반 소비자는 주요 고객이 아닐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B2C 매출이 약 30%라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일반 고객을 매우 중요하게 생각한다.</a:t>
                      </a:r>
                      <a:pPr algn="l" indent="0" marL="0">
                        <a:buNone/>
                      </a:pPr>
                      <a:r>
                        <a:rPr lang="en-US" sz="850" dirty="0">
                          <a:solidFill>
                            <a:srgbClr val="64748B"/>
                          </a:solidFill>
                          <a:latin typeface="Noto Sans KR" pitchFamily="34" charset="0"/>
                          <a:ea typeface="Noto Sans KR" pitchFamily="34" charset="-122"/>
                          <a:cs typeface="Noto Sans KR" pitchFamily="34" charset="-120"/>
                        </a:rPr>
                        <a:t>  (Q2)</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관람객 수보다 관심사 사전등록과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Test Lab 체험률로 성과를 잰다.</a:t>
                      </a:r>
                      <a:pPr algn="l" indent="0" marL="0">
                        <a:buNone/>
                      </a:pPr>
                      <a:r>
                        <a:rPr lang="en-US" sz="850" dirty="0">
                          <a:solidFill>
                            <a:srgbClr val="64748B"/>
                          </a:solidFill>
                          <a:latin typeface="Noto Sans KR" pitchFamily="34" charset="0"/>
                          <a:ea typeface="Noto Sans KR" pitchFamily="34" charset="-122"/>
                          <a:cs typeface="Noto Sans KR" pitchFamily="34" charset="-120"/>
                        </a:rPr>
                        <a:t>  (3장)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2 · 전화 검증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바이어 통화 시도 기록 — 실무 바이어와 연결되지 않은 이유와 대신 확인한 것</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연결되지 않은 시도도 지우지 않고 시도 내역으로 남겼다(교수님 기준). 시도 일시는 실제로 전화한 날짜와 시각이다.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대신 확인한 자료: 무신사 뉴스룸(2024.7.17), 스마트투데이(2026.8). 준비한 행사 설명과 질문은 별도 PDF 「바이어 측 전화 검증 대본」에 있다.</a:t>
            </a:r>
            <a:endParaRPr lang="en-US" sz="700" dirty="0"/>
          </a:p>
        </p:txBody>
      </p:sp>
      <p:sp>
        <p:nvSpPr>
          <p:cNvPr id="7" name="제목 통화 시도 기록"/>
          <p:cNvSpPr txBox="1"/>
          <p:nvPr/>
        </p:nvSpPr>
        <p:spPr>
          <a:xfrm>
            <a:off x="612648" y="1463040"/>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시도 기록</a:t>
            </a:r>
            <a:endParaRPr lang="en-US" sz="1050" dirty="0"/>
          </a:p>
        </p:txBody>
      </p:sp>
      <p:graphicFrame>
        <p:nvGraphicFramePr>
          <p:cNvPr id="10" name="통화 시도 기록"/>
          <p:cNvGraphicFramePr>
            <a:graphicFrameLocks noGrp="1"/>
          </p:cNvGraphicFramePr>
          <p:nvPr>
            <p:extLst>
              <p:ext uri="{D42A27DB-BD31-4B8C-83A1-F6EECF244321}">
                <p14:modId xmlns:p14="http://schemas.microsoft.com/office/powerpoint/2010/main" val="1579011935"/>
              </p:ext>
            </p:extLst>
          </p:nvPr>
        </p:nvGraphicFramePr>
        <p:xfrm>
          <a:off x="612648" y="1737360"/>
          <a:ext cx="10963656" cy="914400"/>
        </p:xfrm>
        <a:graphic>
          <a:graphicData uri="http://schemas.openxmlformats.org/drawingml/2006/table">
            <a:tbl>
              <a:tblPr/>
              <a:tblGrid>
                <a:gridCol w="365760"/>
                <a:gridCol w="2240280"/>
                <a:gridCol w="1600200"/>
                <a:gridCol w="914400"/>
                <a:gridCol w="1325880"/>
                <a:gridCol w="4517136"/>
              </a:tblGrid>
              <a:tr h="234249">
                <a:tc>
                  <a:txBody>
                    <a:bodyPr/>
                    <a:lstStyle/>
                    <a:p>
                      <a:pPr algn="l" indent="0" marL="0">
                        <a:buNone/>
                      </a:pP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업체 · 업종</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연락 경로 · 번호</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시도 일시</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결과</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응대 내용</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374010">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1</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홀라인 (HOLLAIN)</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아웃도어 편집숍 · 서울 마포구</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홍대점 매장 대표번호</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02-337-3907</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__일</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__:__</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연결 · 답변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직원이 받았지만 브랜드 선정(바잉) 담당이 아니라서,</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준비한 질문에 답할 수 있는 사람이 없었다.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74010">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2</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무신사 (MUSINSA)</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온라인 패션 플랫폼 · 서울 성동구</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대표번호</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 번호 기입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__일</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__:__</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고객센터 연결</a:t>
                      </a:r>
                      <a:endParaRPr lang="en-US" sz="800" dirty="0">
                        <a:latin typeface="Noto Sans KR" charset="0"/>
                        <a:ea typeface="Noto Sans KR" charset="0"/>
                        <a:cs typeface="Noto Sans KR" charset="0"/>
                      </a:endParaRPr>
                    </a:p>
                    <a:p>
                      <a:pPr algn="l" indent="0" marL="0">
                        <a:buNone/>
                      </a:pPr>
                      <a:r>
                        <a:rPr lang="en-US" sz="800" b="1" dirty="0">
                          <a:solidFill>
                            <a:srgbClr val="C2410C"/>
                          </a:solidFill>
                          <a:latin typeface="Noto Sans KR" pitchFamily="34" charset="0"/>
                          <a:ea typeface="Noto Sans KR" pitchFamily="34" charset="-122"/>
                          <a:cs typeface="Noto Sans KR" pitchFamily="34" charset="-120"/>
                        </a:rPr>
                        <a:t>담당자 연결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고객센터는 주문·배송 같은 소비자 문의만 받았고,</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MD(바잉) 담당자에게 연결해 주는 경로가 없었다.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3</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64748B"/>
                          </a:solidFill>
                          <a:latin typeface="Noto Sans KR" pitchFamily="34" charset="0"/>
                          <a:ea typeface="Noto Sans KR" pitchFamily="34" charset="-122"/>
                          <a:cs typeface="Noto Sans KR" pitchFamily="34" charset="-120"/>
                        </a:rPr>
                        <a:t>( 추가로 시도하면 기입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4</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64748B"/>
                          </a:solidFill>
                          <a:latin typeface="Noto Sans KR" pitchFamily="34" charset="0"/>
                          <a:ea typeface="Noto Sans KR" pitchFamily="34" charset="-122"/>
                          <a:cs typeface="Noto Sans KR" pitchFamily="34" charset="-120"/>
                        </a:rPr>
                        <a:t>( 추가로 시도하면 기입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9" name="제목 연결되지 않은 이유"/>
          <p:cNvSpPr txBox="1"/>
          <p:nvPr/>
        </p:nvSpPr>
        <p:spPr>
          <a:xfrm>
            <a:off x="612648" y="3451149"/>
            <a:ext cx="3532632"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연결되지 않은 이유</a:t>
            </a:r>
            <a:endParaRPr lang="en-US" sz="1050" dirty="0"/>
          </a:p>
        </p:txBody>
      </p:sp>
      <p:sp>
        <p:nvSpPr>
          <p:cNvPr id="10" name="제목 알게 된 것 · 기획 반영"/>
          <p:cNvSpPr txBox="1"/>
          <p:nvPr/>
        </p:nvSpPr>
        <p:spPr>
          <a:xfrm>
            <a:off x="4328160" y="3451149"/>
            <a:ext cx="3532632"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알게 된 것 · 기획 반영</a:t>
            </a:r>
            <a:endParaRPr lang="en-US" sz="1050" dirty="0"/>
          </a:p>
        </p:txBody>
      </p:sp>
      <p:sp>
        <p:nvSpPr>
          <p:cNvPr id="11" name="제목 대신 확인한 자료"/>
          <p:cNvSpPr txBox="1"/>
          <p:nvPr/>
        </p:nvSpPr>
        <p:spPr>
          <a:xfrm>
            <a:off x="8043672" y="3451149"/>
            <a:ext cx="3532632"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대신 확인한 자료</a:t>
            </a:r>
            <a:endParaRPr lang="en-US" sz="1050" dirty="0"/>
          </a:p>
        </p:txBody>
      </p:sp>
      <p:sp>
        <p:nvSpPr>
          <p:cNvPr id="12" name="연결 불가 이유"/>
          <p:cNvSpPr txBox="1"/>
          <p:nvPr/>
        </p:nvSpPr>
        <p:spPr>
          <a:xfrm>
            <a:off x="612648" y="3743757"/>
            <a:ext cx="3532632" cy="1481328"/>
          </a:xfrm>
          <a:prstGeom prst="rect">
            <a:avLst/>
          </a:prstGeom>
          <a:noFill/>
          <a:ln/>
        </p:spPr>
        <p:txBody>
          <a:bodyPr wrap="square" lIns="0" tIns="0" rIns="0" bIns="0" rtlCol="0" anchor="t"/>
          <a:lstStyle/>
          <a:p>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① 직통 번호가 없다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바이어·MD 연락처는 공개돼 있지 않고,</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공개된 번호는 매장이나 고객센터로 이어진다.</a:t>
            </a:r>
            <a:endParaRPr lang="en-US" sz="780" dirty="0"/>
          </a:p>
          <a:p>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② 고객센터는 소비자 문의만 받는다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주문·배송·반품 외 문의는 담당 부서로 넘겨 주지 않는다.</a:t>
            </a:r>
            <a:endParaRPr lang="en-US" sz="780" dirty="0"/>
          </a:p>
          <a:p>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③ 매장과 바잉은 하는 사람이 다르다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매장 직원은 판매를 맡고, 브랜드 선정은 본사가 한다.</a:t>
            </a:r>
            <a:endParaRPr lang="en-US" sz="780" dirty="0"/>
          </a:p>
          <a:p>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④ 공식 창구는 입점 신청뿐이다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거래 목적이 아닌 질문은 받아 줄 창구가 없다.</a:t>
            </a:r>
            <a:endParaRPr lang="en-US" sz="780" dirty="0"/>
          </a:p>
        </p:txBody>
      </p:sp>
      <p:sp>
        <p:nvSpPr>
          <p:cNvPr id="13" name="알게 된 것"/>
          <p:cNvSpPr txBox="1"/>
          <p:nvPr/>
        </p:nvSpPr>
        <p:spPr>
          <a:xfrm>
            <a:off x="4328160" y="3743757"/>
            <a:ext cx="3532632" cy="1481328"/>
          </a:xfrm>
          <a:prstGeom prst="roundRect">
            <a:avLst>
              <a:gd name="adj" fmla="val 3086"/>
            </a:avLst>
          </a:prstGeom>
          <a:solidFill>
            <a:srgbClr val="E6F2F3"/>
          </a:solidFill>
          <a:ln/>
        </p:spPr>
        <p:txBody>
          <a:bodyPr wrap="square" lIns="91440" tIns="0" rIns="91440" bIns="0" rtlCol="0" anchor="ctr"/>
          <a:lstStyle/>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실무 바이어에게는 콜드콜로 닿기 어렵다.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신진 K-브랜드도 같은 벽 앞에 서 있다는 뜻이다.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바이어를 만나려면 소개나 플랫폼 행사를 거쳐야 한다.</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 기획 반영</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트레이드 데이에서 바이어를 미리 등록받고,</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1:1 상담을 주최 측이 잡아 주는 이유가 여기에 있다.</a:t>
            </a:r>
            <a:endParaRPr lang="en-US" sz="780" dirty="0"/>
          </a:p>
          <a:p>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(3장 목표 2 · 5장 거래 연결표)</a:t>
            </a:r>
            <a:endParaRPr lang="en-US" sz="780" dirty="0"/>
          </a:p>
        </p:txBody>
      </p:sp>
      <p:sp>
        <p:nvSpPr>
          <p:cNvPr id="14" name="대체 자료"/>
          <p:cNvSpPr txBox="1"/>
          <p:nvPr/>
        </p:nvSpPr>
        <p:spPr>
          <a:xfrm>
            <a:off x="8043672" y="3743757"/>
            <a:ext cx="3532632" cy="1481328"/>
          </a:xfrm>
          <a:prstGeom prst="rect">
            <a:avLst/>
          </a:prstGeom>
          <a:noFill/>
          <a:ln/>
        </p:spPr>
        <p:txBody>
          <a:bodyPr wrap="square" lIns="0" tIns="0" rIns="0" bIns="0" rtlCol="0" anchor="t"/>
          <a:lstStyle/>
          <a:p>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무신사 도쿄 쇼룸 (2024.7)</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일본 편집숍 바이어 200명 이상이 찾아와 주문이 3배 늘었다.</a:t>
            </a:r>
            <a:endParaRPr lang="en-US" sz="780" dirty="0"/>
          </a:p>
          <a:p>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무신사 스탠다드 첫 글로벌 수주회 (2026.8)</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조조타운·티몰과 동남아 4개국 바이어가 서울 성수동에 왔다.</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바이어 수요는 분명하지만,</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지금은 플랫폼이 직접 여는 자리에서만 만난다.</a:t>
            </a:r>
            <a:endParaRPr lang="en-US" sz="780" dirty="0"/>
          </a:p>
        </p:txBody>
      </p:sp>
      <p:sp>
        <p:nvSpPr>
          <p:cNvPr id="15" name="준비 내용"/>
          <p:cNvSpPr txBox="1"/>
          <p:nvPr/>
        </p:nvSpPr>
        <p:spPr>
          <a:xfrm>
            <a:off x="612648" y="5353101"/>
            <a:ext cx="10963656" cy="919683"/>
          </a:xfrm>
          <a:prstGeom prst="roundRect">
            <a:avLst>
              <a:gd name="adj" fmla="val 4971"/>
            </a:avLst>
          </a:prstGeom>
          <a:solidFill>
            <a:srgbClr val="F1F5F9"/>
          </a:solidFill>
          <a:ln/>
        </p:spPr>
        <p:txBody>
          <a:bodyPr wrap="square" lIns="109728" tIns="0" rIns="109728"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사전 가정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① 국내 신진 브랜드는 SNS나 지인 소개로 찾아 시간이 많이 든다   ② 물량·납기·품질이 불안해 들여오기를 망설인다   ③ 한자리 비교와 1:1 상담이 있으면 참관한다</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준비한 질문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행사 설명 대본(약 1분)과 질문 10개 — 지금 겪는 어려움 · 행사에서 원하는 것 · 참관 의향과 걸림돌 (별도 PDF)</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다음 시도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이메일·인스타그램 DM으로 질문지를 보내 서면 답변을 받고, 결과를 이 장에 더한다.</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전시산업론 중간고사</dc:creator>
  <cp:lastModifiedBy>전시산업론 중간고사</cp:lastModifiedBy>
  <cp:revision>1</cp:revision>
  <dcterms:created xsi:type="dcterms:W3CDTF">2026-10-28T08:24:05Z</dcterms:created>
  <dcterms:modified xsi:type="dcterms:W3CDTF">2026-10-28T08:24:05Z</dcterms:modified>
</cp:coreProperties>
</file>